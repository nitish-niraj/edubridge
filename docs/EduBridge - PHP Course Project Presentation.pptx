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Quattrocento Sans" charset="-122" pitchFamily="34"/>
      <p:regular r:id="rId19"/>
    </p:embeddedFont>
    <p:embeddedFont>
      <p:font typeface="Liter" charset="-122" pitchFamily="34"/>
      <p:regular r:id="rId20"/>
    </p:embeddedFont>
    <p:embeddedFont>
      <p:font typeface="Oranienbaum" charset="-122" pitchFamily="34"/>
      <p:regular r:id="rId21"/>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535C"/>
        </a:solidFill>
      </p:bgPr>
    </p:bg>
    <p:spTree>
      <p:nvGrpSpPr>
        <p:cNvPr id="1" name=""/>
        <p:cNvGrpSpPr/>
        <p:nvPr/>
      </p:nvGrpSpPr>
      <p:grpSpPr>
        <a:xfrm>
          <a:off x="0" y="0"/>
          <a:ext cx="0" cy="0"/>
          <a:chOff x="0" y="0"/>
          <a:chExt cx="0" cy="0"/>
        </a:xfrm>
      </p:grpSpPr>
      <p:pic>
        <p:nvPicPr>
          <p:cNvPr id="2" name="Image 0" descr="https://kimi-web-img.moonshot.cn/img/cdn.dribbble.com/8e336ca0d3253aa1aa712838f2cc0e0ddfc17574.jpg">    </p:cNvPr>
          <p:cNvPicPr>
            <a:picLocks noChangeAspect="1"/>
          </p:cNvPicPr>
          <p:nvPr/>
        </p:nvPicPr>
        <p:blipFill>
          <a:blip r:embed="rId1">
            <a:alphaModFix amt="30000"/>
          </a:blip>
          <a:srcRect l="0" r="0" t="12500" b="1250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A535C">
                  <a:alpha val="95000"/>
                </a:srgbClr>
              </a:gs>
              <a:gs pos="50000">
                <a:srgbClr val="1A535C">
                  <a:alpha val="90000"/>
                </a:srgbClr>
              </a:gs>
              <a:gs pos="100000">
                <a:srgbClr val="4A7C59">
                  <a:alpha val="85000"/>
                </a:srgbClr>
              </a:gs>
            </a:gsLst>
            <a:lin ang="2700000" scaled="1"/>
          </a:gradFill>
          <a:ln/>
        </p:spPr>
      </p:sp>
      <p:sp>
        <p:nvSpPr>
          <p:cNvPr id="4" name="Shape 1"/>
          <p:cNvSpPr/>
          <p:nvPr/>
        </p:nvSpPr>
        <p:spPr>
          <a:xfrm>
            <a:off x="4713922" y="1504950"/>
            <a:ext cx="2762250" cy="419100"/>
          </a:xfrm>
          <a:custGeom>
            <a:avLst/>
            <a:gdLst/>
            <a:ahLst/>
            <a:cxnLst/>
            <a:rect l="l" t="t" r="r" b="b"/>
            <a:pathLst>
              <a:path w="2762250" h="419100">
                <a:moveTo>
                  <a:pt x="209550" y="0"/>
                </a:moveTo>
                <a:lnTo>
                  <a:pt x="2552700" y="0"/>
                </a:lnTo>
                <a:cubicBezTo>
                  <a:pt x="2668354" y="0"/>
                  <a:pt x="2762250" y="93896"/>
                  <a:pt x="2762250" y="209550"/>
                </a:cubicBezTo>
                <a:lnTo>
                  <a:pt x="2762250" y="209550"/>
                </a:lnTo>
                <a:cubicBezTo>
                  <a:pt x="2762250" y="325204"/>
                  <a:pt x="2668354" y="419100"/>
                  <a:pt x="2552700" y="419100"/>
                </a:cubicBezTo>
                <a:lnTo>
                  <a:pt x="209550" y="419100"/>
                </a:lnTo>
                <a:cubicBezTo>
                  <a:pt x="93896" y="419100"/>
                  <a:pt x="0" y="325204"/>
                  <a:pt x="0" y="209550"/>
                </a:cubicBezTo>
                <a:lnTo>
                  <a:pt x="0" y="209550"/>
                </a:lnTo>
                <a:cubicBezTo>
                  <a:pt x="0" y="93896"/>
                  <a:pt x="93896" y="0"/>
                  <a:pt x="209550" y="0"/>
                </a:cubicBezTo>
                <a:close/>
              </a:path>
            </a:pathLst>
          </a:custGeom>
          <a:solidFill>
            <a:srgbClr val="F7B538"/>
          </a:solidFill>
          <a:ln/>
        </p:spPr>
      </p:sp>
      <p:sp>
        <p:nvSpPr>
          <p:cNvPr id="5" name="Text 2"/>
          <p:cNvSpPr/>
          <p:nvPr/>
        </p:nvSpPr>
        <p:spPr>
          <a:xfrm>
            <a:off x="4899660" y="1619250"/>
            <a:ext cx="2392680" cy="190500"/>
          </a:xfrm>
          <a:prstGeom prst="rect">
            <a:avLst/>
          </a:prstGeom>
          <a:noFill/>
          <a:ln/>
        </p:spPr>
        <p:txBody>
          <a:bodyPr wrap="square" lIns="0" tIns="0" rIns="0" bIns="0" rtlCol="0" anchor="ctr"/>
          <a:lstStyle/>
          <a:p>
            <a:pPr algn="ctr">
              <a:lnSpc>
                <a:spcPct val="130000"/>
              </a:lnSpc>
            </a:pPr>
            <a:r>
              <a:rPr lang="en-US" sz="1350" b="1" spc="68" kern="0" dirty="0">
                <a:solidFill>
                  <a:srgbClr val="1A535C"/>
                </a:solidFill>
                <a:latin typeface="Quattrocento Sans" pitchFamily="34" charset="0"/>
                <a:ea typeface="Quattrocento Sans" pitchFamily="34" charset="-122"/>
                <a:cs typeface="Quattrocento Sans" pitchFamily="34" charset="-120"/>
              </a:rPr>
              <a:t>PHP COURSE PROJECT 2025</a:t>
            </a:r>
            <a:endParaRPr lang="en-US" sz="1600" dirty="0"/>
          </a:p>
        </p:txBody>
      </p:sp>
      <p:sp>
        <p:nvSpPr>
          <p:cNvPr id="6" name="Text 3"/>
          <p:cNvSpPr/>
          <p:nvPr/>
        </p:nvSpPr>
        <p:spPr>
          <a:xfrm>
            <a:off x="3863935" y="2381250"/>
            <a:ext cx="4467225" cy="914400"/>
          </a:xfrm>
          <a:prstGeom prst="rect">
            <a:avLst/>
          </a:prstGeom>
          <a:noFill/>
          <a:ln/>
        </p:spPr>
        <p:txBody>
          <a:bodyPr wrap="square" lIns="0" tIns="0" rIns="0" bIns="0" rtlCol="0" anchor="ctr"/>
          <a:lstStyle/>
          <a:p>
            <a:pPr algn="ctr">
              <a:lnSpc>
                <a:spcPct val="80000"/>
              </a:lnSpc>
            </a:pPr>
            <a:r>
              <a:rPr lang="en-US" sz="7200" b="1" spc="-180" kern="0" dirty="0">
                <a:solidFill>
                  <a:srgbClr val="F8F9FA"/>
                </a:solidFill>
                <a:latin typeface="Liter" pitchFamily="34" charset="0"/>
                <a:ea typeface="Liter" pitchFamily="34" charset="-122"/>
                <a:cs typeface="Liter" pitchFamily="34" charset="-120"/>
              </a:rPr>
              <a:t>EduBridge</a:t>
            </a:r>
            <a:endParaRPr lang="en-US" sz="1600" dirty="0"/>
          </a:p>
        </p:txBody>
      </p:sp>
      <p:sp>
        <p:nvSpPr>
          <p:cNvPr id="7" name="Shape 4"/>
          <p:cNvSpPr/>
          <p:nvPr/>
        </p:nvSpPr>
        <p:spPr>
          <a:xfrm>
            <a:off x="5486400" y="3524250"/>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F7B538"/>
          </a:solidFill>
          <a:ln/>
        </p:spPr>
      </p:sp>
      <p:sp>
        <p:nvSpPr>
          <p:cNvPr id="8" name="Text 5"/>
          <p:cNvSpPr/>
          <p:nvPr/>
        </p:nvSpPr>
        <p:spPr>
          <a:xfrm>
            <a:off x="3367802" y="3867150"/>
            <a:ext cx="5457825" cy="342900"/>
          </a:xfrm>
          <a:prstGeom prst="rect">
            <a:avLst/>
          </a:prstGeom>
          <a:noFill/>
          <a:ln/>
        </p:spPr>
        <p:txBody>
          <a:bodyPr wrap="square" lIns="0" tIns="0" rIns="0" bIns="0" rtlCol="0" anchor="ctr"/>
          <a:lstStyle/>
          <a:p>
            <a:pPr algn="ctr">
              <a:lnSpc>
                <a:spcPct val="100000"/>
              </a:lnSpc>
            </a:pPr>
            <a:r>
              <a:rPr lang="en-US" sz="2250" dirty="0">
                <a:solidFill>
                  <a:srgbClr val="F8F9FA"/>
                </a:solidFill>
                <a:latin typeface="Quattrocento Sans" pitchFamily="34" charset="0"/>
                <a:ea typeface="Quattrocento Sans" pitchFamily="34" charset="-122"/>
                <a:cs typeface="Quattrocento Sans" pitchFamily="34" charset="-120"/>
              </a:rPr>
              <a:t>Connecting Retired Teachers with Students</a:t>
            </a:r>
            <a:endParaRPr lang="en-US" sz="1600" dirty="0"/>
          </a:p>
        </p:txBody>
      </p:sp>
      <p:sp>
        <p:nvSpPr>
          <p:cNvPr id="9" name="Text 6"/>
          <p:cNvSpPr/>
          <p:nvPr/>
        </p:nvSpPr>
        <p:spPr>
          <a:xfrm>
            <a:off x="3544967" y="4362450"/>
            <a:ext cx="5105400" cy="266700"/>
          </a:xfrm>
          <a:prstGeom prst="rect">
            <a:avLst/>
          </a:prstGeom>
          <a:noFill/>
          <a:ln/>
        </p:spPr>
        <p:txBody>
          <a:bodyPr wrap="square" lIns="0" tIns="0" rIns="0" bIns="0" rtlCol="0" anchor="ctr"/>
          <a:lstStyle/>
          <a:p>
            <a:pPr algn="ctr">
              <a:lnSpc>
                <a:spcPct val="120000"/>
              </a:lnSpc>
            </a:pPr>
            <a:r>
              <a:rPr lang="en-US" sz="1500" dirty="0">
                <a:solidFill>
                  <a:srgbClr val="F8F9FA">
                    <a:alpha val="80000"/>
                  </a:srgbClr>
                </a:solidFill>
                <a:latin typeface="Quattrocento Sans" pitchFamily="34" charset="0"/>
                <a:ea typeface="Quattrocento Sans" pitchFamily="34" charset="-122"/>
                <a:cs typeface="Quattrocento Sans" pitchFamily="34" charset="-120"/>
              </a:rPr>
              <a:t>A Social Impact EdTech Platform Built on Laravel 10 (PHP 8.2)</a:t>
            </a:r>
            <a:endParaRPr lang="en-US" sz="1600" dirty="0"/>
          </a:p>
        </p:txBody>
      </p:sp>
      <p:sp>
        <p:nvSpPr>
          <p:cNvPr id="10" name="Shape 7"/>
          <p:cNvSpPr/>
          <p:nvPr/>
        </p:nvSpPr>
        <p:spPr>
          <a:xfrm>
            <a:off x="4017288" y="5133975"/>
            <a:ext cx="192881" cy="171450"/>
          </a:xfrm>
          <a:custGeom>
            <a:avLst/>
            <a:gdLst/>
            <a:ahLst/>
            <a:cxnLst/>
            <a:rect l="l" t="t" r="r" b="b"/>
            <a:pathLst>
              <a:path w="192881" h="171450">
                <a:moveTo>
                  <a:pt x="120819" y="402"/>
                </a:moveTo>
                <a:cubicBezTo>
                  <a:pt x="115126" y="-1239"/>
                  <a:pt x="109199" y="2076"/>
                  <a:pt x="107558" y="7769"/>
                </a:cubicBezTo>
                <a:lnTo>
                  <a:pt x="64696" y="157788"/>
                </a:lnTo>
                <a:cubicBezTo>
                  <a:pt x="63055" y="163480"/>
                  <a:pt x="66370" y="169407"/>
                  <a:pt x="72063" y="171048"/>
                </a:cubicBezTo>
                <a:cubicBezTo>
                  <a:pt x="77755" y="172689"/>
                  <a:pt x="83682" y="169374"/>
                  <a:pt x="85323" y="163681"/>
                </a:cubicBezTo>
                <a:lnTo>
                  <a:pt x="128186" y="13662"/>
                </a:lnTo>
                <a:cubicBezTo>
                  <a:pt x="129826" y="7970"/>
                  <a:pt x="126511" y="2043"/>
                  <a:pt x="120819" y="402"/>
                </a:cubicBezTo>
                <a:close/>
                <a:moveTo>
                  <a:pt x="142451" y="45977"/>
                </a:moveTo>
                <a:cubicBezTo>
                  <a:pt x="138265" y="50163"/>
                  <a:pt x="138265" y="56960"/>
                  <a:pt x="142451" y="61146"/>
                </a:cubicBezTo>
                <a:lnTo>
                  <a:pt x="167030" y="85725"/>
                </a:lnTo>
                <a:lnTo>
                  <a:pt x="142451" y="110304"/>
                </a:lnTo>
                <a:cubicBezTo>
                  <a:pt x="138265" y="114490"/>
                  <a:pt x="138265" y="121287"/>
                  <a:pt x="142451" y="125473"/>
                </a:cubicBezTo>
                <a:cubicBezTo>
                  <a:pt x="146637" y="129659"/>
                  <a:pt x="153434" y="129659"/>
                  <a:pt x="157620" y="125473"/>
                </a:cubicBezTo>
                <a:lnTo>
                  <a:pt x="189767" y="93326"/>
                </a:lnTo>
                <a:cubicBezTo>
                  <a:pt x="193953" y="89141"/>
                  <a:pt x="193953" y="82343"/>
                  <a:pt x="189767" y="78157"/>
                </a:cubicBezTo>
                <a:lnTo>
                  <a:pt x="157620" y="46010"/>
                </a:lnTo>
                <a:cubicBezTo>
                  <a:pt x="153434" y="41824"/>
                  <a:pt x="146637" y="41824"/>
                  <a:pt x="142451" y="46010"/>
                </a:cubicBezTo>
                <a:close/>
                <a:moveTo>
                  <a:pt x="50464" y="45977"/>
                </a:moveTo>
                <a:cubicBezTo>
                  <a:pt x="46278" y="41791"/>
                  <a:pt x="39480" y="41791"/>
                  <a:pt x="35295" y="45977"/>
                </a:cubicBezTo>
                <a:lnTo>
                  <a:pt x="3148" y="78124"/>
                </a:lnTo>
                <a:cubicBezTo>
                  <a:pt x="-1038" y="82309"/>
                  <a:pt x="-1038" y="89107"/>
                  <a:pt x="3148" y="93293"/>
                </a:cubicBezTo>
                <a:lnTo>
                  <a:pt x="35295" y="125440"/>
                </a:lnTo>
                <a:cubicBezTo>
                  <a:pt x="39480" y="129626"/>
                  <a:pt x="46278" y="129626"/>
                  <a:pt x="50464" y="125440"/>
                </a:cubicBezTo>
                <a:cubicBezTo>
                  <a:pt x="54650" y="121254"/>
                  <a:pt x="54650" y="114456"/>
                  <a:pt x="50464" y="110270"/>
                </a:cubicBezTo>
                <a:lnTo>
                  <a:pt x="25885" y="85725"/>
                </a:lnTo>
                <a:lnTo>
                  <a:pt x="50430" y="61146"/>
                </a:lnTo>
                <a:cubicBezTo>
                  <a:pt x="54616" y="56960"/>
                  <a:pt x="54616" y="50163"/>
                  <a:pt x="50430" y="45977"/>
                </a:cubicBezTo>
                <a:close/>
              </a:path>
            </a:pathLst>
          </a:custGeom>
          <a:solidFill>
            <a:srgbClr val="F7B538"/>
          </a:solidFill>
          <a:ln/>
        </p:spPr>
      </p:sp>
      <p:sp>
        <p:nvSpPr>
          <p:cNvPr id="11" name="Text 8"/>
          <p:cNvSpPr/>
          <p:nvPr/>
        </p:nvSpPr>
        <p:spPr>
          <a:xfrm>
            <a:off x="4251841" y="5086350"/>
            <a:ext cx="828675" cy="266700"/>
          </a:xfrm>
          <a:prstGeom prst="rect">
            <a:avLst/>
          </a:prstGeom>
          <a:noFill/>
          <a:ln/>
        </p:spPr>
        <p:txBody>
          <a:bodyPr wrap="square" lIns="0" tIns="0" rIns="0" bIns="0" rtlCol="0" anchor="ctr"/>
          <a:lstStyle/>
          <a:p>
            <a:pPr algn="ctr">
              <a:lnSpc>
                <a:spcPct val="130000"/>
              </a:lnSpc>
            </a:pPr>
            <a:r>
              <a:rPr lang="en-US" sz="1350" dirty="0">
                <a:solidFill>
                  <a:srgbClr val="F8F9FA">
                    <a:alpha val="70000"/>
                  </a:srgbClr>
                </a:solidFill>
                <a:latin typeface="Quattrocento Sans" pitchFamily="34" charset="0"/>
                <a:ea typeface="Quattrocento Sans" pitchFamily="34" charset="-122"/>
                <a:cs typeface="Quattrocento Sans" pitchFamily="34" charset="-120"/>
              </a:rPr>
              <a:t>Laravel 10</a:t>
            </a:r>
            <a:endParaRPr lang="en-US" sz="1600" dirty="0"/>
          </a:p>
        </p:txBody>
      </p:sp>
      <p:sp>
        <p:nvSpPr>
          <p:cNvPr id="12" name="Shape 9"/>
          <p:cNvSpPr/>
          <p:nvPr/>
        </p:nvSpPr>
        <p:spPr>
          <a:xfrm>
            <a:off x="5375791" y="5133975"/>
            <a:ext cx="150019" cy="171450"/>
          </a:xfrm>
          <a:custGeom>
            <a:avLst/>
            <a:gdLst/>
            <a:ahLst/>
            <a:cxnLst/>
            <a:rect l="l" t="t" r="r" b="b"/>
            <a:pathLst>
              <a:path w="150019" h="171450">
                <a:moveTo>
                  <a:pt x="150019" y="68915"/>
                </a:moveTo>
                <a:cubicBezTo>
                  <a:pt x="145063" y="72197"/>
                  <a:pt x="139370" y="74842"/>
                  <a:pt x="133443" y="76952"/>
                </a:cubicBezTo>
                <a:cubicBezTo>
                  <a:pt x="117704" y="82577"/>
                  <a:pt x="97043" y="85725"/>
                  <a:pt x="75009" y="85725"/>
                </a:cubicBezTo>
                <a:cubicBezTo>
                  <a:pt x="52975" y="85725"/>
                  <a:pt x="32281" y="82544"/>
                  <a:pt x="16576" y="76952"/>
                </a:cubicBezTo>
                <a:cubicBezTo>
                  <a:pt x="10682" y="74842"/>
                  <a:pt x="4956" y="72197"/>
                  <a:pt x="0" y="68915"/>
                </a:cubicBezTo>
                <a:lnTo>
                  <a:pt x="0" y="96441"/>
                </a:lnTo>
                <a:cubicBezTo>
                  <a:pt x="0" y="111242"/>
                  <a:pt x="33587" y="123230"/>
                  <a:pt x="75009" y="123230"/>
                </a:cubicBezTo>
                <a:cubicBezTo>
                  <a:pt x="116432" y="123230"/>
                  <a:pt x="150019" y="111242"/>
                  <a:pt x="150019" y="96441"/>
                </a:cubicBezTo>
                <a:lnTo>
                  <a:pt x="150019" y="68915"/>
                </a:lnTo>
                <a:close/>
                <a:moveTo>
                  <a:pt x="150019" y="42863"/>
                </a:moveTo>
                <a:lnTo>
                  <a:pt x="150019" y="26789"/>
                </a:lnTo>
                <a:cubicBezTo>
                  <a:pt x="150019" y="11988"/>
                  <a:pt x="116432" y="0"/>
                  <a:pt x="75009" y="0"/>
                </a:cubicBezTo>
                <a:cubicBezTo>
                  <a:pt x="33587" y="0"/>
                  <a:pt x="0" y="11988"/>
                  <a:pt x="0" y="26789"/>
                </a:cubicBezTo>
                <a:lnTo>
                  <a:pt x="0" y="42863"/>
                </a:lnTo>
                <a:cubicBezTo>
                  <a:pt x="0" y="57663"/>
                  <a:pt x="33587" y="69652"/>
                  <a:pt x="75009" y="69652"/>
                </a:cubicBezTo>
                <a:cubicBezTo>
                  <a:pt x="116432" y="69652"/>
                  <a:pt x="150019" y="57663"/>
                  <a:pt x="150019" y="42863"/>
                </a:cubicBezTo>
                <a:close/>
                <a:moveTo>
                  <a:pt x="133443" y="130530"/>
                </a:moveTo>
                <a:cubicBezTo>
                  <a:pt x="117738" y="136122"/>
                  <a:pt x="97077" y="139303"/>
                  <a:pt x="75009" y="139303"/>
                </a:cubicBezTo>
                <a:cubicBezTo>
                  <a:pt x="52942" y="139303"/>
                  <a:pt x="32281" y="136122"/>
                  <a:pt x="16576" y="130530"/>
                </a:cubicBezTo>
                <a:cubicBezTo>
                  <a:pt x="10682" y="128420"/>
                  <a:pt x="4956" y="125775"/>
                  <a:pt x="0" y="122493"/>
                </a:cubicBezTo>
                <a:lnTo>
                  <a:pt x="0" y="144661"/>
                </a:lnTo>
                <a:cubicBezTo>
                  <a:pt x="0" y="159462"/>
                  <a:pt x="33587" y="171450"/>
                  <a:pt x="75009" y="171450"/>
                </a:cubicBezTo>
                <a:cubicBezTo>
                  <a:pt x="116432" y="171450"/>
                  <a:pt x="150019" y="159462"/>
                  <a:pt x="150019" y="144661"/>
                </a:cubicBezTo>
                <a:lnTo>
                  <a:pt x="150019" y="122493"/>
                </a:lnTo>
                <a:cubicBezTo>
                  <a:pt x="145063" y="125775"/>
                  <a:pt x="139370" y="128420"/>
                  <a:pt x="133443" y="130530"/>
                </a:cubicBezTo>
                <a:close/>
              </a:path>
            </a:pathLst>
          </a:custGeom>
          <a:solidFill>
            <a:srgbClr val="F7B538"/>
          </a:solidFill>
          <a:ln/>
        </p:spPr>
      </p:sp>
      <p:sp>
        <p:nvSpPr>
          <p:cNvPr id="13" name="Text 10"/>
          <p:cNvSpPr/>
          <p:nvPr/>
        </p:nvSpPr>
        <p:spPr>
          <a:xfrm>
            <a:off x="5588913" y="5086350"/>
            <a:ext cx="657225" cy="266700"/>
          </a:xfrm>
          <a:prstGeom prst="rect">
            <a:avLst/>
          </a:prstGeom>
          <a:noFill/>
          <a:ln/>
        </p:spPr>
        <p:txBody>
          <a:bodyPr wrap="square" lIns="0" tIns="0" rIns="0" bIns="0" rtlCol="0" anchor="ctr"/>
          <a:lstStyle/>
          <a:p>
            <a:pPr algn="ctr">
              <a:lnSpc>
                <a:spcPct val="130000"/>
              </a:lnSpc>
            </a:pPr>
            <a:r>
              <a:rPr lang="en-US" sz="1350" dirty="0">
                <a:solidFill>
                  <a:srgbClr val="F8F9FA">
                    <a:alpha val="70000"/>
                  </a:srgbClr>
                </a:solidFill>
                <a:latin typeface="Quattrocento Sans" pitchFamily="34" charset="0"/>
                <a:ea typeface="Quattrocento Sans" pitchFamily="34" charset="-122"/>
                <a:cs typeface="Quattrocento Sans" pitchFamily="34" charset="-120"/>
              </a:rPr>
              <a:t>PHP 8.2</a:t>
            </a:r>
            <a:endParaRPr lang="en-US" sz="1600" dirty="0"/>
          </a:p>
        </p:txBody>
      </p:sp>
      <p:sp>
        <p:nvSpPr>
          <p:cNvPr id="14" name="Shape 11"/>
          <p:cNvSpPr/>
          <p:nvPr/>
        </p:nvSpPr>
        <p:spPr>
          <a:xfrm>
            <a:off x="6506289" y="5133975"/>
            <a:ext cx="214313" cy="171450"/>
          </a:xfrm>
          <a:custGeom>
            <a:avLst/>
            <a:gdLst/>
            <a:ahLst/>
            <a:cxnLst/>
            <a:rect l="l" t="t" r="r" b="b"/>
            <a:pathLst>
              <a:path w="214313" h="171450">
                <a:moveTo>
                  <a:pt x="107156" y="5358"/>
                </a:moveTo>
                <a:cubicBezTo>
                  <a:pt x="126377" y="5358"/>
                  <a:pt x="141982" y="20963"/>
                  <a:pt x="141982" y="40184"/>
                </a:cubicBezTo>
                <a:cubicBezTo>
                  <a:pt x="141982" y="59404"/>
                  <a:pt x="126377" y="75009"/>
                  <a:pt x="107156" y="75009"/>
                </a:cubicBezTo>
                <a:cubicBezTo>
                  <a:pt x="87935" y="75009"/>
                  <a:pt x="72330" y="59404"/>
                  <a:pt x="72330" y="40184"/>
                </a:cubicBezTo>
                <a:cubicBezTo>
                  <a:pt x="72330" y="20963"/>
                  <a:pt x="87935" y="5358"/>
                  <a:pt x="107156" y="5358"/>
                </a:cubicBezTo>
                <a:close/>
                <a:moveTo>
                  <a:pt x="32147" y="29468"/>
                </a:moveTo>
                <a:cubicBezTo>
                  <a:pt x="45454" y="29468"/>
                  <a:pt x="56257" y="40271"/>
                  <a:pt x="56257" y="53578"/>
                </a:cubicBezTo>
                <a:cubicBezTo>
                  <a:pt x="56257" y="66885"/>
                  <a:pt x="45454" y="77688"/>
                  <a:pt x="32147" y="77688"/>
                </a:cubicBezTo>
                <a:cubicBezTo>
                  <a:pt x="18840" y="77688"/>
                  <a:pt x="8037" y="66885"/>
                  <a:pt x="8037" y="53578"/>
                </a:cubicBezTo>
                <a:cubicBezTo>
                  <a:pt x="8037" y="40271"/>
                  <a:pt x="18840" y="29468"/>
                  <a:pt x="32147" y="29468"/>
                </a:cubicBezTo>
                <a:close/>
                <a:moveTo>
                  <a:pt x="0" y="139303"/>
                </a:moveTo>
                <a:cubicBezTo>
                  <a:pt x="0" y="115628"/>
                  <a:pt x="19188" y="96441"/>
                  <a:pt x="42863" y="96441"/>
                </a:cubicBezTo>
                <a:cubicBezTo>
                  <a:pt x="47149" y="96441"/>
                  <a:pt x="51301" y="97077"/>
                  <a:pt x="55219" y="98249"/>
                </a:cubicBezTo>
                <a:cubicBezTo>
                  <a:pt x="44202" y="110572"/>
                  <a:pt x="37505" y="126846"/>
                  <a:pt x="37505" y="144661"/>
                </a:cubicBezTo>
                <a:lnTo>
                  <a:pt x="37505" y="150019"/>
                </a:lnTo>
                <a:cubicBezTo>
                  <a:pt x="37505" y="153836"/>
                  <a:pt x="38308" y="157453"/>
                  <a:pt x="39748" y="160734"/>
                </a:cubicBezTo>
                <a:lnTo>
                  <a:pt x="10716" y="160734"/>
                </a:lnTo>
                <a:cubicBezTo>
                  <a:pt x="4789" y="160734"/>
                  <a:pt x="0" y="155946"/>
                  <a:pt x="0" y="150019"/>
                </a:cubicBezTo>
                <a:lnTo>
                  <a:pt x="0" y="139303"/>
                </a:lnTo>
                <a:close/>
                <a:moveTo>
                  <a:pt x="174564" y="160734"/>
                </a:moveTo>
                <a:cubicBezTo>
                  <a:pt x="176004" y="157453"/>
                  <a:pt x="176808" y="153836"/>
                  <a:pt x="176808" y="150019"/>
                </a:cubicBezTo>
                <a:lnTo>
                  <a:pt x="176808" y="144661"/>
                </a:lnTo>
                <a:cubicBezTo>
                  <a:pt x="176808" y="126846"/>
                  <a:pt x="170111" y="110572"/>
                  <a:pt x="159094" y="98249"/>
                </a:cubicBezTo>
                <a:cubicBezTo>
                  <a:pt x="163011" y="97077"/>
                  <a:pt x="167164" y="96441"/>
                  <a:pt x="171450" y="96441"/>
                </a:cubicBezTo>
                <a:cubicBezTo>
                  <a:pt x="195125" y="96441"/>
                  <a:pt x="214313" y="115628"/>
                  <a:pt x="214313" y="139303"/>
                </a:cubicBezTo>
                <a:lnTo>
                  <a:pt x="214313" y="150019"/>
                </a:lnTo>
                <a:cubicBezTo>
                  <a:pt x="214313" y="155946"/>
                  <a:pt x="209524" y="160734"/>
                  <a:pt x="203597" y="160734"/>
                </a:cubicBezTo>
                <a:lnTo>
                  <a:pt x="174564" y="160734"/>
                </a:lnTo>
                <a:close/>
                <a:moveTo>
                  <a:pt x="158055" y="53578"/>
                </a:moveTo>
                <a:cubicBezTo>
                  <a:pt x="158055" y="40271"/>
                  <a:pt x="168859" y="29468"/>
                  <a:pt x="182166" y="29468"/>
                </a:cubicBezTo>
                <a:cubicBezTo>
                  <a:pt x="195472" y="29468"/>
                  <a:pt x="206276" y="40271"/>
                  <a:pt x="206276" y="53578"/>
                </a:cubicBezTo>
                <a:cubicBezTo>
                  <a:pt x="206276" y="66885"/>
                  <a:pt x="195472" y="77688"/>
                  <a:pt x="182166" y="77688"/>
                </a:cubicBezTo>
                <a:cubicBezTo>
                  <a:pt x="168859" y="77688"/>
                  <a:pt x="158055" y="66885"/>
                  <a:pt x="158055" y="53578"/>
                </a:cubicBezTo>
                <a:close/>
                <a:moveTo>
                  <a:pt x="53578" y="144661"/>
                </a:moveTo>
                <a:cubicBezTo>
                  <a:pt x="53578" y="115059"/>
                  <a:pt x="77554" y="91083"/>
                  <a:pt x="107156" y="91083"/>
                </a:cubicBezTo>
                <a:cubicBezTo>
                  <a:pt x="136758" y="91083"/>
                  <a:pt x="160734" y="115059"/>
                  <a:pt x="160734" y="144661"/>
                </a:cubicBezTo>
                <a:lnTo>
                  <a:pt x="160734" y="150019"/>
                </a:lnTo>
                <a:cubicBezTo>
                  <a:pt x="160734" y="155946"/>
                  <a:pt x="155946" y="160734"/>
                  <a:pt x="150019" y="160734"/>
                </a:cubicBezTo>
                <a:lnTo>
                  <a:pt x="64294" y="160734"/>
                </a:lnTo>
                <a:cubicBezTo>
                  <a:pt x="58367" y="160734"/>
                  <a:pt x="53578" y="155946"/>
                  <a:pt x="53578" y="150019"/>
                </a:cubicBezTo>
                <a:lnTo>
                  <a:pt x="53578" y="144661"/>
                </a:lnTo>
                <a:close/>
              </a:path>
            </a:pathLst>
          </a:custGeom>
          <a:solidFill>
            <a:srgbClr val="F7B538"/>
          </a:solidFill>
          <a:ln/>
        </p:spPr>
      </p:sp>
      <p:sp>
        <p:nvSpPr>
          <p:cNvPr id="15" name="Text 12"/>
          <p:cNvSpPr/>
          <p:nvPr/>
        </p:nvSpPr>
        <p:spPr>
          <a:xfrm>
            <a:off x="6751558" y="5086350"/>
            <a:ext cx="1476375" cy="266700"/>
          </a:xfrm>
          <a:prstGeom prst="rect">
            <a:avLst/>
          </a:prstGeom>
          <a:noFill/>
          <a:ln/>
        </p:spPr>
        <p:txBody>
          <a:bodyPr wrap="square" lIns="0" tIns="0" rIns="0" bIns="0" rtlCol="0" anchor="ctr"/>
          <a:lstStyle/>
          <a:p>
            <a:pPr algn="ctr">
              <a:lnSpc>
                <a:spcPct val="130000"/>
              </a:lnSpc>
            </a:pPr>
            <a:r>
              <a:rPr lang="en-US" sz="1350" dirty="0">
                <a:solidFill>
                  <a:srgbClr val="F8F9FA">
                    <a:alpha val="70000"/>
                  </a:srgbClr>
                </a:solidFill>
                <a:latin typeface="Quattrocento Sans" pitchFamily="34" charset="0"/>
                <a:ea typeface="Quattrocento Sans" pitchFamily="34" charset="-122"/>
                <a:cs typeface="Quattrocento Sans" pitchFamily="34" charset="-120"/>
              </a:rPr>
              <a:t>18 Unique Features</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spc="105" kern="0" dirty="0">
                <a:solidFill>
                  <a:srgbClr val="4A7C59"/>
                </a:solidFill>
                <a:latin typeface="Quattrocento Sans" pitchFamily="34" charset="0"/>
                <a:ea typeface="Quattrocento Sans" pitchFamily="34" charset="-122"/>
                <a:cs typeface="Quattrocento Sans" pitchFamily="34" charset="-120"/>
              </a:rPr>
              <a:t>PRESENTATION OVERVIEW</a:t>
            </a:r>
            <a:endParaRPr lang="en-US" sz="1600" dirty="0"/>
          </a:p>
        </p:txBody>
      </p:sp>
      <p:sp>
        <p:nvSpPr>
          <p:cNvPr id="3" name="Text 1"/>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a:solidFill>
                  <a:srgbClr val="1A535C"/>
                </a:solidFill>
                <a:latin typeface="Liter" pitchFamily="34" charset="0"/>
                <a:ea typeface="Liter" pitchFamily="34" charset="-122"/>
                <a:cs typeface="Liter" pitchFamily="34" charset="-120"/>
              </a:rPr>
              <a:t>What We'll Cover</a:t>
            </a:r>
            <a:endParaRPr lang="en-US" sz="1600" dirty="0"/>
          </a:p>
        </p:txBody>
      </p:sp>
      <p:sp>
        <p:nvSpPr>
          <p:cNvPr id="4" name="Shape 2"/>
          <p:cNvSpPr/>
          <p:nvPr/>
        </p:nvSpPr>
        <p:spPr>
          <a:xfrm>
            <a:off x="381000" y="12573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F7B538"/>
          </a:solidFill>
          <a:ln/>
        </p:spPr>
      </p:sp>
      <p:sp>
        <p:nvSpPr>
          <p:cNvPr id="5" name="Shape 3"/>
          <p:cNvSpPr/>
          <p:nvPr/>
        </p:nvSpPr>
        <p:spPr>
          <a:xfrm>
            <a:off x="400050" y="1524000"/>
            <a:ext cx="5543550" cy="1123950"/>
          </a:xfrm>
          <a:custGeom>
            <a:avLst/>
            <a:gdLst/>
            <a:ahLst/>
            <a:cxnLst/>
            <a:rect l="l" t="t" r="r" b="b"/>
            <a:pathLst>
              <a:path w="5543550" h="1123950">
                <a:moveTo>
                  <a:pt x="38100" y="0"/>
                </a:moveTo>
                <a:lnTo>
                  <a:pt x="5429256" y="0"/>
                </a:lnTo>
                <a:cubicBezTo>
                  <a:pt x="5492379" y="0"/>
                  <a:pt x="5543550" y="51171"/>
                  <a:pt x="5543550" y="114294"/>
                </a:cubicBezTo>
                <a:lnTo>
                  <a:pt x="5543550" y="1009656"/>
                </a:lnTo>
                <a:cubicBezTo>
                  <a:pt x="5543550" y="1072779"/>
                  <a:pt x="5492379" y="1123950"/>
                  <a:pt x="5429256" y="1123950"/>
                </a:cubicBezTo>
                <a:lnTo>
                  <a:pt x="38100" y="1123950"/>
                </a:lnTo>
                <a:cubicBezTo>
                  <a:pt x="17072" y="1123950"/>
                  <a:pt x="0" y="1106878"/>
                  <a:pt x="0" y="1085850"/>
                </a:cubicBezTo>
                <a:lnTo>
                  <a:pt x="0" y="38100"/>
                </a:lnTo>
                <a:cubicBezTo>
                  <a:pt x="0" y="17072"/>
                  <a:pt x="17072" y="0"/>
                  <a:pt x="38100" y="0"/>
                </a:cubicBezTo>
                <a:close/>
              </a:path>
            </a:pathLst>
          </a:custGeom>
          <a:solidFill>
            <a:srgbClr val="FFFFFF"/>
          </a:solidFill>
          <a:ln/>
          <a:effectLst>
            <a:outerShdw sx="100000" sy="100000" kx="0" ky="0" algn="bl" rotWithShape="0" blurRad="57150" dist="38100" dir="5400000">
              <a:srgbClr val="000000">
                <a:alpha val="10196"/>
              </a:srgbClr>
            </a:outerShdw>
          </a:effectLst>
        </p:spPr>
      </p:sp>
      <p:sp>
        <p:nvSpPr>
          <p:cNvPr id="6" name="Shape 4"/>
          <p:cNvSpPr/>
          <p:nvPr/>
        </p:nvSpPr>
        <p:spPr>
          <a:xfrm>
            <a:off x="400050" y="1524000"/>
            <a:ext cx="38100" cy="1123950"/>
          </a:xfrm>
          <a:custGeom>
            <a:avLst/>
            <a:gdLst/>
            <a:ahLst/>
            <a:cxnLst/>
            <a:rect l="l" t="t" r="r" b="b"/>
            <a:pathLst>
              <a:path w="38100" h="1123950">
                <a:moveTo>
                  <a:pt x="38100" y="0"/>
                </a:moveTo>
                <a:lnTo>
                  <a:pt x="38100" y="0"/>
                </a:lnTo>
                <a:lnTo>
                  <a:pt x="38100" y="1123950"/>
                </a:lnTo>
                <a:lnTo>
                  <a:pt x="38100" y="1123950"/>
                </a:lnTo>
                <a:cubicBezTo>
                  <a:pt x="17072" y="1123950"/>
                  <a:pt x="0" y="1106878"/>
                  <a:pt x="0" y="1085850"/>
                </a:cubicBezTo>
                <a:lnTo>
                  <a:pt x="0" y="38100"/>
                </a:lnTo>
                <a:cubicBezTo>
                  <a:pt x="0" y="17072"/>
                  <a:pt x="17072" y="0"/>
                  <a:pt x="38100" y="0"/>
                </a:cubicBezTo>
                <a:close/>
              </a:path>
            </a:pathLst>
          </a:custGeom>
          <a:solidFill>
            <a:srgbClr val="1A535C"/>
          </a:solidFill>
          <a:ln/>
        </p:spPr>
      </p:sp>
      <p:sp>
        <p:nvSpPr>
          <p:cNvPr id="7" name="Shape 5"/>
          <p:cNvSpPr/>
          <p:nvPr/>
        </p:nvSpPr>
        <p:spPr>
          <a:xfrm>
            <a:off x="571500" y="16764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1A535C"/>
          </a:solidFill>
          <a:ln/>
        </p:spPr>
      </p:sp>
      <p:sp>
        <p:nvSpPr>
          <p:cNvPr id="8" name="Text 6"/>
          <p:cNvSpPr/>
          <p:nvPr/>
        </p:nvSpPr>
        <p:spPr>
          <a:xfrm>
            <a:off x="523875" y="1676400"/>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01</a:t>
            </a:r>
            <a:endParaRPr lang="en-US" sz="1600" dirty="0"/>
          </a:p>
        </p:txBody>
      </p:sp>
      <p:sp>
        <p:nvSpPr>
          <p:cNvPr id="9" name="Text 7"/>
          <p:cNvSpPr/>
          <p:nvPr/>
        </p:nvSpPr>
        <p:spPr>
          <a:xfrm>
            <a:off x="1181100" y="1676400"/>
            <a:ext cx="4705350" cy="266700"/>
          </a:xfrm>
          <a:prstGeom prst="rect">
            <a:avLst/>
          </a:prstGeom>
          <a:noFill/>
          <a:ln/>
        </p:spPr>
        <p:txBody>
          <a:bodyPr wrap="square" lIns="0" tIns="0" rIns="0" bIns="0" rtlCol="0" anchor="ctr"/>
          <a:lstStyle/>
          <a:p>
            <a:pPr>
              <a:lnSpc>
                <a:spcPct val="120000"/>
              </a:lnSpc>
            </a:pPr>
            <a:r>
              <a:rPr lang="en-US" sz="1500" b="1" dirty="0">
                <a:solidFill>
                  <a:srgbClr val="1A535C"/>
                </a:solidFill>
                <a:latin typeface="Liter" pitchFamily="34" charset="0"/>
                <a:ea typeface="Liter" pitchFamily="34" charset="-122"/>
                <a:cs typeface="Liter" pitchFamily="34" charset="-120"/>
              </a:rPr>
              <a:t>Problem Statement &amp; Market Gap</a:t>
            </a:r>
            <a:endParaRPr lang="en-US" sz="1600" dirty="0"/>
          </a:p>
        </p:txBody>
      </p:sp>
      <p:sp>
        <p:nvSpPr>
          <p:cNvPr id="10" name="Text 8"/>
          <p:cNvSpPr/>
          <p:nvPr/>
        </p:nvSpPr>
        <p:spPr>
          <a:xfrm>
            <a:off x="1181100" y="1981200"/>
            <a:ext cx="4686300" cy="228600"/>
          </a:xfrm>
          <a:prstGeom prst="rect">
            <a:avLst/>
          </a:prstGeom>
          <a:noFill/>
          <a:ln/>
        </p:spPr>
        <p:txBody>
          <a:bodyPr wrap="square" lIns="0" tIns="0" rIns="0" bIns="0" rtlCol="0" anchor="ctr"/>
          <a:lstStyle/>
          <a:p>
            <a:pPr>
              <a:lnSpc>
                <a:spcPct val="130000"/>
              </a:lnSpc>
            </a:pPr>
            <a:r>
              <a:rPr lang="en-US" sz="1200" dirty="0">
                <a:solidFill>
                  <a:srgbClr val="212529">
                    <a:alpha val="70000"/>
                  </a:srgbClr>
                </a:solidFill>
                <a:latin typeface="Quattrocento Sans" pitchFamily="34" charset="0"/>
                <a:ea typeface="Quattrocento Sans" pitchFamily="34" charset="-122"/>
                <a:cs typeface="Quattrocento Sans" pitchFamily="34" charset="-120"/>
              </a:rPr>
              <a:t>The dual-sided challenge facing students and retired teachers in India</a:t>
            </a:r>
            <a:endParaRPr lang="en-US" sz="1600" dirty="0"/>
          </a:p>
        </p:txBody>
      </p:sp>
      <p:sp>
        <p:nvSpPr>
          <p:cNvPr id="11" name="Shape 9"/>
          <p:cNvSpPr/>
          <p:nvPr/>
        </p:nvSpPr>
        <p:spPr>
          <a:xfrm>
            <a:off x="6267450" y="1524000"/>
            <a:ext cx="5543550" cy="1123950"/>
          </a:xfrm>
          <a:custGeom>
            <a:avLst/>
            <a:gdLst/>
            <a:ahLst/>
            <a:cxnLst/>
            <a:rect l="l" t="t" r="r" b="b"/>
            <a:pathLst>
              <a:path w="5543550" h="1123950">
                <a:moveTo>
                  <a:pt x="38100" y="0"/>
                </a:moveTo>
                <a:lnTo>
                  <a:pt x="5429256" y="0"/>
                </a:lnTo>
                <a:cubicBezTo>
                  <a:pt x="5492379" y="0"/>
                  <a:pt x="5543550" y="51171"/>
                  <a:pt x="5543550" y="114294"/>
                </a:cubicBezTo>
                <a:lnTo>
                  <a:pt x="5543550" y="1009656"/>
                </a:lnTo>
                <a:cubicBezTo>
                  <a:pt x="5543550" y="1072779"/>
                  <a:pt x="5492379" y="1123950"/>
                  <a:pt x="5429256" y="1123950"/>
                </a:cubicBezTo>
                <a:lnTo>
                  <a:pt x="38100" y="1123950"/>
                </a:lnTo>
                <a:cubicBezTo>
                  <a:pt x="17072" y="1123950"/>
                  <a:pt x="0" y="1106878"/>
                  <a:pt x="0" y="1085850"/>
                </a:cubicBezTo>
                <a:lnTo>
                  <a:pt x="0" y="38100"/>
                </a:lnTo>
                <a:cubicBezTo>
                  <a:pt x="0" y="17072"/>
                  <a:pt x="17072" y="0"/>
                  <a:pt x="38100" y="0"/>
                </a:cubicBezTo>
                <a:close/>
              </a:path>
            </a:pathLst>
          </a:custGeom>
          <a:solidFill>
            <a:srgbClr val="FFFFFF"/>
          </a:solidFill>
          <a:ln/>
          <a:effectLst>
            <a:outerShdw sx="100000" sy="100000" kx="0" ky="0" algn="bl" rotWithShape="0" blurRad="57150" dist="38100" dir="5400000">
              <a:srgbClr val="000000">
                <a:alpha val="10196"/>
              </a:srgbClr>
            </a:outerShdw>
          </a:effectLst>
        </p:spPr>
      </p:sp>
      <p:sp>
        <p:nvSpPr>
          <p:cNvPr id="12" name="Shape 10"/>
          <p:cNvSpPr/>
          <p:nvPr/>
        </p:nvSpPr>
        <p:spPr>
          <a:xfrm>
            <a:off x="6267450" y="1524000"/>
            <a:ext cx="38100" cy="1123950"/>
          </a:xfrm>
          <a:custGeom>
            <a:avLst/>
            <a:gdLst/>
            <a:ahLst/>
            <a:cxnLst/>
            <a:rect l="l" t="t" r="r" b="b"/>
            <a:pathLst>
              <a:path w="38100" h="1123950">
                <a:moveTo>
                  <a:pt x="38100" y="0"/>
                </a:moveTo>
                <a:lnTo>
                  <a:pt x="38100" y="0"/>
                </a:lnTo>
                <a:lnTo>
                  <a:pt x="38100" y="1123950"/>
                </a:lnTo>
                <a:lnTo>
                  <a:pt x="38100" y="1123950"/>
                </a:lnTo>
                <a:cubicBezTo>
                  <a:pt x="17072" y="1123950"/>
                  <a:pt x="0" y="1106878"/>
                  <a:pt x="0" y="1085850"/>
                </a:cubicBezTo>
                <a:lnTo>
                  <a:pt x="0" y="38100"/>
                </a:lnTo>
                <a:cubicBezTo>
                  <a:pt x="0" y="17072"/>
                  <a:pt x="17072" y="0"/>
                  <a:pt x="38100" y="0"/>
                </a:cubicBezTo>
                <a:close/>
              </a:path>
            </a:pathLst>
          </a:custGeom>
          <a:solidFill>
            <a:srgbClr val="4A7C59"/>
          </a:solidFill>
          <a:ln/>
        </p:spPr>
      </p:sp>
      <p:sp>
        <p:nvSpPr>
          <p:cNvPr id="13" name="Shape 11"/>
          <p:cNvSpPr/>
          <p:nvPr/>
        </p:nvSpPr>
        <p:spPr>
          <a:xfrm>
            <a:off x="6438900" y="16764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4A7C59"/>
          </a:solidFill>
          <a:ln/>
        </p:spPr>
      </p:sp>
      <p:sp>
        <p:nvSpPr>
          <p:cNvPr id="14" name="Text 12"/>
          <p:cNvSpPr/>
          <p:nvPr/>
        </p:nvSpPr>
        <p:spPr>
          <a:xfrm>
            <a:off x="6391275" y="1676400"/>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02</a:t>
            </a:r>
            <a:endParaRPr lang="en-US" sz="1600" dirty="0"/>
          </a:p>
        </p:txBody>
      </p:sp>
      <p:sp>
        <p:nvSpPr>
          <p:cNvPr id="15" name="Text 13"/>
          <p:cNvSpPr/>
          <p:nvPr/>
        </p:nvSpPr>
        <p:spPr>
          <a:xfrm>
            <a:off x="7048500" y="1676400"/>
            <a:ext cx="4705350" cy="266700"/>
          </a:xfrm>
          <a:prstGeom prst="rect">
            <a:avLst/>
          </a:prstGeom>
          <a:noFill/>
          <a:ln/>
        </p:spPr>
        <p:txBody>
          <a:bodyPr wrap="square" lIns="0" tIns="0" rIns="0" bIns="0" rtlCol="0" anchor="ctr"/>
          <a:lstStyle/>
          <a:p>
            <a:pPr>
              <a:lnSpc>
                <a:spcPct val="120000"/>
              </a:lnSpc>
            </a:pPr>
            <a:r>
              <a:rPr lang="en-US" sz="1500" b="1" dirty="0">
                <a:solidFill>
                  <a:srgbClr val="1A535C"/>
                </a:solidFill>
                <a:latin typeface="Liter" pitchFamily="34" charset="0"/>
                <a:ea typeface="Liter" pitchFamily="34" charset="-122"/>
                <a:cs typeface="Liter" pitchFamily="34" charset="-120"/>
              </a:rPr>
              <a:t>Market Opportunity &amp; Statistics</a:t>
            </a:r>
            <a:endParaRPr lang="en-US" sz="1600" dirty="0"/>
          </a:p>
        </p:txBody>
      </p:sp>
      <p:sp>
        <p:nvSpPr>
          <p:cNvPr id="16" name="Text 14"/>
          <p:cNvSpPr/>
          <p:nvPr/>
        </p:nvSpPr>
        <p:spPr>
          <a:xfrm>
            <a:off x="7048500" y="1981200"/>
            <a:ext cx="4686300" cy="228600"/>
          </a:xfrm>
          <a:prstGeom prst="rect">
            <a:avLst/>
          </a:prstGeom>
          <a:noFill/>
          <a:ln/>
        </p:spPr>
        <p:txBody>
          <a:bodyPr wrap="square" lIns="0" tIns="0" rIns="0" bIns="0" rtlCol="0" anchor="ctr"/>
          <a:lstStyle/>
          <a:p>
            <a:pPr>
              <a:lnSpc>
                <a:spcPct val="130000"/>
              </a:lnSpc>
            </a:pPr>
            <a:r>
              <a:rPr lang="en-US" sz="1200" dirty="0">
                <a:solidFill>
                  <a:srgbClr val="212529">
                    <a:alpha val="70000"/>
                  </a:srgbClr>
                </a:solidFill>
                <a:latin typeface="Quattrocento Sans" pitchFamily="34" charset="0"/>
                <a:ea typeface="Quattrocento Sans" pitchFamily="34" charset="-122"/>
                <a:cs typeface="Quattrocento Sans" pitchFamily="34" charset="-120"/>
              </a:rPr>
              <a:t>India EdTech market data, competitive landscape analysis</a:t>
            </a:r>
            <a:endParaRPr lang="en-US" sz="1600" dirty="0"/>
          </a:p>
        </p:txBody>
      </p:sp>
      <p:sp>
        <p:nvSpPr>
          <p:cNvPr id="17" name="Shape 15"/>
          <p:cNvSpPr/>
          <p:nvPr/>
        </p:nvSpPr>
        <p:spPr>
          <a:xfrm>
            <a:off x="400050" y="2800350"/>
            <a:ext cx="5543550" cy="1123950"/>
          </a:xfrm>
          <a:custGeom>
            <a:avLst/>
            <a:gdLst/>
            <a:ahLst/>
            <a:cxnLst/>
            <a:rect l="l" t="t" r="r" b="b"/>
            <a:pathLst>
              <a:path w="5543550" h="1123950">
                <a:moveTo>
                  <a:pt x="38100" y="0"/>
                </a:moveTo>
                <a:lnTo>
                  <a:pt x="5429256" y="0"/>
                </a:lnTo>
                <a:cubicBezTo>
                  <a:pt x="5492379" y="0"/>
                  <a:pt x="5543550" y="51171"/>
                  <a:pt x="5543550" y="114294"/>
                </a:cubicBezTo>
                <a:lnTo>
                  <a:pt x="5543550" y="1009656"/>
                </a:lnTo>
                <a:cubicBezTo>
                  <a:pt x="5543550" y="1072779"/>
                  <a:pt x="5492379" y="1123950"/>
                  <a:pt x="5429256" y="1123950"/>
                </a:cubicBezTo>
                <a:lnTo>
                  <a:pt x="38100" y="1123950"/>
                </a:lnTo>
                <a:cubicBezTo>
                  <a:pt x="17072" y="1123950"/>
                  <a:pt x="0" y="1106878"/>
                  <a:pt x="0" y="1085850"/>
                </a:cubicBezTo>
                <a:lnTo>
                  <a:pt x="0" y="38100"/>
                </a:lnTo>
                <a:cubicBezTo>
                  <a:pt x="0" y="17072"/>
                  <a:pt x="17072" y="0"/>
                  <a:pt x="38100" y="0"/>
                </a:cubicBezTo>
                <a:close/>
              </a:path>
            </a:pathLst>
          </a:custGeom>
          <a:solidFill>
            <a:srgbClr val="FFFFFF"/>
          </a:solidFill>
          <a:ln/>
          <a:effectLst>
            <a:outerShdw sx="100000" sy="100000" kx="0" ky="0" algn="bl" rotWithShape="0" blurRad="57150" dist="38100" dir="5400000">
              <a:srgbClr val="000000">
                <a:alpha val="10196"/>
              </a:srgbClr>
            </a:outerShdw>
          </a:effectLst>
        </p:spPr>
      </p:sp>
      <p:sp>
        <p:nvSpPr>
          <p:cNvPr id="18" name="Shape 16"/>
          <p:cNvSpPr/>
          <p:nvPr/>
        </p:nvSpPr>
        <p:spPr>
          <a:xfrm>
            <a:off x="400050" y="2800350"/>
            <a:ext cx="38100" cy="1123950"/>
          </a:xfrm>
          <a:custGeom>
            <a:avLst/>
            <a:gdLst/>
            <a:ahLst/>
            <a:cxnLst/>
            <a:rect l="l" t="t" r="r" b="b"/>
            <a:pathLst>
              <a:path w="38100" h="1123950">
                <a:moveTo>
                  <a:pt x="38100" y="0"/>
                </a:moveTo>
                <a:lnTo>
                  <a:pt x="38100" y="0"/>
                </a:lnTo>
                <a:lnTo>
                  <a:pt x="38100" y="1123950"/>
                </a:lnTo>
                <a:lnTo>
                  <a:pt x="38100" y="1123950"/>
                </a:lnTo>
                <a:cubicBezTo>
                  <a:pt x="17072" y="1123950"/>
                  <a:pt x="0" y="1106878"/>
                  <a:pt x="0" y="1085850"/>
                </a:cubicBezTo>
                <a:lnTo>
                  <a:pt x="0" y="38100"/>
                </a:lnTo>
                <a:cubicBezTo>
                  <a:pt x="0" y="17072"/>
                  <a:pt x="17072" y="0"/>
                  <a:pt x="38100" y="0"/>
                </a:cubicBezTo>
                <a:close/>
              </a:path>
            </a:pathLst>
          </a:custGeom>
          <a:solidFill>
            <a:srgbClr val="F7B538"/>
          </a:solidFill>
          <a:ln/>
        </p:spPr>
      </p:sp>
      <p:sp>
        <p:nvSpPr>
          <p:cNvPr id="19" name="Shape 17"/>
          <p:cNvSpPr/>
          <p:nvPr/>
        </p:nvSpPr>
        <p:spPr>
          <a:xfrm>
            <a:off x="571500" y="295275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F7B538"/>
          </a:solidFill>
          <a:ln/>
        </p:spPr>
      </p:sp>
      <p:sp>
        <p:nvSpPr>
          <p:cNvPr id="20" name="Text 18"/>
          <p:cNvSpPr/>
          <p:nvPr/>
        </p:nvSpPr>
        <p:spPr>
          <a:xfrm>
            <a:off x="523875" y="2952750"/>
            <a:ext cx="552450" cy="457200"/>
          </a:xfrm>
          <a:prstGeom prst="rect">
            <a:avLst/>
          </a:prstGeom>
          <a:noFill/>
          <a:ln/>
        </p:spPr>
        <p:txBody>
          <a:bodyPr wrap="square" lIns="0" tIns="0" rIns="0" bIns="0" rtlCol="0" anchor="ctr"/>
          <a:lstStyle/>
          <a:p>
            <a:pPr algn="ctr">
              <a:lnSpc>
                <a:spcPct val="120000"/>
              </a:lnSpc>
            </a:pPr>
            <a:r>
              <a:rPr lang="en-US" sz="1500" b="1" dirty="0">
                <a:solidFill>
                  <a:srgbClr val="1A535C"/>
                </a:solidFill>
                <a:latin typeface="Quattrocento Sans" pitchFamily="34" charset="0"/>
                <a:ea typeface="Quattrocento Sans" pitchFamily="34" charset="-122"/>
                <a:cs typeface="Quattrocento Sans" pitchFamily="34" charset="-120"/>
              </a:rPr>
              <a:t>03</a:t>
            </a:r>
            <a:endParaRPr lang="en-US" sz="1600" dirty="0"/>
          </a:p>
        </p:txBody>
      </p:sp>
      <p:sp>
        <p:nvSpPr>
          <p:cNvPr id="21" name="Text 19"/>
          <p:cNvSpPr/>
          <p:nvPr/>
        </p:nvSpPr>
        <p:spPr>
          <a:xfrm>
            <a:off x="1181100" y="2952750"/>
            <a:ext cx="4705350" cy="266700"/>
          </a:xfrm>
          <a:prstGeom prst="rect">
            <a:avLst/>
          </a:prstGeom>
          <a:noFill/>
          <a:ln/>
        </p:spPr>
        <p:txBody>
          <a:bodyPr wrap="square" lIns="0" tIns="0" rIns="0" bIns="0" rtlCol="0" anchor="ctr"/>
          <a:lstStyle/>
          <a:p>
            <a:pPr>
              <a:lnSpc>
                <a:spcPct val="120000"/>
              </a:lnSpc>
            </a:pPr>
            <a:r>
              <a:rPr lang="en-US" sz="1500" b="1" dirty="0">
                <a:solidFill>
                  <a:srgbClr val="1A535C"/>
                </a:solidFill>
                <a:latin typeface="Liter" pitchFamily="34" charset="0"/>
                <a:ea typeface="Liter" pitchFamily="34" charset="-122"/>
                <a:cs typeface="Liter" pitchFamily="34" charset="-120"/>
              </a:rPr>
              <a:t>Core Platform Features</a:t>
            </a:r>
            <a:endParaRPr lang="en-US" sz="1600" dirty="0"/>
          </a:p>
        </p:txBody>
      </p:sp>
      <p:sp>
        <p:nvSpPr>
          <p:cNvPr id="22" name="Text 20"/>
          <p:cNvSpPr/>
          <p:nvPr/>
        </p:nvSpPr>
        <p:spPr>
          <a:xfrm>
            <a:off x="1181100" y="3257550"/>
            <a:ext cx="4686300" cy="228600"/>
          </a:xfrm>
          <a:prstGeom prst="rect">
            <a:avLst/>
          </a:prstGeom>
          <a:noFill/>
          <a:ln/>
        </p:spPr>
        <p:txBody>
          <a:bodyPr wrap="square" lIns="0" tIns="0" rIns="0" bIns="0" rtlCol="0" anchor="ctr"/>
          <a:lstStyle/>
          <a:p>
            <a:pPr>
              <a:lnSpc>
                <a:spcPct val="130000"/>
              </a:lnSpc>
            </a:pPr>
            <a:r>
              <a:rPr lang="en-US" sz="1200" dirty="0">
                <a:solidFill>
                  <a:srgbClr val="212529">
                    <a:alpha val="70000"/>
                  </a:srgbClr>
                </a:solidFill>
                <a:latin typeface="Quattrocento Sans" pitchFamily="34" charset="0"/>
                <a:ea typeface="Quattrocento Sans" pitchFamily="34" charset="-122"/>
                <a:cs typeface="Quattrocento Sans" pitchFamily="34" charset="-120"/>
              </a:rPr>
              <a:t>9 foundational features built on Laravel PHP foundation</a:t>
            </a:r>
            <a:endParaRPr lang="en-US" sz="1600" dirty="0"/>
          </a:p>
        </p:txBody>
      </p:sp>
      <p:sp>
        <p:nvSpPr>
          <p:cNvPr id="23" name="Shape 21"/>
          <p:cNvSpPr/>
          <p:nvPr/>
        </p:nvSpPr>
        <p:spPr>
          <a:xfrm>
            <a:off x="6267450" y="2800350"/>
            <a:ext cx="5543550" cy="1123950"/>
          </a:xfrm>
          <a:custGeom>
            <a:avLst/>
            <a:gdLst/>
            <a:ahLst/>
            <a:cxnLst/>
            <a:rect l="l" t="t" r="r" b="b"/>
            <a:pathLst>
              <a:path w="5543550" h="1123950">
                <a:moveTo>
                  <a:pt x="38100" y="0"/>
                </a:moveTo>
                <a:lnTo>
                  <a:pt x="5429256" y="0"/>
                </a:lnTo>
                <a:cubicBezTo>
                  <a:pt x="5492379" y="0"/>
                  <a:pt x="5543550" y="51171"/>
                  <a:pt x="5543550" y="114294"/>
                </a:cubicBezTo>
                <a:lnTo>
                  <a:pt x="5543550" y="1009656"/>
                </a:lnTo>
                <a:cubicBezTo>
                  <a:pt x="5543550" y="1072779"/>
                  <a:pt x="5492379" y="1123950"/>
                  <a:pt x="5429256" y="1123950"/>
                </a:cubicBezTo>
                <a:lnTo>
                  <a:pt x="38100" y="1123950"/>
                </a:lnTo>
                <a:cubicBezTo>
                  <a:pt x="17072" y="1123950"/>
                  <a:pt x="0" y="1106878"/>
                  <a:pt x="0" y="1085850"/>
                </a:cubicBezTo>
                <a:lnTo>
                  <a:pt x="0" y="38100"/>
                </a:lnTo>
                <a:cubicBezTo>
                  <a:pt x="0" y="17072"/>
                  <a:pt x="17072" y="0"/>
                  <a:pt x="38100" y="0"/>
                </a:cubicBezTo>
                <a:close/>
              </a:path>
            </a:pathLst>
          </a:custGeom>
          <a:solidFill>
            <a:srgbClr val="FFFFFF"/>
          </a:solidFill>
          <a:ln/>
          <a:effectLst>
            <a:outerShdw sx="100000" sy="100000" kx="0" ky="0" algn="bl" rotWithShape="0" blurRad="57150" dist="38100" dir="5400000">
              <a:srgbClr val="000000">
                <a:alpha val="10196"/>
              </a:srgbClr>
            </a:outerShdw>
          </a:effectLst>
        </p:spPr>
      </p:sp>
      <p:sp>
        <p:nvSpPr>
          <p:cNvPr id="24" name="Shape 22"/>
          <p:cNvSpPr/>
          <p:nvPr/>
        </p:nvSpPr>
        <p:spPr>
          <a:xfrm>
            <a:off x="6267450" y="2800350"/>
            <a:ext cx="38100" cy="1123950"/>
          </a:xfrm>
          <a:custGeom>
            <a:avLst/>
            <a:gdLst/>
            <a:ahLst/>
            <a:cxnLst/>
            <a:rect l="l" t="t" r="r" b="b"/>
            <a:pathLst>
              <a:path w="38100" h="1123950">
                <a:moveTo>
                  <a:pt x="38100" y="0"/>
                </a:moveTo>
                <a:lnTo>
                  <a:pt x="38100" y="0"/>
                </a:lnTo>
                <a:lnTo>
                  <a:pt x="38100" y="1123950"/>
                </a:lnTo>
                <a:lnTo>
                  <a:pt x="38100" y="1123950"/>
                </a:lnTo>
                <a:cubicBezTo>
                  <a:pt x="17072" y="1123950"/>
                  <a:pt x="0" y="1106878"/>
                  <a:pt x="0" y="1085850"/>
                </a:cubicBezTo>
                <a:lnTo>
                  <a:pt x="0" y="38100"/>
                </a:lnTo>
                <a:cubicBezTo>
                  <a:pt x="0" y="17072"/>
                  <a:pt x="17072" y="0"/>
                  <a:pt x="38100" y="0"/>
                </a:cubicBezTo>
                <a:close/>
              </a:path>
            </a:pathLst>
          </a:custGeom>
          <a:solidFill>
            <a:srgbClr val="1A535C"/>
          </a:solidFill>
          <a:ln/>
        </p:spPr>
      </p:sp>
      <p:sp>
        <p:nvSpPr>
          <p:cNvPr id="25" name="Shape 23"/>
          <p:cNvSpPr/>
          <p:nvPr/>
        </p:nvSpPr>
        <p:spPr>
          <a:xfrm>
            <a:off x="6438900" y="295275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1A535C"/>
          </a:solidFill>
          <a:ln/>
        </p:spPr>
      </p:sp>
      <p:sp>
        <p:nvSpPr>
          <p:cNvPr id="26" name="Text 24"/>
          <p:cNvSpPr/>
          <p:nvPr/>
        </p:nvSpPr>
        <p:spPr>
          <a:xfrm>
            <a:off x="6391275" y="2952750"/>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04</a:t>
            </a:r>
            <a:endParaRPr lang="en-US" sz="1600" dirty="0"/>
          </a:p>
        </p:txBody>
      </p:sp>
      <p:sp>
        <p:nvSpPr>
          <p:cNvPr id="27" name="Text 25"/>
          <p:cNvSpPr/>
          <p:nvPr/>
        </p:nvSpPr>
        <p:spPr>
          <a:xfrm>
            <a:off x="7048500" y="2952750"/>
            <a:ext cx="4705350" cy="266700"/>
          </a:xfrm>
          <a:prstGeom prst="rect">
            <a:avLst/>
          </a:prstGeom>
          <a:noFill/>
          <a:ln/>
        </p:spPr>
        <p:txBody>
          <a:bodyPr wrap="square" lIns="0" tIns="0" rIns="0" bIns="0" rtlCol="0" anchor="ctr"/>
          <a:lstStyle/>
          <a:p>
            <a:pPr>
              <a:lnSpc>
                <a:spcPct val="120000"/>
              </a:lnSpc>
            </a:pPr>
            <a:r>
              <a:rPr lang="en-US" sz="1500" b="1" dirty="0">
                <a:solidFill>
                  <a:srgbClr val="1A535C"/>
                </a:solidFill>
                <a:latin typeface="Liter" pitchFamily="34" charset="0"/>
                <a:ea typeface="Liter" pitchFamily="34" charset="-122"/>
                <a:cs typeface="Liter" pitchFamily="34" charset="-120"/>
              </a:rPr>
              <a:t>18 Unique Differentiating Features</a:t>
            </a:r>
            <a:endParaRPr lang="en-US" sz="1600" dirty="0"/>
          </a:p>
        </p:txBody>
      </p:sp>
      <p:sp>
        <p:nvSpPr>
          <p:cNvPr id="28" name="Text 26"/>
          <p:cNvSpPr/>
          <p:nvPr/>
        </p:nvSpPr>
        <p:spPr>
          <a:xfrm>
            <a:off x="7048500" y="3257550"/>
            <a:ext cx="4686300" cy="228600"/>
          </a:xfrm>
          <a:prstGeom prst="rect">
            <a:avLst/>
          </a:prstGeom>
          <a:noFill/>
          <a:ln/>
        </p:spPr>
        <p:txBody>
          <a:bodyPr wrap="square" lIns="0" tIns="0" rIns="0" bIns="0" rtlCol="0" anchor="ctr"/>
          <a:lstStyle/>
          <a:p>
            <a:pPr>
              <a:lnSpc>
                <a:spcPct val="130000"/>
              </a:lnSpc>
            </a:pPr>
            <a:r>
              <a:rPr lang="en-US" sz="1200" dirty="0">
                <a:solidFill>
                  <a:srgbClr val="212529">
                    <a:alpha val="70000"/>
                  </a:srgbClr>
                </a:solidFill>
                <a:latin typeface="Quattrocento Sans" pitchFamily="34" charset="0"/>
                <a:ea typeface="Quattrocento Sans" pitchFamily="34" charset="-122"/>
                <a:cs typeface="Quattrocento Sans" pitchFamily="34" charset="-120"/>
              </a:rPr>
              <a:t>Part A: Core research features (8) + Part B: Team additions (10)</a:t>
            </a:r>
            <a:endParaRPr lang="en-US" sz="1600" dirty="0"/>
          </a:p>
        </p:txBody>
      </p:sp>
      <p:sp>
        <p:nvSpPr>
          <p:cNvPr id="29" name="Shape 27"/>
          <p:cNvSpPr/>
          <p:nvPr/>
        </p:nvSpPr>
        <p:spPr>
          <a:xfrm>
            <a:off x="400050" y="4076700"/>
            <a:ext cx="5543550" cy="1123950"/>
          </a:xfrm>
          <a:custGeom>
            <a:avLst/>
            <a:gdLst/>
            <a:ahLst/>
            <a:cxnLst/>
            <a:rect l="l" t="t" r="r" b="b"/>
            <a:pathLst>
              <a:path w="5543550" h="1123950">
                <a:moveTo>
                  <a:pt x="38100" y="0"/>
                </a:moveTo>
                <a:lnTo>
                  <a:pt x="5429256" y="0"/>
                </a:lnTo>
                <a:cubicBezTo>
                  <a:pt x="5492379" y="0"/>
                  <a:pt x="5543550" y="51171"/>
                  <a:pt x="5543550" y="114294"/>
                </a:cubicBezTo>
                <a:lnTo>
                  <a:pt x="5543550" y="1009656"/>
                </a:lnTo>
                <a:cubicBezTo>
                  <a:pt x="5543550" y="1072779"/>
                  <a:pt x="5492379" y="1123950"/>
                  <a:pt x="5429256" y="1123950"/>
                </a:cubicBezTo>
                <a:lnTo>
                  <a:pt x="38100" y="1123950"/>
                </a:lnTo>
                <a:cubicBezTo>
                  <a:pt x="17072" y="1123950"/>
                  <a:pt x="0" y="1106878"/>
                  <a:pt x="0" y="1085850"/>
                </a:cubicBezTo>
                <a:lnTo>
                  <a:pt x="0" y="38100"/>
                </a:lnTo>
                <a:cubicBezTo>
                  <a:pt x="0" y="17072"/>
                  <a:pt x="17072" y="0"/>
                  <a:pt x="38100" y="0"/>
                </a:cubicBezTo>
                <a:close/>
              </a:path>
            </a:pathLst>
          </a:custGeom>
          <a:solidFill>
            <a:srgbClr val="FFFFFF"/>
          </a:solidFill>
          <a:ln/>
          <a:effectLst>
            <a:outerShdw sx="100000" sy="100000" kx="0" ky="0" algn="bl" rotWithShape="0" blurRad="57150" dist="38100" dir="5400000">
              <a:srgbClr val="000000">
                <a:alpha val="10196"/>
              </a:srgbClr>
            </a:outerShdw>
          </a:effectLst>
        </p:spPr>
      </p:sp>
      <p:sp>
        <p:nvSpPr>
          <p:cNvPr id="30" name="Shape 28"/>
          <p:cNvSpPr/>
          <p:nvPr/>
        </p:nvSpPr>
        <p:spPr>
          <a:xfrm>
            <a:off x="400050" y="4076700"/>
            <a:ext cx="38100" cy="1123950"/>
          </a:xfrm>
          <a:custGeom>
            <a:avLst/>
            <a:gdLst/>
            <a:ahLst/>
            <a:cxnLst/>
            <a:rect l="l" t="t" r="r" b="b"/>
            <a:pathLst>
              <a:path w="38100" h="1123950">
                <a:moveTo>
                  <a:pt x="38100" y="0"/>
                </a:moveTo>
                <a:lnTo>
                  <a:pt x="38100" y="0"/>
                </a:lnTo>
                <a:lnTo>
                  <a:pt x="38100" y="1123950"/>
                </a:lnTo>
                <a:lnTo>
                  <a:pt x="38100" y="1123950"/>
                </a:lnTo>
                <a:cubicBezTo>
                  <a:pt x="17072" y="1123950"/>
                  <a:pt x="0" y="1106878"/>
                  <a:pt x="0" y="1085850"/>
                </a:cubicBezTo>
                <a:lnTo>
                  <a:pt x="0" y="38100"/>
                </a:lnTo>
                <a:cubicBezTo>
                  <a:pt x="0" y="17072"/>
                  <a:pt x="17072" y="0"/>
                  <a:pt x="38100" y="0"/>
                </a:cubicBezTo>
                <a:close/>
              </a:path>
            </a:pathLst>
          </a:custGeom>
          <a:solidFill>
            <a:srgbClr val="4A7C59"/>
          </a:solidFill>
          <a:ln/>
        </p:spPr>
      </p:sp>
      <p:sp>
        <p:nvSpPr>
          <p:cNvPr id="31" name="Shape 29"/>
          <p:cNvSpPr/>
          <p:nvPr/>
        </p:nvSpPr>
        <p:spPr>
          <a:xfrm>
            <a:off x="571500" y="42291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4A7C59"/>
          </a:solidFill>
          <a:ln/>
        </p:spPr>
      </p:sp>
      <p:sp>
        <p:nvSpPr>
          <p:cNvPr id="32" name="Text 30"/>
          <p:cNvSpPr/>
          <p:nvPr/>
        </p:nvSpPr>
        <p:spPr>
          <a:xfrm>
            <a:off x="523875" y="4229100"/>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05</a:t>
            </a:r>
            <a:endParaRPr lang="en-US" sz="1600" dirty="0"/>
          </a:p>
        </p:txBody>
      </p:sp>
      <p:sp>
        <p:nvSpPr>
          <p:cNvPr id="33" name="Text 31"/>
          <p:cNvSpPr/>
          <p:nvPr/>
        </p:nvSpPr>
        <p:spPr>
          <a:xfrm>
            <a:off x="1181100" y="4229100"/>
            <a:ext cx="4705350" cy="266700"/>
          </a:xfrm>
          <a:prstGeom prst="rect">
            <a:avLst/>
          </a:prstGeom>
          <a:noFill/>
          <a:ln/>
        </p:spPr>
        <p:txBody>
          <a:bodyPr wrap="square" lIns="0" tIns="0" rIns="0" bIns="0" rtlCol="0" anchor="ctr"/>
          <a:lstStyle/>
          <a:p>
            <a:pPr>
              <a:lnSpc>
                <a:spcPct val="120000"/>
              </a:lnSpc>
            </a:pPr>
            <a:r>
              <a:rPr lang="en-US" sz="1500" b="1" dirty="0">
                <a:solidFill>
                  <a:srgbClr val="1A535C"/>
                </a:solidFill>
                <a:latin typeface="Liter" pitchFamily="34" charset="0"/>
                <a:ea typeface="Liter" pitchFamily="34" charset="-122"/>
                <a:cs typeface="Liter" pitchFamily="34" charset="-120"/>
              </a:rPr>
              <a:t>Complete Technology Stack</a:t>
            </a:r>
            <a:endParaRPr lang="en-US" sz="1600" dirty="0"/>
          </a:p>
        </p:txBody>
      </p:sp>
      <p:sp>
        <p:nvSpPr>
          <p:cNvPr id="34" name="Text 32"/>
          <p:cNvSpPr/>
          <p:nvPr/>
        </p:nvSpPr>
        <p:spPr>
          <a:xfrm>
            <a:off x="1181100" y="4533900"/>
            <a:ext cx="4686300" cy="228600"/>
          </a:xfrm>
          <a:prstGeom prst="rect">
            <a:avLst/>
          </a:prstGeom>
          <a:noFill/>
          <a:ln/>
        </p:spPr>
        <p:txBody>
          <a:bodyPr wrap="square" lIns="0" tIns="0" rIns="0" bIns="0" rtlCol="0" anchor="ctr"/>
          <a:lstStyle/>
          <a:p>
            <a:pPr>
              <a:lnSpc>
                <a:spcPct val="130000"/>
              </a:lnSpc>
            </a:pPr>
            <a:r>
              <a:rPr lang="en-US" sz="1200" dirty="0">
                <a:solidFill>
                  <a:srgbClr val="212529">
                    <a:alpha val="70000"/>
                  </a:srgbClr>
                </a:solidFill>
                <a:latin typeface="Quattrocento Sans" pitchFamily="34" charset="0"/>
                <a:ea typeface="Quattrocento Sans" pitchFamily="34" charset="-122"/>
                <a:cs typeface="Quattrocento Sans" pitchFamily="34" charset="-120"/>
              </a:rPr>
              <a:t>Full tech architecture with PHP (Laravel) as mandatory core</a:t>
            </a:r>
            <a:endParaRPr lang="en-US" sz="1600" dirty="0"/>
          </a:p>
        </p:txBody>
      </p:sp>
      <p:sp>
        <p:nvSpPr>
          <p:cNvPr id="35" name="Shape 33"/>
          <p:cNvSpPr/>
          <p:nvPr/>
        </p:nvSpPr>
        <p:spPr>
          <a:xfrm>
            <a:off x="6267450" y="4076700"/>
            <a:ext cx="5543550" cy="1123950"/>
          </a:xfrm>
          <a:custGeom>
            <a:avLst/>
            <a:gdLst/>
            <a:ahLst/>
            <a:cxnLst/>
            <a:rect l="l" t="t" r="r" b="b"/>
            <a:pathLst>
              <a:path w="5543550" h="1123950">
                <a:moveTo>
                  <a:pt x="38100" y="0"/>
                </a:moveTo>
                <a:lnTo>
                  <a:pt x="5429256" y="0"/>
                </a:lnTo>
                <a:cubicBezTo>
                  <a:pt x="5492379" y="0"/>
                  <a:pt x="5543550" y="51171"/>
                  <a:pt x="5543550" y="114294"/>
                </a:cubicBezTo>
                <a:lnTo>
                  <a:pt x="5543550" y="1009656"/>
                </a:lnTo>
                <a:cubicBezTo>
                  <a:pt x="5543550" y="1072779"/>
                  <a:pt x="5492379" y="1123950"/>
                  <a:pt x="5429256" y="1123950"/>
                </a:cubicBezTo>
                <a:lnTo>
                  <a:pt x="38100" y="1123950"/>
                </a:lnTo>
                <a:cubicBezTo>
                  <a:pt x="17072" y="1123950"/>
                  <a:pt x="0" y="1106878"/>
                  <a:pt x="0" y="1085850"/>
                </a:cubicBezTo>
                <a:lnTo>
                  <a:pt x="0" y="38100"/>
                </a:lnTo>
                <a:cubicBezTo>
                  <a:pt x="0" y="17072"/>
                  <a:pt x="17072" y="0"/>
                  <a:pt x="38100" y="0"/>
                </a:cubicBezTo>
                <a:close/>
              </a:path>
            </a:pathLst>
          </a:custGeom>
          <a:solidFill>
            <a:srgbClr val="FFFFFF"/>
          </a:solidFill>
          <a:ln/>
          <a:effectLst>
            <a:outerShdw sx="100000" sy="100000" kx="0" ky="0" algn="bl" rotWithShape="0" blurRad="57150" dist="38100" dir="5400000">
              <a:srgbClr val="000000">
                <a:alpha val="10196"/>
              </a:srgbClr>
            </a:outerShdw>
          </a:effectLst>
        </p:spPr>
      </p:sp>
      <p:sp>
        <p:nvSpPr>
          <p:cNvPr id="36" name="Shape 34"/>
          <p:cNvSpPr/>
          <p:nvPr/>
        </p:nvSpPr>
        <p:spPr>
          <a:xfrm>
            <a:off x="6267450" y="4076700"/>
            <a:ext cx="38100" cy="1123950"/>
          </a:xfrm>
          <a:custGeom>
            <a:avLst/>
            <a:gdLst/>
            <a:ahLst/>
            <a:cxnLst/>
            <a:rect l="l" t="t" r="r" b="b"/>
            <a:pathLst>
              <a:path w="38100" h="1123950">
                <a:moveTo>
                  <a:pt x="38100" y="0"/>
                </a:moveTo>
                <a:lnTo>
                  <a:pt x="38100" y="0"/>
                </a:lnTo>
                <a:lnTo>
                  <a:pt x="38100" y="1123950"/>
                </a:lnTo>
                <a:lnTo>
                  <a:pt x="38100" y="1123950"/>
                </a:lnTo>
                <a:cubicBezTo>
                  <a:pt x="17072" y="1123950"/>
                  <a:pt x="0" y="1106878"/>
                  <a:pt x="0" y="1085850"/>
                </a:cubicBezTo>
                <a:lnTo>
                  <a:pt x="0" y="38100"/>
                </a:lnTo>
                <a:cubicBezTo>
                  <a:pt x="0" y="17072"/>
                  <a:pt x="17072" y="0"/>
                  <a:pt x="38100" y="0"/>
                </a:cubicBezTo>
                <a:close/>
              </a:path>
            </a:pathLst>
          </a:custGeom>
          <a:solidFill>
            <a:srgbClr val="F7B538"/>
          </a:solidFill>
          <a:ln/>
        </p:spPr>
      </p:sp>
      <p:sp>
        <p:nvSpPr>
          <p:cNvPr id="37" name="Shape 35"/>
          <p:cNvSpPr/>
          <p:nvPr/>
        </p:nvSpPr>
        <p:spPr>
          <a:xfrm>
            <a:off x="6438900" y="42291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F7B538"/>
          </a:solidFill>
          <a:ln/>
        </p:spPr>
      </p:sp>
      <p:sp>
        <p:nvSpPr>
          <p:cNvPr id="38" name="Text 36"/>
          <p:cNvSpPr/>
          <p:nvPr/>
        </p:nvSpPr>
        <p:spPr>
          <a:xfrm>
            <a:off x="6391275" y="4229100"/>
            <a:ext cx="552450" cy="457200"/>
          </a:xfrm>
          <a:prstGeom prst="rect">
            <a:avLst/>
          </a:prstGeom>
          <a:noFill/>
          <a:ln/>
        </p:spPr>
        <p:txBody>
          <a:bodyPr wrap="square" lIns="0" tIns="0" rIns="0" bIns="0" rtlCol="0" anchor="ctr"/>
          <a:lstStyle/>
          <a:p>
            <a:pPr algn="ctr">
              <a:lnSpc>
                <a:spcPct val="120000"/>
              </a:lnSpc>
            </a:pPr>
            <a:r>
              <a:rPr lang="en-US" sz="1500" b="1" dirty="0">
                <a:solidFill>
                  <a:srgbClr val="1A535C"/>
                </a:solidFill>
                <a:latin typeface="Quattrocento Sans" pitchFamily="34" charset="0"/>
                <a:ea typeface="Quattrocento Sans" pitchFamily="34" charset="-122"/>
                <a:cs typeface="Quattrocento Sans" pitchFamily="34" charset="-120"/>
              </a:rPr>
              <a:t>06</a:t>
            </a:r>
            <a:endParaRPr lang="en-US" sz="1600" dirty="0"/>
          </a:p>
        </p:txBody>
      </p:sp>
      <p:sp>
        <p:nvSpPr>
          <p:cNvPr id="39" name="Text 37"/>
          <p:cNvSpPr/>
          <p:nvPr/>
        </p:nvSpPr>
        <p:spPr>
          <a:xfrm>
            <a:off x="7048500" y="4229100"/>
            <a:ext cx="4705350" cy="266700"/>
          </a:xfrm>
          <a:prstGeom prst="rect">
            <a:avLst/>
          </a:prstGeom>
          <a:noFill/>
          <a:ln/>
        </p:spPr>
        <p:txBody>
          <a:bodyPr wrap="square" lIns="0" tIns="0" rIns="0" bIns="0" rtlCol="0" anchor="ctr"/>
          <a:lstStyle/>
          <a:p>
            <a:pPr>
              <a:lnSpc>
                <a:spcPct val="120000"/>
              </a:lnSpc>
            </a:pPr>
            <a:r>
              <a:rPr lang="en-US" sz="1500" b="1" dirty="0">
                <a:solidFill>
                  <a:srgbClr val="1A535C"/>
                </a:solidFill>
                <a:latin typeface="Liter" pitchFamily="34" charset="0"/>
                <a:ea typeface="Liter" pitchFamily="34" charset="-122"/>
                <a:cs typeface="Liter" pitchFamily="34" charset="-120"/>
              </a:rPr>
              <a:t>Database Architecture</a:t>
            </a:r>
            <a:endParaRPr lang="en-US" sz="1600" dirty="0"/>
          </a:p>
        </p:txBody>
      </p:sp>
      <p:sp>
        <p:nvSpPr>
          <p:cNvPr id="40" name="Text 38"/>
          <p:cNvSpPr/>
          <p:nvPr/>
        </p:nvSpPr>
        <p:spPr>
          <a:xfrm>
            <a:off x="7048500" y="4533900"/>
            <a:ext cx="4686300" cy="228600"/>
          </a:xfrm>
          <a:prstGeom prst="rect">
            <a:avLst/>
          </a:prstGeom>
          <a:noFill/>
          <a:ln/>
        </p:spPr>
        <p:txBody>
          <a:bodyPr wrap="square" lIns="0" tIns="0" rIns="0" bIns="0" rtlCol="0" anchor="ctr"/>
          <a:lstStyle/>
          <a:p>
            <a:pPr>
              <a:lnSpc>
                <a:spcPct val="130000"/>
              </a:lnSpc>
            </a:pPr>
            <a:r>
              <a:rPr lang="en-US" sz="1200" dirty="0">
                <a:solidFill>
                  <a:srgbClr val="212529">
                    <a:alpha val="70000"/>
                  </a:srgbClr>
                </a:solidFill>
                <a:latin typeface="Quattrocento Sans" pitchFamily="34" charset="0"/>
                <a:ea typeface="Quattrocento Sans" pitchFamily="34" charset="-122"/>
                <a:cs typeface="Quattrocento Sans" pitchFamily="34" charset="-120"/>
              </a:rPr>
              <a:t>25+ MySQL tables managed through Laravel Eloquent ORM</a:t>
            </a:r>
            <a:endParaRPr lang="en-US" sz="1600" dirty="0"/>
          </a:p>
        </p:txBody>
      </p:sp>
      <p:sp>
        <p:nvSpPr>
          <p:cNvPr id="41" name="Shape 39"/>
          <p:cNvSpPr/>
          <p:nvPr/>
        </p:nvSpPr>
        <p:spPr>
          <a:xfrm>
            <a:off x="400050" y="5353050"/>
            <a:ext cx="5543550" cy="1123950"/>
          </a:xfrm>
          <a:custGeom>
            <a:avLst/>
            <a:gdLst/>
            <a:ahLst/>
            <a:cxnLst/>
            <a:rect l="l" t="t" r="r" b="b"/>
            <a:pathLst>
              <a:path w="5543550" h="1123950">
                <a:moveTo>
                  <a:pt x="38100" y="0"/>
                </a:moveTo>
                <a:lnTo>
                  <a:pt x="5429256" y="0"/>
                </a:lnTo>
                <a:cubicBezTo>
                  <a:pt x="5492379" y="0"/>
                  <a:pt x="5543550" y="51171"/>
                  <a:pt x="5543550" y="114294"/>
                </a:cubicBezTo>
                <a:lnTo>
                  <a:pt x="5543550" y="1009656"/>
                </a:lnTo>
                <a:cubicBezTo>
                  <a:pt x="5543550" y="1072779"/>
                  <a:pt x="5492379" y="1123950"/>
                  <a:pt x="5429256" y="1123950"/>
                </a:cubicBezTo>
                <a:lnTo>
                  <a:pt x="38100" y="1123950"/>
                </a:lnTo>
                <a:cubicBezTo>
                  <a:pt x="17072" y="1123950"/>
                  <a:pt x="0" y="1106878"/>
                  <a:pt x="0" y="1085850"/>
                </a:cubicBezTo>
                <a:lnTo>
                  <a:pt x="0" y="38100"/>
                </a:lnTo>
                <a:cubicBezTo>
                  <a:pt x="0" y="17072"/>
                  <a:pt x="17072" y="0"/>
                  <a:pt x="38100" y="0"/>
                </a:cubicBezTo>
                <a:close/>
              </a:path>
            </a:pathLst>
          </a:custGeom>
          <a:solidFill>
            <a:srgbClr val="FFFFFF"/>
          </a:solidFill>
          <a:ln/>
          <a:effectLst>
            <a:outerShdw sx="100000" sy="100000" kx="0" ky="0" algn="bl" rotWithShape="0" blurRad="57150" dist="38100" dir="5400000">
              <a:srgbClr val="000000">
                <a:alpha val="10196"/>
              </a:srgbClr>
            </a:outerShdw>
          </a:effectLst>
        </p:spPr>
      </p:sp>
      <p:sp>
        <p:nvSpPr>
          <p:cNvPr id="42" name="Shape 40"/>
          <p:cNvSpPr/>
          <p:nvPr/>
        </p:nvSpPr>
        <p:spPr>
          <a:xfrm>
            <a:off x="400050" y="5353050"/>
            <a:ext cx="38100" cy="1123950"/>
          </a:xfrm>
          <a:custGeom>
            <a:avLst/>
            <a:gdLst/>
            <a:ahLst/>
            <a:cxnLst/>
            <a:rect l="l" t="t" r="r" b="b"/>
            <a:pathLst>
              <a:path w="38100" h="1123950">
                <a:moveTo>
                  <a:pt x="38100" y="0"/>
                </a:moveTo>
                <a:lnTo>
                  <a:pt x="38100" y="0"/>
                </a:lnTo>
                <a:lnTo>
                  <a:pt x="38100" y="1123950"/>
                </a:lnTo>
                <a:lnTo>
                  <a:pt x="38100" y="1123950"/>
                </a:lnTo>
                <a:cubicBezTo>
                  <a:pt x="17072" y="1123950"/>
                  <a:pt x="0" y="1106878"/>
                  <a:pt x="0" y="1085850"/>
                </a:cubicBezTo>
                <a:lnTo>
                  <a:pt x="0" y="38100"/>
                </a:lnTo>
                <a:cubicBezTo>
                  <a:pt x="0" y="17072"/>
                  <a:pt x="17072" y="0"/>
                  <a:pt x="38100" y="0"/>
                </a:cubicBezTo>
                <a:close/>
              </a:path>
            </a:pathLst>
          </a:custGeom>
          <a:solidFill>
            <a:srgbClr val="1A535C"/>
          </a:solidFill>
          <a:ln/>
        </p:spPr>
      </p:sp>
      <p:sp>
        <p:nvSpPr>
          <p:cNvPr id="43" name="Shape 41"/>
          <p:cNvSpPr/>
          <p:nvPr/>
        </p:nvSpPr>
        <p:spPr>
          <a:xfrm>
            <a:off x="571500" y="550545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1A535C"/>
          </a:solidFill>
          <a:ln/>
        </p:spPr>
      </p:sp>
      <p:sp>
        <p:nvSpPr>
          <p:cNvPr id="44" name="Text 42"/>
          <p:cNvSpPr/>
          <p:nvPr/>
        </p:nvSpPr>
        <p:spPr>
          <a:xfrm>
            <a:off x="523875" y="5505450"/>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07</a:t>
            </a:r>
            <a:endParaRPr lang="en-US" sz="1600" dirty="0"/>
          </a:p>
        </p:txBody>
      </p:sp>
      <p:sp>
        <p:nvSpPr>
          <p:cNvPr id="45" name="Text 43"/>
          <p:cNvSpPr/>
          <p:nvPr/>
        </p:nvSpPr>
        <p:spPr>
          <a:xfrm>
            <a:off x="1181100" y="5505450"/>
            <a:ext cx="4705350" cy="266700"/>
          </a:xfrm>
          <a:prstGeom prst="rect">
            <a:avLst/>
          </a:prstGeom>
          <a:noFill/>
          <a:ln/>
        </p:spPr>
        <p:txBody>
          <a:bodyPr wrap="square" lIns="0" tIns="0" rIns="0" bIns="0" rtlCol="0" anchor="ctr"/>
          <a:lstStyle/>
          <a:p>
            <a:pPr>
              <a:lnSpc>
                <a:spcPct val="120000"/>
              </a:lnSpc>
            </a:pPr>
            <a:r>
              <a:rPr lang="en-US" sz="1500" b="1" dirty="0">
                <a:solidFill>
                  <a:srgbClr val="1A535C"/>
                </a:solidFill>
                <a:latin typeface="Liter" pitchFamily="34" charset="0"/>
                <a:ea typeface="Liter" pitchFamily="34" charset="-122"/>
                <a:cs typeface="Liter" pitchFamily="34" charset="-120"/>
              </a:rPr>
              <a:t>PHP Service Classes</a:t>
            </a:r>
            <a:endParaRPr lang="en-US" sz="1600" dirty="0"/>
          </a:p>
        </p:txBody>
      </p:sp>
      <p:sp>
        <p:nvSpPr>
          <p:cNvPr id="46" name="Text 44"/>
          <p:cNvSpPr/>
          <p:nvPr/>
        </p:nvSpPr>
        <p:spPr>
          <a:xfrm>
            <a:off x="1181100" y="5810250"/>
            <a:ext cx="4686300" cy="228600"/>
          </a:xfrm>
          <a:prstGeom prst="rect">
            <a:avLst/>
          </a:prstGeom>
          <a:noFill/>
          <a:ln/>
        </p:spPr>
        <p:txBody>
          <a:bodyPr wrap="square" lIns="0" tIns="0" rIns="0" bIns="0" rtlCol="0" anchor="ctr"/>
          <a:lstStyle/>
          <a:p>
            <a:pPr>
              <a:lnSpc>
                <a:spcPct val="130000"/>
              </a:lnSpc>
            </a:pPr>
            <a:r>
              <a:rPr lang="en-US" sz="1200" dirty="0">
                <a:solidFill>
                  <a:srgbClr val="212529">
                    <a:alpha val="70000"/>
                  </a:srgbClr>
                </a:solidFill>
                <a:latin typeface="Quattrocento Sans" pitchFamily="34" charset="0"/>
                <a:ea typeface="Quattrocento Sans" pitchFamily="34" charset="-122"/>
                <a:cs typeface="Quattrocento Sans" pitchFamily="34" charset="-120"/>
              </a:rPr>
              <a:t>15 dedicated service classes encapsulating business logic</a:t>
            </a:r>
            <a:endParaRPr lang="en-US" sz="1600" dirty="0"/>
          </a:p>
        </p:txBody>
      </p:sp>
      <p:sp>
        <p:nvSpPr>
          <p:cNvPr id="47" name="Shape 45"/>
          <p:cNvSpPr/>
          <p:nvPr/>
        </p:nvSpPr>
        <p:spPr>
          <a:xfrm>
            <a:off x="6267450" y="5353050"/>
            <a:ext cx="5543550" cy="1123950"/>
          </a:xfrm>
          <a:custGeom>
            <a:avLst/>
            <a:gdLst/>
            <a:ahLst/>
            <a:cxnLst/>
            <a:rect l="l" t="t" r="r" b="b"/>
            <a:pathLst>
              <a:path w="5543550" h="1123950">
                <a:moveTo>
                  <a:pt x="38100" y="0"/>
                </a:moveTo>
                <a:lnTo>
                  <a:pt x="5429256" y="0"/>
                </a:lnTo>
                <a:cubicBezTo>
                  <a:pt x="5492379" y="0"/>
                  <a:pt x="5543550" y="51171"/>
                  <a:pt x="5543550" y="114294"/>
                </a:cubicBezTo>
                <a:lnTo>
                  <a:pt x="5543550" y="1009656"/>
                </a:lnTo>
                <a:cubicBezTo>
                  <a:pt x="5543550" y="1072779"/>
                  <a:pt x="5492379" y="1123950"/>
                  <a:pt x="5429256" y="1123950"/>
                </a:cubicBezTo>
                <a:lnTo>
                  <a:pt x="38100" y="1123950"/>
                </a:lnTo>
                <a:cubicBezTo>
                  <a:pt x="17072" y="1123950"/>
                  <a:pt x="0" y="1106878"/>
                  <a:pt x="0" y="1085850"/>
                </a:cubicBezTo>
                <a:lnTo>
                  <a:pt x="0" y="38100"/>
                </a:lnTo>
                <a:cubicBezTo>
                  <a:pt x="0" y="17072"/>
                  <a:pt x="17072" y="0"/>
                  <a:pt x="38100" y="0"/>
                </a:cubicBezTo>
                <a:close/>
              </a:path>
            </a:pathLst>
          </a:custGeom>
          <a:solidFill>
            <a:srgbClr val="FFFFFF"/>
          </a:solidFill>
          <a:ln/>
          <a:effectLst>
            <a:outerShdw sx="100000" sy="100000" kx="0" ky="0" algn="bl" rotWithShape="0" blurRad="57150" dist="38100" dir="5400000">
              <a:srgbClr val="000000">
                <a:alpha val="10196"/>
              </a:srgbClr>
            </a:outerShdw>
          </a:effectLst>
        </p:spPr>
      </p:sp>
      <p:sp>
        <p:nvSpPr>
          <p:cNvPr id="48" name="Shape 46"/>
          <p:cNvSpPr/>
          <p:nvPr/>
        </p:nvSpPr>
        <p:spPr>
          <a:xfrm>
            <a:off x="6267450" y="5353050"/>
            <a:ext cx="38100" cy="1123950"/>
          </a:xfrm>
          <a:custGeom>
            <a:avLst/>
            <a:gdLst/>
            <a:ahLst/>
            <a:cxnLst/>
            <a:rect l="l" t="t" r="r" b="b"/>
            <a:pathLst>
              <a:path w="38100" h="1123950">
                <a:moveTo>
                  <a:pt x="38100" y="0"/>
                </a:moveTo>
                <a:lnTo>
                  <a:pt x="38100" y="0"/>
                </a:lnTo>
                <a:lnTo>
                  <a:pt x="38100" y="1123950"/>
                </a:lnTo>
                <a:lnTo>
                  <a:pt x="38100" y="1123950"/>
                </a:lnTo>
                <a:cubicBezTo>
                  <a:pt x="17072" y="1123950"/>
                  <a:pt x="0" y="1106878"/>
                  <a:pt x="0" y="1085850"/>
                </a:cubicBezTo>
                <a:lnTo>
                  <a:pt x="0" y="38100"/>
                </a:lnTo>
                <a:cubicBezTo>
                  <a:pt x="0" y="17072"/>
                  <a:pt x="17072" y="0"/>
                  <a:pt x="38100" y="0"/>
                </a:cubicBezTo>
                <a:close/>
              </a:path>
            </a:pathLst>
          </a:custGeom>
          <a:solidFill>
            <a:srgbClr val="4A7C59"/>
          </a:solidFill>
          <a:ln/>
        </p:spPr>
      </p:sp>
      <p:sp>
        <p:nvSpPr>
          <p:cNvPr id="49" name="Shape 47"/>
          <p:cNvSpPr/>
          <p:nvPr/>
        </p:nvSpPr>
        <p:spPr>
          <a:xfrm>
            <a:off x="6438900" y="550545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4A7C59"/>
          </a:solidFill>
          <a:ln/>
        </p:spPr>
      </p:sp>
      <p:sp>
        <p:nvSpPr>
          <p:cNvPr id="50" name="Text 48"/>
          <p:cNvSpPr/>
          <p:nvPr/>
        </p:nvSpPr>
        <p:spPr>
          <a:xfrm>
            <a:off x="6391275" y="5505450"/>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08</a:t>
            </a:r>
            <a:endParaRPr lang="en-US" sz="1600" dirty="0"/>
          </a:p>
        </p:txBody>
      </p:sp>
      <p:sp>
        <p:nvSpPr>
          <p:cNvPr id="51" name="Text 49"/>
          <p:cNvSpPr/>
          <p:nvPr/>
        </p:nvSpPr>
        <p:spPr>
          <a:xfrm>
            <a:off x="7048500" y="5505450"/>
            <a:ext cx="4705350" cy="266700"/>
          </a:xfrm>
          <a:prstGeom prst="rect">
            <a:avLst/>
          </a:prstGeom>
          <a:noFill/>
          <a:ln/>
        </p:spPr>
        <p:txBody>
          <a:bodyPr wrap="square" lIns="0" tIns="0" rIns="0" bIns="0" rtlCol="0" anchor="ctr"/>
          <a:lstStyle/>
          <a:p>
            <a:pPr>
              <a:lnSpc>
                <a:spcPct val="120000"/>
              </a:lnSpc>
            </a:pPr>
            <a:r>
              <a:rPr lang="en-US" sz="1500" b="1" dirty="0">
                <a:solidFill>
                  <a:srgbClr val="1A535C"/>
                </a:solidFill>
                <a:latin typeface="Liter" pitchFamily="34" charset="0"/>
                <a:ea typeface="Liter" pitchFamily="34" charset="-122"/>
                <a:cs typeface="Liter" pitchFamily="34" charset="-120"/>
              </a:rPr>
              <a:t>Business Model &amp; Social Impact</a:t>
            </a:r>
            <a:endParaRPr lang="en-US" sz="1600" dirty="0"/>
          </a:p>
        </p:txBody>
      </p:sp>
      <p:sp>
        <p:nvSpPr>
          <p:cNvPr id="52" name="Text 50"/>
          <p:cNvSpPr/>
          <p:nvPr/>
        </p:nvSpPr>
        <p:spPr>
          <a:xfrm>
            <a:off x="7048500" y="5810250"/>
            <a:ext cx="4686300" cy="228600"/>
          </a:xfrm>
          <a:prstGeom prst="rect">
            <a:avLst/>
          </a:prstGeom>
          <a:noFill/>
          <a:ln/>
        </p:spPr>
        <p:txBody>
          <a:bodyPr wrap="square" lIns="0" tIns="0" rIns="0" bIns="0" rtlCol="0" anchor="ctr"/>
          <a:lstStyle/>
          <a:p>
            <a:pPr>
              <a:lnSpc>
                <a:spcPct val="130000"/>
              </a:lnSpc>
            </a:pPr>
            <a:r>
              <a:rPr lang="en-US" sz="1200" dirty="0">
                <a:solidFill>
                  <a:srgbClr val="212529">
                    <a:alpha val="70000"/>
                  </a:srgbClr>
                </a:solidFill>
                <a:latin typeface="Quattrocento Sans" pitchFamily="34" charset="0"/>
                <a:ea typeface="Quattrocento Sans" pitchFamily="34" charset="-122"/>
                <a:cs typeface="Quattrocento Sans" pitchFamily="34" charset="-120"/>
              </a:rPr>
              <a:t>9 revenue streams and measurable social outcomes</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60" kern="0" dirty="0">
                <a:solidFill>
                  <a:srgbClr val="4A7C59"/>
                </a:solidFill>
                <a:latin typeface="Quattrocento Sans" pitchFamily="34" charset="0"/>
                <a:ea typeface="Quattrocento Sans" pitchFamily="34" charset="-122"/>
                <a:cs typeface="Quattrocento Sans" pitchFamily="34" charset="-120"/>
              </a:rPr>
              <a:t>PROBLEM STATEMENT</a:t>
            </a:r>
            <a:endParaRPr lang="en-US" sz="1600" dirty="0"/>
          </a:p>
        </p:txBody>
      </p:sp>
      <p:sp>
        <p:nvSpPr>
          <p:cNvPr id="3" name="Text 1"/>
          <p:cNvSpPr/>
          <p:nvPr/>
        </p:nvSpPr>
        <p:spPr>
          <a:xfrm>
            <a:off x="381000" y="647700"/>
            <a:ext cx="11601450" cy="428625"/>
          </a:xfrm>
          <a:prstGeom prst="rect">
            <a:avLst/>
          </a:prstGeom>
          <a:noFill/>
          <a:ln/>
        </p:spPr>
        <p:txBody>
          <a:bodyPr wrap="square" lIns="0" tIns="0" rIns="0" bIns="0" rtlCol="0" anchor="ctr"/>
          <a:lstStyle/>
          <a:p>
            <a:pPr>
              <a:lnSpc>
                <a:spcPct val="100000"/>
              </a:lnSpc>
            </a:pPr>
            <a:r>
              <a:rPr lang="en-US" sz="2700" b="1" dirty="0">
                <a:solidFill>
                  <a:srgbClr val="1A535C"/>
                </a:solidFill>
                <a:latin typeface="Liter" pitchFamily="34" charset="0"/>
                <a:ea typeface="Liter" pitchFamily="34" charset="-122"/>
                <a:cs typeface="Liter" pitchFamily="34" charset="-120"/>
              </a:rPr>
              <a:t>The Missing Bridge in Indian Education</a:t>
            </a:r>
            <a:endParaRPr lang="en-US" sz="1600" dirty="0"/>
          </a:p>
        </p:txBody>
      </p:sp>
      <p:sp>
        <p:nvSpPr>
          <p:cNvPr id="4" name="Shape 2"/>
          <p:cNvSpPr/>
          <p:nvPr/>
        </p:nvSpPr>
        <p:spPr>
          <a:xfrm>
            <a:off x="381000" y="1152525"/>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F7B538"/>
          </a:solidFill>
          <a:ln/>
        </p:spPr>
      </p:sp>
      <p:sp>
        <p:nvSpPr>
          <p:cNvPr id="5" name="Shape 3"/>
          <p:cNvSpPr/>
          <p:nvPr/>
        </p:nvSpPr>
        <p:spPr>
          <a:xfrm>
            <a:off x="381000" y="1362075"/>
            <a:ext cx="5638800" cy="2552700"/>
          </a:xfrm>
          <a:custGeom>
            <a:avLst/>
            <a:gdLst/>
            <a:ahLst/>
            <a:cxnLst/>
            <a:rect l="l" t="t" r="r" b="b"/>
            <a:pathLst>
              <a:path w="5638800" h="2552700">
                <a:moveTo>
                  <a:pt x="38100" y="0"/>
                </a:moveTo>
                <a:lnTo>
                  <a:pt x="5600700" y="0"/>
                </a:lnTo>
                <a:cubicBezTo>
                  <a:pt x="5621728" y="0"/>
                  <a:pt x="5638800" y="17072"/>
                  <a:pt x="5638800" y="38100"/>
                </a:cubicBezTo>
                <a:lnTo>
                  <a:pt x="5638800" y="2476502"/>
                </a:lnTo>
                <a:cubicBezTo>
                  <a:pt x="5638800" y="2518585"/>
                  <a:pt x="5604685" y="2552700"/>
                  <a:pt x="5562602" y="2552700"/>
                </a:cubicBezTo>
                <a:lnTo>
                  <a:pt x="76198" y="2552700"/>
                </a:lnTo>
                <a:cubicBezTo>
                  <a:pt x="34115" y="2552700"/>
                  <a:pt x="0" y="2518585"/>
                  <a:pt x="0" y="2476502"/>
                </a:cubicBezTo>
                <a:lnTo>
                  <a:pt x="0" y="38100"/>
                </a:lnTo>
                <a:cubicBezTo>
                  <a:pt x="0" y="17072"/>
                  <a:pt x="17072" y="0"/>
                  <a:pt x="38100" y="0"/>
                </a:cubicBezTo>
                <a:close/>
              </a:path>
            </a:pathLst>
          </a:custGeom>
          <a:solidFill>
            <a:srgbClr val="FFFFFF"/>
          </a:solidFill>
          <a:ln/>
          <a:effectLst>
            <a:outerShdw sx="100000" sy="100000" kx="0" ky="0" algn="bl" rotWithShape="0" blurRad="57150" dist="38100" dir="5400000">
              <a:srgbClr val="000000">
                <a:alpha val="10196"/>
              </a:srgbClr>
            </a:outerShdw>
          </a:effectLst>
        </p:spPr>
      </p:sp>
      <p:sp>
        <p:nvSpPr>
          <p:cNvPr id="6" name="Shape 4"/>
          <p:cNvSpPr/>
          <p:nvPr/>
        </p:nvSpPr>
        <p:spPr>
          <a:xfrm>
            <a:off x="381000" y="1362075"/>
            <a:ext cx="5638800" cy="38100"/>
          </a:xfrm>
          <a:custGeom>
            <a:avLst/>
            <a:gdLst/>
            <a:ahLst/>
            <a:cxnLst/>
            <a:rect l="l" t="t" r="r" b="b"/>
            <a:pathLst>
              <a:path w="5638800" h="38100">
                <a:moveTo>
                  <a:pt x="38100" y="0"/>
                </a:moveTo>
                <a:lnTo>
                  <a:pt x="5600700" y="0"/>
                </a:lnTo>
                <a:cubicBezTo>
                  <a:pt x="5621728" y="0"/>
                  <a:pt x="5638800" y="17072"/>
                  <a:pt x="5638800" y="38100"/>
                </a:cubicBezTo>
                <a:lnTo>
                  <a:pt x="5638800" y="38100"/>
                </a:lnTo>
                <a:lnTo>
                  <a:pt x="0" y="38100"/>
                </a:lnTo>
                <a:lnTo>
                  <a:pt x="0" y="38100"/>
                </a:lnTo>
                <a:cubicBezTo>
                  <a:pt x="0" y="17072"/>
                  <a:pt x="17072" y="0"/>
                  <a:pt x="38100" y="0"/>
                </a:cubicBezTo>
                <a:close/>
              </a:path>
            </a:pathLst>
          </a:custGeom>
          <a:solidFill>
            <a:srgbClr val="1A535C"/>
          </a:solidFill>
          <a:ln/>
        </p:spPr>
      </p:sp>
      <p:sp>
        <p:nvSpPr>
          <p:cNvPr id="7" name="Shape 5"/>
          <p:cNvSpPr/>
          <p:nvPr/>
        </p:nvSpPr>
        <p:spPr>
          <a:xfrm>
            <a:off x="533400" y="1533525"/>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1A535C"/>
          </a:solidFill>
          <a:ln/>
        </p:spPr>
      </p:sp>
      <p:sp>
        <p:nvSpPr>
          <p:cNvPr id="8" name="Shape 6"/>
          <p:cNvSpPr/>
          <p:nvPr/>
        </p:nvSpPr>
        <p:spPr>
          <a:xfrm>
            <a:off x="651272" y="1638300"/>
            <a:ext cx="150019" cy="171450"/>
          </a:xfrm>
          <a:custGeom>
            <a:avLst/>
            <a:gdLst/>
            <a:ahLst/>
            <a:cxnLst/>
            <a:rect l="l" t="t" r="r" b="b"/>
            <a:pathLst>
              <a:path w="150019" h="171450">
                <a:moveTo>
                  <a:pt x="80803" y="-4353"/>
                </a:moveTo>
                <a:cubicBezTo>
                  <a:pt x="76985" y="-5123"/>
                  <a:pt x="73067" y="-5123"/>
                  <a:pt x="69250" y="-4353"/>
                </a:cubicBezTo>
                <a:lnTo>
                  <a:pt x="6463" y="8204"/>
                </a:lnTo>
                <a:cubicBezTo>
                  <a:pt x="2712" y="8941"/>
                  <a:pt x="0" y="12256"/>
                  <a:pt x="0" y="16073"/>
                </a:cubicBezTo>
                <a:cubicBezTo>
                  <a:pt x="0" y="19523"/>
                  <a:pt x="2177" y="22536"/>
                  <a:pt x="5358" y="23641"/>
                </a:cubicBezTo>
                <a:lnTo>
                  <a:pt x="5358" y="48220"/>
                </a:lnTo>
                <a:lnTo>
                  <a:pt x="100" y="74541"/>
                </a:lnTo>
                <a:cubicBezTo>
                  <a:pt x="33" y="74842"/>
                  <a:pt x="0" y="75177"/>
                  <a:pt x="0" y="75512"/>
                </a:cubicBezTo>
                <a:cubicBezTo>
                  <a:pt x="0" y="78191"/>
                  <a:pt x="2177" y="80401"/>
                  <a:pt x="4889" y="80401"/>
                </a:cubicBezTo>
                <a:lnTo>
                  <a:pt x="16576" y="80401"/>
                </a:lnTo>
                <a:cubicBezTo>
                  <a:pt x="19255" y="80401"/>
                  <a:pt x="21465" y="78224"/>
                  <a:pt x="21465" y="75512"/>
                </a:cubicBezTo>
                <a:cubicBezTo>
                  <a:pt x="21465" y="75177"/>
                  <a:pt x="21431" y="74875"/>
                  <a:pt x="21364" y="74541"/>
                </a:cubicBezTo>
                <a:lnTo>
                  <a:pt x="16073" y="48220"/>
                </a:lnTo>
                <a:lnTo>
                  <a:pt x="16073" y="25885"/>
                </a:lnTo>
                <a:lnTo>
                  <a:pt x="32147" y="29100"/>
                </a:lnTo>
                <a:lnTo>
                  <a:pt x="32147" y="48220"/>
                </a:lnTo>
                <a:cubicBezTo>
                  <a:pt x="32147" y="71895"/>
                  <a:pt x="51335" y="91083"/>
                  <a:pt x="75009" y="91083"/>
                </a:cubicBezTo>
                <a:cubicBezTo>
                  <a:pt x="98684" y="91083"/>
                  <a:pt x="117872" y="71895"/>
                  <a:pt x="117872" y="48220"/>
                </a:cubicBezTo>
                <a:lnTo>
                  <a:pt x="117872" y="29100"/>
                </a:lnTo>
                <a:lnTo>
                  <a:pt x="143556" y="23976"/>
                </a:lnTo>
                <a:cubicBezTo>
                  <a:pt x="147306" y="23206"/>
                  <a:pt x="150019" y="19891"/>
                  <a:pt x="150019" y="16073"/>
                </a:cubicBezTo>
                <a:cubicBezTo>
                  <a:pt x="150019" y="12256"/>
                  <a:pt x="147306" y="8941"/>
                  <a:pt x="143556" y="8204"/>
                </a:cubicBezTo>
                <a:lnTo>
                  <a:pt x="80803" y="-4353"/>
                </a:lnTo>
                <a:close/>
                <a:moveTo>
                  <a:pt x="75009" y="75009"/>
                </a:moveTo>
                <a:cubicBezTo>
                  <a:pt x="60208" y="75009"/>
                  <a:pt x="48220" y="63021"/>
                  <a:pt x="48220" y="48220"/>
                </a:cubicBezTo>
                <a:lnTo>
                  <a:pt x="101798" y="48220"/>
                </a:lnTo>
                <a:cubicBezTo>
                  <a:pt x="101798" y="63021"/>
                  <a:pt x="89810" y="75009"/>
                  <a:pt x="75009" y="75009"/>
                </a:cubicBezTo>
                <a:close/>
                <a:moveTo>
                  <a:pt x="40217" y="107190"/>
                </a:moveTo>
                <a:cubicBezTo>
                  <a:pt x="19656" y="116633"/>
                  <a:pt x="5358" y="137394"/>
                  <a:pt x="5358" y="161505"/>
                </a:cubicBezTo>
                <a:cubicBezTo>
                  <a:pt x="5358" y="166996"/>
                  <a:pt x="9811" y="171450"/>
                  <a:pt x="15303" y="171450"/>
                </a:cubicBezTo>
                <a:lnTo>
                  <a:pt x="66973" y="171450"/>
                </a:lnTo>
                <a:lnTo>
                  <a:pt x="66973" y="122560"/>
                </a:lnTo>
                <a:lnTo>
                  <a:pt x="47752" y="108161"/>
                </a:lnTo>
                <a:cubicBezTo>
                  <a:pt x="45575" y="106520"/>
                  <a:pt x="42662" y="106085"/>
                  <a:pt x="40184" y="107223"/>
                </a:cubicBezTo>
                <a:close/>
                <a:moveTo>
                  <a:pt x="83046" y="171450"/>
                </a:moveTo>
                <a:lnTo>
                  <a:pt x="134715" y="171450"/>
                </a:lnTo>
                <a:cubicBezTo>
                  <a:pt x="140207" y="171450"/>
                  <a:pt x="144661" y="166996"/>
                  <a:pt x="144661" y="161505"/>
                </a:cubicBezTo>
                <a:cubicBezTo>
                  <a:pt x="144661" y="137394"/>
                  <a:pt x="130362" y="116633"/>
                  <a:pt x="109802" y="107223"/>
                </a:cubicBezTo>
                <a:cubicBezTo>
                  <a:pt x="107324" y="106085"/>
                  <a:pt x="104410" y="106520"/>
                  <a:pt x="102234" y="108161"/>
                </a:cubicBezTo>
                <a:lnTo>
                  <a:pt x="83013" y="122560"/>
                </a:lnTo>
                <a:lnTo>
                  <a:pt x="83013" y="171450"/>
                </a:lnTo>
                <a:close/>
              </a:path>
            </a:pathLst>
          </a:custGeom>
          <a:solidFill>
            <a:srgbClr val="FFFFFF"/>
          </a:solidFill>
          <a:ln/>
        </p:spPr>
      </p:sp>
      <p:sp>
        <p:nvSpPr>
          <p:cNvPr id="9" name="Text 7"/>
          <p:cNvSpPr/>
          <p:nvPr/>
        </p:nvSpPr>
        <p:spPr>
          <a:xfrm>
            <a:off x="1028700" y="1590675"/>
            <a:ext cx="1533525" cy="266700"/>
          </a:xfrm>
          <a:prstGeom prst="rect">
            <a:avLst/>
          </a:prstGeom>
          <a:noFill/>
          <a:ln/>
        </p:spPr>
        <p:txBody>
          <a:bodyPr wrap="square" lIns="0" tIns="0" rIns="0" bIns="0" rtlCol="0" anchor="ctr"/>
          <a:lstStyle/>
          <a:p>
            <a:pPr>
              <a:lnSpc>
                <a:spcPct val="120000"/>
              </a:lnSpc>
            </a:pPr>
            <a:r>
              <a:rPr lang="en-US" sz="1500" b="1" dirty="0">
                <a:solidFill>
                  <a:srgbClr val="1A535C"/>
                </a:solidFill>
                <a:latin typeface="Liter" pitchFamily="34" charset="0"/>
                <a:ea typeface="Liter" pitchFamily="34" charset="-122"/>
                <a:cs typeface="Liter" pitchFamily="34" charset="-120"/>
              </a:rPr>
              <a:t>The Student Side</a:t>
            </a:r>
            <a:endParaRPr lang="en-US" sz="1600" dirty="0"/>
          </a:p>
        </p:txBody>
      </p:sp>
      <p:sp>
        <p:nvSpPr>
          <p:cNvPr id="10" name="Text 8"/>
          <p:cNvSpPr/>
          <p:nvPr/>
        </p:nvSpPr>
        <p:spPr>
          <a:xfrm>
            <a:off x="533400" y="1990725"/>
            <a:ext cx="5410200" cy="1047750"/>
          </a:xfrm>
          <a:prstGeom prst="rect">
            <a:avLst/>
          </a:prstGeom>
          <a:noFill/>
          <a:ln/>
        </p:spPr>
        <p:txBody>
          <a:bodyPr wrap="square" lIns="0" tIns="0" rIns="0" bIns="0" rtlCol="0" anchor="ctr"/>
          <a:lstStyle/>
          <a:p>
            <a:pPr>
              <a:lnSpc>
                <a:spcPct val="110000"/>
              </a:lnSpc>
            </a:pPr>
            <a:r>
              <a:rPr lang="en-US" sz="1200" b="1" dirty="0">
                <a:solidFill>
                  <a:srgbClr val="212529"/>
                </a:solidFill>
                <a:latin typeface="Quattrocento Sans" pitchFamily="34" charset="0"/>
                <a:ea typeface="Quattrocento Sans" pitchFamily="34" charset="-122"/>
                <a:cs typeface="Quattrocento Sans" pitchFamily="34" charset="-120"/>
              </a:rPr>
              <a:t>Students from small towns and rural areas cannot access quality tutoring.</a:t>
            </a:r>
            <a:pPr>
              <a:lnSpc>
                <a:spcPct val="110000"/>
              </a:lnSpc>
            </a:pPr>
            <a:r>
              <a:rPr lang="en-US" sz="1200" dirty="0">
                <a:solidFill>
                  <a:srgbClr val="212529"/>
                </a:solidFill>
                <a:latin typeface="Quattrocento Sans" pitchFamily="34" charset="0"/>
                <a:ea typeface="Quattrocento Sans" pitchFamily="34" charset="-122"/>
                <a:cs typeface="Quattrocento Sans" pitchFamily="34" charset="-120"/>
              </a:rPr>
              <a:t> Private tutors are prohibitively expensive, and school teachers are severely overloaded with administrative duties. Many students specifically need subject matter experts with decades of classroom experience—not just peer tutors or pre-recorded videos.</a:t>
            </a:r>
            <a:endParaRPr lang="en-US" sz="1600" dirty="0"/>
          </a:p>
        </p:txBody>
      </p:sp>
      <p:sp>
        <p:nvSpPr>
          <p:cNvPr id="11" name="Shape 9"/>
          <p:cNvSpPr/>
          <p:nvPr/>
        </p:nvSpPr>
        <p:spPr>
          <a:xfrm>
            <a:off x="533400" y="3114675"/>
            <a:ext cx="2628900" cy="647700"/>
          </a:xfrm>
          <a:custGeom>
            <a:avLst/>
            <a:gdLst/>
            <a:ahLst/>
            <a:cxnLst/>
            <a:rect l="l" t="t" r="r" b="b"/>
            <a:pathLst>
              <a:path w="2628900" h="647700">
                <a:moveTo>
                  <a:pt x="76202" y="0"/>
                </a:moveTo>
                <a:lnTo>
                  <a:pt x="2552698" y="0"/>
                </a:lnTo>
                <a:cubicBezTo>
                  <a:pt x="2594783" y="0"/>
                  <a:pt x="2628900" y="34117"/>
                  <a:pt x="2628900" y="76202"/>
                </a:cubicBezTo>
                <a:lnTo>
                  <a:pt x="2628900" y="571498"/>
                </a:lnTo>
                <a:cubicBezTo>
                  <a:pt x="2628900" y="613583"/>
                  <a:pt x="2594783" y="647700"/>
                  <a:pt x="2552698" y="647700"/>
                </a:cubicBezTo>
                <a:lnTo>
                  <a:pt x="76202" y="647700"/>
                </a:lnTo>
                <a:cubicBezTo>
                  <a:pt x="34117" y="647700"/>
                  <a:pt x="0" y="613583"/>
                  <a:pt x="0" y="571498"/>
                </a:cubicBezTo>
                <a:lnTo>
                  <a:pt x="0" y="76202"/>
                </a:lnTo>
                <a:cubicBezTo>
                  <a:pt x="0" y="34117"/>
                  <a:pt x="34117" y="0"/>
                  <a:pt x="76202" y="0"/>
                </a:cubicBezTo>
                <a:close/>
              </a:path>
            </a:pathLst>
          </a:custGeom>
          <a:solidFill>
            <a:srgbClr val="1A535C">
              <a:alpha val="10196"/>
            </a:srgbClr>
          </a:solidFill>
          <a:ln/>
        </p:spPr>
      </p:sp>
      <p:sp>
        <p:nvSpPr>
          <p:cNvPr id="12" name="Text 10"/>
          <p:cNvSpPr/>
          <p:nvPr/>
        </p:nvSpPr>
        <p:spPr>
          <a:xfrm>
            <a:off x="552450" y="3190875"/>
            <a:ext cx="2590800" cy="304800"/>
          </a:xfrm>
          <a:prstGeom prst="rect">
            <a:avLst/>
          </a:prstGeom>
          <a:noFill/>
          <a:ln/>
        </p:spPr>
        <p:txBody>
          <a:bodyPr wrap="square" lIns="0" tIns="0" rIns="0" bIns="0" rtlCol="0" anchor="ctr"/>
          <a:lstStyle/>
          <a:p>
            <a:pPr algn="ctr">
              <a:lnSpc>
                <a:spcPct val="110000"/>
              </a:lnSpc>
            </a:pPr>
            <a:r>
              <a:rPr lang="en-US" sz="1800" b="1" dirty="0">
                <a:solidFill>
                  <a:srgbClr val="1A535C"/>
                </a:solidFill>
                <a:latin typeface="Quattrocento Sans" pitchFamily="34" charset="0"/>
                <a:ea typeface="Quattrocento Sans" pitchFamily="34" charset="-122"/>
                <a:cs typeface="Quattrocento Sans" pitchFamily="34" charset="-120"/>
              </a:rPr>
              <a:t>7L+</a:t>
            </a:r>
            <a:endParaRPr lang="en-US" sz="1600" dirty="0"/>
          </a:p>
        </p:txBody>
      </p:sp>
      <p:sp>
        <p:nvSpPr>
          <p:cNvPr id="13" name="Text 11"/>
          <p:cNvSpPr/>
          <p:nvPr/>
        </p:nvSpPr>
        <p:spPr>
          <a:xfrm>
            <a:off x="576263" y="3495556"/>
            <a:ext cx="2543175" cy="190500"/>
          </a:xfrm>
          <a:prstGeom prst="rect">
            <a:avLst/>
          </a:prstGeom>
          <a:noFill/>
          <a:ln/>
        </p:spPr>
        <p:txBody>
          <a:bodyPr wrap="square" lIns="0" tIns="0" rIns="0" bIns="0" rtlCol="0" anchor="ctr"/>
          <a:lstStyle/>
          <a:p>
            <a:pPr algn="ctr">
              <a:lnSpc>
                <a:spcPct val="120000"/>
              </a:lnSpc>
            </a:pPr>
            <a:r>
              <a:rPr lang="en-US" sz="1050" dirty="0">
                <a:solidFill>
                  <a:srgbClr val="212529">
                    <a:alpha val="70000"/>
                  </a:srgbClr>
                </a:solidFill>
                <a:latin typeface="Quattrocento Sans" pitchFamily="34" charset="0"/>
                <a:ea typeface="Quattrocento Sans" pitchFamily="34" charset="-122"/>
                <a:cs typeface="Quattrocento Sans" pitchFamily="34" charset="-120"/>
              </a:rPr>
              <a:t>Elementary Teacher Vacancies</a:t>
            </a:r>
            <a:endParaRPr lang="en-US" sz="1600" dirty="0"/>
          </a:p>
        </p:txBody>
      </p:sp>
      <p:sp>
        <p:nvSpPr>
          <p:cNvPr id="14" name="Shape 12"/>
          <p:cNvSpPr/>
          <p:nvPr/>
        </p:nvSpPr>
        <p:spPr>
          <a:xfrm>
            <a:off x="3238500" y="3114675"/>
            <a:ext cx="2628900" cy="647700"/>
          </a:xfrm>
          <a:custGeom>
            <a:avLst/>
            <a:gdLst/>
            <a:ahLst/>
            <a:cxnLst/>
            <a:rect l="l" t="t" r="r" b="b"/>
            <a:pathLst>
              <a:path w="2628900" h="647700">
                <a:moveTo>
                  <a:pt x="76202" y="0"/>
                </a:moveTo>
                <a:lnTo>
                  <a:pt x="2552698" y="0"/>
                </a:lnTo>
                <a:cubicBezTo>
                  <a:pt x="2594783" y="0"/>
                  <a:pt x="2628900" y="34117"/>
                  <a:pt x="2628900" y="76202"/>
                </a:cubicBezTo>
                <a:lnTo>
                  <a:pt x="2628900" y="571498"/>
                </a:lnTo>
                <a:cubicBezTo>
                  <a:pt x="2628900" y="613583"/>
                  <a:pt x="2594783" y="647700"/>
                  <a:pt x="2552698" y="647700"/>
                </a:cubicBezTo>
                <a:lnTo>
                  <a:pt x="76202" y="647700"/>
                </a:lnTo>
                <a:cubicBezTo>
                  <a:pt x="34117" y="647700"/>
                  <a:pt x="0" y="613583"/>
                  <a:pt x="0" y="571498"/>
                </a:cubicBezTo>
                <a:lnTo>
                  <a:pt x="0" y="76202"/>
                </a:lnTo>
                <a:cubicBezTo>
                  <a:pt x="0" y="34117"/>
                  <a:pt x="34117" y="0"/>
                  <a:pt x="76202" y="0"/>
                </a:cubicBezTo>
                <a:close/>
              </a:path>
            </a:pathLst>
          </a:custGeom>
          <a:solidFill>
            <a:srgbClr val="1A535C">
              <a:alpha val="10196"/>
            </a:srgbClr>
          </a:solidFill>
          <a:ln/>
        </p:spPr>
      </p:sp>
      <p:sp>
        <p:nvSpPr>
          <p:cNvPr id="15" name="Text 13"/>
          <p:cNvSpPr/>
          <p:nvPr/>
        </p:nvSpPr>
        <p:spPr>
          <a:xfrm>
            <a:off x="3257550" y="3190875"/>
            <a:ext cx="2590800" cy="304800"/>
          </a:xfrm>
          <a:prstGeom prst="rect">
            <a:avLst/>
          </a:prstGeom>
          <a:noFill/>
          <a:ln/>
        </p:spPr>
        <p:txBody>
          <a:bodyPr wrap="square" lIns="0" tIns="0" rIns="0" bIns="0" rtlCol="0" anchor="ctr"/>
          <a:lstStyle/>
          <a:p>
            <a:pPr algn="ctr">
              <a:lnSpc>
                <a:spcPct val="110000"/>
              </a:lnSpc>
            </a:pPr>
            <a:r>
              <a:rPr lang="en-US" sz="1800" b="1" dirty="0">
                <a:solidFill>
                  <a:srgbClr val="1A535C"/>
                </a:solidFill>
                <a:latin typeface="Quattrocento Sans" pitchFamily="34" charset="0"/>
                <a:ea typeface="Quattrocento Sans" pitchFamily="34" charset="-122"/>
                <a:cs typeface="Quattrocento Sans" pitchFamily="34" charset="-120"/>
              </a:rPr>
              <a:t>1.24L+</a:t>
            </a:r>
            <a:endParaRPr lang="en-US" sz="1600" dirty="0"/>
          </a:p>
        </p:txBody>
      </p:sp>
      <p:sp>
        <p:nvSpPr>
          <p:cNvPr id="16" name="Text 14"/>
          <p:cNvSpPr/>
          <p:nvPr/>
        </p:nvSpPr>
        <p:spPr>
          <a:xfrm>
            <a:off x="3281363" y="3495556"/>
            <a:ext cx="2543175" cy="190500"/>
          </a:xfrm>
          <a:prstGeom prst="rect">
            <a:avLst/>
          </a:prstGeom>
          <a:noFill/>
          <a:ln/>
        </p:spPr>
        <p:txBody>
          <a:bodyPr wrap="square" lIns="0" tIns="0" rIns="0" bIns="0" rtlCol="0" anchor="ctr"/>
          <a:lstStyle/>
          <a:p>
            <a:pPr algn="ctr">
              <a:lnSpc>
                <a:spcPct val="120000"/>
              </a:lnSpc>
            </a:pPr>
            <a:r>
              <a:rPr lang="en-US" sz="1050" dirty="0">
                <a:solidFill>
                  <a:srgbClr val="212529">
                    <a:alpha val="70000"/>
                  </a:srgbClr>
                </a:solidFill>
                <a:latin typeface="Quattrocento Sans" pitchFamily="34" charset="0"/>
                <a:ea typeface="Quattrocento Sans" pitchFamily="34" charset="-122"/>
                <a:cs typeface="Quattrocento Sans" pitchFamily="34" charset="-120"/>
              </a:rPr>
              <a:t>Secondary Teacher Vacancies</a:t>
            </a:r>
            <a:endParaRPr lang="en-US" sz="1600" dirty="0"/>
          </a:p>
        </p:txBody>
      </p:sp>
      <p:sp>
        <p:nvSpPr>
          <p:cNvPr id="17" name="Shape 15"/>
          <p:cNvSpPr/>
          <p:nvPr/>
        </p:nvSpPr>
        <p:spPr>
          <a:xfrm>
            <a:off x="381000" y="4086106"/>
            <a:ext cx="5638800" cy="2552700"/>
          </a:xfrm>
          <a:custGeom>
            <a:avLst/>
            <a:gdLst/>
            <a:ahLst/>
            <a:cxnLst/>
            <a:rect l="l" t="t" r="r" b="b"/>
            <a:pathLst>
              <a:path w="5638800" h="2552700">
                <a:moveTo>
                  <a:pt x="38100" y="0"/>
                </a:moveTo>
                <a:lnTo>
                  <a:pt x="5600700" y="0"/>
                </a:lnTo>
                <a:cubicBezTo>
                  <a:pt x="5621728" y="0"/>
                  <a:pt x="5638800" y="17072"/>
                  <a:pt x="5638800" y="38100"/>
                </a:cubicBezTo>
                <a:lnTo>
                  <a:pt x="5638800" y="2476502"/>
                </a:lnTo>
                <a:cubicBezTo>
                  <a:pt x="5638800" y="2518585"/>
                  <a:pt x="5604685" y="2552700"/>
                  <a:pt x="5562602" y="2552700"/>
                </a:cubicBezTo>
                <a:lnTo>
                  <a:pt x="76198" y="2552700"/>
                </a:lnTo>
                <a:cubicBezTo>
                  <a:pt x="34115" y="2552700"/>
                  <a:pt x="0" y="2518585"/>
                  <a:pt x="0" y="2476502"/>
                </a:cubicBezTo>
                <a:lnTo>
                  <a:pt x="0" y="38100"/>
                </a:lnTo>
                <a:cubicBezTo>
                  <a:pt x="0" y="17072"/>
                  <a:pt x="17072" y="0"/>
                  <a:pt x="38100" y="0"/>
                </a:cubicBezTo>
                <a:close/>
              </a:path>
            </a:pathLst>
          </a:custGeom>
          <a:solidFill>
            <a:srgbClr val="FFFFFF"/>
          </a:solidFill>
          <a:ln/>
          <a:effectLst>
            <a:outerShdw sx="100000" sy="100000" kx="0" ky="0" algn="bl" rotWithShape="0" blurRad="57150" dist="38100" dir="5400000">
              <a:srgbClr val="000000">
                <a:alpha val="10196"/>
              </a:srgbClr>
            </a:outerShdw>
          </a:effectLst>
        </p:spPr>
      </p:sp>
      <p:sp>
        <p:nvSpPr>
          <p:cNvPr id="18" name="Shape 16"/>
          <p:cNvSpPr/>
          <p:nvPr/>
        </p:nvSpPr>
        <p:spPr>
          <a:xfrm>
            <a:off x="381000" y="4086106"/>
            <a:ext cx="5638800" cy="38100"/>
          </a:xfrm>
          <a:custGeom>
            <a:avLst/>
            <a:gdLst/>
            <a:ahLst/>
            <a:cxnLst/>
            <a:rect l="l" t="t" r="r" b="b"/>
            <a:pathLst>
              <a:path w="5638800" h="38100">
                <a:moveTo>
                  <a:pt x="38100" y="0"/>
                </a:moveTo>
                <a:lnTo>
                  <a:pt x="5600700" y="0"/>
                </a:lnTo>
                <a:cubicBezTo>
                  <a:pt x="5621728" y="0"/>
                  <a:pt x="5638800" y="17072"/>
                  <a:pt x="5638800" y="38100"/>
                </a:cubicBezTo>
                <a:lnTo>
                  <a:pt x="5638800" y="38100"/>
                </a:lnTo>
                <a:lnTo>
                  <a:pt x="0" y="38100"/>
                </a:lnTo>
                <a:lnTo>
                  <a:pt x="0" y="38100"/>
                </a:lnTo>
                <a:cubicBezTo>
                  <a:pt x="0" y="17072"/>
                  <a:pt x="17072" y="0"/>
                  <a:pt x="38100" y="0"/>
                </a:cubicBezTo>
                <a:close/>
              </a:path>
            </a:pathLst>
          </a:custGeom>
          <a:solidFill>
            <a:srgbClr val="4A7C59"/>
          </a:solidFill>
          <a:ln/>
        </p:spPr>
      </p:sp>
      <p:sp>
        <p:nvSpPr>
          <p:cNvPr id="19" name="Shape 17"/>
          <p:cNvSpPr/>
          <p:nvPr/>
        </p:nvSpPr>
        <p:spPr>
          <a:xfrm>
            <a:off x="533400" y="4257556"/>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4A7C59"/>
          </a:solidFill>
          <a:ln/>
        </p:spPr>
      </p:sp>
      <p:sp>
        <p:nvSpPr>
          <p:cNvPr id="20" name="Shape 18"/>
          <p:cNvSpPr/>
          <p:nvPr/>
        </p:nvSpPr>
        <p:spPr>
          <a:xfrm>
            <a:off x="619125" y="4362331"/>
            <a:ext cx="214313" cy="171450"/>
          </a:xfrm>
          <a:custGeom>
            <a:avLst/>
            <a:gdLst/>
            <a:ahLst/>
            <a:cxnLst/>
            <a:rect l="l" t="t" r="r" b="b"/>
            <a:pathLst>
              <a:path w="214313" h="171450">
                <a:moveTo>
                  <a:pt x="42863" y="32147"/>
                </a:moveTo>
                <a:cubicBezTo>
                  <a:pt x="42863" y="20326"/>
                  <a:pt x="52473" y="10716"/>
                  <a:pt x="64294" y="10716"/>
                </a:cubicBezTo>
                <a:lnTo>
                  <a:pt x="182166" y="10716"/>
                </a:lnTo>
                <a:cubicBezTo>
                  <a:pt x="193986" y="10716"/>
                  <a:pt x="203597" y="20326"/>
                  <a:pt x="203597" y="32147"/>
                </a:cubicBezTo>
                <a:lnTo>
                  <a:pt x="203597" y="112514"/>
                </a:lnTo>
                <a:lnTo>
                  <a:pt x="171450" y="112514"/>
                </a:lnTo>
                <a:lnTo>
                  <a:pt x="171450" y="107156"/>
                </a:lnTo>
                <a:cubicBezTo>
                  <a:pt x="171450" y="101229"/>
                  <a:pt x="166661" y="96441"/>
                  <a:pt x="160734" y="96441"/>
                </a:cubicBezTo>
                <a:lnTo>
                  <a:pt x="139303" y="96441"/>
                </a:lnTo>
                <a:cubicBezTo>
                  <a:pt x="133376" y="96441"/>
                  <a:pt x="128588" y="101229"/>
                  <a:pt x="128588" y="107156"/>
                </a:cubicBezTo>
                <a:lnTo>
                  <a:pt x="128588" y="112514"/>
                </a:lnTo>
                <a:lnTo>
                  <a:pt x="85357" y="112514"/>
                </a:lnTo>
                <a:cubicBezTo>
                  <a:pt x="89007" y="106219"/>
                  <a:pt x="91083" y="98885"/>
                  <a:pt x="91083" y="91083"/>
                </a:cubicBezTo>
                <a:cubicBezTo>
                  <a:pt x="91083" y="67408"/>
                  <a:pt x="71895" y="48220"/>
                  <a:pt x="48220" y="48220"/>
                </a:cubicBezTo>
                <a:cubicBezTo>
                  <a:pt x="46412" y="48220"/>
                  <a:pt x="44604" y="48321"/>
                  <a:pt x="42863" y="48555"/>
                </a:cubicBezTo>
                <a:lnTo>
                  <a:pt x="42863" y="32147"/>
                </a:lnTo>
                <a:close/>
                <a:moveTo>
                  <a:pt x="111509" y="150019"/>
                </a:moveTo>
                <a:cubicBezTo>
                  <a:pt x="109802" y="141915"/>
                  <a:pt x="106051" y="134582"/>
                  <a:pt x="100760" y="128588"/>
                </a:cubicBezTo>
                <a:lnTo>
                  <a:pt x="203597" y="128588"/>
                </a:lnTo>
                <a:cubicBezTo>
                  <a:pt x="203597" y="140408"/>
                  <a:pt x="193986" y="150019"/>
                  <a:pt x="182166" y="150019"/>
                </a:cubicBezTo>
                <a:lnTo>
                  <a:pt x="111509" y="150019"/>
                </a:lnTo>
                <a:close/>
                <a:moveTo>
                  <a:pt x="21431" y="91083"/>
                </a:moveTo>
                <a:cubicBezTo>
                  <a:pt x="21431" y="76298"/>
                  <a:pt x="33435" y="64294"/>
                  <a:pt x="48220" y="64294"/>
                </a:cubicBezTo>
                <a:cubicBezTo>
                  <a:pt x="63006" y="64294"/>
                  <a:pt x="75009" y="76298"/>
                  <a:pt x="75009" y="91083"/>
                </a:cubicBezTo>
                <a:cubicBezTo>
                  <a:pt x="75009" y="105868"/>
                  <a:pt x="63006" y="117872"/>
                  <a:pt x="48220" y="117872"/>
                </a:cubicBezTo>
                <a:cubicBezTo>
                  <a:pt x="33435" y="117872"/>
                  <a:pt x="21431" y="105868"/>
                  <a:pt x="21431" y="91083"/>
                </a:cubicBezTo>
                <a:close/>
                <a:moveTo>
                  <a:pt x="0" y="160734"/>
                </a:moveTo>
                <a:cubicBezTo>
                  <a:pt x="0" y="142987"/>
                  <a:pt x="14399" y="128588"/>
                  <a:pt x="32147" y="128588"/>
                </a:cubicBezTo>
                <a:lnTo>
                  <a:pt x="64294" y="128588"/>
                </a:lnTo>
                <a:cubicBezTo>
                  <a:pt x="82042" y="128588"/>
                  <a:pt x="96441" y="142987"/>
                  <a:pt x="96441" y="160734"/>
                </a:cubicBezTo>
                <a:cubicBezTo>
                  <a:pt x="96441" y="166661"/>
                  <a:pt x="91652" y="171450"/>
                  <a:pt x="85725" y="171450"/>
                </a:cubicBezTo>
                <a:lnTo>
                  <a:pt x="10716" y="171450"/>
                </a:lnTo>
                <a:cubicBezTo>
                  <a:pt x="4789" y="171450"/>
                  <a:pt x="0" y="166661"/>
                  <a:pt x="0" y="160734"/>
                </a:cubicBezTo>
                <a:close/>
              </a:path>
            </a:pathLst>
          </a:custGeom>
          <a:solidFill>
            <a:srgbClr val="FFFFFF"/>
          </a:solidFill>
          <a:ln/>
        </p:spPr>
      </p:sp>
      <p:sp>
        <p:nvSpPr>
          <p:cNvPr id="21" name="Text 19"/>
          <p:cNvSpPr/>
          <p:nvPr/>
        </p:nvSpPr>
        <p:spPr>
          <a:xfrm>
            <a:off x="1028700" y="4314706"/>
            <a:ext cx="2200275" cy="266700"/>
          </a:xfrm>
          <a:prstGeom prst="rect">
            <a:avLst/>
          </a:prstGeom>
          <a:noFill/>
          <a:ln/>
        </p:spPr>
        <p:txBody>
          <a:bodyPr wrap="square" lIns="0" tIns="0" rIns="0" bIns="0" rtlCol="0" anchor="ctr"/>
          <a:lstStyle/>
          <a:p>
            <a:pPr>
              <a:lnSpc>
                <a:spcPct val="120000"/>
              </a:lnSpc>
            </a:pPr>
            <a:r>
              <a:rPr lang="en-US" sz="1500" b="1" dirty="0">
                <a:solidFill>
                  <a:srgbClr val="1A535C"/>
                </a:solidFill>
                <a:latin typeface="Liter" pitchFamily="34" charset="0"/>
                <a:ea typeface="Liter" pitchFamily="34" charset="-122"/>
                <a:cs typeface="Liter" pitchFamily="34" charset="-120"/>
              </a:rPr>
              <a:t>The Retired Teacher Side</a:t>
            </a:r>
            <a:endParaRPr lang="en-US" sz="1600" dirty="0"/>
          </a:p>
        </p:txBody>
      </p:sp>
      <p:sp>
        <p:nvSpPr>
          <p:cNvPr id="22" name="Text 20"/>
          <p:cNvSpPr/>
          <p:nvPr/>
        </p:nvSpPr>
        <p:spPr>
          <a:xfrm>
            <a:off x="533400" y="4714756"/>
            <a:ext cx="5410200" cy="1047750"/>
          </a:xfrm>
          <a:prstGeom prst="rect">
            <a:avLst/>
          </a:prstGeom>
          <a:noFill/>
          <a:ln/>
        </p:spPr>
        <p:txBody>
          <a:bodyPr wrap="square" lIns="0" tIns="0" rIns="0" bIns="0" rtlCol="0" anchor="ctr"/>
          <a:lstStyle/>
          <a:p>
            <a:pPr>
              <a:lnSpc>
                <a:spcPct val="110000"/>
              </a:lnSpc>
            </a:pPr>
            <a:r>
              <a:rPr lang="en-US" sz="1200" b="1" dirty="0">
                <a:solidFill>
                  <a:srgbClr val="212529"/>
                </a:solidFill>
                <a:latin typeface="Quattrocento Sans" pitchFamily="34" charset="0"/>
                <a:ea typeface="Quattrocento Sans" pitchFamily="34" charset="-122"/>
                <a:cs typeface="Quattrocento Sans" pitchFamily="34" charset="-120"/>
              </a:rPr>
              <a:t>India has 1.01 crore school teachers today, with millions retiring annually.</a:t>
            </a:r>
            <a:pPr>
              <a:lnSpc>
                <a:spcPct val="110000"/>
              </a:lnSpc>
            </a:pPr>
            <a:r>
              <a:rPr lang="en-US" sz="1200" dirty="0">
                <a:solidFill>
                  <a:srgbClr val="212529"/>
                </a:solidFill>
                <a:latin typeface="Quattrocento Sans" pitchFamily="34" charset="0"/>
                <a:ea typeface="Quattrocento Sans" pitchFamily="34" charset="-122"/>
                <a:cs typeface="Quattrocento Sans" pitchFamily="34" charset="-120"/>
              </a:rPr>
              <a:t> After retirement, many feel socially isolated, purposeless, and mentally underutilized. They possess immense subject knowledge and teaching skills but lack a structured channel to apply them. They are uncomfortable finding gigs on generic platforms like Upwork.</a:t>
            </a:r>
            <a:endParaRPr lang="en-US" sz="1600" dirty="0"/>
          </a:p>
        </p:txBody>
      </p:sp>
      <p:sp>
        <p:nvSpPr>
          <p:cNvPr id="23" name="Shape 21"/>
          <p:cNvSpPr/>
          <p:nvPr/>
        </p:nvSpPr>
        <p:spPr>
          <a:xfrm>
            <a:off x="533400" y="5838706"/>
            <a:ext cx="2628900" cy="647700"/>
          </a:xfrm>
          <a:custGeom>
            <a:avLst/>
            <a:gdLst/>
            <a:ahLst/>
            <a:cxnLst/>
            <a:rect l="l" t="t" r="r" b="b"/>
            <a:pathLst>
              <a:path w="2628900" h="647700">
                <a:moveTo>
                  <a:pt x="76202" y="0"/>
                </a:moveTo>
                <a:lnTo>
                  <a:pt x="2552698" y="0"/>
                </a:lnTo>
                <a:cubicBezTo>
                  <a:pt x="2594783" y="0"/>
                  <a:pt x="2628900" y="34117"/>
                  <a:pt x="2628900" y="76202"/>
                </a:cubicBezTo>
                <a:lnTo>
                  <a:pt x="2628900" y="571498"/>
                </a:lnTo>
                <a:cubicBezTo>
                  <a:pt x="2628900" y="613583"/>
                  <a:pt x="2594783" y="647700"/>
                  <a:pt x="2552698" y="647700"/>
                </a:cubicBezTo>
                <a:lnTo>
                  <a:pt x="76202" y="647700"/>
                </a:lnTo>
                <a:cubicBezTo>
                  <a:pt x="34117" y="647700"/>
                  <a:pt x="0" y="613583"/>
                  <a:pt x="0" y="571498"/>
                </a:cubicBezTo>
                <a:lnTo>
                  <a:pt x="0" y="76202"/>
                </a:lnTo>
                <a:cubicBezTo>
                  <a:pt x="0" y="34117"/>
                  <a:pt x="34117" y="0"/>
                  <a:pt x="76202" y="0"/>
                </a:cubicBezTo>
                <a:close/>
              </a:path>
            </a:pathLst>
          </a:custGeom>
          <a:solidFill>
            <a:srgbClr val="4A7C59">
              <a:alpha val="10196"/>
            </a:srgbClr>
          </a:solidFill>
          <a:ln/>
        </p:spPr>
      </p:sp>
      <p:sp>
        <p:nvSpPr>
          <p:cNvPr id="24" name="Text 22"/>
          <p:cNvSpPr/>
          <p:nvPr/>
        </p:nvSpPr>
        <p:spPr>
          <a:xfrm>
            <a:off x="552450" y="5914906"/>
            <a:ext cx="2590800" cy="304800"/>
          </a:xfrm>
          <a:prstGeom prst="rect">
            <a:avLst/>
          </a:prstGeom>
          <a:noFill/>
          <a:ln/>
        </p:spPr>
        <p:txBody>
          <a:bodyPr wrap="square" lIns="0" tIns="0" rIns="0" bIns="0" rtlCol="0" anchor="ctr"/>
          <a:lstStyle/>
          <a:p>
            <a:pPr algn="ctr">
              <a:lnSpc>
                <a:spcPct val="110000"/>
              </a:lnSpc>
            </a:pPr>
            <a:r>
              <a:rPr lang="en-US" sz="1800" b="1" dirty="0">
                <a:solidFill>
                  <a:srgbClr val="4A7C59"/>
                </a:solidFill>
                <a:latin typeface="Quattrocento Sans" pitchFamily="34" charset="0"/>
                <a:ea typeface="Quattrocento Sans" pitchFamily="34" charset="-122"/>
                <a:cs typeface="Quattrocento Sans" pitchFamily="34" charset="-120"/>
              </a:rPr>
              <a:t>55-75</a:t>
            </a:r>
            <a:endParaRPr lang="en-US" sz="1600" dirty="0"/>
          </a:p>
        </p:txBody>
      </p:sp>
      <p:sp>
        <p:nvSpPr>
          <p:cNvPr id="25" name="Text 23"/>
          <p:cNvSpPr/>
          <p:nvPr/>
        </p:nvSpPr>
        <p:spPr>
          <a:xfrm>
            <a:off x="576263" y="6219588"/>
            <a:ext cx="2543175" cy="190500"/>
          </a:xfrm>
          <a:prstGeom prst="rect">
            <a:avLst/>
          </a:prstGeom>
          <a:noFill/>
          <a:ln/>
        </p:spPr>
        <p:txBody>
          <a:bodyPr wrap="square" lIns="0" tIns="0" rIns="0" bIns="0" rtlCol="0" anchor="ctr"/>
          <a:lstStyle/>
          <a:p>
            <a:pPr algn="ctr">
              <a:lnSpc>
                <a:spcPct val="120000"/>
              </a:lnSpc>
            </a:pPr>
            <a:r>
              <a:rPr lang="en-US" sz="1050" dirty="0">
                <a:solidFill>
                  <a:srgbClr val="212529">
                    <a:alpha val="70000"/>
                  </a:srgbClr>
                </a:solidFill>
                <a:latin typeface="Quattrocento Sans" pitchFamily="34" charset="0"/>
                <a:ea typeface="Quattrocento Sans" pitchFamily="34" charset="-122"/>
                <a:cs typeface="Quattrocento Sans" pitchFamily="34" charset="-120"/>
              </a:rPr>
              <a:t>Target Age Group (Years)</a:t>
            </a:r>
            <a:endParaRPr lang="en-US" sz="1600" dirty="0"/>
          </a:p>
        </p:txBody>
      </p:sp>
      <p:sp>
        <p:nvSpPr>
          <p:cNvPr id="26" name="Shape 24"/>
          <p:cNvSpPr/>
          <p:nvPr/>
        </p:nvSpPr>
        <p:spPr>
          <a:xfrm>
            <a:off x="3238500" y="5838706"/>
            <a:ext cx="2628900" cy="647700"/>
          </a:xfrm>
          <a:custGeom>
            <a:avLst/>
            <a:gdLst/>
            <a:ahLst/>
            <a:cxnLst/>
            <a:rect l="l" t="t" r="r" b="b"/>
            <a:pathLst>
              <a:path w="2628900" h="647700">
                <a:moveTo>
                  <a:pt x="76202" y="0"/>
                </a:moveTo>
                <a:lnTo>
                  <a:pt x="2552698" y="0"/>
                </a:lnTo>
                <a:cubicBezTo>
                  <a:pt x="2594783" y="0"/>
                  <a:pt x="2628900" y="34117"/>
                  <a:pt x="2628900" y="76202"/>
                </a:cubicBezTo>
                <a:lnTo>
                  <a:pt x="2628900" y="571498"/>
                </a:lnTo>
                <a:cubicBezTo>
                  <a:pt x="2628900" y="613583"/>
                  <a:pt x="2594783" y="647700"/>
                  <a:pt x="2552698" y="647700"/>
                </a:cubicBezTo>
                <a:lnTo>
                  <a:pt x="76202" y="647700"/>
                </a:lnTo>
                <a:cubicBezTo>
                  <a:pt x="34117" y="647700"/>
                  <a:pt x="0" y="613583"/>
                  <a:pt x="0" y="571498"/>
                </a:cubicBezTo>
                <a:lnTo>
                  <a:pt x="0" y="76202"/>
                </a:lnTo>
                <a:cubicBezTo>
                  <a:pt x="0" y="34117"/>
                  <a:pt x="34117" y="0"/>
                  <a:pt x="76202" y="0"/>
                </a:cubicBezTo>
                <a:close/>
              </a:path>
            </a:pathLst>
          </a:custGeom>
          <a:solidFill>
            <a:srgbClr val="4A7C59">
              <a:alpha val="10196"/>
            </a:srgbClr>
          </a:solidFill>
          <a:ln/>
        </p:spPr>
      </p:sp>
      <p:sp>
        <p:nvSpPr>
          <p:cNvPr id="27" name="Text 25"/>
          <p:cNvSpPr/>
          <p:nvPr/>
        </p:nvSpPr>
        <p:spPr>
          <a:xfrm>
            <a:off x="3257550" y="5914906"/>
            <a:ext cx="2590800" cy="304800"/>
          </a:xfrm>
          <a:prstGeom prst="rect">
            <a:avLst/>
          </a:prstGeom>
          <a:noFill/>
          <a:ln/>
        </p:spPr>
        <p:txBody>
          <a:bodyPr wrap="square" lIns="0" tIns="0" rIns="0" bIns="0" rtlCol="0" anchor="ctr"/>
          <a:lstStyle/>
          <a:p>
            <a:pPr algn="ctr">
              <a:lnSpc>
                <a:spcPct val="110000"/>
              </a:lnSpc>
            </a:pPr>
            <a:r>
              <a:rPr lang="en-US" sz="1800" b="1" dirty="0">
                <a:solidFill>
                  <a:srgbClr val="4A7C59"/>
                </a:solidFill>
                <a:latin typeface="Quattrocento Sans" pitchFamily="34" charset="0"/>
                <a:ea typeface="Quattrocento Sans" pitchFamily="34" charset="-122"/>
                <a:cs typeface="Quattrocento Sans" pitchFamily="34" charset="-120"/>
              </a:rPr>
              <a:t>Decades</a:t>
            </a:r>
            <a:endParaRPr lang="en-US" sz="1600" dirty="0"/>
          </a:p>
        </p:txBody>
      </p:sp>
      <p:sp>
        <p:nvSpPr>
          <p:cNvPr id="28" name="Text 26"/>
          <p:cNvSpPr/>
          <p:nvPr/>
        </p:nvSpPr>
        <p:spPr>
          <a:xfrm>
            <a:off x="3281363" y="6219588"/>
            <a:ext cx="2543175" cy="190500"/>
          </a:xfrm>
          <a:prstGeom prst="rect">
            <a:avLst/>
          </a:prstGeom>
          <a:noFill/>
          <a:ln/>
        </p:spPr>
        <p:txBody>
          <a:bodyPr wrap="square" lIns="0" tIns="0" rIns="0" bIns="0" rtlCol="0" anchor="ctr"/>
          <a:lstStyle/>
          <a:p>
            <a:pPr algn="ctr">
              <a:lnSpc>
                <a:spcPct val="120000"/>
              </a:lnSpc>
            </a:pPr>
            <a:r>
              <a:rPr lang="en-US" sz="1050" dirty="0">
                <a:solidFill>
                  <a:srgbClr val="212529">
                    <a:alpha val="70000"/>
                  </a:srgbClr>
                </a:solidFill>
                <a:latin typeface="Quattrocento Sans" pitchFamily="34" charset="0"/>
                <a:ea typeface="Quattrocento Sans" pitchFamily="34" charset="-122"/>
                <a:cs typeface="Quattrocento Sans" pitchFamily="34" charset="-120"/>
              </a:rPr>
              <a:t>Of Pedagogical Experience</a:t>
            </a:r>
            <a:endParaRPr lang="en-US" sz="1600" dirty="0"/>
          </a:p>
        </p:txBody>
      </p:sp>
      <p:sp>
        <p:nvSpPr>
          <p:cNvPr id="29" name="Shape 27"/>
          <p:cNvSpPr/>
          <p:nvPr/>
        </p:nvSpPr>
        <p:spPr>
          <a:xfrm>
            <a:off x="6172200" y="1343025"/>
            <a:ext cx="5638800" cy="5295900"/>
          </a:xfrm>
          <a:custGeom>
            <a:avLst/>
            <a:gdLst/>
            <a:ahLst/>
            <a:cxnLst/>
            <a:rect l="l" t="t" r="r" b="b"/>
            <a:pathLst>
              <a:path w="5638800" h="5295900">
                <a:moveTo>
                  <a:pt x="76208" y="0"/>
                </a:moveTo>
                <a:lnTo>
                  <a:pt x="5562592" y="0"/>
                </a:lnTo>
                <a:cubicBezTo>
                  <a:pt x="5604652" y="0"/>
                  <a:pt x="5638800" y="34148"/>
                  <a:pt x="5638800" y="76208"/>
                </a:cubicBezTo>
                <a:lnTo>
                  <a:pt x="5638800" y="5219692"/>
                </a:lnTo>
                <a:cubicBezTo>
                  <a:pt x="5638800" y="5261781"/>
                  <a:pt x="5604681" y="5295900"/>
                  <a:pt x="5562592" y="5295900"/>
                </a:cubicBezTo>
                <a:lnTo>
                  <a:pt x="76208" y="5295900"/>
                </a:lnTo>
                <a:cubicBezTo>
                  <a:pt x="34119" y="5295900"/>
                  <a:pt x="0" y="5261781"/>
                  <a:pt x="0" y="5219692"/>
                </a:cubicBezTo>
                <a:lnTo>
                  <a:pt x="0" y="76208"/>
                </a:lnTo>
                <a:cubicBezTo>
                  <a:pt x="0" y="34148"/>
                  <a:pt x="34148" y="0"/>
                  <a:pt x="76208" y="0"/>
                </a:cubicBezTo>
                <a:close/>
              </a:path>
            </a:pathLst>
          </a:custGeom>
          <a:gradFill rotWithShape="1" flip="none">
            <a:gsLst>
              <a:gs pos="0">
                <a:srgbClr val="1A535C"/>
              </a:gs>
              <a:gs pos="100000">
                <a:srgbClr val="4A7C59"/>
              </a:gs>
            </a:gsLst>
            <a:lin ang="2700000" scaled="1"/>
          </a:gradFill>
          <a:ln/>
          <a:effectLst>
            <a:outerShdw sx="100000" sy="100000" kx="0" ky="0" algn="bl" rotWithShape="0" blurRad="238125" dist="190500" dir="5400000">
              <a:srgbClr val="000000">
                <a:alpha val="10196"/>
              </a:srgbClr>
            </a:outerShdw>
          </a:effectLst>
        </p:spPr>
      </p:sp>
      <p:sp>
        <p:nvSpPr>
          <p:cNvPr id="30" name="Shape 28"/>
          <p:cNvSpPr/>
          <p:nvPr/>
        </p:nvSpPr>
        <p:spPr>
          <a:xfrm>
            <a:off x="6324600" y="1495425"/>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F7B538"/>
          </a:solidFill>
          <a:ln/>
        </p:spPr>
      </p:sp>
      <p:sp>
        <p:nvSpPr>
          <p:cNvPr id="31" name="Shape 29"/>
          <p:cNvSpPr/>
          <p:nvPr/>
        </p:nvSpPr>
        <p:spPr>
          <a:xfrm>
            <a:off x="6431756" y="1600200"/>
            <a:ext cx="171450" cy="171450"/>
          </a:xfrm>
          <a:custGeom>
            <a:avLst/>
            <a:gdLst/>
            <a:ahLst/>
            <a:cxnLst/>
            <a:rect l="l" t="t" r="r" b="b"/>
            <a:pathLst>
              <a:path w="171450" h="171450">
                <a:moveTo>
                  <a:pt x="85725" y="0"/>
                </a:moveTo>
                <a:cubicBezTo>
                  <a:pt x="90647" y="0"/>
                  <a:pt x="95168" y="2712"/>
                  <a:pt x="97512" y="7032"/>
                </a:cubicBezTo>
                <a:lnTo>
                  <a:pt x="169843" y="140977"/>
                </a:lnTo>
                <a:cubicBezTo>
                  <a:pt x="172086" y="145130"/>
                  <a:pt x="171986" y="150153"/>
                  <a:pt x="169575" y="154205"/>
                </a:cubicBezTo>
                <a:cubicBezTo>
                  <a:pt x="167164" y="158256"/>
                  <a:pt x="162777" y="160734"/>
                  <a:pt x="158055" y="160734"/>
                </a:cubicBezTo>
                <a:lnTo>
                  <a:pt x="13395" y="160734"/>
                </a:lnTo>
                <a:cubicBezTo>
                  <a:pt x="8673" y="160734"/>
                  <a:pt x="4320" y="158256"/>
                  <a:pt x="1875" y="154205"/>
                </a:cubicBezTo>
                <a:cubicBezTo>
                  <a:pt x="-569" y="150153"/>
                  <a:pt x="-636" y="145130"/>
                  <a:pt x="1607" y="140977"/>
                </a:cubicBezTo>
                <a:lnTo>
                  <a:pt x="73938" y="7032"/>
                </a:lnTo>
                <a:cubicBezTo>
                  <a:pt x="76282" y="2712"/>
                  <a:pt x="80803" y="0"/>
                  <a:pt x="85725" y="0"/>
                </a:cubicBezTo>
                <a:close/>
                <a:moveTo>
                  <a:pt x="85725" y="56257"/>
                </a:moveTo>
                <a:cubicBezTo>
                  <a:pt x="81271" y="56257"/>
                  <a:pt x="77688" y="59840"/>
                  <a:pt x="77688" y="64294"/>
                </a:cubicBezTo>
                <a:lnTo>
                  <a:pt x="77688" y="101798"/>
                </a:lnTo>
                <a:cubicBezTo>
                  <a:pt x="77688" y="106252"/>
                  <a:pt x="81271" y="109835"/>
                  <a:pt x="85725" y="109835"/>
                </a:cubicBezTo>
                <a:cubicBezTo>
                  <a:pt x="90179" y="109835"/>
                  <a:pt x="93762" y="106252"/>
                  <a:pt x="93762" y="101798"/>
                </a:cubicBezTo>
                <a:lnTo>
                  <a:pt x="93762" y="64294"/>
                </a:lnTo>
                <a:cubicBezTo>
                  <a:pt x="93762" y="59840"/>
                  <a:pt x="90179" y="56257"/>
                  <a:pt x="85725" y="56257"/>
                </a:cubicBezTo>
                <a:close/>
                <a:moveTo>
                  <a:pt x="94666" y="128588"/>
                </a:moveTo>
                <a:cubicBezTo>
                  <a:pt x="94869" y="125269"/>
                  <a:pt x="93214" y="122111"/>
                  <a:pt x="90369" y="120390"/>
                </a:cubicBezTo>
                <a:cubicBezTo>
                  <a:pt x="87524" y="118670"/>
                  <a:pt x="83959" y="118670"/>
                  <a:pt x="81114" y="120390"/>
                </a:cubicBezTo>
                <a:cubicBezTo>
                  <a:pt x="78269" y="122111"/>
                  <a:pt x="76614" y="125269"/>
                  <a:pt x="76818" y="128587"/>
                </a:cubicBezTo>
                <a:cubicBezTo>
                  <a:pt x="76614" y="131906"/>
                  <a:pt x="78269" y="135064"/>
                  <a:pt x="81114" y="136785"/>
                </a:cubicBezTo>
                <a:cubicBezTo>
                  <a:pt x="83959" y="138505"/>
                  <a:pt x="87524" y="138505"/>
                  <a:pt x="90369" y="136785"/>
                </a:cubicBezTo>
                <a:cubicBezTo>
                  <a:pt x="93214" y="135064"/>
                  <a:pt x="94869" y="131906"/>
                  <a:pt x="94666" y="128588"/>
                </a:cubicBezTo>
                <a:close/>
              </a:path>
            </a:pathLst>
          </a:custGeom>
          <a:solidFill>
            <a:srgbClr val="1A535C"/>
          </a:solidFill>
          <a:ln/>
        </p:spPr>
      </p:sp>
      <p:sp>
        <p:nvSpPr>
          <p:cNvPr id="32" name="Text 30"/>
          <p:cNvSpPr/>
          <p:nvPr/>
        </p:nvSpPr>
        <p:spPr>
          <a:xfrm>
            <a:off x="6819900" y="1552575"/>
            <a:ext cx="1800225"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Critical Market Gaps</a:t>
            </a:r>
            <a:endParaRPr lang="en-US" sz="1600" dirty="0"/>
          </a:p>
        </p:txBody>
      </p:sp>
      <p:sp>
        <p:nvSpPr>
          <p:cNvPr id="33" name="Shape 31"/>
          <p:cNvSpPr/>
          <p:nvPr/>
        </p:nvSpPr>
        <p:spPr>
          <a:xfrm>
            <a:off x="6348413" y="2054662"/>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55922" y="55922"/>
                </a:moveTo>
                <a:cubicBezTo>
                  <a:pt x="59070" y="52774"/>
                  <a:pt x="64160" y="52774"/>
                  <a:pt x="67274" y="55922"/>
                </a:cubicBezTo>
                <a:lnTo>
                  <a:pt x="85692" y="74340"/>
                </a:lnTo>
                <a:lnTo>
                  <a:pt x="104109" y="55922"/>
                </a:lnTo>
                <a:cubicBezTo>
                  <a:pt x="107257" y="52774"/>
                  <a:pt x="112347" y="52774"/>
                  <a:pt x="115461" y="55922"/>
                </a:cubicBezTo>
                <a:cubicBezTo>
                  <a:pt x="118575" y="59070"/>
                  <a:pt x="118609" y="64160"/>
                  <a:pt x="115461" y="67274"/>
                </a:cubicBezTo>
                <a:lnTo>
                  <a:pt x="97043" y="85692"/>
                </a:lnTo>
                <a:lnTo>
                  <a:pt x="115461" y="104109"/>
                </a:lnTo>
                <a:cubicBezTo>
                  <a:pt x="118609" y="107257"/>
                  <a:pt x="118609" y="112347"/>
                  <a:pt x="115461" y="115461"/>
                </a:cubicBezTo>
                <a:cubicBezTo>
                  <a:pt x="112313" y="118575"/>
                  <a:pt x="107223" y="118609"/>
                  <a:pt x="104109" y="115461"/>
                </a:cubicBezTo>
                <a:lnTo>
                  <a:pt x="85692" y="97043"/>
                </a:lnTo>
                <a:lnTo>
                  <a:pt x="67274" y="115461"/>
                </a:lnTo>
                <a:cubicBezTo>
                  <a:pt x="64126" y="118609"/>
                  <a:pt x="59036" y="118609"/>
                  <a:pt x="55922" y="115461"/>
                </a:cubicBezTo>
                <a:cubicBezTo>
                  <a:pt x="52808" y="112313"/>
                  <a:pt x="52774" y="107223"/>
                  <a:pt x="55922" y="104109"/>
                </a:cubicBezTo>
                <a:lnTo>
                  <a:pt x="74340" y="85692"/>
                </a:lnTo>
                <a:lnTo>
                  <a:pt x="55922" y="67274"/>
                </a:lnTo>
                <a:cubicBezTo>
                  <a:pt x="52774" y="64126"/>
                  <a:pt x="52774" y="59036"/>
                  <a:pt x="55922" y="55922"/>
                </a:cubicBezTo>
                <a:close/>
              </a:path>
            </a:pathLst>
          </a:custGeom>
          <a:solidFill>
            <a:srgbClr val="F7B538"/>
          </a:solidFill>
          <a:ln/>
        </p:spPr>
      </p:sp>
      <p:sp>
        <p:nvSpPr>
          <p:cNvPr id="34" name="Text 32"/>
          <p:cNvSpPr/>
          <p:nvPr/>
        </p:nvSpPr>
        <p:spPr>
          <a:xfrm>
            <a:off x="6653213" y="2016562"/>
            <a:ext cx="5086350"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Quattrocento Sans" pitchFamily="34" charset="0"/>
                <a:ea typeface="Quattrocento Sans" pitchFamily="34" charset="-122"/>
                <a:cs typeface="Quattrocento Sans" pitchFamily="34" charset="-120"/>
              </a:rPr>
              <a:t>No Dedicated Platform</a:t>
            </a:r>
            <a:endParaRPr lang="en-US" sz="1600" dirty="0"/>
          </a:p>
        </p:txBody>
      </p:sp>
      <p:sp>
        <p:nvSpPr>
          <p:cNvPr id="35" name="Text 33"/>
          <p:cNvSpPr/>
          <p:nvPr/>
        </p:nvSpPr>
        <p:spPr>
          <a:xfrm>
            <a:off x="6653213" y="2245162"/>
            <a:ext cx="5086350" cy="419100"/>
          </a:xfrm>
          <a:prstGeom prst="rect">
            <a:avLst/>
          </a:prstGeom>
          <a:noFill/>
          <a:ln/>
        </p:spPr>
        <p:txBody>
          <a:bodyPr wrap="square" lIns="0" tIns="0" rIns="0" bIns="0" rtlCol="0" anchor="ctr"/>
          <a:lstStyle/>
          <a:p>
            <a:pPr>
              <a:lnSpc>
                <a:spcPct val="110000"/>
              </a:lnSpc>
            </a:pPr>
            <a:r>
              <a:rPr lang="en-US" sz="1200" dirty="0">
                <a:solidFill>
                  <a:srgbClr val="FFFFFF">
                    <a:alpha val="90000"/>
                  </a:srgbClr>
                </a:solidFill>
                <a:latin typeface="Quattrocento Sans" pitchFamily="34" charset="0"/>
                <a:ea typeface="Quattrocento Sans" pitchFamily="34" charset="-122"/>
                <a:cs typeface="Quattrocento Sans" pitchFamily="34" charset="-120"/>
              </a:rPr>
              <a:t>No platform specifically designed for retired professional teachers with credential verification.</a:t>
            </a:r>
            <a:endParaRPr lang="en-US" sz="1600" dirty="0"/>
          </a:p>
        </p:txBody>
      </p:sp>
      <p:sp>
        <p:nvSpPr>
          <p:cNvPr id="36" name="Shape 34"/>
          <p:cNvSpPr/>
          <p:nvPr/>
        </p:nvSpPr>
        <p:spPr>
          <a:xfrm>
            <a:off x="6348413" y="2830354"/>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55922" y="55922"/>
                </a:moveTo>
                <a:cubicBezTo>
                  <a:pt x="59070" y="52774"/>
                  <a:pt x="64160" y="52774"/>
                  <a:pt x="67274" y="55922"/>
                </a:cubicBezTo>
                <a:lnTo>
                  <a:pt x="85692" y="74340"/>
                </a:lnTo>
                <a:lnTo>
                  <a:pt x="104109" y="55922"/>
                </a:lnTo>
                <a:cubicBezTo>
                  <a:pt x="107257" y="52774"/>
                  <a:pt x="112347" y="52774"/>
                  <a:pt x="115461" y="55922"/>
                </a:cubicBezTo>
                <a:cubicBezTo>
                  <a:pt x="118575" y="59070"/>
                  <a:pt x="118609" y="64160"/>
                  <a:pt x="115461" y="67274"/>
                </a:cubicBezTo>
                <a:lnTo>
                  <a:pt x="97043" y="85692"/>
                </a:lnTo>
                <a:lnTo>
                  <a:pt x="115461" y="104109"/>
                </a:lnTo>
                <a:cubicBezTo>
                  <a:pt x="118609" y="107257"/>
                  <a:pt x="118609" y="112347"/>
                  <a:pt x="115461" y="115461"/>
                </a:cubicBezTo>
                <a:cubicBezTo>
                  <a:pt x="112313" y="118575"/>
                  <a:pt x="107223" y="118609"/>
                  <a:pt x="104109" y="115461"/>
                </a:cubicBezTo>
                <a:lnTo>
                  <a:pt x="85692" y="97043"/>
                </a:lnTo>
                <a:lnTo>
                  <a:pt x="67274" y="115461"/>
                </a:lnTo>
                <a:cubicBezTo>
                  <a:pt x="64126" y="118609"/>
                  <a:pt x="59036" y="118609"/>
                  <a:pt x="55922" y="115461"/>
                </a:cubicBezTo>
                <a:cubicBezTo>
                  <a:pt x="52808" y="112313"/>
                  <a:pt x="52774" y="107223"/>
                  <a:pt x="55922" y="104109"/>
                </a:cubicBezTo>
                <a:lnTo>
                  <a:pt x="74340" y="85692"/>
                </a:lnTo>
                <a:lnTo>
                  <a:pt x="55922" y="67274"/>
                </a:lnTo>
                <a:cubicBezTo>
                  <a:pt x="52774" y="64126"/>
                  <a:pt x="52774" y="59036"/>
                  <a:pt x="55922" y="55922"/>
                </a:cubicBezTo>
                <a:close/>
              </a:path>
            </a:pathLst>
          </a:custGeom>
          <a:solidFill>
            <a:srgbClr val="F7B538"/>
          </a:solidFill>
          <a:ln/>
        </p:spPr>
      </p:sp>
      <p:sp>
        <p:nvSpPr>
          <p:cNvPr id="37" name="Text 35"/>
          <p:cNvSpPr/>
          <p:nvPr/>
        </p:nvSpPr>
        <p:spPr>
          <a:xfrm>
            <a:off x="6653213" y="2792254"/>
            <a:ext cx="5086350"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Quattrocento Sans" pitchFamily="34" charset="0"/>
                <a:ea typeface="Quattrocento Sans" pitchFamily="34" charset="-122"/>
                <a:cs typeface="Quattrocento Sans" pitchFamily="34" charset="-120"/>
              </a:rPr>
              <a:t>No Senior-Friendly UI</a:t>
            </a:r>
            <a:endParaRPr lang="en-US" sz="1600" dirty="0"/>
          </a:p>
        </p:txBody>
      </p:sp>
      <p:sp>
        <p:nvSpPr>
          <p:cNvPr id="38" name="Text 36"/>
          <p:cNvSpPr/>
          <p:nvPr/>
        </p:nvSpPr>
        <p:spPr>
          <a:xfrm>
            <a:off x="6653213" y="3020854"/>
            <a:ext cx="5086350" cy="419100"/>
          </a:xfrm>
          <a:prstGeom prst="rect">
            <a:avLst/>
          </a:prstGeom>
          <a:noFill/>
          <a:ln/>
        </p:spPr>
        <p:txBody>
          <a:bodyPr wrap="square" lIns="0" tIns="0" rIns="0" bIns="0" rtlCol="0" anchor="ctr"/>
          <a:lstStyle/>
          <a:p>
            <a:pPr>
              <a:lnSpc>
                <a:spcPct val="110000"/>
              </a:lnSpc>
            </a:pPr>
            <a:r>
              <a:rPr lang="en-US" sz="1200" dirty="0">
                <a:solidFill>
                  <a:srgbClr val="FFFFFF">
                    <a:alpha val="90000"/>
                  </a:srgbClr>
                </a:solidFill>
                <a:latin typeface="Quattrocento Sans" pitchFamily="34" charset="0"/>
                <a:ea typeface="Quattrocento Sans" pitchFamily="34" charset="-122"/>
                <a:cs typeface="Quattrocento Sans" pitchFamily="34" charset="-120"/>
              </a:rPr>
              <a:t>Existing platforms are overwhelming for elderly users unfamiliar with complex technology.</a:t>
            </a:r>
            <a:endParaRPr lang="en-US" sz="1600" dirty="0"/>
          </a:p>
        </p:txBody>
      </p:sp>
      <p:sp>
        <p:nvSpPr>
          <p:cNvPr id="39" name="Shape 37"/>
          <p:cNvSpPr/>
          <p:nvPr/>
        </p:nvSpPr>
        <p:spPr>
          <a:xfrm>
            <a:off x="6348413" y="3606046"/>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55922" y="55922"/>
                </a:moveTo>
                <a:cubicBezTo>
                  <a:pt x="59070" y="52774"/>
                  <a:pt x="64160" y="52774"/>
                  <a:pt x="67274" y="55922"/>
                </a:cubicBezTo>
                <a:lnTo>
                  <a:pt x="85692" y="74340"/>
                </a:lnTo>
                <a:lnTo>
                  <a:pt x="104109" y="55922"/>
                </a:lnTo>
                <a:cubicBezTo>
                  <a:pt x="107257" y="52774"/>
                  <a:pt x="112347" y="52774"/>
                  <a:pt x="115461" y="55922"/>
                </a:cubicBezTo>
                <a:cubicBezTo>
                  <a:pt x="118575" y="59070"/>
                  <a:pt x="118609" y="64160"/>
                  <a:pt x="115461" y="67274"/>
                </a:cubicBezTo>
                <a:lnTo>
                  <a:pt x="97043" y="85692"/>
                </a:lnTo>
                <a:lnTo>
                  <a:pt x="115461" y="104109"/>
                </a:lnTo>
                <a:cubicBezTo>
                  <a:pt x="118609" y="107257"/>
                  <a:pt x="118609" y="112347"/>
                  <a:pt x="115461" y="115461"/>
                </a:cubicBezTo>
                <a:cubicBezTo>
                  <a:pt x="112313" y="118575"/>
                  <a:pt x="107223" y="118609"/>
                  <a:pt x="104109" y="115461"/>
                </a:cubicBezTo>
                <a:lnTo>
                  <a:pt x="85692" y="97043"/>
                </a:lnTo>
                <a:lnTo>
                  <a:pt x="67274" y="115461"/>
                </a:lnTo>
                <a:cubicBezTo>
                  <a:pt x="64126" y="118609"/>
                  <a:pt x="59036" y="118609"/>
                  <a:pt x="55922" y="115461"/>
                </a:cubicBezTo>
                <a:cubicBezTo>
                  <a:pt x="52808" y="112313"/>
                  <a:pt x="52774" y="107223"/>
                  <a:pt x="55922" y="104109"/>
                </a:cubicBezTo>
                <a:lnTo>
                  <a:pt x="74340" y="85692"/>
                </a:lnTo>
                <a:lnTo>
                  <a:pt x="55922" y="67274"/>
                </a:lnTo>
                <a:cubicBezTo>
                  <a:pt x="52774" y="64126"/>
                  <a:pt x="52774" y="59036"/>
                  <a:pt x="55922" y="55922"/>
                </a:cubicBezTo>
                <a:close/>
              </a:path>
            </a:pathLst>
          </a:custGeom>
          <a:solidFill>
            <a:srgbClr val="F7B538"/>
          </a:solidFill>
          <a:ln/>
        </p:spPr>
      </p:sp>
      <p:sp>
        <p:nvSpPr>
          <p:cNvPr id="40" name="Text 38"/>
          <p:cNvSpPr/>
          <p:nvPr/>
        </p:nvSpPr>
        <p:spPr>
          <a:xfrm>
            <a:off x="6653213" y="3567946"/>
            <a:ext cx="5086350"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Quattrocento Sans" pitchFamily="34" charset="0"/>
                <a:ea typeface="Quattrocento Sans" pitchFamily="34" charset="-122"/>
                <a:cs typeface="Quattrocento Sans" pitchFamily="34" charset="-120"/>
              </a:rPr>
              <a:t>No Regional Language Support</a:t>
            </a:r>
            <a:endParaRPr lang="en-US" sz="1600" dirty="0"/>
          </a:p>
        </p:txBody>
      </p:sp>
      <p:sp>
        <p:nvSpPr>
          <p:cNvPr id="41" name="Text 39"/>
          <p:cNvSpPr/>
          <p:nvPr/>
        </p:nvSpPr>
        <p:spPr>
          <a:xfrm>
            <a:off x="6653213" y="3796546"/>
            <a:ext cx="5086350" cy="419100"/>
          </a:xfrm>
          <a:prstGeom prst="rect">
            <a:avLst/>
          </a:prstGeom>
          <a:noFill/>
          <a:ln/>
        </p:spPr>
        <p:txBody>
          <a:bodyPr wrap="square" lIns="0" tIns="0" rIns="0" bIns="0" rtlCol="0" anchor="ctr"/>
          <a:lstStyle/>
          <a:p>
            <a:pPr>
              <a:lnSpc>
                <a:spcPct val="110000"/>
              </a:lnSpc>
            </a:pPr>
            <a:r>
              <a:rPr lang="en-US" sz="1200" dirty="0">
                <a:solidFill>
                  <a:srgbClr val="FFFFFF">
                    <a:alpha val="90000"/>
                  </a:srgbClr>
                </a:solidFill>
                <a:latin typeface="Quattrocento Sans" pitchFamily="34" charset="0"/>
                <a:ea typeface="Quattrocento Sans" pitchFamily="34" charset="-122"/>
                <a:cs typeface="Quattrocento Sans" pitchFamily="34" charset="-120"/>
              </a:rPr>
              <a:t>Tier 2 and Tier 3 India—largest student population—is massively underserved in regional languages.</a:t>
            </a:r>
            <a:endParaRPr lang="en-US" sz="1600" dirty="0"/>
          </a:p>
        </p:txBody>
      </p:sp>
      <p:sp>
        <p:nvSpPr>
          <p:cNvPr id="42" name="Shape 40"/>
          <p:cNvSpPr/>
          <p:nvPr/>
        </p:nvSpPr>
        <p:spPr>
          <a:xfrm>
            <a:off x="6348413" y="4381620"/>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55922" y="55922"/>
                </a:moveTo>
                <a:cubicBezTo>
                  <a:pt x="59070" y="52774"/>
                  <a:pt x="64160" y="52774"/>
                  <a:pt x="67274" y="55922"/>
                </a:cubicBezTo>
                <a:lnTo>
                  <a:pt x="85692" y="74340"/>
                </a:lnTo>
                <a:lnTo>
                  <a:pt x="104109" y="55922"/>
                </a:lnTo>
                <a:cubicBezTo>
                  <a:pt x="107257" y="52774"/>
                  <a:pt x="112347" y="52774"/>
                  <a:pt x="115461" y="55922"/>
                </a:cubicBezTo>
                <a:cubicBezTo>
                  <a:pt x="118575" y="59070"/>
                  <a:pt x="118609" y="64160"/>
                  <a:pt x="115461" y="67274"/>
                </a:cubicBezTo>
                <a:lnTo>
                  <a:pt x="97043" y="85692"/>
                </a:lnTo>
                <a:lnTo>
                  <a:pt x="115461" y="104109"/>
                </a:lnTo>
                <a:cubicBezTo>
                  <a:pt x="118609" y="107257"/>
                  <a:pt x="118609" y="112347"/>
                  <a:pt x="115461" y="115461"/>
                </a:cubicBezTo>
                <a:cubicBezTo>
                  <a:pt x="112313" y="118575"/>
                  <a:pt x="107223" y="118609"/>
                  <a:pt x="104109" y="115461"/>
                </a:cubicBezTo>
                <a:lnTo>
                  <a:pt x="85692" y="97043"/>
                </a:lnTo>
                <a:lnTo>
                  <a:pt x="67274" y="115461"/>
                </a:lnTo>
                <a:cubicBezTo>
                  <a:pt x="64126" y="118609"/>
                  <a:pt x="59036" y="118609"/>
                  <a:pt x="55922" y="115461"/>
                </a:cubicBezTo>
                <a:cubicBezTo>
                  <a:pt x="52808" y="112313"/>
                  <a:pt x="52774" y="107223"/>
                  <a:pt x="55922" y="104109"/>
                </a:cubicBezTo>
                <a:lnTo>
                  <a:pt x="74340" y="85692"/>
                </a:lnTo>
                <a:lnTo>
                  <a:pt x="55922" y="67274"/>
                </a:lnTo>
                <a:cubicBezTo>
                  <a:pt x="52774" y="64126"/>
                  <a:pt x="52774" y="59036"/>
                  <a:pt x="55922" y="55922"/>
                </a:cubicBezTo>
                <a:close/>
              </a:path>
            </a:pathLst>
          </a:custGeom>
          <a:solidFill>
            <a:srgbClr val="F7B538"/>
          </a:solidFill>
          <a:ln/>
        </p:spPr>
      </p:sp>
      <p:sp>
        <p:nvSpPr>
          <p:cNvPr id="43" name="Text 41"/>
          <p:cNvSpPr/>
          <p:nvPr/>
        </p:nvSpPr>
        <p:spPr>
          <a:xfrm>
            <a:off x="6653213" y="4343520"/>
            <a:ext cx="5086350"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Quattrocento Sans" pitchFamily="34" charset="0"/>
                <a:ea typeface="Quattrocento Sans" pitchFamily="34" charset="-122"/>
                <a:cs typeface="Quattrocento Sans" pitchFamily="34" charset="-120"/>
              </a:rPr>
              <a:t>No Instant Doubt Resolution</a:t>
            </a:r>
            <a:endParaRPr lang="en-US" sz="1600" dirty="0"/>
          </a:p>
        </p:txBody>
      </p:sp>
      <p:sp>
        <p:nvSpPr>
          <p:cNvPr id="44" name="Text 42"/>
          <p:cNvSpPr/>
          <p:nvPr/>
        </p:nvSpPr>
        <p:spPr>
          <a:xfrm>
            <a:off x="6653213" y="4572120"/>
            <a:ext cx="5086350" cy="419100"/>
          </a:xfrm>
          <a:prstGeom prst="rect">
            <a:avLst/>
          </a:prstGeom>
          <a:noFill/>
          <a:ln/>
        </p:spPr>
        <p:txBody>
          <a:bodyPr wrap="square" lIns="0" tIns="0" rIns="0" bIns="0" rtlCol="0" anchor="ctr"/>
          <a:lstStyle/>
          <a:p>
            <a:pPr>
              <a:lnSpc>
                <a:spcPct val="110000"/>
              </a:lnSpc>
            </a:pPr>
            <a:r>
              <a:rPr lang="en-US" sz="1200" dirty="0">
                <a:solidFill>
                  <a:srgbClr val="FFFFFF">
                    <a:alpha val="90000"/>
                  </a:srgbClr>
                </a:solidFill>
                <a:latin typeface="Quattrocento Sans" pitchFamily="34" charset="0"/>
                <a:ea typeface="Quattrocento Sans" pitchFamily="34" charset="-122"/>
                <a:cs typeface="Quattrocento Sans" pitchFamily="34" charset="-120"/>
              </a:rPr>
              <a:t>Every platform requires advance booking. No solution for 11 PM exam-eve crises.</a:t>
            </a:r>
            <a:endParaRPr lang="en-US" sz="1600" dirty="0"/>
          </a:p>
        </p:txBody>
      </p:sp>
      <p:sp>
        <p:nvSpPr>
          <p:cNvPr id="45" name="Shape 43"/>
          <p:cNvSpPr/>
          <p:nvPr/>
        </p:nvSpPr>
        <p:spPr>
          <a:xfrm>
            <a:off x="6348413" y="5157311"/>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55922" y="55922"/>
                </a:moveTo>
                <a:cubicBezTo>
                  <a:pt x="59070" y="52774"/>
                  <a:pt x="64160" y="52774"/>
                  <a:pt x="67274" y="55922"/>
                </a:cubicBezTo>
                <a:lnTo>
                  <a:pt x="85692" y="74340"/>
                </a:lnTo>
                <a:lnTo>
                  <a:pt x="104109" y="55922"/>
                </a:lnTo>
                <a:cubicBezTo>
                  <a:pt x="107257" y="52774"/>
                  <a:pt x="112347" y="52774"/>
                  <a:pt x="115461" y="55922"/>
                </a:cubicBezTo>
                <a:cubicBezTo>
                  <a:pt x="118575" y="59070"/>
                  <a:pt x="118609" y="64160"/>
                  <a:pt x="115461" y="67274"/>
                </a:cubicBezTo>
                <a:lnTo>
                  <a:pt x="97043" y="85692"/>
                </a:lnTo>
                <a:lnTo>
                  <a:pt x="115461" y="104109"/>
                </a:lnTo>
                <a:cubicBezTo>
                  <a:pt x="118609" y="107257"/>
                  <a:pt x="118609" y="112347"/>
                  <a:pt x="115461" y="115461"/>
                </a:cubicBezTo>
                <a:cubicBezTo>
                  <a:pt x="112313" y="118575"/>
                  <a:pt x="107223" y="118609"/>
                  <a:pt x="104109" y="115461"/>
                </a:cubicBezTo>
                <a:lnTo>
                  <a:pt x="85692" y="97043"/>
                </a:lnTo>
                <a:lnTo>
                  <a:pt x="67274" y="115461"/>
                </a:lnTo>
                <a:cubicBezTo>
                  <a:pt x="64126" y="118609"/>
                  <a:pt x="59036" y="118609"/>
                  <a:pt x="55922" y="115461"/>
                </a:cubicBezTo>
                <a:cubicBezTo>
                  <a:pt x="52808" y="112313"/>
                  <a:pt x="52774" y="107223"/>
                  <a:pt x="55922" y="104109"/>
                </a:cubicBezTo>
                <a:lnTo>
                  <a:pt x="74340" y="85692"/>
                </a:lnTo>
                <a:lnTo>
                  <a:pt x="55922" y="67274"/>
                </a:lnTo>
                <a:cubicBezTo>
                  <a:pt x="52774" y="64126"/>
                  <a:pt x="52774" y="59036"/>
                  <a:pt x="55922" y="55922"/>
                </a:cubicBezTo>
                <a:close/>
              </a:path>
            </a:pathLst>
          </a:custGeom>
          <a:solidFill>
            <a:srgbClr val="F7B538"/>
          </a:solidFill>
          <a:ln/>
        </p:spPr>
      </p:sp>
      <p:sp>
        <p:nvSpPr>
          <p:cNvPr id="46" name="Text 44"/>
          <p:cNvSpPr/>
          <p:nvPr/>
        </p:nvSpPr>
        <p:spPr>
          <a:xfrm>
            <a:off x="6653213" y="5119211"/>
            <a:ext cx="5086350"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Quattrocento Sans" pitchFamily="34" charset="0"/>
                <a:ea typeface="Quattrocento Sans" pitchFamily="34" charset="-122"/>
                <a:cs typeface="Quattrocento Sans" pitchFamily="34" charset="-120"/>
              </a:rPr>
              <a:t>No Accountability Mechanisms</a:t>
            </a:r>
            <a:endParaRPr lang="en-US" sz="1600" dirty="0"/>
          </a:p>
        </p:txBody>
      </p:sp>
      <p:sp>
        <p:nvSpPr>
          <p:cNvPr id="47" name="Text 45"/>
          <p:cNvSpPr/>
          <p:nvPr/>
        </p:nvSpPr>
        <p:spPr>
          <a:xfrm>
            <a:off x="6653213" y="5347811"/>
            <a:ext cx="5086350" cy="419100"/>
          </a:xfrm>
          <a:prstGeom prst="rect">
            <a:avLst/>
          </a:prstGeom>
          <a:noFill/>
          <a:ln/>
        </p:spPr>
        <p:txBody>
          <a:bodyPr wrap="square" lIns="0" tIns="0" rIns="0" bIns="0" rtlCol="0" anchor="ctr"/>
          <a:lstStyle/>
          <a:p>
            <a:pPr>
              <a:lnSpc>
                <a:spcPct val="110000"/>
              </a:lnSpc>
            </a:pPr>
            <a:r>
              <a:rPr lang="en-US" sz="1200" dirty="0">
                <a:solidFill>
                  <a:srgbClr val="FFFFFF">
                    <a:alpha val="90000"/>
                  </a:srgbClr>
                </a:solidFill>
                <a:latin typeface="Quattrocento Sans" pitchFamily="34" charset="0"/>
                <a:ea typeface="Quattrocento Sans" pitchFamily="34" charset="-122"/>
                <a:cs typeface="Quattrocento Sans" pitchFamily="34" charset="-120"/>
              </a:rPr>
              <a:t>No learning contracts, no parent involvement, no meaningful student-teacher accountability.</a:t>
            </a:r>
            <a:endParaRPr lang="en-US" sz="1600" dirty="0"/>
          </a:p>
        </p:txBody>
      </p:sp>
      <p:sp>
        <p:nvSpPr>
          <p:cNvPr id="48" name="Shape 46"/>
          <p:cNvSpPr/>
          <p:nvPr/>
        </p:nvSpPr>
        <p:spPr>
          <a:xfrm>
            <a:off x="6324600" y="5910977"/>
            <a:ext cx="5334000" cy="7620"/>
          </a:xfrm>
          <a:custGeom>
            <a:avLst/>
            <a:gdLst/>
            <a:ahLst/>
            <a:cxnLst/>
            <a:rect l="l" t="t" r="r" b="b"/>
            <a:pathLst>
              <a:path w="5334000" h="7620">
                <a:moveTo>
                  <a:pt x="0" y="0"/>
                </a:moveTo>
                <a:lnTo>
                  <a:pt x="5334000" y="0"/>
                </a:lnTo>
                <a:lnTo>
                  <a:pt x="5334000" y="7620"/>
                </a:lnTo>
                <a:lnTo>
                  <a:pt x="0" y="7620"/>
                </a:lnTo>
                <a:lnTo>
                  <a:pt x="0" y="0"/>
                </a:lnTo>
                <a:close/>
              </a:path>
            </a:pathLst>
          </a:custGeom>
          <a:solidFill>
            <a:srgbClr val="FFFFFF">
              <a:alpha val="30196"/>
            </a:srgbClr>
          </a:solidFill>
          <a:ln/>
        </p:spPr>
      </p:sp>
      <p:sp>
        <p:nvSpPr>
          <p:cNvPr id="49" name="Shape 47"/>
          <p:cNvSpPr/>
          <p:nvPr/>
        </p:nvSpPr>
        <p:spPr>
          <a:xfrm>
            <a:off x="6413659" y="6059567"/>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F7B538"/>
          </a:solidFill>
          <a:ln/>
        </p:spPr>
      </p:sp>
      <p:sp>
        <p:nvSpPr>
          <p:cNvPr id="50" name="Text 48"/>
          <p:cNvSpPr/>
          <p:nvPr/>
        </p:nvSpPr>
        <p:spPr>
          <a:xfrm>
            <a:off x="6534150" y="6029088"/>
            <a:ext cx="5162550" cy="457200"/>
          </a:xfrm>
          <a:prstGeom prst="rect">
            <a:avLst/>
          </a:prstGeom>
          <a:noFill/>
          <a:ln/>
        </p:spPr>
        <p:txBody>
          <a:bodyPr wrap="square" lIns="0" tIns="0" rIns="0" bIns="0" rtlCol="0" anchor="ctr"/>
          <a:lstStyle/>
          <a:p>
            <a:pPr algn="ctr">
              <a:lnSpc>
                <a:spcPct val="130000"/>
              </a:lnSpc>
            </a:pPr>
            <a:r>
              <a:rPr lang="en-US" sz="1200" b="1" dirty="0">
                <a:solidFill>
                  <a:srgbClr val="FFFFFF"/>
                </a:solidFill>
                <a:latin typeface="Quattrocento Sans" pitchFamily="34" charset="0"/>
                <a:ea typeface="Quattrocento Sans" pitchFamily="34" charset="-122"/>
                <a:cs typeface="Quattrocento Sans" pitchFamily="34" charset="-120"/>
              </a:rPr>
              <a:t>EduBridge fills ALL of these gaps—and introduces 18 features no competitor has built.</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290509" y="186781"/>
            <a:ext cx="11517270" cy="224910"/>
          </a:xfrm>
          <a:prstGeom prst="rect">
            <a:avLst/>
          </a:prstGeom>
          <a:noFill/>
          <a:ln/>
        </p:spPr>
        <p:txBody>
          <a:bodyPr wrap="square" lIns="0" tIns="0" rIns="0" bIns="0" rtlCol="0" anchor="ctr"/>
          <a:lstStyle/>
          <a:p>
            <a:pPr>
              <a:lnSpc>
                <a:spcPct val="130000"/>
              </a:lnSpc>
            </a:pPr>
            <a:r>
              <a:rPr lang="en-US" sz="1181" b="1" spc="59" kern="0" dirty="0">
                <a:solidFill>
                  <a:srgbClr val="4A7C59"/>
                </a:solidFill>
                <a:latin typeface="Quattrocento Sans" pitchFamily="34" charset="0"/>
                <a:ea typeface="Quattrocento Sans" pitchFamily="34" charset="-122"/>
                <a:cs typeface="Quattrocento Sans" pitchFamily="34" charset="-120"/>
              </a:rPr>
              <a:t>MARKET OPPORTUNITY</a:t>
            </a:r>
            <a:endParaRPr lang="en-US" sz="1600" dirty="0"/>
          </a:p>
        </p:txBody>
      </p:sp>
      <p:sp>
        <p:nvSpPr>
          <p:cNvPr id="3" name="Text 1"/>
          <p:cNvSpPr/>
          <p:nvPr/>
        </p:nvSpPr>
        <p:spPr>
          <a:xfrm>
            <a:off x="290509" y="449176"/>
            <a:ext cx="11610982" cy="374850"/>
          </a:xfrm>
          <a:prstGeom prst="rect">
            <a:avLst/>
          </a:prstGeom>
          <a:noFill/>
          <a:ln/>
        </p:spPr>
        <p:txBody>
          <a:bodyPr wrap="square" lIns="0" tIns="0" rIns="0" bIns="0" rtlCol="0" anchor="ctr"/>
          <a:lstStyle/>
          <a:p>
            <a:pPr>
              <a:lnSpc>
                <a:spcPct val="90000"/>
              </a:lnSpc>
            </a:pPr>
            <a:r>
              <a:rPr lang="en-US" sz="2656" b="1" dirty="0">
                <a:solidFill>
                  <a:srgbClr val="1A535C"/>
                </a:solidFill>
                <a:latin typeface="Liter" pitchFamily="34" charset="0"/>
                <a:ea typeface="Liter" pitchFamily="34" charset="-122"/>
                <a:cs typeface="Liter" pitchFamily="34" charset="-120"/>
              </a:rPr>
              <a:t>India EdTech Market &amp; Competitive Landscape</a:t>
            </a:r>
            <a:endParaRPr lang="en-US" sz="1600" dirty="0"/>
          </a:p>
        </p:txBody>
      </p:sp>
      <p:sp>
        <p:nvSpPr>
          <p:cNvPr id="4" name="Shape 2"/>
          <p:cNvSpPr/>
          <p:nvPr/>
        </p:nvSpPr>
        <p:spPr>
          <a:xfrm>
            <a:off x="290509" y="898996"/>
            <a:ext cx="899640" cy="37485"/>
          </a:xfrm>
          <a:custGeom>
            <a:avLst/>
            <a:gdLst/>
            <a:ahLst/>
            <a:cxnLst/>
            <a:rect l="l" t="t" r="r" b="b"/>
            <a:pathLst>
              <a:path w="899640" h="37485">
                <a:moveTo>
                  <a:pt x="0" y="0"/>
                </a:moveTo>
                <a:lnTo>
                  <a:pt x="899640" y="0"/>
                </a:lnTo>
                <a:lnTo>
                  <a:pt x="899640" y="37485"/>
                </a:lnTo>
                <a:lnTo>
                  <a:pt x="0" y="37485"/>
                </a:lnTo>
                <a:lnTo>
                  <a:pt x="0" y="0"/>
                </a:lnTo>
                <a:close/>
              </a:path>
            </a:pathLst>
          </a:custGeom>
          <a:solidFill>
            <a:srgbClr val="F7B538"/>
          </a:solidFill>
          <a:ln/>
        </p:spPr>
      </p:sp>
      <p:sp>
        <p:nvSpPr>
          <p:cNvPr id="5" name="Shape 3"/>
          <p:cNvSpPr/>
          <p:nvPr/>
        </p:nvSpPr>
        <p:spPr>
          <a:xfrm>
            <a:off x="309251" y="1011451"/>
            <a:ext cx="5632123" cy="1986706"/>
          </a:xfrm>
          <a:custGeom>
            <a:avLst/>
            <a:gdLst/>
            <a:ahLst/>
            <a:cxnLst/>
            <a:rect l="l" t="t" r="r" b="b"/>
            <a:pathLst>
              <a:path w="5632123" h="1986706">
                <a:moveTo>
                  <a:pt x="37485" y="0"/>
                </a:moveTo>
                <a:lnTo>
                  <a:pt x="5557145" y="0"/>
                </a:lnTo>
                <a:cubicBezTo>
                  <a:pt x="5598554" y="0"/>
                  <a:pt x="5632123" y="33569"/>
                  <a:pt x="5632123" y="74978"/>
                </a:cubicBezTo>
                <a:lnTo>
                  <a:pt x="5632123" y="1911727"/>
                </a:lnTo>
                <a:cubicBezTo>
                  <a:pt x="5632123" y="1953137"/>
                  <a:pt x="5598554" y="1986706"/>
                  <a:pt x="5557145" y="1986706"/>
                </a:cubicBezTo>
                <a:lnTo>
                  <a:pt x="37485" y="1986706"/>
                </a:lnTo>
                <a:cubicBezTo>
                  <a:pt x="16783" y="1986706"/>
                  <a:pt x="0" y="1969923"/>
                  <a:pt x="0" y="1949221"/>
                </a:cubicBezTo>
                <a:lnTo>
                  <a:pt x="0" y="37485"/>
                </a:lnTo>
                <a:cubicBezTo>
                  <a:pt x="0" y="16783"/>
                  <a:pt x="16783" y="0"/>
                  <a:pt x="37485" y="0"/>
                </a:cubicBezTo>
                <a:close/>
              </a:path>
            </a:pathLst>
          </a:custGeom>
          <a:solidFill>
            <a:srgbClr val="FFFFFF"/>
          </a:solidFill>
          <a:ln/>
          <a:effectLst>
            <a:outerShdw sx="100000" sy="100000" kx="0" ky="0" algn="bl" rotWithShape="0" blurRad="56228" dist="37485" dir="5400000">
              <a:srgbClr val="000000">
                <a:alpha val="10196"/>
              </a:srgbClr>
            </a:outerShdw>
          </a:effectLst>
        </p:spPr>
      </p:sp>
      <p:sp>
        <p:nvSpPr>
          <p:cNvPr id="6" name="Shape 4"/>
          <p:cNvSpPr/>
          <p:nvPr/>
        </p:nvSpPr>
        <p:spPr>
          <a:xfrm>
            <a:off x="309251" y="1011451"/>
            <a:ext cx="37485" cy="1986706"/>
          </a:xfrm>
          <a:custGeom>
            <a:avLst/>
            <a:gdLst/>
            <a:ahLst/>
            <a:cxnLst/>
            <a:rect l="l" t="t" r="r" b="b"/>
            <a:pathLst>
              <a:path w="37485" h="1986706">
                <a:moveTo>
                  <a:pt x="37485" y="0"/>
                </a:moveTo>
                <a:lnTo>
                  <a:pt x="37485" y="0"/>
                </a:lnTo>
                <a:lnTo>
                  <a:pt x="37485" y="1986706"/>
                </a:lnTo>
                <a:lnTo>
                  <a:pt x="37485" y="1986706"/>
                </a:lnTo>
                <a:cubicBezTo>
                  <a:pt x="16783" y="1986706"/>
                  <a:pt x="0" y="1969923"/>
                  <a:pt x="0" y="1949221"/>
                </a:cubicBezTo>
                <a:lnTo>
                  <a:pt x="0" y="37485"/>
                </a:lnTo>
                <a:cubicBezTo>
                  <a:pt x="0" y="16783"/>
                  <a:pt x="16783" y="0"/>
                  <a:pt x="37485" y="0"/>
                </a:cubicBezTo>
                <a:close/>
              </a:path>
            </a:pathLst>
          </a:custGeom>
          <a:solidFill>
            <a:srgbClr val="1A535C"/>
          </a:solidFill>
          <a:ln/>
        </p:spPr>
      </p:sp>
      <p:sp>
        <p:nvSpPr>
          <p:cNvPr id="7" name="Shape 5"/>
          <p:cNvSpPr/>
          <p:nvPr/>
        </p:nvSpPr>
        <p:spPr>
          <a:xfrm>
            <a:off x="463877" y="1170763"/>
            <a:ext cx="168683" cy="168683"/>
          </a:xfrm>
          <a:custGeom>
            <a:avLst/>
            <a:gdLst/>
            <a:ahLst/>
            <a:cxnLst/>
            <a:rect l="l" t="t" r="r" b="b"/>
            <a:pathLst>
              <a:path w="168683" h="168683">
                <a:moveTo>
                  <a:pt x="21085" y="21085"/>
                </a:moveTo>
                <a:cubicBezTo>
                  <a:pt x="21085" y="15254"/>
                  <a:pt x="16374" y="10543"/>
                  <a:pt x="10543" y="10543"/>
                </a:cubicBezTo>
                <a:cubicBezTo>
                  <a:pt x="4711" y="10543"/>
                  <a:pt x="0" y="15254"/>
                  <a:pt x="0" y="21085"/>
                </a:cubicBezTo>
                <a:lnTo>
                  <a:pt x="0" y="131783"/>
                </a:lnTo>
                <a:cubicBezTo>
                  <a:pt x="0" y="146345"/>
                  <a:pt x="11795" y="158140"/>
                  <a:pt x="26357" y="158140"/>
                </a:cubicBezTo>
                <a:lnTo>
                  <a:pt x="158140" y="158140"/>
                </a:lnTo>
                <a:cubicBezTo>
                  <a:pt x="163971" y="158140"/>
                  <a:pt x="168683" y="153429"/>
                  <a:pt x="168683" y="147597"/>
                </a:cubicBezTo>
                <a:cubicBezTo>
                  <a:pt x="168683" y="141766"/>
                  <a:pt x="163971" y="137055"/>
                  <a:pt x="158140" y="137055"/>
                </a:cubicBezTo>
                <a:lnTo>
                  <a:pt x="26357" y="137055"/>
                </a:lnTo>
                <a:cubicBezTo>
                  <a:pt x="23457" y="137055"/>
                  <a:pt x="21085" y="134682"/>
                  <a:pt x="21085" y="131783"/>
                </a:cubicBezTo>
                <a:lnTo>
                  <a:pt x="21085" y="21085"/>
                </a:lnTo>
                <a:close/>
                <a:moveTo>
                  <a:pt x="155043" y="49616"/>
                </a:moveTo>
                <a:cubicBezTo>
                  <a:pt x="159161" y="45498"/>
                  <a:pt x="159161" y="38810"/>
                  <a:pt x="155043" y="34692"/>
                </a:cubicBezTo>
                <a:cubicBezTo>
                  <a:pt x="150925" y="30574"/>
                  <a:pt x="144237" y="30574"/>
                  <a:pt x="140119" y="34692"/>
                </a:cubicBezTo>
                <a:lnTo>
                  <a:pt x="105427" y="69417"/>
                </a:lnTo>
                <a:lnTo>
                  <a:pt x="86516" y="50539"/>
                </a:lnTo>
                <a:cubicBezTo>
                  <a:pt x="82397" y="46421"/>
                  <a:pt x="75709" y="46421"/>
                  <a:pt x="71591" y="50539"/>
                </a:cubicBezTo>
                <a:lnTo>
                  <a:pt x="39963" y="82167"/>
                </a:lnTo>
                <a:cubicBezTo>
                  <a:pt x="35845" y="86285"/>
                  <a:pt x="35845" y="92973"/>
                  <a:pt x="39963" y="97091"/>
                </a:cubicBezTo>
                <a:cubicBezTo>
                  <a:pt x="44081" y="101210"/>
                  <a:pt x="50769" y="101210"/>
                  <a:pt x="54888" y="97091"/>
                </a:cubicBezTo>
                <a:lnTo>
                  <a:pt x="79070" y="72909"/>
                </a:lnTo>
                <a:lnTo>
                  <a:pt x="97981" y="91820"/>
                </a:lnTo>
                <a:cubicBezTo>
                  <a:pt x="102099" y="95938"/>
                  <a:pt x="108787" y="95938"/>
                  <a:pt x="112905" y="91820"/>
                </a:cubicBezTo>
                <a:lnTo>
                  <a:pt x="155076" y="49649"/>
                </a:lnTo>
                <a:close/>
              </a:path>
            </a:pathLst>
          </a:custGeom>
          <a:solidFill>
            <a:srgbClr val="F7B538"/>
          </a:solidFill>
          <a:ln/>
        </p:spPr>
      </p:sp>
      <p:sp>
        <p:nvSpPr>
          <p:cNvPr id="8" name="Text 6"/>
          <p:cNvSpPr/>
          <p:nvPr/>
        </p:nvSpPr>
        <p:spPr>
          <a:xfrm>
            <a:off x="655988" y="1123906"/>
            <a:ext cx="5257273" cy="262395"/>
          </a:xfrm>
          <a:prstGeom prst="rect">
            <a:avLst/>
          </a:prstGeom>
          <a:noFill/>
          <a:ln/>
        </p:spPr>
        <p:txBody>
          <a:bodyPr wrap="square" lIns="0" tIns="0" rIns="0" bIns="0" rtlCol="0" anchor="ctr"/>
          <a:lstStyle/>
          <a:p>
            <a:pPr>
              <a:lnSpc>
                <a:spcPct val="130000"/>
              </a:lnSpc>
            </a:pPr>
            <a:r>
              <a:rPr lang="en-US" sz="1328" b="1" dirty="0">
                <a:solidFill>
                  <a:srgbClr val="1A535C"/>
                </a:solidFill>
                <a:latin typeface="Liter" pitchFamily="34" charset="0"/>
                <a:ea typeface="Liter" pitchFamily="34" charset="-122"/>
                <a:cs typeface="Liter" pitchFamily="34" charset="-120"/>
              </a:rPr>
              <a:t>India EdTech Market Size</a:t>
            </a:r>
            <a:endParaRPr lang="en-US" sz="1600" dirty="0"/>
          </a:p>
        </p:txBody>
      </p:sp>
      <p:sp>
        <p:nvSpPr>
          <p:cNvPr id="9" name="Shape 7"/>
          <p:cNvSpPr/>
          <p:nvPr/>
        </p:nvSpPr>
        <p:spPr>
          <a:xfrm>
            <a:off x="440449" y="1461271"/>
            <a:ext cx="2633322" cy="674730"/>
          </a:xfrm>
          <a:custGeom>
            <a:avLst/>
            <a:gdLst/>
            <a:ahLst/>
            <a:cxnLst/>
            <a:rect l="l" t="t" r="r" b="b"/>
            <a:pathLst>
              <a:path w="2633322" h="674730">
                <a:moveTo>
                  <a:pt x="74969" y="0"/>
                </a:moveTo>
                <a:lnTo>
                  <a:pt x="2558353" y="0"/>
                </a:lnTo>
                <a:cubicBezTo>
                  <a:pt x="2599757" y="0"/>
                  <a:pt x="2633322" y="33565"/>
                  <a:pt x="2633322" y="74969"/>
                </a:cubicBezTo>
                <a:lnTo>
                  <a:pt x="2633322" y="599761"/>
                </a:lnTo>
                <a:cubicBezTo>
                  <a:pt x="2633322" y="641165"/>
                  <a:pt x="2599757" y="674730"/>
                  <a:pt x="2558353" y="674730"/>
                </a:cubicBezTo>
                <a:lnTo>
                  <a:pt x="74969" y="674730"/>
                </a:lnTo>
                <a:cubicBezTo>
                  <a:pt x="33593" y="674730"/>
                  <a:pt x="0" y="641138"/>
                  <a:pt x="0" y="599761"/>
                </a:cubicBezTo>
                <a:lnTo>
                  <a:pt x="0" y="74969"/>
                </a:lnTo>
                <a:cubicBezTo>
                  <a:pt x="0" y="33593"/>
                  <a:pt x="33593" y="0"/>
                  <a:pt x="74969" y="0"/>
                </a:cubicBezTo>
                <a:close/>
              </a:path>
            </a:pathLst>
          </a:custGeom>
          <a:solidFill>
            <a:srgbClr val="1A535C">
              <a:alpha val="10196"/>
            </a:srgbClr>
          </a:solidFill>
          <a:ln/>
        </p:spPr>
      </p:sp>
      <p:sp>
        <p:nvSpPr>
          <p:cNvPr id="10" name="Text 8"/>
          <p:cNvSpPr/>
          <p:nvPr/>
        </p:nvSpPr>
        <p:spPr>
          <a:xfrm>
            <a:off x="459191" y="1536241"/>
            <a:ext cx="2595837" cy="299880"/>
          </a:xfrm>
          <a:prstGeom prst="rect">
            <a:avLst/>
          </a:prstGeom>
          <a:noFill/>
          <a:ln/>
        </p:spPr>
        <p:txBody>
          <a:bodyPr wrap="square" lIns="0" tIns="0" rIns="0" bIns="0" rtlCol="0" anchor="ctr"/>
          <a:lstStyle/>
          <a:p>
            <a:pPr algn="ctr">
              <a:lnSpc>
                <a:spcPct val="110000"/>
              </a:lnSpc>
            </a:pPr>
            <a:r>
              <a:rPr lang="en-US" sz="1771" b="1" dirty="0">
                <a:solidFill>
                  <a:srgbClr val="1A535C"/>
                </a:solidFill>
                <a:latin typeface="Quattrocento Sans" pitchFamily="34" charset="0"/>
                <a:ea typeface="Quattrocento Sans" pitchFamily="34" charset="-122"/>
                <a:cs typeface="Quattrocento Sans" pitchFamily="34" charset="-120"/>
              </a:rPr>
              <a:t>$10.5B</a:t>
            </a:r>
            <a:endParaRPr lang="en-US" sz="1600" dirty="0"/>
          </a:p>
        </p:txBody>
      </p:sp>
      <p:sp>
        <p:nvSpPr>
          <p:cNvPr id="11" name="Text 9"/>
          <p:cNvSpPr/>
          <p:nvPr/>
        </p:nvSpPr>
        <p:spPr>
          <a:xfrm>
            <a:off x="477934" y="1836005"/>
            <a:ext cx="2558352" cy="224910"/>
          </a:xfrm>
          <a:prstGeom prst="rect">
            <a:avLst/>
          </a:prstGeom>
          <a:noFill/>
          <a:ln/>
        </p:spPr>
        <p:txBody>
          <a:bodyPr wrap="square" lIns="0" tIns="0" rIns="0" bIns="0" rtlCol="0" anchor="ctr"/>
          <a:lstStyle/>
          <a:p>
            <a:pPr algn="ctr">
              <a:lnSpc>
                <a:spcPct val="130000"/>
              </a:lnSpc>
            </a:pPr>
            <a:r>
              <a:rPr lang="en-US" sz="1181" dirty="0">
                <a:solidFill>
                  <a:srgbClr val="212529">
                    <a:alpha val="70000"/>
                  </a:srgbClr>
                </a:solidFill>
                <a:latin typeface="Quattrocento Sans" pitchFamily="34" charset="0"/>
                <a:ea typeface="Quattrocento Sans" pitchFamily="34" charset="-122"/>
                <a:cs typeface="Quattrocento Sans" pitchFamily="34" charset="-120"/>
              </a:rPr>
              <a:t>2024 Market Value</a:t>
            </a:r>
            <a:endParaRPr lang="en-US" sz="1600" dirty="0"/>
          </a:p>
        </p:txBody>
      </p:sp>
      <p:sp>
        <p:nvSpPr>
          <p:cNvPr id="12" name="Shape 10"/>
          <p:cNvSpPr/>
          <p:nvPr/>
        </p:nvSpPr>
        <p:spPr>
          <a:xfrm>
            <a:off x="3189272" y="1461271"/>
            <a:ext cx="2633322" cy="674730"/>
          </a:xfrm>
          <a:custGeom>
            <a:avLst/>
            <a:gdLst/>
            <a:ahLst/>
            <a:cxnLst/>
            <a:rect l="l" t="t" r="r" b="b"/>
            <a:pathLst>
              <a:path w="2633322" h="674730">
                <a:moveTo>
                  <a:pt x="74969" y="0"/>
                </a:moveTo>
                <a:lnTo>
                  <a:pt x="2558353" y="0"/>
                </a:lnTo>
                <a:cubicBezTo>
                  <a:pt x="2599757" y="0"/>
                  <a:pt x="2633322" y="33565"/>
                  <a:pt x="2633322" y="74969"/>
                </a:cubicBezTo>
                <a:lnTo>
                  <a:pt x="2633322" y="599761"/>
                </a:lnTo>
                <a:cubicBezTo>
                  <a:pt x="2633322" y="641165"/>
                  <a:pt x="2599757" y="674730"/>
                  <a:pt x="2558353" y="674730"/>
                </a:cubicBezTo>
                <a:lnTo>
                  <a:pt x="74969" y="674730"/>
                </a:lnTo>
                <a:cubicBezTo>
                  <a:pt x="33593" y="674730"/>
                  <a:pt x="0" y="641138"/>
                  <a:pt x="0" y="599761"/>
                </a:cubicBezTo>
                <a:lnTo>
                  <a:pt x="0" y="74969"/>
                </a:lnTo>
                <a:cubicBezTo>
                  <a:pt x="0" y="33593"/>
                  <a:pt x="33593" y="0"/>
                  <a:pt x="74969" y="0"/>
                </a:cubicBezTo>
                <a:close/>
              </a:path>
            </a:pathLst>
          </a:custGeom>
          <a:solidFill>
            <a:srgbClr val="4A7C59">
              <a:alpha val="10196"/>
            </a:srgbClr>
          </a:solidFill>
          <a:ln/>
        </p:spPr>
      </p:sp>
      <p:sp>
        <p:nvSpPr>
          <p:cNvPr id="13" name="Text 11"/>
          <p:cNvSpPr/>
          <p:nvPr/>
        </p:nvSpPr>
        <p:spPr>
          <a:xfrm>
            <a:off x="3208014" y="1536241"/>
            <a:ext cx="2595837" cy="299880"/>
          </a:xfrm>
          <a:prstGeom prst="rect">
            <a:avLst/>
          </a:prstGeom>
          <a:noFill/>
          <a:ln/>
        </p:spPr>
        <p:txBody>
          <a:bodyPr wrap="square" lIns="0" tIns="0" rIns="0" bIns="0" rtlCol="0" anchor="ctr"/>
          <a:lstStyle/>
          <a:p>
            <a:pPr algn="ctr">
              <a:lnSpc>
                <a:spcPct val="110000"/>
              </a:lnSpc>
            </a:pPr>
            <a:r>
              <a:rPr lang="en-US" sz="1771" b="1" dirty="0">
                <a:solidFill>
                  <a:srgbClr val="4A7C59"/>
                </a:solidFill>
                <a:latin typeface="Quattrocento Sans" pitchFamily="34" charset="0"/>
                <a:ea typeface="Quattrocento Sans" pitchFamily="34" charset="-122"/>
                <a:cs typeface="Quattrocento Sans" pitchFamily="34" charset="-120"/>
              </a:rPr>
              <a:t>$50B</a:t>
            </a:r>
            <a:endParaRPr lang="en-US" sz="1600" dirty="0"/>
          </a:p>
        </p:txBody>
      </p:sp>
      <p:sp>
        <p:nvSpPr>
          <p:cNvPr id="14" name="Text 12"/>
          <p:cNvSpPr/>
          <p:nvPr/>
        </p:nvSpPr>
        <p:spPr>
          <a:xfrm>
            <a:off x="3226757" y="1836005"/>
            <a:ext cx="2558352" cy="224910"/>
          </a:xfrm>
          <a:prstGeom prst="rect">
            <a:avLst/>
          </a:prstGeom>
          <a:noFill/>
          <a:ln/>
        </p:spPr>
        <p:txBody>
          <a:bodyPr wrap="square" lIns="0" tIns="0" rIns="0" bIns="0" rtlCol="0" anchor="ctr"/>
          <a:lstStyle/>
          <a:p>
            <a:pPr algn="ctr">
              <a:lnSpc>
                <a:spcPct val="130000"/>
              </a:lnSpc>
            </a:pPr>
            <a:r>
              <a:rPr lang="en-US" sz="1181" dirty="0">
                <a:solidFill>
                  <a:srgbClr val="212529">
                    <a:alpha val="70000"/>
                  </a:srgbClr>
                </a:solidFill>
                <a:latin typeface="Quattrocento Sans" pitchFamily="34" charset="0"/>
                <a:ea typeface="Quattrocento Sans" pitchFamily="34" charset="-122"/>
                <a:cs typeface="Quattrocento Sans" pitchFamily="34" charset="-120"/>
              </a:rPr>
              <a:t>2035 Projection</a:t>
            </a:r>
            <a:endParaRPr lang="en-US" sz="1600" dirty="0"/>
          </a:p>
        </p:txBody>
      </p:sp>
      <p:sp>
        <p:nvSpPr>
          <p:cNvPr id="15" name="Shape 13"/>
          <p:cNvSpPr/>
          <p:nvPr/>
        </p:nvSpPr>
        <p:spPr>
          <a:xfrm>
            <a:off x="440449" y="2210855"/>
            <a:ext cx="5388470" cy="674730"/>
          </a:xfrm>
          <a:custGeom>
            <a:avLst/>
            <a:gdLst/>
            <a:ahLst/>
            <a:cxnLst/>
            <a:rect l="l" t="t" r="r" b="b"/>
            <a:pathLst>
              <a:path w="5388470" h="674730">
                <a:moveTo>
                  <a:pt x="74969" y="0"/>
                </a:moveTo>
                <a:lnTo>
                  <a:pt x="5313501" y="0"/>
                </a:lnTo>
                <a:cubicBezTo>
                  <a:pt x="5354906" y="0"/>
                  <a:pt x="5388470" y="33565"/>
                  <a:pt x="5388470" y="74969"/>
                </a:cubicBezTo>
                <a:lnTo>
                  <a:pt x="5388470" y="599761"/>
                </a:lnTo>
                <a:cubicBezTo>
                  <a:pt x="5388470" y="641165"/>
                  <a:pt x="5354906" y="674730"/>
                  <a:pt x="5313501" y="674730"/>
                </a:cubicBezTo>
                <a:lnTo>
                  <a:pt x="74969" y="674730"/>
                </a:lnTo>
                <a:cubicBezTo>
                  <a:pt x="33593" y="674730"/>
                  <a:pt x="0" y="641138"/>
                  <a:pt x="0" y="599761"/>
                </a:cubicBezTo>
                <a:lnTo>
                  <a:pt x="0" y="74969"/>
                </a:lnTo>
                <a:cubicBezTo>
                  <a:pt x="0" y="33593"/>
                  <a:pt x="33593" y="0"/>
                  <a:pt x="74969" y="0"/>
                </a:cubicBezTo>
                <a:close/>
              </a:path>
            </a:pathLst>
          </a:custGeom>
          <a:solidFill>
            <a:srgbClr val="F7B538">
              <a:alpha val="20000"/>
            </a:srgbClr>
          </a:solidFill>
          <a:ln/>
        </p:spPr>
      </p:sp>
      <p:sp>
        <p:nvSpPr>
          <p:cNvPr id="16" name="Text 14"/>
          <p:cNvSpPr/>
          <p:nvPr/>
        </p:nvSpPr>
        <p:spPr>
          <a:xfrm>
            <a:off x="459191" y="2285825"/>
            <a:ext cx="5350985" cy="299880"/>
          </a:xfrm>
          <a:prstGeom prst="rect">
            <a:avLst/>
          </a:prstGeom>
          <a:noFill/>
          <a:ln/>
        </p:spPr>
        <p:txBody>
          <a:bodyPr wrap="square" lIns="0" tIns="0" rIns="0" bIns="0" rtlCol="0" anchor="ctr"/>
          <a:lstStyle/>
          <a:p>
            <a:pPr algn="ctr">
              <a:lnSpc>
                <a:spcPct val="110000"/>
              </a:lnSpc>
            </a:pPr>
            <a:r>
              <a:rPr lang="en-US" sz="1771" b="1" dirty="0">
                <a:solidFill>
                  <a:srgbClr val="F7B538"/>
                </a:solidFill>
                <a:latin typeface="Quattrocento Sans" pitchFamily="34" charset="0"/>
                <a:ea typeface="Quattrocento Sans" pitchFamily="34" charset="-122"/>
                <a:cs typeface="Quattrocento Sans" pitchFamily="34" charset="-120"/>
              </a:rPr>
              <a:t>15.2%</a:t>
            </a:r>
            <a:endParaRPr lang="en-US" sz="1600" dirty="0"/>
          </a:p>
        </p:txBody>
      </p:sp>
      <p:sp>
        <p:nvSpPr>
          <p:cNvPr id="17" name="Text 15"/>
          <p:cNvSpPr/>
          <p:nvPr/>
        </p:nvSpPr>
        <p:spPr>
          <a:xfrm>
            <a:off x="477934" y="2585588"/>
            <a:ext cx="5313500" cy="224910"/>
          </a:xfrm>
          <a:prstGeom prst="rect">
            <a:avLst/>
          </a:prstGeom>
          <a:noFill/>
          <a:ln/>
        </p:spPr>
        <p:txBody>
          <a:bodyPr wrap="square" lIns="0" tIns="0" rIns="0" bIns="0" rtlCol="0" anchor="ctr"/>
          <a:lstStyle/>
          <a:p>
            <a:pPr algn="ctr">
              <a:lnSpc>
                <a:spcPct val="130000"/>
              </a:lnSpc>
            </a:pPr>
            <a:r>
              <a:rPr lang="en-US" sz="1181" dirty="0">
                <a:solidFill>
                  <a:srgbClr val="212529">
                    <a:alpha val="70000"/>
                  </a:srgbClr>
                </a:solidFill>
                <a:latin typeface="Quattrocento Sans" pitchFamily="34" charset="0"/>
                <a:ea typeface="Quattrocento Sans" pitchFamily="34" charset="-122"/>
                <a:cs typeface="Quattrocento Sans" pitchFamily="34" charset="-120"/>
              </a:rPr>
              <a:t>CAGR (2025-2035)</a:t>
            </a:r>
            <a:endParaRPr lang="en-US" sz="1600" dirty="0"/>
          </a:p>
        </p:txBody>
      </p:sp>
      <p:sp>
        <p:nvSpPr>
          <p:cNvPr id="18" name="Shape 16"/>
          <p:cNvSpPr/>
          <p:nvPr/>
        </p:nvSpPr>
        <p:spPr>
          <a:xfrm>
            <a:off x="309251" y="3110379"/>
            <a:ext cx="5632123" cy="1986706"/>
          </a:xfrm>
          <a:custGeom>
            <a:avLst/>
            <a:gdLst/>
            <a:ahLst/>
            <a:cxnLst/>
            <a:rect l="l" t="t" r="r" b="b"/>
            <a:pathLst>
              <a:path w="5632123" h="1986706">
                <a:moveTo>
                  <a:pt x="37485" y="0"/>
                </a:moveTo>
                <a:lnTo>
                  <a:pt x="5557145" y="0"/>
                </a:lnTo>
                <a:cubicBezTo>
                  <a:pt x="5598554" y="0"/>
                  <a:pt x="5632123" y="33569"/>
                  <a:pt x="5632123" y="74978"/>
                </a:cubicBezTo>
                <a:lnTo>
                  <a:pt x="5632123" y="1911727"/>
                </a:lnTo>
                <a:cubicBezTo>
                  <a:pt x="5632123" y="1953137"/>
                  <a:pt x="5598554" y="1986706"/>
                  <a:pt x="5557145" y="1986706"/>
                </a:cubicBezTo>
                <a:lnTo>
                  <a:pt x="37485" y="1986706"/>
                </a:lnTo>
                <a:cubicBezTo>
                  <a:pt x="16783" y="1986706"/>
                  <a:pt x="0" y="1969923"/>
                  <a:pt x="0" y="1949221"/>
                </a:cubicBezTo>
                <a:lnTo>
                  <a:pt x="0" y="37485"/>
                </a:lnTo>
                <a:cubicBezTo>
                  <a:pt x="0" y="16783"/>
                  <a:pt x="16783" y="0"/>
                  <a:pt x="37485" y="0"/>
                </a:cubicBezTo>
                <a:close/>
              </a:path>
            </a:pathLst>
          </a:custGeom>
          <a:solidFill>
            <a:srgbClr val="FFFFFF"/>
          </a:solidFill>
          <a:ln/>
          <a:effectLst>
            <a:outerShdw sx="100000" sy="100000" kx="0" ky="0" algn="bl" rotWithShape="0" blurRad="56228" dist="37485" dir="5400000">
              <a:srgbClr val="000000">
                <a:alpha val="10196"/>
              </a:srgbClr>
            </a:outerShdw>
          </a:effectLst>
        </p:spPr>
      </p:sp>
      <p:sp>
        <p:nvSpPr>
          <p:cNvPr id="19" name="Shape 17"/>
          <p:cNvSpPr/>
          <p:nvPr/>
        </p:nvSpPr>
        <p:spPr>
          <a:xfrm>
            <a:off x="309251" y="3110379"/>
            <a:ext cx="37485" cy="1986706"/>
          </a:xfrm>
          <a:custGeom>
            <a:avLst/>
            <a:gdLst/>
            <a:ahLst/>
            <a:cxnLst/>
            <a:rect l="l" t="t" r="r" b="b"/>
            <a:pathLst>
              <a:path w="37485" h="1986706">
                <a:moveTo>
                  <a:pt x="37485" y="0"/>
                </a:moveTo>
                <a:lnTo>
                  <a:pt x="37485" y="0"/>
                </a:lnTo>
                <a:lnTo>
                  <a:pt x="37485" y="1986706"/>
                </a:lnTo>
                <a:lnTo>
                  <a:pt x="37485" y="1986706"/>
                </a:lnTo>
                <a:cubicBezTo>
                  <a:pt x="16783" y="1986706"/>
                  <a:pt x="0" y="1969923"/>
                  <a:pt x="0" y="1949221"/>
                </a:cubicBezTo>
                <a:lnTo>
                  <a:pt x="0" y="37485"/>
                </a:lnTo>
                <a:cubicBezTo>
                  <a:pt x="0" y="16783"/>
                  <a:pt x="16783" y="0"/>
                  <a:pt x="37485" y="0"/>
                </a:cubicBezTo>
                <a:close/>
              </a:path>
            </a:pathLst>
          </a:custGeom>
          <a:solidFill>
            <a:srgbClr val="4A7C59"/>
          </a:solidFill>
          <a:ln/>
        </p:spPr>
      </p:sp>
      <p:sp>
        <p:nvSpPr>
          <p:cNvPr id="20" name="Shape 18"/>
          <p:cNvSpPr/>
          <p:nvPr/>
        </p:nvSpPr>
        <p:spPr>
          <a:xfrm>
            <a:off x="442792" y="3269690"/>
            <a:ext cx="210853" cy="168683"/>
          </a:xfrm>
          <a:custGeom>
            <a:avLst/>
            <a:gdLst/>
            <a:ahLst/>
            <a:cxnLst/>
            <a:rect l="l" t="t" r="r" b="b"/>
            <a:pathLst>
              <a:path w="210853" h="168683">
                <a:moveTo>
                  <a:pt x="147597" y="79070"/>
                </a:moveTo>
                <a:lnTo>
                  <a:pt x="154153" y="79070"/>
                </a:lnTo>
                <a:cubicBezTo>
                  <a:pt x="159260" y="79070"/>
                  <a:pt x="163411" y="74919"/>
                  <a:pt x="163411" y="69812"/>
                </a:cubicBezTo>
                <a:cubicBezTo>
                  <a:pt x="163411" y="67308"/>
                  <a:pt x="162390" y="64903"/>
                  <a:pt x="160578" y="63157"/>
                </a:cubicBezTo>
                <a:lnTo>
                  <a:pt x="93401" y="-1614"/>
                </a:lnTo>
                <a:cubicBezTo>
                  <a:pt x="90963" y="-3953"/>
                  <a:pt x="87735" y="-5271"/>
                  <a:pt x="84341" y="-5271"/>
                </a:cubicBezTo>
                <a:cubicBezTo>
                  <a:pt x="80948" y="-5271"/>
                  <a:pt x="77719" y="-3953"/>
                  <a:pt x="75281" y="-1614"/>
                </a:cubicBezTo>
                <a:lnTo>
                  <a:pt x="8105" y="63157"/>
                </a:lnTo>
                <a:cubicBezTo>
                  <a:pt x="6293" y="64903"/>
                  <a:pt x="5271" y="67308"/>
                  <a:pt x="5271" y="69812"/>
                </a:cubicBezTo>
                <a:cubicBezTo>
                  <a:pt x="5271" y="74919"/>
                  <a:pt x="9423" y="79070"/>
                  <a:pt x="14529" y="79070"/>
                </a:cubicBezTo>
                <a:lnTo>
                  <a:pt x="21085" y="79070"/>
                </a:lnTo>
                <a:lnTo>
                  <a:pt x="21085" y="126512"/>
                </a:lnTo>
                <a:cubicBezTo>
                  <a:pt x="21085" y="138142"/>
                  <a:pt x="30541" y="147597"/>
                  <a:pt x="42171" y="147597"/>
                </a:cubicBezTo>
                <a:lnTo>
                  <a:pt x="70405" y="147597"/>
                </a:lnTo>
                <a:cubicBezTo>
                  <a:pt x="72843" y="145423"/>
                  <a:pt x="75808" y="143841"/>
                  <a:pt x="79070" y="142985"/>
                </a:cubicBezTo>
                <a:lnTo>
                  <a:pt x="79070" y="100155"/>
                </a:lnTo>
                <a:cubicBezTo>
                  <a:pt x="79070" y="98343"/>
                  <a:pt x="79301" y="96564"/>
                  <a:pt x="79729" y="94884"/>
                </a:cubicBezTo>
                <a:lnTo>
                  <a:pt x="76434" y="94884"/>
                </a:lnTo>
                <a:cubicBezTo>
                  <a:pt x="72052" y="94884"/>
                  <a:pt x="68527" y="91359"/>
                  <a:pt x="68527" y="86977"/>
                </a:cubicBezTo>
                <a:lnTo>
                  <a:pt x="68527" y="71163"/>
                </a:lnTo>
                <a:cubicBezTo>
                  <a:pt x="68527" y="66781"/>
                  <a:pt x="72052" y="63256"/>
                  <a:pt x="76434" y="63256"/>
                </a:cubicBezTo>
                <a:lnTo>
                  <a:pt x="92248" y="63256"/>
                </a:lnTo>
                <a:cubicBezTo>
                  <a:pt x="96630" y="63256"/>
                  <a:pt x="100155" y="66781"/>
                  <a:pt x="100155" y="71163"/>
                </a:cubicBezTo>
                <a:lnTo>
                  <a:pt x="100155" y="79070"/>
                </a:lnTo>
                <a:lnTo>
                  <a:pt x="147597" y="79070"/>
                </a:lnTo>
                <a:close/>
                <a:moveTo>
                  <a:pt x="115969" y="115969"/>
                </a:moveTo>
                <a:lnTo>
                  <a:pt x="168683" y="115969"/>
                </a:lnTo>
                <a:lnTo>
                  <a:pt x="168683" y="158140"/>
                </a:lnTo>
                <a:lnTo>
                  <a:pt x="115969" y="158140"/>
                </a:lnTo>
                <a:lnTo>
                  <a:pt x="115969" y="115969"/>
                </a:lnTo>
                <a:close/>
                <a:moveTo>
                  <a:pt x="94884" y="105427"/>
                </a:moveTo>
                <a:lnTo>
                  <a:pt x="94884" y="158140"/>
                </a:lnTo>
                <a:lnTo>
                  <a:pt x="84341" y="158140"/>
                </a:lnTo>
                <a:cubicBezTo>
                  <a:pt x="81442" y="158140"/>
                  <a:pt x="79070" y="160512"/>
                  <a:pt x="79070" y="163411"/>
                </a:cubicBezTo>
                <a:cubicBezTo>
                  <a:pt x="79070" y="172142"/>
                  <a:pt x="86153" y="179225"/>
                  <a:pt x="94884" y="179225"/>
                </a:cubicBezTo>
                <a:lnTo>
                  <a:pt x="189768" y="179225"/>
                </a:lnTo>
                <a:cubicBezTo>
                  <a:pt x="198499" y="179225"/>
                  <a:pt x="205582" y="172142"/>
                  <a:pt x="205582" y="163411"/>
                </a:cubicBezTo>
                <a:cubicBezTo>
                  <a:pt x="205582" y="160512"/>
                  <a:pt x="203210" y="158140"/>
                  <a:pt x="200311" y="158140"/>
                </a:cubicBezTo>
                <a:lnTo>
                  <a:pt x="189768" y="158140"/>
                </a:lnTo>
                <a:lnTo>
                  <a:pt x="189768" y="105427"/>
                </a:lnTo>
                <a:cubicBezTo>
                  <a:pt x="189768" y="99595"/>
                  <a:pt x="185057" y="94884"/>
                  <a:pt x="179225" y="94884"/>
                </a:cubicBezTo>
                <a:lnTo>
                  <a:pt x="105427" y="94884"/>
                </a:lnTo>
                <a:cubicBezTo>
                  <a:pt x="99595" y="94884"/>
                  <a:pt x="94884" y="99595"/>
                  <a:pt x="94884" y="105427"/>
                </a:cubicBezTo>
                <a:close/>
              </a:path>
            </a:pathLst>
          </a:custGeom>
          <a:solidFill>
            <a:srgbClr val="F7B538"/>
          </a:solidFill>
          <a:ln/>
        </p:spPr>
      </p:sp>
      <p:sp>
        <p:nvSpPr>
          <p:cNvPr id="21" name="Text 19"/>
          <p:cNvSpPr/>
          <p:nvPr/>
        </p:nvSpPr>
        <p:spPr>
          <a:xfrm>
            <a:off x="655988" y="3222834"/>
            <a:ext cx="5257273" cy="262395"/>
          </a:xfrm>
          <a:prstGeom prst="rect">
            <a:avLst/>
          </a:prstGeom>
          <a:noFill/>
          <a:ln/>
        </p:spPr>
        <p:txBody>
          <a:bodyPr wrap="square" lIns="0" tIns="0" rIns="0" bIns="0" rtlCol="0" anchor="ctr"/>
          <a:lstStyle/>
          <a:p>
            <a:pPr>
              <a:lnSpc>
                <a:spcPct val="130000"/>
              </a:lnSpc>
            </a:pPr>
            <a:r>
              <a:rPr lang="en-US" sz="1328" b="1" dirty="0">
                <a:solidFill>
                  <a:srgbClr val="1A535C"/>
                </a:solidFill>
                <a:latin typeface="Liter" pitchFamily="34" charset="0"/>
                <a:ea typeface="Liter" pitchFamily="34" charset="-122"/>
                <a:cs typeface="Liter" pitchFamily="34" charset="-120"/>
              </a:rPr>
              <a:t>Online Tutoring Services</a:t>
            </a:r>
            <a:endParaRPr lang="en-US" sz="1600" dirty="0"/>
          </a:p>
        </p:txBody>
      </p:sp>
      <p:sp>
        <p:nvSpPr>
          <p:cNvPr id="22" name="Shape 20"/>
          <p:cNvSpPr/>
          <p:nvPr/>
        </p:nvSpPr>
        <p:spPr>
          <a:xfrm>
            <a:off x="440449" y="3560199"/>
            <a:ext cx="2633322" cy="674730"/>
          </a:xfrm>
          <a:custGeom>
            <a:avLst/>
            <a:gdLst/>
            <a:ahLst/>
            <a:cxnLst/>
            <a:rect l="l" t="t" r="r" b="b"/>
            <a:pathLst>
              <a:path w="2633322" h="674730">
                <a:moveTo>
                  <a:pt x="74969" y="0"/>
                </a:moveTo>
                <a:lnTo>
                  <a:pt x="2558353" y="0"/>
                </a:lnTo>
                <a:cubicBezTo>
                  <a:pt x="2599757" y="0"/>
                  <a:pt x="2633322" y="33565"/>
                  <a:pt x="2633322" y="74969"/>
                </a:cubicBezTo>
                <a:lnTo>
                  <a:pt x="2633322" y="599761"/>
                </a:lnTo>
                <a:cubicBezTo>
                  <a:pt x="2633322" y="641165"/>
                  <a:pt x="2599757" y="674730"/>
                  <a:pt x="2558353" y="674730"/>
                </a:cubicBezTo>
                <a:lnTo>
                  <a:pt x="74969" y="674730"/>
                </a:lnTo>
                <a:cubicBezTo>
                  <a:pt x="33593" y="674730"/>
                  <a:pt x="0" y="641138"/>
                  <a:pt x="0" y="599761"/>
                </a:cubicBezTo>
                <a:lnTo>
                  <a:pt x="0" y="74969"/>
                </a:lnTo>
                <a:cubicBezTo>
                  <a:pt x="0" y="33593"/>
                  <a:pt x="33593" y="0"/>
                  <a:pt x="74969" y="0"/>
                </a:cubicBezTo>
                <a:close/>
              </a:path>
            </a:pathLst>
          </a:custGeom>
          <a:solidFill>
            <a:srgbClr val="1A535C">
              <a:alpha val="10196"/>
            </a:srgbClr>
          </a:solidFill>
          <a:ln/>
        </p:spPr>
      </p:sp>
      <p:sp>
        <p:nvSpPr>
          <p:cNvPr id="23" name="Text 21"/>
          <p:cNvSpPr/>
          <p:nvPr/>
        </p:nvSpPr>
        <p:spPr>
          <a:xfrm>
            <a:off x="459191" y="3635169"/>
            <a:ext cx="2595837" cy="299880"/>
          </a:xfrm>
          <a:prstGeom prst="rect">
            <a:avLst/>
          </a:prstGeom>
          <a:noFill/>
          <a:ln/>
        </p:spPr>
        <p:txBody>
          <a:bodyPr wrap="square" lIns="0" tIns="0" rIns="0" bIns="0" rtlCol="0" anchor="ctr"/>
          <a:lstStyle/>
          <a:p>
            <a:pPr algn="ctr">
              <a:lnSpc>
                <a:spcPct val="110000"/>
              </a:lnSpc>
            </a:pPr>
            <a:r>
              <a:rPr lang="en-US" sz="1771" b="1" dirty="0">
                <a:solidFill>
                  <a:srgbClr val="1A535C"/>
                </a:solidFill>
                <a:latin typeface="Quattrocento Sans" pitchFamily="34" charset="0"/>
                <a:ea typeface="Quattrocento Sans" pitchFamily="34" charset="-122"/>
                <a:cs typeface="Quattrocento Sans" pitchFamily="34" charset="-120"/>
              </a:rPr>
              <a:t>$1.17B</a:t>
            </a:r>
            <a:endParaRPr lang="en-US" sz="1600" dirty="0"/>
          </a:p>
        </p:txBody>
      </p:sp>
      <p:sp>
        <p:nvSpPr>
          <p:cNvPr id="24" name="Text 22"/>
          <p:cNvSpPr/>
          <p:nvPr/>
        </p:nvSpPr>
        <p:spPr>
          <a:xfrm>
            <a:off x="477934" y="3934932"/>
            <a:ext cx="2558352" cy="224910"/>
          </a:xfrm>
          <a:prstGeom prst="rect">
            <a:avLst/>
          </a:prstGeom>
          <a:noFill/>
          <a:ln/>
        </p:spPr>
        <p:txBody>
          <a:bodyPr wrap="square" lIns="0" tIns="0" rIns="0" bIns="0" rtlCol="0" anchor="ctr"/>
          <a:lstStyle/>
          <a:p>
            <a:pPr algn="ctr">
              <a:lnSpc>
                <a:spcPct val="130000"/>
              </a:lnSpc>
            </a:pPr>
            <a:r>
              <a:rPr lang="en-US" sz="1181" dirty="0">
                <a:solidFill>
                  <a:srgbClr val="212529">
                    <a:alpha val="70000"/>
                  </a:srgbClr>
                </a:solidFill>
                <a:latin typeface="Quattrocento Sans" pitchFamily="34" charset="0"/>
                <a:ea typeface="Quattrocento Sans" pitchFamily="34" charset="-122"/>
                <a:cs typeface="Quattrocento Sans" pitchFamily="34" charset="-120"/>
              </a:rPr>
              <a:t>2024 Market</a:t>
            </a:r>
            <a:endParaRPr lang="en-US" sz="1600" dirty="0"/>
          </a:p>
        </p:txBody>
      </p:sp>
      <p:sp>
        <p:nvSpPr>
          <p:cNvPr id="25" name="Shape 23"/>
          <p:cNvSpPr/>
          <p:nvPr/>
        </p:nvSpPr>
        <p:spPr>
          <a:xfrm>
            <a:off x="3189272" y="3560199"/>
            <a:ext cx="2633322" cy="674730"/>
          </a:xfrm>
          <a:custGeom>
            <a:avLst/>
            <a:gdLst/>
            <a:ahLst/>
            <a:cxnLst/>
            <a:rect l="l" t="t" r="r" b="b"/>
            <a:pathLst>
              <a:path w="2633322" h="674730">
                <a:moveTo>
                  <a:pt x="74969" y="0"/>
                </a:moveTo>
                <a:lnTo>
                  <a:pt x="2558353" y="0"/>
                </a:lnTo>
                <a:cubicBezTo>
                  <a:pt x="2599757" y="0"/>
                  <a:pt x="2633322" y="33565"/>
                  <a:pt x="2633322" y="74969"/>
                </a:cubicBezTo>
                <a:lnTo>
                  <a:pt x="2633322" y="599761"/>
                </a:lnTo>
                <a:cubicBezTo>
                  <a:pt x="2633322" y="641165"/>
                  <a:pt x="2599757" y="674730"/>
                  <a:pt x="2558353" y="674730"/>
                </a:cubicBezTo>
                <a:lnTo>
                  <a:pt x="74969" y="674730"/>
                </a:lnTo>
                <a:cubicBezTo>
                  <a:pt x="33593" y="674730"/>
                  <a:pt x="0" y="641138"/>
                  <a:pt x="0" y="599761"/>
                </a:cubicBezTo>
                <a:lnTo>
                  <a:pt x="0" y="74969"/>
                </a:lnTo>
                <a:cubicBezTo>
                  <a:pt x="0" y="33593"/>
                  <a:pt x="33593" y="0"/>
                  <a:pt x="74969" y="0"/>
                </a:cubicBezTo>
                <a:close/>
              </a:path>
            </a:pathLst>
          </a:custGeom>
          <a:solidFill>
            <a:srgbClr val="4A7C59">
              <a:alpha val="10196"/>
            </a:srgbClr>
          </a:solidFill>
          <a:ln/>
        </p:spPr>
      </p:sp>
      <p:sp>
        <p:nvSpPr>
          <p:cNvPr id="26" name="Text 24"/>
          <p:cNvSpPr/>
          <p:nvPr/>
        </p:nvSpPr>
        <p:spPr>
          <a:xfrm>
            <a:off x="3208014" y="3635169"/>
            <a:ext cx="2595837" cy="299880"/>
          </a:xfrm>
          <a:prstGeom prst="rect">
            <a:avLst/>
          </a:prstGeom>
          <a:noFill/>
          <a:ln/>
        </p:spPr>
        <p:txBody>
          <a:bodyPr wrap="square" lIns="0" tIns="0" rIns="0" bIns="0" rtlCol="0" anchor="ctr"/>
          <a:lstStyle/>
          <a:p>
            <a:pPr algn="ctr">
              <a:lnSpc>
                <a:spcPct val="110000"/>
              </a:lnSpc>
            </a:pPr>
            <a:r>
              <a:rPr lang="en-US" sz="1771" b="1" dirty="0">
                <a:solidFill>
                  <a:srgbClr val="4A7C59"/>
                </a:solidFill>
                <a:latin typeface="Quattrocento Sans" pitchFamily="34" charset="0"/>
                <a:ea typeface="Quattrocento Sans" pitchFamily="34" charset="-122"/>
                <a:cs typeface="Quattrocento Sans" pitchFamily="34" charset="-120"/>
              </a:rPr>
              <a:t>$4.34B</a:t>
            </a:r>
            <a:endParaRPr lang="en-US" sz="1600" dirty="0"/>
          </a:p>
        </p:txBody>
      </p:sp>
      <p:sp>
        <p:nvSpPr>
          <p:cNvPr id="27" name="Text 25"/>
          <p:cNvSpPr/>
          <p:nvPr/>
        </p:nvSpPr>
        <p:spPr>
          <a:xfrm>
            <a:off x="3226757" y="3934932"/>
            <a:ext cx="2558352" cy="224910"/>
          </a:xfrm>
          <a:prstGeom prst="rect">
            <a:avLst/>
          </a:prstGeom>
          <a:noFill/>
          <a:ln/>
        </p:spPr>
        <p:txBody>
          <a:bodyPr wrap="square" lIns="0" tIns="0" rIns="0" bIns="0" rtlCol="0" anchor="ctr"/>
          <a:lstStyle/>
          <a:p>
            <a:pPr algn="ctr">
              <a:lnSpc>
                <a:spcPct val="130000"/>
              </a:lnSpc>
            </a:pPr>
            <a:r>
              <a:rPr lang="en-US" sz="1181" dirty="0">
                <a:solidFill>
                  <a:srgbClr val="212529">
                    <a:alpha val="70000"/>
                  </a:srgbClr>
                </a:solidFill>
                <a:latin typeface="Quattrocento Sans" pitchFamily="34" charset="0"/>
                <a:ea typeface="Quattrocento Sans" pitchFamily="34" charset="-122"/>
                <a:cs typeface="Quattrocento Sans" pitchFamily="34" charset="-120"/>
              </a:rPr>
              <a:t>2032 Projection</a:t>
            </a:r>
            <a:endParaRPr lang="en-US" sz="1600" dirty="0"/>
          </a:p>
        </p:txBody>
      </p:sp>
      <p:sp>
        <p:nvSpPr>
          <p:cNvPr id="28" name="Shape 26"/>
          <p:cNvSpPr/>
          <p:nvPr/>
        </p:nvSpPr>
        <p:spPr>
          <a:xfrm>
            <a:off x="440449" y="4309782"/>
            <a:ext cx="5388470" cy="674730"/>
          </a:xfrm>
          <a:custGeom>
            <a:avLst/>
            <a:gdLst/>
            <a:ahLst/>
            <a:cxnLst/>
            <a:rect l="l" t="t" r="r" b="b"/>
            <a:pathLst>
              <a:path w="5388470" h="674730">
                <a:moveTo>
                  <a:pt x="74969" y="0"/>
                </a:moveTo>
                <a:lnTo>
                  <a:pt x="5313501" y="0"/>
                </a:lnTo>
                <a:cubicBezTo>
                  <a:pt x="5354906" y="0"/>
                  <a:pt x="5388470" y="33565"/>
                  <a:pt x="5388470" y="74969"/>
                </a:cubicBezTo>
                <a:lnTo>
                  <a:pt x="5388470" y="599761"/>
                </a:lnTo>
                <a:cubicBezTo>
                  <a:pt x="5388470" y="641165"/>
                  <a:pt x="5354906" y="674730"/>
                  <a:pt x="5313501" y="674730"/>
                </a:cubicBezTo>
                <a:lnTo>
                  <a:pt x="74969" y="674730"/>
                </a:lnTo>
                <a:cubicBezTo>
                  <a:pt x="33593" y="674730"/>
                  <a:pt x="0" y="641138"/>
                  <a:pt x="0" y="599761"/>
                </a:cubicBezTo>
                <a:lnTo>
                  <a:pt x="0" y="74969"/>
                </a:lnTo>
                <a:cubicBezTo>
                  <a:pt x="0" y="33593"/>
                  <a:pt x="33593" y="0"/>
                  <a:pt x="74969" y="0"/>
                </a:cubicBezTo>
                <a:close/>
              </a:path>
            </a:pathLst>
          </a:custGeom>
          <a:solidFill>
            <a:srgbClr val="F7B538">
              <a:alpha val="20000"/>
            </a:srgbClr>
          </a:solidFill>
          <a:ln/>
        </p:spPr>
      </p:sp>
      <p:sp>
        <p:nvSpPr>
          <p:cNvPr id="29" name="Text 27"/>
          <p:cNvSpPr/>
          <p:nvPr/>
        </p:nvSpPr>
        <p:spPr>
          <a:xfrm>
            <a:off x="459191" y="4384752"/>
            <a:ext cx="5350985" cy="299880"/>
          </a:xfrm>
          <a:prstGeom prst="rect">
            <a:avLst/>
          </a:prstGeom>
          <a:noFill/>
          <a:ln/>
        </p:spPr>
        <p:txBody>
          <a:bodyPr wrap="square" lIns="0" tIns="0" rIns="0" bIns="0" rtlCol="0" anchor="ctr"/>
          <a:lstStyle/>
          <a:p>
            <a:pPr algn="ctr">
              <a:lnSpc>
                <a:spcPct val="110000"/>
              </a:lnSpc>
            </a:pPr>
            <a:r>
              <a:rPr lang="en-US" sz="1771" b="1" dirty="0">
                <a:solidFill>
                  <a:srgbClr val="F7B538"/>
                </a:solidFill>
                <a:latin typeface="Quattrocento Sans" pitchFamily="34" charset="0"/>
                <a:ea typeface="Quattrocento Sans" pitchFamily="34" charset="-122"/>
                <a:cs typeface="Quattrocento Sans" pitchFamily="34" charset="-120"/>
              </a:rPr>
              <a:t>17.8%</a:t>
            </a:r>
            <a:endParaRPr lang="en-US" sz="1600" dirty="0"/>
          </a:p>
        </p:txBody>
      </p:sp>
      <p:sp>
        <p:nvSpPr>
          <p:cNvPr id="30" name="Text 28"/>
          <p:cNvSpPr/>
          <p:nvPr/>
        </p:nvSpPr>
        <p:spPr>
          <a:xfrm>
            <a:off x="477934" y="4684513"/>
            <a:ext cx="5313500" cy="224910"/>
          </a:xfrm>
          <a:prstGeom prst="rect">
            <a:avLst/>
          </a:prstGeom>
          <a:noFill/>
          <a:ln/>
        </p:spPr>
        <p:txBody>
          <a:bodyPr wrap="square" lIns="0" tIns="0" rIns="0" bIns="0" rtlCol="0" anchor="ctr"/>
          <a:lstStyle/>
          <a:p>
            <a:pPr algn="ctr">
              <a:lnSpc>
                <a:spcPct val="130000"/>
              </a:lnSpc>
            </a:pPr>
            <a:r>
              <a:rPr lang="en-US" sz="1181" dirty="0">
                <a:solidFill>
                  <a:srgbClr val="212529">
                    <a:alpha val="70000"/>
                  </a:srgbClr>
                </a:solidFill>
                <a:latin typeface="Quattrocento Sans" pitchFamily="34" charset="0"/>
                <a:ea typeface="Quattrocento Sans" pitchFamily="34" charset="-122"/>
                <a:cs typeface="Quattrocento Sans" pitchFamily="34" charset="-120"/>
              </a:rPr>
              <a:t>CAGR (2025-2032)</a:t>
            </a:r>
            <a:endParaRPr lang="en-US" sz="1600" dirty="0"/>
          </a:p>
        </p:txBody>
      </p:sp>
      <p:sp>
        <p:nvSpPr>
          <p:cNvPr id="31" name="Shape 29"/>
          <p:cNvSpPr/>
          <p:nvPr/>
        </p:nvSpPr>
        <p:spPr>
          <a:xfrm>
            <a:off x="309251" y="5209304"/>
            <a:ext cx="5632123" cy="1087065"/>
          </a:xfrm>
          <a:custGeom>
            <a:avLst/>
            <a:gdLst/>
            <a:ahLst/>
            <a:cxnLst/>
            <a:rect l="l" t="t" r="r" b="b"/>
            <a:pathLst>
              <a:path w="5632123" h="1087065">
                <a:moveTo>
                  <a:pt x="37485" y="0"/>
                </a:moveTo>
                <a:lnTo>
                  <a:pt x="5557148" y="0"/>
                </a:lnTo>
                <a:cubicBezTo>
                  <a:pt x="5598556" y="0"/>
                  <a:pt x="5632123" y="33567"/>
                  <a:pt x="5632123" y="74975"/>
                </a:cubicBezTo>
                <a:lnTo>
                  <a:pt x="5632123" y="1012090"/>
                </a:lnTo>
                <a:cubicBezTo>
                  <a:pt x="5632123" y="1053498"/>
                  <a:pt x="5598556" y="1087065"/>
                  <a:pt x="5557148" y="1087065"/>
                </a:cubicBezTo>
                <a:lnTo>
                  <a:pt x="37485" y="1087065"/>
                </a:lnTo>
                <a:cubicBezTo>
                  <a:pt x="16783" y="1087065"/>
                  <a:pt x="0" y="1070283"/>
                  <a:pt x="0" y="1049580"/>
                </a:cubicBezTo>
                <a:lnTo>
                  <a:pt x="0" y="37485"/>
                </a:lnTo>
                <a:cubicBezTo>
                  <a:pt x="0" y="16783"/>
                  <a:pt x="16783" y="0"/>
                  <a:pt x="37485" y="0"/>
                </a:cubicBezTo>
                <a:close/>
              </a:path>
            </a:pathLst>
          </a:custGeom>
          <a:solidFill>
            <a:srgbClr val="FFFFFF"/>
          </a:solidFill>
          <a:ln/>
          <a:effectLst>
            <a:outerShdw sx="100000" sy="100000" kx="0" ky="0" algn="bl" rotWithShape="0" blurRad="56228" dist="37485" dir="5400000">
              <a:srgbClr val="000000">
                <a:alpha val="10196"/>
              </a:srgbClr>
            </a:outerShdw>
          </a:effectLst>
        </p:spPr>
      </p:sp>
      <p:sp>
        <p:nvSpPr>
          <p:cNvPr id="32" name="Shape 30"/>
          <p:cNvSpPr/>
          <p:nvPr/>
        </p:nvSpPr>
        <p:spPr>
          <a:xfrm>
            <a:off x="309251" y="5209304"/>
            <a:ext cx="37485" cy="1087065"/>
          </a:xfrm>
          <a:custGeom>
            <a:avLst/>
            <a:gdLst/>
            <a:ahLst/>
            <a:cxnLst/>
            <a:rect l="l" t="t" r="r" b="b"/>
            <a:pathLst>
              <a:path w="37485" h="1087065">
                <a:moveTo>
                  <a:pt x="37485" y="0"/>
                </a:moveTo>
                <a:lnTo>
                  <a:pt x="37485" y="0"/>
                </a:lnTo>
                <a:lnTo>
                  <a:pt x="37485" y="1087065"/>
                </a:lnTo>
                <a:lnTo>
                  <a:pt x="37485" y="1087065"/>
                </a:lnTo>
                <a:cubicBezTo>
                  <a:pt x="16783" y="1087065"/>
                  <a:pt x="0" y="1070283"/>
                  <a:pt x="0" y="1049580"/>
                </a:cubicBezTo>
                <a:lnTo>
                  <a:pt x="0" y="37485"/>
                </a:lnTo>
                <a:cubicBezTo>
                  <a:pt x="0" y="16783"/>
                  <a:pt x="16783" y="0"/>
                  <a:pt x="37485" y="0"/>
                </a:cubicBezTo>
                <a:close/>
              </a:path>
            </a:pathLst>
          </a:custGeom>
          <a:solidFill>
            <a:srgbClr val="F7B538"/>
          </a:solidFill>
          <a:ln/>
        </p:spPr>
      </p:sp>
      <p:sp>
        <p:nvSpPr>
          <p:cNvPr id="33" name="Shape 31"/>
          <p:cNvSpPr/>
          <p:nvPr/>
        </p:nvSpPr>
        <p:spPr>
          <a:xfrm>
            <a:off x="453334" y="5368615"/>
            <a:ext cx="189768" cy="168683"/>
          </a:xfrm>
          <a:custGeom>
            <a:avLst/>
            <a:gdLst/>
            <a:ahLst/>
            <a:cxnLst/>
            <a:rect l="l" t="t" r="r" b="b"/>
            <a:pathLst>
              <a:path w="189768" h="168683">
                <a:moveTo>
                  <a:pt x="52713" y="0"/>
                </a:moveTo>
                <a:cubicBezTo>
                  <a:pt x="58545" y="0"/>
                  <a:pt x="63256" y="4711"/>
                  <a:pt x="63256" y="10543"/>
                </a:cubicBezTo>
                <a:lnTo>
                  <a:pt x="63256" y="21085"/>
                </a:lnTo>
                <a:lnTo>
                  <a:pt x="105427" y="21085"/>
                </a:lnTo>
                <a:cubicBezTo>
                  <a:pt x="111258" y="21085"/>
                  <a:pt x="115969" y="25797"/>
                  <a:pt x="115969" y="31628"/>
                </a:cubicBezTo>
                <a:cubicBezTo>
                  <a:pt x="115969" y="37459"/>
                  <a:pt x="111258" y="42171"/>
                  <a:pt x="105427" y="42171"/>
                </a:cubicBezTo>
                <a:lnTo>
                  <a:pt x="102264" y="42171"/>
                </a:lnTo>
                <a:lnTo>
                  <a:pt x="99496" y="49781"/>
                </a:lnTo>
                <a:cubicBezTo>
                  <a:pt x="94093" y="64673"/>
                  <a:pt x="85956" y="78279"/>
                  <a:pt x="75709" y="89975"/>
                </a:cubicBezTo>
                <a:cubicBezTo>
                  <a:pt x="80388" y="92874"/>
                  <a:pt x="85264" y="95444"/>
                  <a:pt x="90337" y="97717"/>
                </a:cubicBezTo>
                <a:lnTo>
                  <a:pt x="106942" y="105097"/>
                </a:lnTo>
                <a:lnTo>
                  <a:pt x="127434" y="58973"/>
                </a:lnTo>
                <a:cubicBezTo>
                  <a:pt x="129115" y="55151"/>
                  <a:pt x="132903" y="52713"/>
                  <a:pt x="137055" y="52713"/>
                </a:cubicBezTo>
                <a:cubicBezTo>
                  <a:pt x="141206" y="52713"/>
                  <a:pt x="144995" y="55151"/>
                  <a:pt x="146675" y="58973"/>
                </a:cubicBezTo>
                <a:lnTo>
                  <a:pt x="188845" y="153857"/>
                </a:lnTo>
                <a:cubicBezTo>
                  <a:pt x="191217" y="159194"/>
                  <a:pt x="188812" y="165421"/>
                  <a:pt x="183508" y="167760"/>
                </a:cubicBezTo>
                <a:cubicBezTo>
                  <a:pt x="178204" y="170099"/>
                  <a:pt x="171944" y="167727"/>
                  <a:pt x="169605" y="162423"/>
                </a:cubicBezTo>
                <a:lnTo>
                  <a:pt x="163016" y="147597"/>
                </a:lnTo>
                <a:lnTo>
                  <a:pt x="111126" y="147597"/>
                </a:lnTo>
                <a:lnTo>
                  <a:pt x="104537" y="162423"/>
                </a:lnTo>
                <a:cubicBezTo>
                  <a:pt x="102165" y="167760"/>
                  <a:pt x="95938" y="170132"/>
                  <a:pt x="90634" y="167760"/>
                </a:cubicBezTo>
                <a:cubicBezTo>
                  <a:pt x="85330" y="165388"/>
                  <a:pt x="82925" y="159161"/>
                  <a:pt x="85297" y="153857"/>
                </a:cubicBezTo>
                <a:lnTo>
                  <a:pt x="98409" y="124370"/>
                </a:lnTo>
                <a:lnTo>
                  <a:pt x="81804" y="116991"/>
                </a:lnTo>
                <a:cubicBezTo>
                  <a:pt x="74227" y="113630"/>
                  <a:pt x="66979" y="109611"/>
                  <a:pt x="60126" y="104998"/>
                </a:cubicBezTo>
                <a:cubicBezTo>
                  <a:pt x="53109" y="110665"/>
                  <a:pt x="45432" y="115607"/>
                  <a:pt x="37229" y="119725"/>
                </a:cubicBezTo>
                <a:lnTo>
                  <a:pt x="25797" y="125392"/>
                </a:lnTo>
                <a:cubicBezTo>
                  <a:pt x="20591" y="127994"/>
                  <a:pt x="14266" y="125886"/>
                  <a:pt x="11663" y="120681"/>
                </a:cubicBezTo>
                <a:cubicBezTo>
                  <a:pt x="9060" y="115475"/>
                  <a:pt x="11169" y="109149"/>
                  <a:pt x="16374" y="106547"/>
                </a:cubicBezTo>
                <a:lnTo>
                  <a:pt x="27740" y="100847"/>
                </a:lnTo>
                <a:cubicBezTo>
                  <a:pt x="33111" y="98146"/>
                  <a:pt x="38217" y="95016"/>
                  <a:pt x="43027" y="91523"/>
                </a:cubicBezTo>
                <a:cubicBezTo>
                  <a:pt x="38481" y="87339"/>
                  <a:pt x="34198" y="82826"/>
                  <a:pt x="30211" y="78049"/>
                </a:cubicBezTo>
                <a:lnTo>
                  <a:pt x="26884" y="74029"/>
                </a:lnTo>
                <a:cubicBezTo>
                  <a:pt x="23161" y="69549"/>
                  <a:pt x="23754" y="62894"/>
                  <a:pt x="28235" y="59171"/>
                </a:cubicBezTo>
                <a:cubicBezTo>
                  <a:pt x="32715" y="55448"/>
                  <a:pt x="39370" y="56041"/>
                  <a:pt x="43093" y="60521"/>
                </a:cubicBezTo>
                <a:lnTo>
                  <a:pt x="46454" y="64541"/>
                </a:lnTo>
                <a:cubicBezTo>
                  <a:pt x="50242" y="69120"/>
                  <a:pt x="54394" y="73370"/>
                  <a:pt x="58775" y="77291"/>
                </a:cubicBezTo>
                <a:cubicBezTo>
                  <a:pt x="67835" y="67275"/>
                  <a:pt x="74985" y="55514"/>
                  <a:pt x="79696" y="42566"/>
                </a:cubicBezTo>
                <a:lnTo>
                  <a:pt x="79861" y="42171"/>
                </a:lnTo>
                <a:lnTo>
                  <a:pt x="10576" y="42171"/>
                </a:lnTo>
                <a:cubicBezTo>
                  <a:pt x="4711" y="42171"/>
                  <a:pt x="0" y="37459"/>
                  <a:pt x="0" y="31628"/>
                </a:cubicBezTo>
                <a:cubicBezTo>
                  <a:pt x="0" y="25797"/>
                  <a:pt x="4711" y="21085"/>
                  <a:pt x="10543" y="21085"/>
                </a:cubicBezTo>
                <a:lnTo>
                  <a:pt x="42171" y="21085"/>
                </a:lnTo>
                <a:lnTo>
                  <a:pt x="42171" y="10543"/>
                </a:lnTo>
                <a:cubicBezTo>
                  <a:pt x="42171" y="4711"/>
                  <a:pt x="46882" y="0"/>
                  <a:pt x="52713" y="0"/>
                </a:cubicBezTo>
                <a:close/>
                <a:moveTo>
                  <a:pt x="137055" y="89217"/>
                </a:moveTo>
                <a:lnTo>
                  <a:pt x="120483" y="126512"/>
                </a:lnTo>
                <a:lnTo>
                  <a:pt x="153626" y="126512"/>
                </a:lnTo>
                <a:lnTo>
                  <a:pt x="137055" y="89217"/>
                </a:lnTo>
                <a:close/>
              </a:path>
            </a:pathLst>
          </a:custGeom>
          <a:solidFill>
            <a:srgbClr val="F7B538"/>
          </a:solidFill>
          <a:ln/>
        </p:spPr>
      </p:sp>
      <p:sp>
        <p:nvSpPr>
          <p:cNvPr id="34" name="Text 32"/>
          <p:cNvSpPr/>
          <p:nvPr/>
        </p:nvSpPr>
        <p:spPr>
          <a:xfrm>
            <a:off x="655988" y="5321759"/>
            <a:ext cx="5257273" cy="262395"/>
          </a:xfrm>
          <a:prstGeom prst="rect">
            <a:avLst/>
          </a:prstGeom>
          <a:noFill/>
          <a:ln/>
        </p:spPr>
        <p:txBody>
          <a:bodyPr wrap="square" lIns="0" tIns="0" rIns="0" bIns="0" rtlCol="0" anchor="ctr"/>
          <a:lstStyle/>
          <a:p>
            <a:pPr>
              <a:lnSpc>
                <a:spcPct val="130000"/>
              </a:lnSpc>
            </a:pPr>
            <a:r>
              <a:rPr lang="en-US" sz="1328" b="1" dirty="0">
                <a:solidFill>
                  <a:srgbClr val="1A535C"/>
                </a:solidFill>
                <a:latin typeface="Liter" pitchFamily="34" charset="0"/>
                <a:ea typeface="Liter" pitchFamily="34" charset="-122"/>
                <a:cs typeface="Liter" pitchFamily="34" charset="-120"/>
              </a:rPr>
              <a:t>Regional Language Gap</a:t>
            </a:r>
            <a:endParaRPr lang="en-US" sz="1600" dirty="0"/>
          </a:p>
        </p:txBody>
      </p:sp>
      <p:sp>
        <p:nvSpPr>
          <p:cNvPr id="35" name="Shape 33"/>
          <p:cNvSpPr/>
          <p:nvPr/>
        </p:nvSpPr>
        <p:spPr>
          <a:xfrm>
            <a:off x="440449" y="5659124"/>
            <a:ext cx="5388470" cy="1012095"/>
          </a:xfrm>
          <a:custGeom>
            <a:avLst/>
            <a:gdLst/>
            <a:ahLst/>
            <a:cxnLst/>
            <a:rect l="l" t="t" r="r" b="b"/>
            <a:pathLst>
              <a:path w="5388470" h="1012095">
                <a:moveTo>
                  <a:pt x="74966" y="0"/>
                </a:moveTo>
                <a:lnTo>
                  <a:pt x="5313505" y="0"/>
                </a:lnTo>
                <a:cubicBezTo>
                  <a:pt x="5354907" y="0"/>
                  <a:pt x="5388470" y="33563"/>
                  <a:pt x="5388470" y="74966"/>
                </a:cubicBezTo>
                <a:lnTo>
                  <a:pt x="5388470" y="937129"/>
                </a:lnTo>
                <a:cubicBezTo>
                  <a:pt x="5388470" y="978532"/>
                  <a:pt x="5354907" y="1012095"/>
                  <a:pt x="5313505" y="1012095"/>
                </a:cubicBezTo>
                <a:lnTo>
                  <a:pt x="74966" y="1012095"/>
                </a:lnTo>
                <a:cubicBezTo>
                  <a:pt x="33563" y="1012095"/>
                  <a:pt x="0" y="978532"/>
                  <a:pt x="0" y="937129"/>
                </a:cubicBezTo>
                <a:lnTo>
                  <a:pt x="0" y="74966"/>
                </a:lnTo>
                <a:cubicBezTo>
                  <a:pt x="0" y="33591"/>
                  <a:pt x="33591" y="0"/>
                  <a:pt x="74966" y="0"/>
                </a:cubicBezTo>
                <a:close/>
              </a:path>
            </a:pathLst>
          </a:custGeom>
          <a:solidFill>
            <a:srgbClr val="FFC000">
              <a:alpha val="43000"/>
            </a:srgbClr>
          </a:solidFill>
          <a:ln/>
        </p:spPr>
      </p:sp>
      <p:sp>
        <p:nvSpPr>
          <p:cNvPr id="36" name="Text 34"/>
          <p:cNvSpPr/>
          <p:nvPr/>
        </p:nvSpPr>
        <p:spPr>
          <a:xfrm>
            <a:off x="548218" y="5659124"/>
            <a:ext cx="5304129" cy="337365"/>
          </a:xfrm>
          <a:prstGeom prst="rect">
            <a:avLst/>
          </a:prstGeom>
          <a:noFill/>
          <a:ln/>
        </p:spPr>
        <p:txBody>
          <a:bodyPr wrap="square" lIns="0" tIns="0" rIns="0" bIns="0" rtlCol="0" anchor="ctr"/>
          <a:lstStyle/>
          <a:p>
            <a:pPr>
              <a:lnSpc>
                <a:spcPct val="100000"/>
              </a:lnSpc>
            </a:pPr>
            <a:r>
              <a:rPr lang="en-US" sz="2214" b="1" dirty="0">
                <a:solidFill>
                  <a:srgbClr val="000000"/>
                </a:solidFill>
                <a:latin typeface="Quattrocento Sans" pitchFamily="34" charset="0"/>
                <a:ea typeface="Quattrocento Sans" pitchFamily="34" charset="-122"/>
                <a:cs typeface="Quattrocento Sans" pitchFamily="34" charset="-120"/>
              </a:rPr>
              <a:t>16%</a:t>
            </a:r>
            <a:endParaRPr lang="en-US" sz="1600" dirty="0"/>
          </a:p>
        </p:txBody>
      </p:sp>
      <p:sp>
        <p:nvSpPr>
          <p:cNvPr id="37" name="Text 35"/>
          <p:cNvSpPr/>
          <p:nvPr/>
        </p:nvSpPr>
        <p:spPr>
          <a:xfrm>
            <a:off x="506048" y="6090201"/>
            <a:ext cx="5238530" cy="412335"/>
          </a:xfrm>
          <a:prstGeom prst="rect">
            <a:avLst/>
          </a:prstGeom>
          <a:noFill/>
          <a:ln/>
        </p:spPr>
        <p:txBody>
          <a:bodyPr wrap="square" lIns="0" tIns="0" rIns="0" bIns="0" rtlCol="0" anchor="ctr"/>
          <a:lstStyle/>
          <a:p>
            <a:pPr>
              <a:lnSpc>
                <a:spcPct val="110000"/>
              </a:lnSpc>
            </a:pPr>
            <a:r>
              <a:rPr lang="en-US" sz="1181" b="1" dirty="0">
                <a:solidFill>
                  <a:srgbClr val="212529"/>
                </a:solidFill>
                <a:latin typeface="Quattrocento Sans" pitchFamily="34" charset="0"/>
                <a:ea typeface="Quattrocento Sans" pitchFamily="34" charset="-122"/>
                <a:cs typeface="Quattrocento Sans" pitchFamily="34" charset="-120"/>
              </a:rPr>
              <a:t>Only 16% of Kendriya Vidyalayas</a:t>
            </a:r>
            <a:pPr>
              <a:lnSpc>
                <a:spcPct val="110000"/>
              </a:lnSpc>
            </a:pPr>
            <a:r>
              <a:rPr lang="en-US" sz="1181" dirty="0">
                <a:solidFill>
                  <a:srgbClr val="212529"/>
                </a:solidFill>
                <a:latin typeface="Quattrocento Sans" pitchFamily="34" charset="0"/>
                <a:ea typeface="Quattrocento Sans" pitchFamily="34" charset="-122"/>
                <a:cs typeface="Quattrocento Sans" pitchFamily="34" charset="-120"/>
              </a:rPr>
              <a:t> offer regional language education in 10 languages. This leaves Tier 2/3 India massively underserved.</a:t>
            </a:r>
            <a:endParaRPr lang="en-US" sz="1600" dirty="0"/>
          </a:p>
        </p:txBody>
      </p:sp>
      <p:sp>
        <p:nvSpPr>
          <p:cNvPr id="38" name="Shape 36"/>
          <p:cNvSpPr/>
          <p:nvPr/>
        </p:nvSpPr>
        <p:spPr>
          <a:xfrm>
            <a:off x="6106894" y="1011451"/>
            <a:ext cx="5632123" cy="2455268"/>
          </a:xfrm>
          <a:custGeom>
            <a:avLst/>
            <a:gdLst/>
            <a:ahLst/>
            <a:cxnLst/>
            <a:rect l="l" t="t" r="r" b="b"/>
            <a:pathLst>
              <a:path w="5632123" h="2455268">
                <a:moveTo>
                  <a:pt x="37485" y="0"/>
                </a:moveTo>
                <a:lnTo>
                  <a:pt x="5557164" y="0"/>
                </a:lnTo>
                <a:cubicBezTo>
                  <a:pt x="5598563" y="0"/>
                  <a:pt x="5632123" y="33560"/>
                  <a:pt x="5632123" y="74959"/>
                </a:cubicBezTo>
                <a:lnTo>
                  <a:pt x="5632123" y="2380309"/>
                </a:lnTo>
                <a:cubicBezTo>
                  <a:pt x="5632123" y="2421708"/>
                  <a:pt x="5598563" y="2455268"/>
                  <a:pt x="5557164" y="2455268"/>
                </a:cubicBezTo>
                <a:lnTo>
                  <a:pt x="37485" y="2455268"/>
                </a:lnTo>
                <a:cubicBezTo>
                  <a:pt x="16783" y="2455268"/>
                  <a:pt x="0" y="2438486"/>
                  <a:pt x="0" y="2417783"/>
                </a:cubicBezTo>
                <a:lnTo>
                  <a:pt x="0" y="37485"/>
                </a:lnTo>
                <a:cubicBezTo>
                  <a:pt x="0" y="16783"/>
                  <a:pt x="16783" y="0"/>
                  <a:pt x="37485" y="0"/>
                </a:cubicBezTo>
                <a:close/>
              </a:path>
            </a:pathLst>
          </a:custGeom>
          <a:solidFill>
            <a:srgbClr val="FFFFFF"/>
          </a:solidFill>
          <a:ln/>
          <a:effectLst>
            <a:outerShdw sx="100000" sy="100000" kx="0" ky="0" algn="bl" rotWithShape="0" blurRad="56228" dist="37485" dir="5400000">
              <a:srgbClr val="000000">
                <a:alpha val="10196"/>
              </a:srgbClr>
            </a:outerShdw>
          </a:effectLst>
        </p:spPr>
      </p:sp>
      <p:sp>
        <p:nvSpPr>
          <p:cNvPr id="39" name="Shape 37"/>
          <p:cNvSpPr/>
          <p:nvPr/>
        </p:nvSpPr>
        <p:spPr>
          <a:xfrm>
            <a:off x="6106894" y="1011451"/>
            <a:ext cx="37485" cy="2455268"/>
          </a:xfrm>
          <a:custGeom>
            <a:avLst/>
            <a:gdLst/>
            <a:ahLst/>
            <a:cxnLst/>
            <a:rect l="l" t="t" r="r" b="b"/>
            <a:pathLst>
              <a:path w="37485" h="2455268">
                <a:moveTo>
                  <a:pt x="37485" y="0"/>
                </a:moveTo>
                <a:lnTo>
                  <a:pt x="37485" y="0"/>
                </a:lnTo>
                <a:lnTo>
                  <a:pt x="37485" y="2455268"/>
                </a:lnTo>
                <a:lnTo>
                  <a:pt x="37485" y="2455268"/>
                </a:lnTo>
                <a:cubicBezTo>
                  <a:pt x="16783" y="2455268"/>
                  <a:pt x="0" y="2438486"/>
                  <a:pt x="0" y="2417783"/>
                </a:cubicBezTo>
                <a:lnTo>
                  <a:pt x="0" y="37485"/>
                </a:lnTo>
                <a:cubicBezTo>
                  <a:pt x="0" y="16783"/>
                  <a:pt x="16783" y="0"/>
                  <a:pt x="37485" y="0"/>
                </a:cubicBezTo>
                <a:close/>
              </a:path>
            </a:pathLst>
          </a:custGeom>
          <a:solidFill>
            <a:srgbClr val="1A535C"/>
          </a:solidFill>
          <a:ln/>
        </p:spPr>
      </p:sp>
      <p:sp>
        <p:nvSpPr>
          <p:cNvPr id="40" name="Shape 38"/>
          <p:cNvSpPr/>
          <p:nvPr/>
        </p:nvSpPr>
        <p:spPr>
          <a:xfrm>
            <a:off x="6250977" y="1170763"/>
            <a:ext cx="189768" cy="168683"/>
          </a:xfrm>
          <a:custGeom>
            <a:avLst/>
            <a:gdLst/>
            <a:ahLst/>
            <a:cxnLst/>
            <a:rect l="l" t="t" r="r" b="b"/>
            <a:pathLst>
              <a:path w="189768" h="168683">
                <a:moveTo>
                  <a:pt x="94884" y="31628"/>
                </a:moveTo>
                <a:cubicBezTo>
                  <a:pt x="64936" y="31628"/>
                  <a:pt x="37822" y="43488"/>
                  <a:pt x="17890" y="62795"/>
                </a:cubicBezTo>
                <a:cubicBezTo>
                  <a:pt x="13705" y="66847"/>
                  <a:pt x="7017" y="66748"/>
                  <a:pt x="2998" y="62564"/>
                </a:cubicBezTo>
                <a:cubicBezTo>
                  <a:pt x="-1021" y="58380"/>
                  <a:pt x="-955" y="51692"/>
                  <a:pt x="3229" y="47673"/>
                </a:cubicBezTo>
                <a:cubicBezTo>
                  <a:pt x="26917" y="24676"/>
                  <a:pt x="59270" y="10543"/>
                  <a:pt x="94884" y="10543"/>
                </a:cubicBezTo>
                <a:cubicBezTo>
                  <a:pt x="130498" y="10543"/>
                  <a:pt x="162851" y="24676"/>
                  <a:pt x="186572" y="47673"/>
                </a:cubicBezTo>
                <a:cubicBezTo>
                  <a:pt x="190756" y="51725"/>
                  <a:pt x="190855" y="58413"/>
                  <a:pt x="186803" y="62564"/>
                </a:cubicBezTo>
                <a:cubicBezTo>
                  <a:pt x="182750" y="66715"/>
                  <a:pt x="176062" y="66847"/>
                  <a:pt x="171911" y="62795"/>
                </a:cubicBezTo>
                <a:cubicBezTo>
                  <a:pt x="151946" y="43488"/>
                  <a:pt x="124832" y="31628"/>
                  <a:pt x="94884" y="31628"/>
                </a:cubicBezTo>
                <a:close/>
                <a:moveTo>
                  <a:pt x="79070" y="142326"/>
                </a:moveTo>
                <a:cubicBezTo>
                  <a:pt x="79070" y="133598"/>
                  <a:pt x="86156" y="126512"/>
                  <a:pt x="94884" y="126512"/>
                </a:cubicBezTo>
                <a:cubicBezTo>
                  <a:pt x="103612" y="126512"/>
                  <a:pt x="110698" y="133598"/>
                  <a:pt x="110698" y="142326"/>
                </a:cubicBezTo>
                <a:cubicBezTo>
                  <a:pt x="110698" y="151054"/>
                  <a:pt x="103612" y="158140"/>
                  <a:pt x="94884" y="158140"/>
                </a:cubicBezTo>
                <a:cubicBezTo>
                  <a:pt x="86156" y="158140"/>
                  <a:pt x="79070" y="151054"/>
                  <a:pt x="79070" y="142326"/>
                </a:cubicBezTo>
                <a:close/>
                <a:moveTo>
                  <a:pt x="55349" y="107469"/>
                </a:moveTo>
                <a:cubicBezTo>
                  <a:pt x="51494" y="111851"/>
                  <a:pt x="44839" y="112246"/>
                  <a:pt x="40457" y="108392"/>
                </a:cubicBezTo>
                <a:cubicBezTo>
                  <a:pt x="36076" y="104537"/>
                  <a:pt x="35680" y="97882"/>
                  <a:pt x="39535" y="93500"/>
                </a:cubicBezTo>
                <a:cubicBezTo>
                  <a:pt x="53043" y="78213"/>
                  <a:pt x="72843" y="68527"/>
                  <a:pt x="94884" y="68527"/>
                </a:cubicBezTo>
                <a:cubicBezTo>
                  <a:pt x="116925" y="68527"/>
                  <a:pt x="136725" y="78213"/>
                  <a:pt x="150233" y="93500"/>
                </a:cubicBezTo>
                <a:cubicBezTo>
                  <a:pt x="154088" y="97882"/>
                  <a:pt x="153659" y="104537"/>
                  <a:pt x="149310" y="108392"/>
                </a:cubicBezTo>
                <a:cubicBezTo>
                  <a:pt x="144962" y="112246"/>
                  <a:pt x="138274" y="111818"/>
                  <a:pt x="134419" y="107469"/>
                </a:cubicBezTo>
                <a:cubicBezTo>
                  <a:pt x="124733" y="96498"/>
                  <a:pt x="110632" y="89613"/>
                  <a:pt x="94884" y="89613"/>
                </a:cubicBezTo>
                <a:cubicBezTo>
                  <a:pt x="79136" y="89613"/>
                  <a:pt x="65035" y="96498"/>
                  <a:pt x="55349" y="107469"/>
                </a:cubicBezTo>
                <a:close/>
              </a:path>
            </a:pathLst>
          </a:custGeom>
          <a:solidFill>
            <a:srgbClr val="F7B538"/>
          </a:solidFill>
          <a:ln/>
        </p:spPr>
      </p:sp>
      <p:sp>
        <p:nvSpPr>
          <p:cNvPr id="41" name="Text 39"/>
          <p:cNvSpPr/>
          <p:nvPr/>
        </p:nvSpPr>
        <p:spPr>
          <a:xfrm>
            <a:off x="6453631" y="1123906"/>
            <a:ext cx="5257273" cy="262395"/>
          </a:xfrm>
          <a:prstGeom prst="rect">
            <a:avLst/>
          </a:prstGeom>
          <a:noFill/>
          <a:ln/>
        </p:spPr>
        <p:txBody>
          <a:bodyPr wrap="square" lIns="0" tIns="0" rIns="0" bIns="0" rtlCol="0" anchor="ctr"/>
          <a:lstStyle/>
          <a:p>
            <a:pPr>
              <a:lnSpc>
                <a:spcPct val="130000"/>
              </a:lnSpc>
            </a:pPr>
            <a:r>
              <a:rPr lang="en-US" sz="1328" b="1" dirty="0">
                <a:solidFill>
                  <a:srgbClr val="1A535C"/>
                </a:solidFill>
                <a:latin typeface="Liter" pitchFamily="34" charset="0"/>
                <a:ea typeface="Liter" pitchFamily="34" charset="-122"/>
                <a:cs typeface="Liter" pitchFamily="34" charset="-120"/>
              </a:rPr>
              <a:t>The Digital Divide</a:t>
            </a:r>
            <a:endParaRPr lang="en-US" sz="1600" dirty="0"/>
          </a:p>
        </p:txBody>
      </p:sp>
      <p:sp>
        <p:nvSpPr>
          <p:cNvPr id="42" name="Shape 40"/>
          <p:cNvSpPr/>
          <p:nvPr/>
        </p:nvSpPr>
        <p:spPr>
          <a:xfrm>
            <a:off x="6238092" y="1461271"/>
            <a:ext cx="5388470" cy="412335"/>
          </a:xfrm>
          <a:custGeom>
            <a:avLst/>
            <a:gdLst/>
            <a:ahLst/>
            <a:cxnLst/>
            <a:rect l="l" t="t" r="r" b="b"/>
            <a:pathLst>
              <a:path w="5388470" h="412335">
                <a:moveTo>
                  <a:pt x="74971" y="0"/>
                </a:moveTo>
                <a:lnTo>
                  <a:pt x="5313500" y="0"/>
                </a:lnTo>
                <a:cubicBezTo>
                  <a:pt x="5354877" y="0"/>
                  <a:pt x="5388470" y="33593"/>
                  <a:pt x="5388470" y="74971"/>
                </a:cubicBezTo>
                <a:lnTo>
                  <a:pt x="5388470" y="337364"/>
                </a:lnTo>
                <a:cubicBezTo>
                  <a:pt x="5388470" y="378742"/>
                  <a:pt x="5354877" y="412335"/>
                  <a:pt x="5313500" y="412335"/>
                </a:cubicBezTo>
                <a:lnTo>
                  <a:pt x="74971" y="412335"/>
                </a:lnTo>
                <a:cubicBezTo>
                  <a:pt x="33593" y="412335"/>
                  <a:pt x="0" y="378742"/>
                  <a:pt x="0" y="337364"/>
                </a:cubicBezTo>
                <a:lnTo>
                  <a:pt x="0" y="74971"/>
                </a:lnTo>
                <a:cubicBezTo>
                  <a:pt x="0" y="33593"/>
                  <a:pt x="33593" y="0"/>
                  <a:pt x="74971" y="0"/>
                </a:cubicBezTo>
                <a:close/>
              </a:path>
            </a:pathLst>
          </a:custGeom>
          <a:solidFill>
            <a:srgbClr val="1A535C">
              <a:alpha val="10196"/>
            </a:srgbClr>
          </a:solidFill>
          <a:ln/>
        </p:spPr>
      </p:sp>
      <p:sp>
        <p:nvSpPr>
          <p:cNvPr id="43" name="Text 41"/>
          <p:cNvSpPr/>
          <p:nvPr/>
        </p:nvSpPr>
        <p:spPr>
          <a:xfrm>
            <a:off x="6313062" y="1554984"/>
            <a:ext cx="1452544" cy="224910"/>
          </a:xfrm>
          <a:prstGeom prst="rect">
            <a:avLst/>
          </a:prstGeom>
          <a:noFill/>
          <a:ln/>
        </p:spPr>
        <p:txBody>
          <a:bodyPr wrap="square" lIns="0" tIns="0" rIns="0" bIns="0" rtlCol="0" anchor="ctr"/>
          <a:lstStyle/>
          <a:p>
            <a:pPr>
              <a:lnSpc>
                <a:spcPct val="130000"/>
              </a:lnSpc>
            </a:pPr>
            <a:r>
              <a:rPr lang="en-US" sz="1181" dirty="0">
                <a:solidFill>
                  <a:srgbClr val="212529"/>
                </a:solidFill>
                <a:latin typeface="Quattrocento Sans" pitchFamily="34" charset="0"/>
                <a:ea typeface="Quattrocento Sans" pitchFamily="34" charset="-122"/>
                <a:cs typeface="Quattrocento Sans" pitchFamily="34" charset="-120"/>
              </a:rPr>
              <a:t>Schools with Internet</a:t>
            </a:r>
            <a:endParaRPr lang="en-US" sz="1600" dirty="0"/>
          </a:p>
        </p:txBody>
      </p:sp>
      <p:sp>
        <p:nvSpPr>
          <p:cNvPr id="44" name="Text 42"/>
          <p:cNvSpPr/>
          <p:nvPr/>
        </p:nvSpPr>
        <p:spPr>
          <a:xfrm>
            <a:off x="11046599" y="1536241"/>
            <a:ext cx="599760" cy="262395"/>
          </a:xfrm>
          <a:prstGeom prst="rect">
            <a:avLst/>
          </a:prstGeom>
          <a:noFill/>
          <a:ln/>
        </p:spPr>
        <p:txBody>
          <a:bodyPr wrap="square" lIns="0" tIns="0" rIns="0" bIns="0" rtlCol="0" anchor="ctr"/>
          <a:lstStyle/>
          <a:p>
            <a:pPr>
              <a:lnSpc>
                <a:spcPct val="120000"/>
              </a:lnSpc>
            </a:pPr>
            <a:r>
              <a:rPr lang="en-US" sz="1476" b="1" dirty="0">
                <a:solidFill>
                  <a:srgbClr val="1A535C"/>
                </a:solidFill>
                <a:latin typeface="Quattrocento Sans" pitchFamily="34" charset="0"/>
                <a:ea typeface="Quattrocento Sans" pitchFamily="34" charset="-122"/>
                <a:cs typeface="Quattrocento Sans" pitchFamily="34" charset="-120"/>
              </a:rPr>
              <a:t>63.5%</a:t>
            </a:r>
            <a:endParaRPr lang="en-US" sz="1600" dirty="0"/>
          </a:p>
        </p:txBody>
      </p:sp>
      <p:sp>
        <p:nvSpPr>
          <p:cNvPr id="45" name="Shape 43"/>
          <p:cNvSpPr/>
          <p:nvPr/>
        </p:nvSpPr>
        <p:spPr>
          <a:xfrm>
            <a:off x="6238092" y="1948577"/>
            <a:ext cx="5388470" cy="412335"/>
          </a:xfrm>
          <a:custGeom>
            <a:avLst/>
            <a:gdLst/>
            <a:ahLst/>
            <a:cxnLst/>
            <a:rect l="l" t="t" r="r" b="b"/>
            <a:pathLst>
              <a:path w="5388470" h="412335">
                <a:moveTo>
                  <a:pt x="74971" y="0"/>
                </a:moveTo>
                <a:lnTo>
                  <a:pt x="5313500" y="0"/>
                </a:lnTo>
                <a:cubicBezTo>
                  <a:pt x="5354877" y="0"/>
                  <a:pt x="5388470" y="33593"/>
                  <a:pt x="5388470" y="74971"/>
                </a:cubicBezTo>
                <a:lnTo>
                  <a:pt x="5388470" y="337364"/>
                </a:lnTo>
                <a:cubicBezTo>
                  <a:pt x="5388470" y="378742"/>
                  <a:pt x="5354877" y="412335"/>
                  <a:pt x="5313500" y="412335"/>
                </a:cubicBezTo>
                <a:lnTo>
                  <a:pt x="74971" y="412335"/>
                </a:lnTo>
                <a:cubicBezTo>
                  <a:pt x="33593" y="412335"/>
                  <a:pt x="0" y="378742"/>
                  <a:pt x="0" y="337364"/>
                </a:cubicBezTo>
                <a:lnTo>
                  <a:pt x="0" y="74971"/>
                </a:lnTo>
                <a:cubicBezTo>
                  <a:pt x="0" y="33593"/>
                  <a:pt x="33593" y="0"/>
                  <a:pt x="74971" y="0"/>
                </a:cubicBezTo>
                <a:close/>
              </a:path>
            </a:pathLst>
          </a:custGeom>
          <a:solidFill>
            <a:srgbClr val="4A7C59">
              <a:alpha val="10196"/>
            </a:srgbClr>
          </a:solidFill>
          <a:ln/>
        </p:spPr>
      </p:sp>
      <p:sp>
        <p:nvSpPr>
          <p:cNvPr id="46" name="Text 44"/>
          <p:cNvSpPr/>
          <p:nvPr/>
        </p:nvSpPr>
        <p:spPr>
          <a:xfrm>
            <a:off x="6313062" y="2042289"/>
            <a:ext cx="1724311" cy="224910"/>
          </a:xfrm>
          <a:prstGeom prst="rect">
            <a:avLst/>
          </a:prstGeom>
          <a:noFill/>
          <a:ln/>
        </p:spPr>
        <p:txBody>
          <a:bodyPr wrap="square" lIns="0" tIns="0" rIns="0" bIns="0" rtlCol="0" anchor="ctr"/>
          <a:lstStyle/>
          <a:p>
            <a:pPr>
              <a:lnSpc>
                <a:spcPct val="130000"/>
              </a:lnSpc>
            </a:pPr>
            <a:r>
              <a:rPr lang="en-US" sz="1181" dirty="0">
                <a:solidFill>
                  <a:srgbClr val="212529"/>
                </a:solidFill>
                <a:latin typeface="Quattrocento Sans" pitchFamily="34" charset="0"/>
                <a:ea typeface="Quattrocento Sans" pitchFamily="34" charset="-122"/>
                <a:cs typeface="Quattrocento Sans" pitchFamily="34" charset="-120"/>
              </a:rPr>
              <a:t>Rural Internet Penetration</a:t>
            </a:r>
            <a:endParaRPr lang="en-US" sz="1600" dirty="0"/>
          </a:p>
        </p:txBody>
      </p:sp>
      <p:sp>
        <p:nvSpPr>
          <p:cNvPr id="47" name="Text 45"/>
          <p:cNvSpPr/>
          <p:nvPr/>
        </p:nvSpPr>
        <p:spPr>
          <a:xfrm>
            <a:off x="11196188" y="2023547"/>
            <a:ext cx="449820" cy="262395"/>
          </a:xfrm>
          <a:prstGeom prst="rect">
            <a:avLst/>
          </a:prstGeom>
          <a:noFill/>
          <a:ln/>
        </p:spPr>
        <p:txBody>
          <a:bodyPr wrap="square" lIns="0" tIns="0" rIns="0" bIns="0" rtlCol="0" anchor="ctr"/>
          <a:lstStyle/>
          <a:p>
            <a:pPr>
              <a:lnSpc>
                <a:spcPct val="120000"/>
              </a:lnSpc>
            </a:pPr>
            <a:r>
              <a:rPr lang="en-US" sz="1476" b="1" dirty="0">
                <a:solidFill>
                  <a:srgbClr val="4A7C59"/>
                </a:solidFill>
                <a:latin typeface="Quattrocento Sans" pitchFamily="34" charset="0"/>
                <a:ea typeface="Quattrocento Sans" pitchFamily="34" charset="-122"/>
                <a:cs typeface="Quattrocento Sans" pitchFamily="34" charset="-120"/>
              </a:rPr>
              <a:t>29%</a:t>
            </a:r>
            <a:endParaRPr lang="en-US" sz="1600" dirty="0"/>
          </a:p>
        </p:txBody>
      </p:sp>
      <p:sp>
        <p:nvSpPr>
          <p:cNvPr id="48" name="Shape 46"/>
          <p:cNvSpPr/>
          <p:nvPr/>
        </p:nvSpPr>
        <p:spPr>
          <a:xfrm>
            <a:off x="6238092" y="2435882"/>
            <a:ext cx="5388470" cy="412335"/>
          </a:xfrm>
          <a:custGeom>
            <a:avLst/>
            <a:gdLst/>
            <a:ahLst/>
            <a:cxnLst/>
            <a:rect l="l" t="t" r="r" b="b"/>
            <a:pathLst>
              <a:path w="5388470" h="412335">
                <a:moveTo>
                  <a:pt x="74971" y="0"/>
                </a:moveTo>
                <a:lnTo>
                  <a:pt x="5313500" y="0"/>
                </a:lnTo>
                <a:cubicBezTo>
                  <a:pt x="5354877" y="0"/>
                  <a:pt x="5388470" y="33593"/>
                  <a:pt x="5388470" y="74971"/>
                </a:cubicBezTo>
                <a:lnTo>
                  <a:pt x="5388470" y="337364"/>
                </a:lnTo>
                <a:cubicBezTo>
                  <a:pt x="5388470" y="378742"/>
                  <a:pt x="5354877" y="412335"/>
                  <a:pt x="5313500" y="412335"/>
                </a:cubicBezTo>
                <a:lnTo>
                  <a:pt x="74971" y="412335"/>
                </a:lnTo>
                <a:cubicBezTo>
                  <a:pt x="33593" y="412335"/>
                  <a:pt x="0" y="378742"/>
                  <a:pt x="0" y="337364"/>
                </a:cubicBezTo>
                <a:lnTo>
                  <a:pt x="0" y="74971"/>
                </a:lnTo>
                <a:cubicBezTo>
                  <a:pt x="0" y="33593"/>
                  <a:pt x="33593" y="0"/>
                  <a:pt x="74971" y="0"/>
                </a:cubicBezTo>
                <a:close/>
              </a:path>
            </a:pathLst>
          </a:custGeom>
          <a:solidFill>
            <a:srgbClr val="F7B538">
              <a:alpha val="20000"/>
            </a:srgbClr>
          </a:solidFill>
          <a:ln/>
        </p:spPr>
      </p:sp>
      <p:sp>
        <p:nvSpPr>
          <p:cNvPr id="49" name="Text 47"/>
          <p:cNvSpPr/>
          <p:nvPr/>
        </p:nvSpPr>
        <p:spPr>
          <a:xfrm>
            <a:off x="6313062" y="2529594"/>
            <a:ext cx="1789909" cy="224910"/>
          </a:xfrm>
          <a:prstGeom prst="rect">
            <a:avLst/>
          </a:prstGeom>
          <a:noFill/>
          <a:ln/>
        </p:spPr>
        <p:txBody>
          <a:bodyPr wrap="square" lIns="0" tIns="0" rIns="0" bIns="0" rtlCol="0" anchor="ctr"/>
          <a:lstStyle/>
          <a:p>
            <a:pPr>
              <a:lnSpc>
                <a:spcPct val="130000"/>
              </a:lnSpc>
            </a:pPr>
            <a:r>
              <a:rPr lang="en-US" sz="1181" dirty="0">
                <a:solidFill>
                  <a:srgbClr val="212529"/>
                </a:solidFill>
                <a:latin typeface="Quattrocento Sans" pitchFamily="34" charset="0"/>
                <a:ea typeface="Quattrocento Sans" pitchFamily="34" charset="-122"/>
                <a:cs typeface="Quattrocento Sans" pitchFamily="34" charset="-120"/>
              </a:rPr>
              <a:t>Urban Internet Penetration</a:t>
            </a:r>
            <a:endParaRPr lang="en-US" sz="1600" dirty="0"/>
          </a:p>
        </p:txBody>
      </p:sp>
      <p:sp>
        <p:nvSpPr>
          <p:cNvPr id="50" name="Text 48"/>
          <p:cNvSpPr/>
          <p:nvPr/>
        </p:nvSpPr>
        <p:spPr>
          <a:xfrm>
            <a:off x="11196539" y="2510852"/>
            <a:ext cx="449820" cy="262395"/>
          </a:xfrm>
          <a:prstGeom prst="rect">
            <a:avLst/>
          </a:prstGeom>
          <a:noFill/>
          <a:ln/>
        </p:spPr>
        <p:txBody>
          <a:bodyPr wrap="square" lIns="0" tIns="0" rIns="0" bIns="0" rtlCol="0" anchor="ctr"/>
          <a:lstStyle/>
          <a:p>
            <a:pPr>
              <a:lnSpc>
                <a:spcPct val="120000"/>
              </a:lnSpc>
            </a:pPr>
            <a:r>
              <a:rPr lang="en-US" sz="1476" b="1" dirty="0">
                <a:solidFill>
                  <a:srgbClr val="F7B538"/>
                </a:solidFill>
                <a:latin typeface="Quattrocento Sans" pitchFamily="34" charset="0"/>
                <a:ea typeface="Quattrocento Sans" pitchFamily="34" charset="-122"/>
                <a:cs typeface="Quattrocento Sans" pitchFamily="34" charset="-120"/>
              </a:rPr>
              <a:t>64%</a:t>
            </a:r>
            <a:endParaRPr lang="en-US" sz="1600" dirty="0"/>
          </a:p>
        </p:txBody>
      </p:sp>
      <p:sp>
        <p:nvSpPr>
          <p:cNvPr id="51" name="Shape 49"/>
          <p:cNvSpPr/>
          <p:nvPr/>
        </p:nvSpPr>
        <p:spPr>
          <a:xfrm>
            <a:off x="6241840" y="2964420"/>
            <a:ext cx="5377225" cy="382347"/>
          </a:xfrm>
          <a:custGeom>
            <a:avLst/>
            <a:gdLst/>
            <a:ahLst/>
            <a:cxnLst/>
            <a:rect l="l" t="t" r="r" b="b"/>
            <a:pathLst>
              <a:path w="5377225" h="382347">
                <a:moveTo>
                  <a:pt x="74971" y="0"/>
                </a:moveTo>
                <a:lnTo>
                  <a:pt x="5302254" y="0"/>
                </a:lnTo>
                <a:cubicBezTo>
                  <a:pt x="5343659" y="0"/>
                  <a:pt x="5377225" y="33565"/>
                  <a:pt x="5377225" y="74971"/>
                </a:cubicBezTo>
                <a:lnTo>
                  <a:pt x="5377225" y="307376"/>
                </a:lnTo>
                <a:cubicBezTo>
                  <a:pt x="5377225" y="348782"/>
                  <a:pt x="5343659" y="382347"/>
                  <a:pt x="5302254" y="382347"/>
                </a:cubicBezTo>
                <a:lnTo>
                  <a:pt x="74971" y="382347"/>
                </a:lnTo>
                <a:cubicBezTo>
                  <a:pt x="33565" y="382347"/>
                  <a:pt x="0" y="348782"/>
                  <a:pt x="0" y="307376"/>
                </a:cubicBezTo>
                <a:lnTo>
                  <a:pt x="0" y="74971"/>
                </a:lnTo>
                <a:cubicBezTo>
                  <a:pt x="0" y="33593"/>
                  <a:pt x="33593" y="0"/>
                  <a:pt x="74971" y="0"/>
                </a:cubicBezTo>
                <a:close/>
              </a:path>
            </a:pathLst>
          </a:custGeom>
          <a:solidFill>
            <a:srgbClr val="FEF2F2"/>
          </a:solidFill>
          <a:ln w="10160">
            <a:solidFill>
              <a:srgbClr val="FFC9C9"/>
            </a:solidFill>
            <a:prstDash val="solid"/>
          </a:ln>
        </p:spPr>
      </p:sp>
      <p:sp>
        <p:nvSpPr>
          <p:cNvPr id="52" name="Shape 50"/>
          <p:cNvSpPr/>
          <p:nvPr/>
        </p:nvSpPr>
        <p:spPr>
          <a:xfrm>
            <a:off x="6339301" y="3073127"/>
            <a:ext cx="149940" cy="149940"/>
          </a:xfrm>
          <a:custGeom>
            <a:avLst/>
            <a:gdLst/>
            <a:ahLst/>
            <a:cxnLst/>
            <a:rect l="l" t="t" r="r" b="b"/>
            <a:pathLst>
              <a:path w="149940" h="149940">
                <a:moveTo>
                  <a:pt x="74970" y="149940"/>
                </a:moveTo>
                <a:cubicBezTo>
                  <a:pt x="116347" y="149940"/>
                  <a:pt x="149940" y="116347"/>
                  <a:pt x="149940" y="74970"/>
                </a:cubicBezTo>
                <a:cubicBezTo>
                  <a:pt x="149940" y="33593"/>
                  <a:pt x="116347" y="0"/>
                  <a:pt x="74970" y="0"/>
                </a:cubicBezTo>
                <a:cubicBezTo>
                  <a:pt x="33593" y="0"/>
                  <a:pt x="0" y="33593"/>
                  <a:pt x="0" y="74970"/>
                </a:cubicBezTo>
                <a:cubicBezTo>
                  <a:pt x="0" y="116347"/>
                  <a:pt x="33593" y="149940"/>
                  <a:pt x="74970" y="149940"/>
                </a:cubicBezTo>
                <a:close/>
                <a:moveTo>
                  <a:pt x="74970" y="39828"/>
                </a:moveTo>
                <a:cubicBezTo>
                  <a:pt x="78865" y="39828"/>
                  <a:pt x="81998" y="42961"/>
                  <a:pt x="81998" y="46856"/>
                </a:cubicBezTo>
                <a:lnTo>
                  <a:pt x="81998" y="79656"/>
                </a:lnTo>
                <a:cubicBezTo>
                  <a:pt x="81998" y="83551"/>
                  <a:pt x="78865" y="86684"/>
                  <a:pt x="74970" y="86684"/>
                </a:cubicBezTo>
                <a:cubicBezTo>
                  <a:pt x="71075" y="86684"/>
                  <a:pt x="67942" y="83551"/>
                  <a:pt x="67942" y="79656"/>
                </a:cubicBezTo>
                <a:lnTo>
                  <a:pt x="67942" y="46856"/>
                </a:lnTo>
                <a:cubicBezTo>
                  <a:pt x="67942" y="42961"/>
                  <a:pt x="71075" y="39828"/>
                  <a:pt x="74970" y="39828"/>
                </a:cubicBezTo>
                <a:close/>
                <a:moveTo>
                  <a:pt x="67151" y="103084"/>
                </a:moveTo>
                <a:cubicBezTo>
                  <a:pt x="66973" y="100181"/>
                  <a:pt x="68420" y="97420"/>
                  <a:pt x="70908" y="95915"/>
                </a:cubicBezTo>
                <a:cubicBezTo>
                  <a:pt x="73397" y="94410"/>
                  <a:pt x="76514" y="94410"/>
                  <a:pt x="79002" y="95915"/>
                </a:cubicBezTo>
                <a:cubicBezTo>
                  <a:pt x="81490" y="97420"/>
                  <a:pt x="82938" y="100181"/>
                  <a:pt x="82760" y="103084"/>
                </a:cubicBezTo>
                <a:cubicBezTo>
                  <a:pt x="82938" y="105986"/>
                  <a:pt x="81490" y="108748"/>
                  <a:pt x="79002" y="110252"/>
                </a:cubicBezTo>
                <a:cubicBezTo>
                  <a:pt x="76514" y="111757"/>
                  <a:pt x="73397" y="111757"/>
                  <a:pt x="70908" y="110252"/>
                </a:cubicBezTo>
                <a:cubicBezTo>
                  <a:pt x="68420" y="108748"/>
                  <a:pt x="66973" y="105986"/>
                  <a:pt x="67151" y="103084"/>
                </a:cubicBezTo>
                <a:close/>
              </a:path>
            </a:pathLst>
          </a:custGeom>
          <a:solidFill>
            <a:srgbClr val="C10007"/>
          </a:solidFill>
          <a:ln/>
        </p:spPr>
      </p:sp>
      <p:sp>
        <p:nvSpPr>
          <p:cNvPr id="53" name="Text 51"/>
          <p:cNvSpPr/>
          <p:nvPr/>
        </p:nvSpPr>
        <p:spPr>
          <a:xfrm>
            <a:off x="6582251" y="3073127"/>
            <a:ext cx="2894663" cy="164934"/>
          </a:xfrm>
          <a:prstGeom prst="rect">
            <a:avLst/>
          </a:prstGeom>
          <a:noFill/>
          <a:ln/>
        </p:spPr>
        <p:txBody>
          <a:bodyPr wrap="square" lIns="0" tIns="0" rIns="0" bIns="0" rtlCol="0" anchor="ctr"/>
          <a:lstStyle/>
          <a:p>
            <a:pPr>
              <a:lnSpc>
                <a:spcPct val="130000"/>
              </a:lnSpc>
            </a:pPr>
            <a:r>
              <a:rPr lang="en-US" sz="1181" b="1" dirty="0">
                <a:solidFill>
                  <a:srgbClr val="C10007"/>
                </a:solidFill>
                <a:latin typeface="Quattrocento Sans" pitchFamily="34" charset="0"/>
                <a:ea typeface="Quattrocento Sans" pitchFamily="34" charset="-122"/>
                <a:cs typeface="Quattrocento Sans" pitchFamily="34" charset="-120"/>
              </a:rPr>
              <a:t>1/3 of schools remain digitally disconnected</a:t>
            </a:r>
            <a:endParaRPr lang="en-US" sz="1600" dirty="0"/>
          </a:p>
        </p:txBody>
      </p:sp>
      <p:sp>
        <p:nvSpPr>
          <p:cNvPr id="54" name="Shape 52"/>
          <p:cNvSpPr/>
          <p:nvPr/>
        </p:nvSpPr>
        <p:spPr>
          <a:xfrm>
            <a:off x="6088152" y="3575427"/>
            <a:ext cx="5650865" cy="2717663"/>
          </a:xfrm>
          <a:custGeom>
            <a:avLst/>
            <a:gdLst/>
            <a:ahLst/>
            <a:cxnLst/>
            <a:rect l="l" t="t" r="r" b="b"/>
            <a:pathLst>
              <a:path w="5650865" h="2717663">
                <a:moveTo>
                  <a:pt x="74980" y="0"/>
                </a:moveTo>
                <a:lnTo>
                  <a:pt x="5575885" y="0"/>
                </a:lnTo>
                <a:cubicBezTo>
                  <a:pt x="5617296" y="0"/>
                  <a:pt x="5650865" y="33570"/>
                  <a:pt x="5650865" y="74980"/>
                </a:cubicBezTo>
                <a:lnTo>
                  <a:pt x="5650865" y="2642683"/>
                </a:lnTo>
                <a:cubicBezTo>
                  <a:pt x="5650865" y="2684093"/>
                  <a:pt x="5617296" y="2717663"/>
                  <a:pt x="5575885" y="2717663"/>
                </a:cubicBezTo>
                <a:lnTo>
                  <a:pt x="74980" y="2717663"/>
                </a:lnTo>
                <a:cubicBezTo>
                  <a:pt x="33570" y="2717663"/>
                  <a:pt x="0" y="2684093"/>
                  <a:pt x="0" y="2642683"/>
                </a:cubicBezTo>
                <a:lnTo>
                  <a:pt x="0" y="74980"/>
                </a:lnTo>
                <a:cubicBezTo>
                  <a:pt x="0" y="33598"/>
                  <a:pt x="33598" y="0"/>
                  <a:pt x="74980" y="0"/>
                </a:cubicBezTo>
                <a:close/>
              </a:path>
            </a:pathLst>
          </a:custGeom>
          <a:gradFill rotWithShape="1" flip="none">
            <a:gsLst>
              <a:gs pos="0">
                <a:srgbClr val="1A535C"/>
              </a:gs>
              <a:gs pos="100000">
                <a:srgbClr val="4A7C59"/>
              </a:gs>
            </a:gsLst>
            <a:lin ang="2700000" scaled="1"/>
          </a:gradFill>
          <a:ln/>
          <a:effectLst>
            <a:outerShdw sx="100000" sy="100000" kx="0" ky="0" algn="bl" rotWithShape="0" blurRad="56228" dist="37485" dir="5400000">
              <a:srgbClr val="000000">
                <a:alpha val="10196"/>
              </a:srgbClr>
            </a:outerShdw>
          </a:effectLst>
        </p:spPr>
      </p:sp>
      <p:sp>
        <p:nvSpPr>
          <p:cNvPr id="55" name="Shape 53"/>
          <p:cNvSpPr/>
          <p:nvPr/>
        </p:nvSpPr>
        <p:spPr>
          <a:xfrm>
            <a:off x="6224035" y="3734738"/>
            <a:ext cx="168683" cy="168683"/>
          </a:xfrm>
          <a:custGeom>
            <a:avLst/>
            <a:gdLst/>
            <a:ahLst/>
            <a:cxnLst/>
            <a:rect l="l" t="t" r="r" b="b"/>
            <a:pathLst>
              <a:path w="168683" h="168683">
                <a:moveTo>
                  <a:pt x="55349" y="18450"/>
                </a:moveTo>
                <a:lnTo>
                  <a:pt x="55349" y="31628"/>
                </a:lnTo>
                <a:lnTo>
                  <a:pt x="29618" y="31628"/>
                </a:lnTo>
                <a:cubicBezTo>
                  <a:pt x="24907" y="31628"/>
                  <a:pt x="21085" y="35450"/>
                  <a:pt x="21085" y="40161"/>
                </a:cubicBezTo>
                <a:cubicBezTo>
                  <a:pt x="21085" y="41479"/>
                  <a:pt x="21382" y="42797"/>
                  <a:pt x="21975" y="43983"/>
                </a:cubicBezTo>
                <a:lnTo>
                  <a:pt x="32979" y="65990"/>
                </a:lnTo>
                <a:cubicBezTo>
                  <a:pt x="29223" y="66583"/>
                  <a:pt x="26324" y="69845"/>
                  <a:pt x="26324" y="73799"/>
                </a:cubicBezTo>
                <a:cubicBezTo>
                  <a:pt x="26324" y="78180"/>
                  <a:pt x="29849" y="81706"/>
                  <a:pt x="34231" y="81706"/>
                </a:cubicBezTo>
                <a:lnTo>
                  <a:pt x="36076" y="81706"/>
                </a:lnTo>
                <a:lnTo>
                  <a:pt x="31595" y="126512"/>
                </a:lnTo>
                <a:lnTo>
                  <a:pt x="13079" y="149673"/>
                </a:lnTo>
                <a:cubicBezTo>
                  <a:pt x="11432" y="151748"/>
                  <a:pt x="10510" y="154318"/>
                  <a:pt x="10510" y="156987"/>
                </a:cubicBezTo>
                <a:cubicBezTo>
                  <a:pt x="10510" y="163444"/>
                  <a:pt x="15748" y="168683"/>
                  <a:pt x="22205" y="168683"/>
                </a:cubicBezTo>
                <a:lnTo>
                  <a:pt x="104208" y="168683"/>
                </a:lnTo>
                <a:cubicBezTo>
                  <a:pt x="110665" y="168683"/>
                  <a:pt x="115903" y="163444"/>
                  <a:pt x="115903" y="156987"/>
                </a:cubicBezTo>
                <a:cubicBezTo>
                  <a:pt x="115903" y="154318"/>
                  <a:pt x="115014" y="151748"/>
                  <a:pt x="113334" y="149673"/>
                </a:cubicBezTo>
                <a:lnTo>
                  <a:pt x="94884" y="126512"/>
                </a:lnTo>
                <a:lnTo>
                  <a:pt x="90403" y="81706"/>
                </a:lnTo>
                <a:lnTo>
                  <a:pt x="92248" y="81706"/>
                </a:lnTo>
                <a:cubicBezTo>
                  <a:pt x="96630" y="81706"/>
                  <a:pt x="100155" y="78180"/>
                  <a:pt x="100155" y="73799"/>
                </a:cubicBezTo>
                <a:cubicBezTo>
                  <a:pt x="100155" y="69878"/>
                  <a:pt x="97289" y="66583"/>
                  <a:pt x="93500" y="65990"/>
                </a:cubicBezTo>
                <a:lnTo>
                  <a:pt x="104504" y="43983"/>
                </a:lnTo>
                <a:cubicBezTo>
                  <a:pt x="105097" y="42797"/>
                  <a:pt x="105394" y="41479"/>
                  <a:pt x="105394" y="40161"/>
                </a:cubicBezTo>
                <a:cubicBezTo>
                  <a:pt x="105394" y="35450"/>
                  <a:pt x="101572" y="31628"/>
                  <a:pt x="96861" y="31628"/>
                </a:cubicBezTo>
                <a:lnTo>
                  <a:pt x="71130" y="31628"/>
                </a:lnTo>
                <a:lnTo>
                  <a:pt x="71130" y="18450"/>
                </a:lnTo>
                <a:lnTo>
                  <a:pt x="76401" y="18450"/>
                </a:lnTo>
                <a:cubicBezTo>
                  <a:pt x="80783" y="18450"/>
                  <a:pt x="84308" y="14924"/>
                  <a:pt x="84308" y="10543"/>
                </a:cubicBezTo>
                <a:cubicBezTo>
                  <a:pt x="84308" y="6161"/>
                  <a:pt x="80816" y="2636"/>
                  <a:pt x="76434" y="2636"/>
                </a:cubicBezTo>
                <a:lnTo>
                  <a:pt x="71163" y="2636"/>
                </a:lnTo>
                <a:lnTo>
                  <a:pt x="71163" y="-2636"/>
                </a:lnTo>
                <a:cubicBezTo>
                  <a:pt x="71163" y="-7017"/>
                  <a:pt x="67638" y="-10543"/>
                  <a:pt x="63256" y="-10543"/>
                </a:cubicBezTo>
                <a:cubicBezTo>
                  <a:pt x="58874" y="-10543"/>
                  <a:pt x="55349" y="-7017"/>
                  <a:pt x="55349" y="-2636"/>
                </a:cubicBezTo>
                <a:lnTo>
                  <a:pt x="55349" y="2636"/>
                </a:lnTo>
                <a:lnTo>
                  <a:pt x="50078" y="2636"/>
                </a:lnTo>
                <a:cubicBezTo>
                  <a:pt x="45696" y="2636"/>
                  <a:pt x="42171" y="6161"/>
                  <a:pt x="42171" y="10543"/>
                </a:cubicBezTo>
                <a:cubicBezTo>
                  <a:pt x="42171" y="14924"/>
                  <a:pt x="45696" y="18450"/>
                  <a:pt x="50078" y="18450"/>
                </a:cubicBezTo>
                <a:lnTo>
                  <a:pt x="55349" y="18450"/>
                </a:lnTo>
                <a:close/>
                <a:moveTo>
                  <a:pt x="107337" y="92116"/>
                </a:moveTo>
                <a:lnTo>
                  <a:pt x="110138" y="120285"/>
                </a:lnTo>
                <a:lnTo>
                  <a:pt x="125754" y="139789"/>
                </a:lnTo>
                <a:lnTo>
                  <a:pt x="127138" y="141667"/>
                </a:lnTo>
                <a:cubicBezTo>
                  <a:pt x="130169" y="146181"/>
                  <a:pt x="131783" y="151518"/>
                  <a:pt x="131783" y="156987"/>
                </a:cubicBezTo>
                <a:cubicBezTo>
                  <a:pt x="131783" y="161171"/>
                  <a:pt x="130861" y="165157"/>
                  <a:pt x="129181" y="168683"/>
                </a:cubicBezTo>
                <a:lnTo>
                  <a:pt x="156558" y="168683"/>
                </a:lnTo>
                <a:cubicBezTo>
                  <a:pt x="163246" y="168683"/>
                  <a:pt x="168683" y="163246"/>
                  <a:pt x="168683" y="156558"/>
                </a:cubicBezTo>
                <a:cubicBezTo>
                  <a:pt x="168683" y="154153"/>
                  <a:pt x="167958" y="151814"/>
                  <a:pt x="166640" y="149838"/>
                </a:cubicBezTo>
                <a:lnTo>
                  <a:pt x="158140" y="137088"/>
                </a:lnTo>
                <a:lnTo>
                  <a:pt x="158140" y="116002"/>
                </a:lnTo>
                <a:lnTo>
                  <a:pt x="162522" y="111620"/>
                </a:lnTo>
                <a:cubicBezTo>
                  <a:pt x="166475" y="107667"/>
                  <a:pt x="168683" y="102297"/>
                  <a:pt x="168683" y="96696"/>
                </a:cubicBezTo>
                <a:lnTo>
                  <a:pt x="168683" y="63256"/>
                </a:lnTo>
                <a:cubicBezTo>
                  <a:pt x="168683" y="57425"/>
                  <a:pt x="163971" y="52713"/>
                  <a:pt x="158140" y="52713"/>
                </a:cubicBezTo>
                <a:cubicBezTo>
                  <a:pt x="152308" y="52713"/>
                  <a:pt x="147597" y="57425"/>
                  <a:pt x="147597" y="63256"/>
                </a:cubicBezTo>
                <a:lnTo>
                  <a:pt x="147597" y="68527"/>
                </a:lnTo>
                <a:lnTo>
                  <a:pt x="137055" y="68527"/>
                </a:lnTo>
                <a:lnTo>
                  <a:pt x="137055" y="63256"/>
                </a:lnTo>
                <a:cubicBezTo>
                  <a:pt x="137055" y="57425"/>
                  <a:pt x="132343" y="52713"/>
                  <a:pt x="126512" y="52713"/>
                </a:cubicBezTo>
                <a:cubicBezTo>
                  <a:pt x="120681" y="52713"/>
                  <a:pt x="115969" y="57425"/>
                  <a:pt x="115969" y="63256"/>
                </a:cubicBezTo>
                <a:lnTo>
                  <a:pt x="115969" y="73799"/>
                </a:lnTo>
                <a:cubicBezTo>
                  <a:pt x="115969" y="81178"/>
                  <a:pt x="112609" y="87768"/>
                  <a:pt x="107337" y="92116"/>
                </a:cubicBezTo>
                <a:close/>
              </a:path>
            </a:pathLst>
          </a:custGeom>
          <a:solidFill>
            <a:srgbClr val="F7B538"/>
          </a:solidFill>
          <a:ln/>
        </p:spPr>
      </p:sp>
      <p:sp>
        <p:nvSpPr>
          <p:cNvPr id="56" name="Text 54"/>
          <p:cNvSpPr/>
          <p:nvPr/>
        </p:nvSpPr>
        <p:spPr>
          <a:xfrm>
            <a:off x="6416146" y="3687882"/>
            <a:ext cx="5294758" cy="262395"/>
          </a:xfrm>
          <a:prstGeom prst="rect">
            <a:avLst/>
          </a:prstGeom>
          <a:noFill/>
          <a:ln/>
        </p:spPr>
        <p:txBody>
          <a:bodyPr wrap="square" lIns="0" tIns="0" rIns="0" bIns="0" rtlCol="0" anchor="ctr"/>
          <a:lstStyle/>
          <a:p>
            <a:pPr>
              <a:lnSpc>
                <a:spcPct val="130000"/>
              </a:lnSpc>
            </a:pPr>
            <a:r>
              <a:rPr lang="en-US" sz="1328" b="1" dirty="0">
                <a:solidFill>
                  <a:srgbClr val="FFFFFF"/>
                </a:solidFill>
                <a:latin typeface="Liter" pitchFamily="34" charset="0"/>
                <a:ea typeface="Liter" pitchFamily="34" charset="-122"/>
                <a:cs typeface="Liter" pitchFamily="34" charset="-120"/>
              </a:rPr>
              <a:t>Competitive Gap Analysis</a:t>
            </a:r>
            <a:endParaRPr lang="en-US" sz="1600" dirty="0"/>
          </a:p>
        </p:txBody>
      </p:sp>
      <p:sp>
        <p:nvSpPr>
          <p:cNvPr id="57" name="Shape 55"/>
          <p:cNvSpPr/>
          <p:nvPr/>
        </p:nvSpPr>
        <p:spPr>
          <a:xfrm>
            <a:off x="6219349" y="4276397"/>
            <a:ext cx="131198" cy="131198"/>
          </a:xfrm>
          <a:custGeom>
            <a:avLst/>
            <a:gdLst/>
            <a:ahLst/>
            <a:cxnLst/>
            <a:rect l="l" t="t" r="r" b="b"/>
            <a:pathLst>
              <a:path w="131198" h="131198">
                <a:moveTo>
                  <a:pt x="65599" y="131198"/>
                </a:moveTo>
                <a:cubicBezTo>
                  <a:pt x="101804" y="131198"/>
                  <a:pt x="131198" y="101804"/>
                  <a:pt x="131198" y="65599"/>
                </a:cubicBezTo>
                <a:cubicBezTo>
                  <a:pt x="131198" y="29394"/>
                  <a:pt x="101804" y="0"/>
                  <a:pt x="65599" y="0"/>
                </a:cubicBezTo>
                <a:cubicBezTo>
                  <a:pt x="29394" y="0"/>
                  <a:pt x="0" y="29394"/>
                  <a:pt x="0" y="65599"/>
                </a:cubicBezTo>
                <a:cubicBezTo>
                  <a:pt x="0" y="101804"/>
                  <a:pt x="29394" y="131198"/>
                  <a:pt x="65599" y="131198"/>
                </a:cubicBezTo>
                <a:close/>
                <a:moveTo>
                  <a:pt x="87226" y="54503"/>
                </a:moveTo>
                <a:lnTo>
                  <a:pt x="66726" y="87303"/>
                </a:lnTo>
                <a:cubicBezTo>
                  <a:pt x="65650" y="89020"/>
                  <a:pt x="63805" y="90096"/>
                  <a:pt x="61781" y="90198"/>
                </a:cubicBezTo>
                <a:cubicBezTo>
                  <a:pt x="59756" y="90301"/>
                  <a:pt x="57809" y="89378"/>
                  <a:pt x="56605" y="87738"/>
                </a:cubicBezTo>
                <a:lnTo>
                  <a:pt x="44305" y="71339"/>
                </a:lnTo>
                <a:cubicBezTo>
                  <a:pt x="42255" y="68622"/>
                  <a:pt x="42819" y="64779"/>
                  <a:pt x="45535" y="62729"/>
                </a:cubicBezTo>
                <a:cubicBezTo>
                  <a:pt x="48251" y="60679"/>
                  <a:pt x="52095" y="61243"/>
                  <a:pt x="54145" y="63959"/>
                </a:cubicBezTo>
                <a:lnTo>
                  <a:pt x="61063" y="73184"/>
                </a:lnTo>
                <a:lnTo>
                  <a:pt x="76797" y="47995"/>
                </a:lnTo>
                <a:cubicBezTo>
                  <a:pt x="78590" y="45125"/>
                  <a:pt x="82383" y="44228"/>
                  <a:pt x="85278" y="46047"/>
                </a:cubicBezTo>
                <a:cubicBezTo>
                  <a:pt x="88174" y="47867"/>
                  <a:pt x="89045" y="51633"/>
                  <a:pt x="87226" y="54529"/>
                </a:cubicBezTo>
                <a:close/>
              </a:path>
            </a:pathLst>
          </a:custGeom>
          <a:solidFill>
            <a:srgbClr val="F7B538"/>
          </a:solidFill>
          <a:ln/>
        </p:spPr>
      </p:sp>
      <p:sp>
        <p:nvSpPr>
          <p:cNvPr id="58" name="Text 56"/>
          <p:cNvSpPr/>
          <p:nvPr/>
        </p:nvSpPr>
        <p:spPr>
          <a:xfrm>
            <a:off x="6439574" y="4238912"/>
            <a:ext cx="5257273" cy="449820"/>
          </a:xfrm>
          <a:prstGeom prst="rect">
            <a:avLst/>
          </a:prstGeom>
          <a:noFill/>
          <a:ln/>
        </p:spPr>
        <p:txBody>
          <a:bodyPr wrap="square" lIns="0" tIns="0" rIns="0" bIns="0" rtlCol="0" anchor="ctr"/>
          <a:lstStyle/>
          <a:p>
            <a:pPr>
              <a:lnSpc>
                <a:spcPct val="130000"/>
              </a:lnSpc>
            </a:pPr>
            <a:r>
              <a:rPr lang="en-US" sz="1181" b="1" dirty="0">
                <a:solidFill>
                  <a:srgbClr val="FFFFFF"/>
                </a:solidFill>
                <a:latin typeface="Quattrocento Sans" pitchFamily="34" charset="0"/>
                <a:ea typeface="Quattrocento Sans" pitchFamily="34" charset="-122"/>
                <a:cs typeface="Quattrocento Sans" pitchFamily="34" charset="-120"/>
              </a:rPr>
              <a:t>Vedantu:</a:t>
            </a:r>
            <a:pPr>
              <a:lnSpc>
                <a:spcPct val="130000"/>
              </a:lnSpc>
            </a:pPr>
            <a:r>
              <a:rPr lang="en-US" sz="1181" dirty="0">
                <a:solidFill>
                  <a:srgbClr val="FFFFFF"/>
                </a:solidFill>
                <a:latin typeface="Quattrocento Sans" pitchFamily="34" charset="0"/>
                <a:ea typeface="Quattrocento Sans" pitchFamily="34" charset="-122"/>
                <a:cs typeface="Quattrocento Sans" pitchFamily="34" charset="-120"/>
              </a:rPr>
              <a:t> No retired teacher focus, no regional language depth, no senior-friendly UI</a:t>
            </a:r>
            <a:endParaRPr lang="en-US" sz="1600" dirty="0"/>
          </a:p>
        </p:txBody>
      </p:sp>
      <p:sp>
        <p:nvSpPr>
          <p:cNvPr id="59" name="Shape 57"/>
          <p:cNvSpPr/>
          <p:nvPr/>
        </p:nvSpPr>
        <p:spPr>
          <a:xfrm>
            <a:off x="6219349" y="4801187"/>
            <a:ext cx="131198" cy="131198"/>
          </a:xfrm>
          <a:custGeom>
            <a:avLst/>
            <a:gdLst/>
            <a:ahLst/>
            <a:cxnLst/>
            <a:rect l="l" t="t" r="r" b="b"/>
            <a:pathLst>
              <a:path w="131198" h="131198">
                <a:moveTo>
                  <a:pt x="65599" y="131198"/>
                </a:moveTo>
                <a:cubicBezTo>
                  <a:pt x="101804" y="131198"/>
                  <a:pt x="131198" y="101804"/>
                  <a:pt x="131198" y="65599"/>
                </a:cubicBezTo>
                <a:cubicBezTo>
                  <a:pt x="131198" y="29394"/>
                  <a:pt x="101804" y="0"/>
                  <a:pt x="65599" y="0"/>
                </a:cubicBezTo>
                <a:cubicBezTo>
                  <a:pt x="29394" y="0"/>
                  <a:pt x="0" y="29394"/>
                  <a:pt x="0" y="65599"/>
                </a:cubicBezTo>
                <a:cubicBezTo>
                  <a:pt x="0" y="101804"/>
                  <a:pt x="29394" y="131198"/>
                  <a:pt x="65599" y="131198"/>
                </a:cubicBezTo>
                <a:close/>
                <a:moveTo>
                  <a:pt x="87226" y="54503"/>
                </a:moveTo>
                <a:lnTo>
                  <a:pt x="66726" y="87303"/>
                </a:lnTo>
                <a:cubicBezTo>
                  <a:pt x="65650" y="89020"/>
                  <a:pt x="63805" y="90096"/>
                  <a:pt x="61781" y="90198"/>
                </a:cubicBezTo>
                <a:cubicBezTo>
                  <a:pt x="59756" y="90301"/>
                  <a:pt x="57809" y="89378"/>
                  <a:pt x="56605" y="87738"/>
                </a:cubicBezTo>
                <a:lnTo>
                  <a:pt x="44305" y="71339"/>
                </a:lnTo>
                <a:cubicBezTo>
                  <a:pt x="42255" y="68622"/>
                  <a:pt x="42819" y="64779"/>
                  <a:pt x="45535" y="62729"/>
                </a:cubicBezTo>
                <a:cubicBezTo>
                  <a:pt x="48251" y="60679"/>
                  <a:pt x="52095" y="61243"/>
                  <a:pt x="54145" y="63959"/>
                </a:cubicBezTo>
                <a:lnTo>
                  <a:pt x="61063" y="73184"/>
                </a:lnTo>
                <a:lnTo>
                  <a:pt x="76797" y="47995"/>
                </a:lnTo>
                <a:cubicBezTo>
                  <a:pt x="78590" y="45125"/>
                  <a:pt x="82383" y="44228"/>
                  <a:pt x="85278" y="46047"/>
                </a:cubicBezTo>
                <a:cubicBezTo>
                  <a:pt x="88174" y="47867"/>
                  <a:pt x="89045" y="51633"/>
                  <a:pt x="87226" y="54529"/>
                </a:cubicBezTo>
                <a:close/>
              </a:path>
            </a:pathLst>
          </a:custGeom>
          <a:solidFill>
            <a:srgbClr val="F7B538"/>
          </a:solidFill>
          <a:ln/>
        </p:spPr>
      </p:sp>
      <p:sp>
        <p:nvSpPr>
          <p:cNvPr id="60" name="Text 58"/>
          <p:cNvSpPr/>
          <p:nvPr/>
        </p:nvSpPr>
        <p:spPr>
          <a:xfrm>
            <a:off x="6439574" y="4763702"/>
            <a:ext cx="4816824" cy="224910"/>
          </a:xfrm>
          <a:prstGeom prst="rect">
            <a:avLst/>
          </a:prstGeom>
          <a:noFill/>
          <a:ln/>
        </p:spPr>
        <p:txBody>
          <a:bodyPr wrap="square" lIns="0" tIns="0" rIns="0" bIns="0" rtlCol="0" anchor="ctr"/>
          <a:lstStyle/>
          <a:p>
            <a:pPr>
              <a:lnSpc>
                <a:spcPct val="130000"/>
              </a:lnSpc>
            </a:pPr>
            <a:r>
              <a:rPr lang="en-US" sz="1181" b="1" dirty="0">
                <a:solidFill>
                  <a:srgbClr val="FFFFFF"/>
                </a:solidFill>
                <a:latin typeface="Quattrocento Sans" pitchFamily="34" charset="0"/>
                <a:ea typeface="Quattrocento Sans" pitchFamily="34" charset="-122"/>
                <a:cs typeface="Quattrocento Sans" pitchFamily="34" charset="-120"/>
              </a:rPr>
              <a:t>Unacademy:</a:t>
            </a:r>
            <a:pPr>
              <a:lnSpc>
                <a:spcPct val="130000"/>
              </a:lnSpc>
            </a:pPr>
            <a:r>
              <a:rPr lang="en-US" sz="1181" dirty="0">
                <a:solidFill>
                  <a:srgbClr val="FFFFFF"/>
                </a:solidFill>
                <a:latin typeface="Quattrocento Sans" pitchFamily="34" charset="0"/>
                <a:ea typeface="Quattrocento Sans" pitchFamily="34" charset="-122"/>
                <a:cs typeface="Quattrocento Sans" pitchFamily="34" charset="-120"/>
              </a:rPr>
              <a:t> Impersonal, no 1-on-1 accountability, no parent involvement</a:t>
            </a:r>
            <a:endParaRPr lang="en-US" sz="1600" dirty="0"/>
          </a:p>
        </p:txBody>
      </p:sp>
      <p:sp>
        <p:nvSpPr>
          <p:cNvPr id="61" name="Shape 59"/>
          <p:cNvSpPr/>
          <p:nvPr/>
        </p:nvSpPr>
        <p:spPr>
          <a:xfrm>
            <a:off x="6219349" y="5101067"/>
            <a:ext cx="131198" cy="131198"/>
          </a:xfrm>
          <a:custGeom>
            <a:avLst/>
            <a:gdLst/>
            <a:ahLst/>
            <a:cxnLst/>
            <a:rect l="l" t="t" r="r" b="b"/>
            <a:pathLst>
              <a:path w="131198" h="131198">
                <a:moveTo>
                  <a:pt x="65599" y="131198"/>
                </a:moveTo>
                <a:cubicBezTo>
                  <a:pt x="101804" y="131198"/>
                  <a:pt x="131198" y="101804"/>
                  <a:pt x="131198" y="65599"/>
                </a:cubicBezTo>
                <a:cubicBezTo>
                  <a:pt x="131198" y="29394"/>
                  <a:pt x="101804" y="0"/>
                  <a:pt x="65599" y="0"/>
                </a:cubicBezTo>
                <a:cubicBezTo>
                  <a:pt x="29394" y="0"/>
                  <a:pt x="0" y="29394"/>
                  <a:pt x="0" y="65599"/>
                </a:cubicBezTo>
                <a:cubicBezTo>
                  <a:pt x="0" y="101804"/>
                  <a:pt x="29394" y="131198"/>
                  <a:pt x="65599" y="131198"/>
                </a:cubicBezTo>
                <a:close/>
                <a:moveTo>
                  <a:pt x="87226" y="54503"/>
                </a:moveTo>
                <a:lnTo>
                  <a:pt x="66726" y="87303"/>
                </a:lnTo>
                <a:cubicBezTo>
                  <a:pt x="65650" y="89020"/>
                  <a:pt x="63805" y="90096"/>
                  <a:pt x="61781" y="90198"/>
                </a:cubicBezTo>
                <a:cubicBezTo>
                  <a:pt x="59756" y="90301"/>
                  <a:pt x="57809" y="89378"/>
                  <a:pt x="56605" y="87738"/>
                </a:cubicBezTo>
                <a:lnTo>
                  <a:pt x="44305" y="71339"/>
                </a:lnTo>
                <a:cubicBezTo>
                  <a:pt x="42255" y="68622"/>
                  <a:pt x="42819" y="64779"/>
                  <a:pt x="45535" y="62729"/>
                </a:cubicBezTo>
                <a:cubicBezTo>
                  <a:pt x="48251" y="60679"/>
                  <a:pt x="52095" y="61243"/>
                  <a:pt x="54145" y="63959"/>
                </a:cubicBezTo>
                <a:lnTo>
                  <a:pt x="61063" y="73184"/>
                </a:lnTo>
                <a:lnTo>
                  <a:pt x="76797" y="47995"/>
                </a:lnTo>
                <a:cubicBezTo>
                  <a:pt x="78590" y="45125"/>
                  <a:pt x="82383" y="44228"/>
                  <a:pt x="85278" y="46047"/>
                </a:cubicBezTo>
                <a:cubicBezTo>
                  <a:pt x="88174" y="47867"/>
                  <a:pt x="89045" y="51633"/>
                  <a:pt x="87226" y="54529"/>
                </a:cubicBezTo>
                <a:close/>
              </a:path>
            </a:pathLst>
          </a:custGeom>
          <a:solidFill>
            <a:srgbClr val="F7B538"/>
          </a:solidFill>
          <a:ln/>
        </p:spPr>
      </p:sp>
      <p:sp>
        <p:nvSpPr>
          <p:cNvPr id="62" name="Text 60"/>
          <p:cNvSpPr/>
          <p:nvPr/>
        </p:nvSpPr>
        <p:spPr>
          <a:xfrm>
            <a:off x="6439574" y="5063582"/>
            <a:ext cx="4348261" cy="224910"/>
          </a:xfrm>
          <a:prstGeom prst="rect">
            <a:avLst/>
          </a:prstGeom>
          <a:noFill/>
          <a:ln/>
        </p:spPr>
        <p:txBody>
          <a:bodyPr wrap="square" lIns="0" tIns="0" rIns="0" bIns="0" rtlCol="0" anchor="ctr"/>
          <a:lstStyle/>
          <a:p>
            <a:pPr>
              <a:lnSpc>
                <a:spcPct val="130000"/>
              </a:lnSpc>
            </a:pPr>
            <a:r>
              <a:rPr lang="en-US" sz="1181" b="1" dirty="0">
                <a:solidFill>
                  <a:srgbClr val="FFFFFF"/>
                </a:solidFill>
                <a:latin typeface="Quattrocento Sans" pitchFamily="34" charset="0"/>
                <a:ea typeface="Quattrocento Sans" pitchFamily="34" charset="-122"/>
                <a:cs typeface="Quattrocento Sans" pitchFamily="34" charset="-120"/>
              </a:rPr>
              <a:t>BYJU'S:</a:t>
            </a:r>
            <a:pPr>
              <a:lnSpc>
                <a:spcPct val="130000"/>
              </a:lnSpc>
            </a:pPr>
            <a:r>
              <a:rPr lang="en-US" sz="1181" dirty="0">
                <a:solidFill>
                  <a:srgbClr val="FFFFFF"/>
                </a:solidFill>
                <a:latin typeface="Quattrocento Sans" pitchFamily="34" charset="0"/>
                <a:ea typeface="Quattrocento Sans" pitchFamily="34" charset="-122"/>
                <a:cs typeface="Quattrocento Sans" pitchFamily="34" charset="-120"/>
              </a:rPr>
              <a:t> No human connection, expensive, no retired teacher angle</a:t>
            </a:r>
            <a:endParaRPr lang="en-US" sz="1600" dirty="0"/>
          </a:p>
        </p:txBody>
      </p:sp>
      <p:sp>
        <p:nvSpPr>
          <p:cNvPr id="63" name="Shape 61"/>
          <p:cNvSpPr/>
          <p:nvPr/>
        </p:nvSpPr>
        <p:spPr>
          <a:xfrm>
            <a:off x="6219349" y="5400947"/>
            <a:ext cx="131198" cy="131198"/>
          </a:xfrm>
          <a:custGeom>
            <a:avLst/>
            <a:gdLst/>
            <a:ahLst/>
            <a:cxnLst/>
            <a:rect l="l" t="t" r="r" b="b"/>
            <a:pathLst>
              <a:path w="131198" h="131198">
                <a:moveTo>
                  <a:pt x="65599" y="131198"/>
                </a:moveTo>
                <a:cubicBezTo>
                  <a:pt x="101804" y="131198"/>
                  <a:pt x="131198" y="101804"/>
                  <a:pt x="131198" y="65599"/>
                </a:cubicBezTo>
                <a:cubicBezTo>
                  <a:pt x="131198" y="29394"/>
                  <a:pt x="101804" y="0"/>
                  <a:pt x="65599" y="0"/>
                </a:cubicBezTo>
                <a:cubicBezTo>
                  <a:pt x="29394" y="0"/>
                  <a:pt x="0" y="29394"/>
                  <a:pt x="0" y="65599"/>
                </a:cubicBezTo>
                <a:cubicBezTo>
                  <a:pt x="0" y="101804"/>
                  <a:pt x="29394" y="131198"/>
                  <a:pt x="65599" y="131198"/>
                </a:cubicBezTo>
                <a:close/>
                <a:moveTo>
                  <a:pt x="87226" y="54503"/>
                </a:moveTo>
                <a:lnTo>
                  <a:pt x="66726" y="87303"/>
                </a:lnTo>
                <a:cubicBezTo>
                  <a:pt x="65650" y="89020"/>
                  <a:pt x="63805" y="90096"/>
                  <a:pt x="61781" y="90198"/>
                </a:cubicBezTo>
                <a:cubicBezTo>
                  <a:pt x="59756" y="90301"/>
                  <a:pt x="57809" y="89378"/>
                  <a:pt x="56605" y="87738"/>
                </a:cubicBezTo>
                <a:lnTo>
                  <a:pt x="44305" y="71339"/>
                </a:lnTo>
                <a:cubicBezTo>
                  <a:pt x="42255" y="68622"/>
                  <a:pt x="42819" y="64779"/>
                  <a:pt x="45535" y="62729"/>
                </a:cubicBezTo>
                <a:cubicBezTo>
                  <a:pt x="48251" y="60679"/>
                  <a:pt x="52095" y="61243"/>
                  <a:pt x="54145" y="63959"/>
                </a:cubicBezTo>
                <a:lnTo>
                  <a:pt x="61063" y="73184"/>
                </a:lnTo>
                <a:lnTo>
                  <a:pt x="76797" y="47995"/>
                </a:lnTo>
                <a:cubicBezTo>
                  <a:pt x="78590" y="45125"/>
                  <a:pt x="82383" y="44228"/>
                  <a:pt x="85278" y="46047"/>
                </a:cubicBezTo>
                <a:cubicBezTo>
                  <a:pt x="88174" y="47867"/>
                  <a:pt x="89045" y="51633"/>
                  <a:pt x="87226" y="54529"/>
                </a:cubicBezTo>
                <a:close/>
              </a:path>
            </a:pathLst>
          </a:custGeom>
          <a:solidFill>
            <a:srgbClr val="F7B538"/>
          </a:solidFill>
          <a:ln/>
        </p:spPr>
      </p:sp>
      <p:sp>
        <p:nvSpPr>
          <p:cNvPr id="64" name="Text 62"/>
          <p:cNvSpPr/>
          <p:nvPr/>
        </p:nvSpPr>
        <p:spPr>
          <a:xfrm>
            <a:off x="6439574" y="5363462"/>
            <a:ext cx="4357633" cy="224910"/>
          </a:xfrm>
          <a:prstGeom prst="rect">
            <a:avLst/>
          </a:prstGeom>
          <a:noFill/>
          <a:ln/>
        </p:spPr>
        <p:txBody>
          <a:bodyPr wrap="square" lIns="0" tIns="0" rIns="0" bIns="0" rtlCol="0" anchor="ctr"/>
          <a:lstStyle/>
          <a:p>
            <a:pPr>
              <a:lnSpc>
                <a:spcPct val="130000"/>
              </a:lnSpc>
            </a:pPr>
            <a:r>
              <a:rPr lang="en-US" sz="1181" b="1" dirty="0">
                <a:solidFill>
                  <a:srgbClr val="FFFFFF"/>
                </a:solidFill>
                <a:latin typeface="Quattrocento Sans" pitchFamily="34" charset="0"/>
                <a:ea typeface="Quattrocento Sans" pitchFamily="34" charset="-122"/>
                <a:cs typeface="Quattrocento Sans" pitchFamily="34" charset="-120"/>
              </a:rPr>
              <a:t>eVidyaloka:</a:t>
            </a:r>
            <a:pPr>
              <a:lnSpc>
                <a:spcPct val="130000"/>
              </a:lnSpc>
            </a:pPr>
            <a:r>
              <a:rPr lang="en-US" sz="1181" dirty="0">
                <a:solidFill>
                  <a:srgbClr val="FFFFFF"/>
                </a:solidFill>
                <a:latin typeface="Quattrocento Sans" pitchFamily="34" charset="0"/>
                <a:ea typeface="Quattrocento Sans" pitchFamily="34" charset="-122"/>
                <a:cs typeface="Quattrocento Sans" pitchFamily="34" charset="-120"/>
              </a:rPr>
              <a:t> No product features, not scalable, no payment system</a:t>
            </a:r>
            <a:endParaRPr lang="en-US" sz="1600" dirty="0"/>
          </a:p>
        </p:txBody>
      </p:sp>
      <p:sp>
        <p:nvSpPr>
          <p:cNvPr id="65" name="Shape 63"/>
          <p:cNvSpPr/>
          <p:nvPr/>
        </p:nvSpPr>
        <p:spPr>
          <a:xfrm>
            <a:off x="6200607" y="5880754"/>
            <a:ext cx="5425955" cy="7497"/>
          </a:xfrm>
          <a:custGeom>
            <a:avLst/>
            <a:gdLst/>
            <a:ahLst/>
            <a:cxnLst/>
            <a:rect l="l" t="t" r="r" b="b"/>
            <a:pathLst>
              <a:path w="5425955" h="7497">
                <a:moveTo>
                  <a:pt x="0" y="0"/>
                </a:moveTo>
                <a:lnTo>
                  <a:pt x="5425955" y="0"/>
                </a:lnTo>
                <a:lnTo>
                  <a:pt x="5425955" y="7497"/>
                </a:lnTo>
                <a:lnTo>
                  <a:pt x="0" y="7497"/>
                </a:lnTo>
                <a:lnTo>
                  <a:pt x="0" y="0"/>
                </a:lnTo>
                <a:close/>
              </a:path>
            </a:pathLst>
          </a:custGeom>
          <a:solidFill>
            <a:srgbClr val="FFFFFF">
              <a:alpha val="30196"/>
            </a:srgbClr>
          </a:solidFill>
          <a:ln/>
        </p:spPr>
      </p:sp>
      <p:sp>
        <p:nvSpPr>
          <p:cNvPr id="66" name="Shape 64"/>
          <p:cNvSpPr/>
          <p:nvPr/>
        </p:nvSpPr>
        <p:spPr>
          <a:xfrm>
            <a:off x="6604859" y="5989460"/>
            <a:ext cx="149940" cy="149940"/>
          </a:xfrm>
          <a:custGeom>
            <a:avLst/>
            <a:gdLst/>
            <a:ahLst/>
            <a:cxnLst/>
            <a:rect l="l" t="t" r="r" b="b"/>
            <a:pathLst>
              <a:path w="149940" h="149940">
                <a:moveTo>
                  <a:pt x="42258" y="0"/>
                </a:moveTo>
                <a:lnTo>
                  <a:pt x="107857" y="0"/>
                </a:lnTo>
                <a:cubicBezTo>
                  <a:pt x="115618" y="0"/>
                  <a:pt x="121943" y="6384"/>
                  <a:pt x="121651" y="14115"/>
                </a:cubicBezTo>
                <a:cubicBezTo>
                  <a:pt x="121592" y="15668"/>
                  <a:pt x="121533" y="17220"/>
                  <a:pt x="121446" y="18743"/>
                </a:cubicBezTo>
                <a:lnTo>
                  <a:pt x="135971" y="18743"/>
                </a:lnTo>
                <a:cubicBezTo>
                  <a:pt x="143614" y="18743"/>
                  <a:pt x="150350" y="25068"/>
                  <a:pt x="149764" y="33327"/>
                </a:cubicBezTo>
                <a:cubicBezTo>
                  <a:pt x="147568" y="63695"/>
                  <a:pt x="132047" y="80388"/>
                  <a:pt x="115208" y="89115"/>
                </a:cubicBezTo>
                <a:cubicBezTo>
                  <a:pt x="110581" y="91516"/>
                  <a:pt x="105866" y="93303"/>
                  <a:pt x="101385" y="94620"/>
                </a:cubicBezTo>
                <a:cubicBezTo>
                  <a:pt x="95470" y="102996"/>
                  <a:pt x="89320" y="107418"/>
                  <a:pt x="84429" y="109790"/>
                </a:cubicBezTo>
                <a:lnTo>
                  <a:pt x="84429" y="131198"/>
                </a:lnTo>
                <a:lnTo>
                  <a:pt x="103172" y="131198"/>
                </a:lnTo>
                <a:cubicBezTo>
                  <a:pt x="108355" y="131198"/>
                  <a:pt x="112543" y="135385"/>
                  <a:pt x="112543" y="140569"/>
                </a:cubicBezTo>
                <a:cubicBezTo>
                  <a:pt x="112543" y="145752"/>
                  <a:pt x="108355" y="149940"/>
                  <a:pt x="103172" y="149940"/>
                </a:cubicBezTo>
                <a:lnTo>
                  <a:pt x="46944" y="149940"/>
                </a:lnTo>
                <a:cubicBezTo>
                  <a:pt x="41761" y="149940"/>
                  <a:pt x="37573" y="145752"/>
                  <a:pt x="37573" y="140569"/>
                </a:cubicBezTo>
                <a:cubicBezTo>
                  <a:pt x="37573" y="135385"/>
                  <a:pt x="41761" y="131198"/>
                  <a:pt x="46944" y="131198"/>
                </a:cubicBezTo>
                <a:lnTo>
                  <a:pt x="65687" y="131198"/>
                </a:lnTo>
                <a:lnTo>
                  <a:pt x="65687" y="109790"/>
                </a:lnTo>
                <a:cubicBezTo>
                  <a:pt x="61001" y="107535"/>
                  <a:pt x="55173" y="103347"/>
                  <a:pt x="49492" y="95645"/>
                </a:cubicBezTo>
                <a:cubicBezTo>
                  <a:pt x="44103" y="94240"/>
                  <a:pt x="38246" y="92102"/>
                  <a:pt x="32536" y="88880"/>
                </a:cubicBezTo>
                <a:cubicBezTo>
                  <a:pt x="16693" y="80007"/>
                  <a:pt x="2401" y="63285"/>
                  <a:pt x="351" y="33268"/>
                </a:cubicBezTo>
                <a:cubicBezTo>
                  <a:pt x="-205" y="25039"/>
                  <a:pt x="6501" y="18713"/>
                  <a:pt x="14145" y="18713"/>
                </a:cubicBezTo>
                <a:lnTo>
                  <a:pt x="28670" y="18713"/>
                </a:lnTo>
                <a:cubicBezTo>
                  <a:pt x="28582" y="17190"/>
                  <a:pt x="28524" y="15668"/>
                  <a:pt x="28465" y="14086"/>
                </a:cubicBezTo>
                <a:cubicBezTo>
                  <a:pt x="28172" y="6326"/>
                  <a:pt x="34498" y="-29"/>
                  <a:pt x="42258" y="-29"/>
                </a:cubicBezTo>
                <a:close/>
                <a:moveTo>
                  <a:pt x="29724" y="32799"/>
                </a:moveTo>
                <a:lnTo>
                  <a:pt x="14379" y="32799"/>
                </a:lnTo>
                <a:cubicBezTo>
                  <a:pt x="16195" y="57604"/>
                  <a:pt x="27587" y="70021"/>
                  <a:pt x="39330" y="76610"/>
                </a:cubicBezTo>
                <a:cubicBezTo>
                  <a:pt x="35113" y="65687"/>
                  <a:pt x="31628" y="51425"/>
                  <a:pt x="29724" y="32799"/>
                </a:cubicBezTo>
                <a:close/>
                <a:moveTo>
                  <a:pt x="111284" y="75204"/>
                </a:moveTo>
                <a:cubicBezTo>
                  <a:pt x="123144" y="68234"/>
                  <a:pt x="133862" y="55847"/>
                  <a:pt x="135678" y="32799"/>
                </a:cubicBezTo>
                <a:lnTo>
                  <a:pt x="120362" y="32799"/>
                </a:lnTo>
                <a:cubicBezTo>
                  <a:pt x="118546" y="50634"/>
                  <a:pt x="115266" y="64486"/>
                  <a:pt x="111284" y="75204"/>
                </a:cubicBezTo>
                <a:close/>
              </a:path>
            </a:pathLst>
          </a:custGeom>
          <a:solidFill>
            <a:srgbClr val="F7B538"/>
          </a:solidFill>
          <a:ln/>
        </p:spPr>
      </p:sp>
      <p:sp>
        <p:nvSpPr>
          <p:cNvPr id="67" name="Text 65"/>
          <p:cNvSpPr/>
          <p:nvPr/>
        </p:nvSpPr>
        <p:spPr>
          <a:xfrm>
            <a:off x="6378207" y="5959473"/>
            <a:ext cx="5285840" cy="224910"/>
          </a:xfrm>
          <a:prstGeom prst="rect">
            <a:avLst/>
          </a:prstGeom>
          <a:noFill/>
          <a:ln/>
        </p:spPr>
        <p:txBody>
          <a:bodyPr wrap="square" lIns="0" tIns="0" rIns="0" bIns="0" rtlCol="0" anchor="ctr"/>
          <a:lstStyle/>
          <a:p>
            <a:pPr algn="ctr">
              <a:lnSpc>
                <a:spcPct val="130000"/>
              </a:lnSpc>
            </a:pPr>
            <a:r>
              <a:rPr lang="en-US" sz="1181" b="1" dirty="0">
                <a:solidFill>
                  <a:srgbClr val="FFFFFF"/>
                </a:solidFill>
                <a:latin typeface="Quattrocento Sans" pitchFamily="34" charset="0"/>
                <a:ea typeface="Quattrocento Sans" pitchFamily="34" charset="-122"/>
                <a:cs typeface="Quattrocento Sans" pitchFamily="34" charset="-120"/>
              </a:rPr>
              <a:t>EduBridge is the ONLY platform built specifically for retired teachers</a:t>
            </a:r>
            <a:endParaRPr lang="en-US" sz="16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305270" y="188445"/>
            <a:ext cx="11515710" cy="225430"/>
          </a:xfrm>
          <a:prstGeom prst="rect">
            <a:avLst/>
          </a:prstGeom>
          <a:noFill/>
          <a:ln/>
        </p:spPr>
        <p:txBody>
          <a:bodyPr wrap="square" lIns="0" tIns="0" rIns="0" bIns="0" rtlCol="0" anchor="ctr"/>
          <a:lstStyle/>
          <a:p>
            <a:pPr>
              <a:lnSpc>
                <a:spcPct val="120000"/>
              </a:lnSpc>
            </a:pPr>
            <a:r>
              <a:rPr lang="en-US" sz="1183" b="1" spc="59" kern="0" dirty="0">
                <a:solidFill>
                  <a:srgbClr val="4A7C59"/>
                </a:solidFill>
                <a:latin typeface="Quattrocento Sans" pitchFamily="34" charset="0"/>
                <a:ea typeface="Quattrocento Sans" pitchFamily="34" charset="-122"/>
                <a:cs typeface="Quattrocento Sans" pitchFamily="34" charset="-120"/>
              </a:rPr>
              <a:t>CORE PLATFORM FEATURES</a:t>
            </a:r>
            <a:endParaRPr lang="en-US" sz="1600" dirty="0"/>
          </a:p>
        </p:txBody>
      </p:sp>
      <p:sp>
        <p:nvSpPr>
          <p:cNvPr id="3" name="Text 1"/>
          <p:cNvSpPr/>
          <p:nvPr/>
        </p:nvSpPr>
        <p:spPr>
          <a:xfrm>
            <a:off x="305270" y="451447"/>
            <a:ext cx="11581461" cy="338145"/>
          </a:xfrm>
          <a:prstGeom prst="rect">
            <a:avLst/>
          </a:prstGeom>
          <a:noFill/>
          <a:ln/>
        </p:spPr>
        <p:txBody>
          <a:bodyPr wrap="square" lIns="0" tIns="0" rIns="0" bIns="0" rtlCol="0" anchor="ctr"/>
          <a:lstStyle/>
          <a:p>
            <a:pPr>
              <a:lnSpc>
                <a:spcPct val="100000"/>
              </a:lnSpc>
            </a:pPr>
            <a:r>
              <a:rPr lang="en-US" sz="2219" b="1" dirty="0">
                <a:solidFill>
                  <a:srgbClr val="1A535C"/>
                </a:solidFill>
                <a:latin typeface="Liter" pitchFamily="34" charset="0"/>
                <a:ea typeface="Liter" pitchFamily="34" charset="-122"/>
                <a:cs typeface="Liter" pitchFamily="34" charset="-120"/>
              </a:rPr>
              <a:t>Foundation Layer — 9 Essential Features</a:t>
            </a:r>
            <a:endParaRPr lang="en-US" sz="1600" dirty="0"/>
          </a:p>
        </p:txBody>
      </p:sp>
      <p:sp>
        <p:nvSpPr>
          <p:cNvPr id="4" name="Text 2"/>
          <p:cNvSpPr/>
          <p:nvPr/>
        </p:nvSpPr>
        <p:spPr>
          <a:xfrm>
            <a:off x="305270" y="827163"/>
            <a:ext cx="11515710" cy="225430"/>
          </a:xfrm>
          <a:prstGeom prst="rect">
            <a:avLst/>
          </a:prstGeom>
          <a:noFill/>
          <a:ln/>
        </p:spPr>
        <p:txBody>
          <a:bodyPr wrap="square" lIns="0" tIns="0" rIns="0" bIns="0" rtlCol="0" anchor="ctr"/>
          <a:lstStyle/>
          <a:p>
            <a:pPr>
              <a:lnSpc>
                <a:spcPct val="120000"/>
              </a:lnSpc>
            </a:pPr>
            <a:r>
              <a:rPr lang="en-US" sz="1183" dirty="0">
                <a:solidFill>
                  <a:srgbClr val="212529">
                    <a:alpha val="70000"/>
                  </a:srgbClr>
                </a:solidFill>
                <a:latin typeface="Quattrocento Sans" pitchFamily="34" charset="0"/>
                <a:ea typeface="Quattrocento Sans" pitchFamily="34" charset="-122"/>
                <a:cs typeface="Quattrocento Sans" pitchFamily="34" charset="-120"/>
              </a:rPr>
              <a:t>Built on solid Laravel (PHP) foundation — every tutoring platform needs these</a:t>
            </a:r>
            <a:endParaRPr lang="en-US" sz="1600" dirty="0"/>
          </a:p>
        </p:txBody>
      </p:sp>
      <p:sp>
        <p:nvSpPr>
          <p:cNvPr id="5" name="Shape 3"/>
          <p:cNvSpPr/>
          <p:nvPr/>
        </p:nvSpPr>
        <p:spPr>
          <a:xfrm>
            <a:off x="305270" y="1127737"/>
            <a:ext cx="901720" cy="37572"/>
          </a:xfrm>
          <a:custGeom>
            <a:avLst/>
            <a:gdLst/>
            <a:ahLst/>
            <a:cxnLst/>
            <a:rect l="l" t="t" r="r" b="b"/>
            <a:pathLst>
              <a:path w="901720" h="37572">
                <a:moveTo>
                  <a:pt x="0" y="0"/>
                </a:moveTo>
                <a:lnTo>
                  <a:pt x="901720" y="0"/>
                </a:lnTo>
                <a:lnTo>
                  <a:pt x="901720" y="37572"/>
                </a:lnTo>
                <a:lnTo>
                  <a:pt x="0" y="37572"/>
                </a:lnTo>
                <a:lnTo>
                  <a:pt x="0" y="0"/>
                </a:lnTo>
                <a:close/>
              </a:path>
            </a:pathLst>
          </a:custGeom>
          <a:solidFill>
            <a:srgbClr val="F7B538"/>
          </a:solidFill>
          <a:ln/>
        </p:spPr>
      </p:sp>
      <p:sp>
        <p:nvSpPr>
          <p:cNvPr id="6" name="Shape 4"/>
          <p:cNvSpPr/>
          <p:nvPr/>
        </p:nvSpPr>
        <p:spPr>
          <a:xfrm>
            <a:off x="305270" y="1259237"/>
            <a:ext cx="3738379" cy="1578009"/>
          </a:xfrm>
          <a:custGeom>
            <a:avLst/>
            <a:gdLst/>
            <a:ahLst/>
            <a:cxnLst/>
            <a:rect l="l" t="t" r="r" b="b"/>
            <a:pathLst>
              <a:path w="3738379" h="1578009">
                <a:moveTo>
                  <a:pt x="37572" y="0"/>
                </a:moveTo>
                <a:lnTo>
                  <a:pt x="3700807" y="0"/>
                </a:lnTo>
                <a:cubicBezTo>
                  <a:pt x="3721558" y="0"/>
                  <a:pt x="3738379" y="16821"/>
                  <a:pt x="3738379" y="37572"/>
                </a:cubicBezTo>
                <a:lnTo>
                  <a:pt x="3738379" y="1502864"/>
                </a:lnTo>
                <a:cubicBezTo>
                  <a:pt x="3738379" y="1544366"/>
                  <a:pt x="3704736" y="1578009"/>
                  <a:pt x="3663234" y="1578009"/>
                </a:cubicBezTo>
                <a:lnTo>
                  <a:pt x="75145" y="1578009"/>
                </a:lnTo>
                <a:cubicBezTo>
                  <a:pt x="33671" y="1578009"/>
                  <a:pt x="0" y="1544338"/>
                  <a:pt x="0" y="1502864"/>
                </a:cubicBezTo>
                <a:lnTo>
                  <a:pt x="0" y="37572"/>
                </a:lnTo>
                <a:cubicBezTo>
                  <a:pt x="0" y="16821"/>
                  <a:pt x="16821" y="0"/>
                  <a:pt x="37572" y="0"/>
                </a:cubicBezTo>
                <a:close/>
              </a:path>
            </a:pathLst>
          </a:custGeom>
          <a:solidFill>
            <a:srgbClr val="FFFFFF"/>
          </a:solidFill>
          <a:ln/>
          <a:effectLst>
            <a:outerShdw sx="100000" sy="100000" kx="0" ky="0" algn="bl" rotWithShape="0" blurRad="56357" dist="37572" dir="5400000">
              <a:srgbClr val="000000">
                <a:alpha val="10196"/>
              </a:srgbClr>
            </a:outerShdw>
          </a:effectLst>
        </p:spPr>
      </p:sp>
      <p:sp>
        <p:nvSpPr>
          <p:cNvPr id="7" name="Shape 5"/>
          <p:cNvSpPr/>
          <p:nvPr/>
        </p:nvSpPr>
        <p:spPr>
          <a:xfrm>
            <a:off x="305270" y="1259237"/>
            <a:ext cx="3738379" cy="37572"/>
          </a:xfrm>
          <a:custGeom>
            <a:avLst/>
            <a:gdLst/>
            <a:ahLst/>
            <a:cxnLst/>
            <a:rect l="l" t="t" r="r" b="b"/>
            <a:pathLst>
              <a:path w="3738379" h="37572">
                <a:moveTo>
                  <a:pt x="37572" y="0"/>
                </a:moveTo>
                <a:lnTo>
                  <a:pt x="3700807" y="0"/>
                </a:lnTo>
                <a:cubicBezTo>
                  <a:pt x="3721558" y="0"/>
                  <a:pt x="3738379" y="16821"/>
                  <a:pt x="3738379" y="37572"/>
                </a:cubicBezTo>
                <a:lnTo>
                  <a:pt x="3738379" y="37572"/>
                </a:lnTo>
                <a:lnTo>
                  <a:pt x="0" y="37572"/>
                </a:lnTo>
                <a:lnTo>
                  <a:pt x="0" y="37572"/>
                </a:lnTo>
                <a:cubicBezTo>
                  <a:pt x="0" y="16821"/>
                  <a:pt x="16821" y="0"/>
                  <a:pt x="37572" y="0"/>
                </a:cubicBezTo>
                <a:close/>
              </a:path>
            </a:pathLst>
          </a:custGeom>
          <a:solidFill>
            <a:srgbClr val="1A535C"/>
          </a:solidFill>
          <a:ln/>
        </p:spPr>
      </p:sp>
      <p:sp>
        <p:nvSpPr>
          <p:cNvPr id="8" name="Shape 6"/>
          <p:cNvSpPr/>
          <p:nvPr/>
        </p:nvSpPr>
        <p:spPr>
          <a:xfrm>
            <a:off x="417985" y="1390738"/>
            <a:ext cx="300573" cy="300573"/>
          </a:xfrm>
          <a:custGeom>
            <a:avLst/>
            <a:gdLst/>
            <a:ahLst/>
            <a:cxnLst/>
            <a:rect l="l" t="t" r="r" b="b"/>
            <a:pathLst>
              <a:path w="300573" h="300573">
                <a:moveTo>
                  <a:pt x="150287" y="0"/>
                </a:moveTo>
                <a:lnTo>
                  <a:pt x="150287" y="0"/>
                </a:lnTo>
                <a:cubicBezTo>
                  <a:pt x="233288" y="0"/>
                  <a:pt x="300573" y="67286"/>
                  <a:pt x="300573" y="150287"/>
                </a:cubicBezTo>
                <a:lnTo>
                  <a:pt x="300573" y="150287"/>
                </a:lnTo>
                <a:cubicBezTo>
                  <a:pt x="300573" y="233288"/>
                  <a:pt x="233288" y="300573"/>
                  <a:pt x="150287" y="300573"/>
                </a:cubicBezTo>
                <a:lnTo>
                  <a:pt x="150287" y="300573"/>
                </a:lnTo>
                <a:cubicBezTo>
                  <a:pt x="67286" y="300573"/>
                  <a:pt x="0" y="233288"/>
                  <a:pt x="0" y="150287"/>
                </a:cubicBezTo>
                <a:lnTo>
                  <a:pt x="0" y="150287"/>
                </a:lnTo>
                <a:cubicBezTo>
                  <a:pt x="0" y="67286"/>
                  <a:pt x="67286" y="0"/>
                  <a:pt x="150287" y="0"/>
                </a:cubicBezTo>
                <a:close/>
              </a:path>
            </a:pathLst>
          </a:custGeom>
          <a:solidFill>
            <a:srgbClr val="1A535C"/>
          </a:solidFill>
          <a:ln/>
        </p:spPr>
      </p:sp>
      <p:sp>
        <p:nvSpPr>
          <p:cNvPr id="9" name="Text 7"/>
          <p:cNvSpPr/>
          <p:nvPr/>
        </p:nvSpPr>
        <p:spPr>
          <a:xfrm>
            <a:off x="380413" y="1390738"/>
            <a:ext cx="375716" cy="300573"/>
          </a:xfrm>
          <a:prstGeom prst="rect">
            <a:avLst/>
          </a:prstGeom>
          <a:noFill/>
          <a:ln/>
        </p:spPr>
        <p:txBody>
          <a:bodyPr wrap="square" lIns="0" tIns="0" rIns="0" bIns="0" rtlCol="0" anchor="ctr"/>
          <a:lstStyle/>
          <a:p>
            <a:pPr algn="ctr">
              <a:lnSpc>
                <a:spcPct val="120000"/>
              </a:lnSpc>
            </a:pPr>
            <a:r>
              <a:rPr lang="en-US" sz="1183" b="1" dirty="0">
                <a:solidFill>
                  <a:srgbClr val="FFFFFF"/>
                </a:solidFill>
                <a:latin typeface="Quattrocento Sans" pitchFamily="34" charset="0"/>
                <a:ea typeface="Quattrocento Sans" pitchFamily="34" charset="-122"/>
                <a:cs typeface="Quattrocento Sans" pitchFamily="34" charset="-120"/>
              </a:rPr>
              <a:t>1</a:t>
            </a:r>
            <a:endParaRPr lang="en-US" sz="1600" dirty="0"/>
          </a:p>
        </p:txBody>
      </p:sp>
      <p:sp>
        <p:nvSpPr>
          <p:cNvPr id="10" name="Text 8"/>
          <p:cNvSpPr/>
          <p:nvPr/>
        </p:nvSpPr>
        <p:spPr>
          <a:xfrm>
            <a:off x="793701" y="1428310"/>
            <a:ext cx="1709510" cy="225430"/>
          </a:xfrm>
          <a:prstGeom prst="rect">
            <a:avLst/>
          </a:prstGeom>
          <a:noFill/>
          <a:ln/>
        </p:spPr>
        <p:txBody>
          <a:bodyPr wrap="square" lIns="0" tIns="0" rIns="0" bIns="0" rtlCol="0" anchor="ctr"/>
          <a:lstStyle/>
          <a:p>
            <a:pPr>
              <a:lnSpc>
                <a:spcPct val="120000"/>
              </a:lnSpc>
            </a:pPr>
            <a:r>
              <a:rPr lang="en-US" sz="1183" b="1" dirty="0">
                <a:solidFill>
                  <a:srgbClr val="1A535C"/>
                </a:solidFill>
                <a:latin typeface="Liter" pitchFamily="34" charset="0"/>
                <a:ea typeface="Liter" pitchFamily="34" charset="-122"/>
                <a:cs typeface="Liter" pitchFamily="34" charset="-120"/>
              </a:rPr>
              <a:t>User Registration &amp; Auth</a:t>
            </a:r>
            <a:endParaRPr lang="en-US" sz="1600" dirty="0"/>
          </a:p>
        </p:txBody>
      </p:sp>
      <p:sp>
        <p:nvSpPr>
          <p:cNvPr id="11" name="Text 9"/>
          <p:cNvSpPr/>
          <p:nvPr/>
        </p:nvSpPr>
        <p:spPr>
          <a:xfrm>
            <a:off x="417985" y="1766455"/>
            <a:ext cx="3588092" cy="619932"/>
          </a:xfrm>
          <a:prstGeom prst="rect">
            <a:avLst/>
          </a:prstGeom>
          <a:noFill/>
          <a:ln/>
        </p:spPr>
        <p:txBody>
          <a:bodyPr wrap="square" lIns="0" tIns="0" rIns="0" bIns="0" rtlCol="0" anchor="ctr"/>
          <a:lstStyle/>
          <a:p>
            <a:pPr>
              <a:lnSpc>
                <a:spcPct val="110000"/>
              </a:lnSpc>
            </a:pPr>
            <a:r>
              <a:rPr lang="en-US" sz="1183" dirty="0">
                <a:solidFill>
                  <a:srgbClr val="212529"/>
                </a:solidFill>
                <a:latin typeface="Quattrocento Sans" pitchFamily="34" charset="0"/>
                <a:ea typeface="Quattrocento Sans" pitchFamily="34" charset="-122"/>
                <a:cs typeface="Quattrocento Sans" pitchFamily="34" charset="-120"/>
              </a:rPr>
              <a:t>Separate flows for Students, Teachers, Parents with email/phone OTP verification, social login (Google), and role-based access control.</a:t>
            </a:r>
            <a:endParaRPr lang="en-US" sz="1600" dirty="0"/>
          </a:p>
        </p:txBody>
      </p:sp>
      <p:sp>
        <p:nvSpPr>
          <p:cNvPr id="12" name="Shape 10"/>
          <p:cNvSpPr/>
          <p:nvPr/>
        </p:nvSpPr>
        <p:spPr>
          <a:xfrm>
            <a:off x="417985" y="2461530"/>
            <a:ext cx="1089578" cy="263002"/>
          </a:xfrm>
          <a:custGeom>
            <a:avLst/>
            <a:gdLst/>
            <a:ahLst/>
            <a:cxnLst/>
            <a:rect l="l" t="t" r="r" b="b"/>
            <a:pathLst>
              <a:path w="1089578" h="263002">
                <a:moveTo>
                  <a:pt x="37572" y="0"/>
                </a:moveTo>
                <a:lnTo>
                  <a:pt x="1052005" y="0"/>
                </a:lnTo>
                <a:cubicBezTo>
                  <a:pt x="1072742" y="0"/>
                  <a:pt x="1089578" y="16836"/>
                  <a:pt x="1089578" y="37572"/>
                </a:cubicBezTo>
                <a:lnTo>
                  <a:pt x="1089578" y="225429"/>
                </a:lnTo>
                <a:cubicBezTo>
                  <a:pt x="1089578" y="246180"/>
                  <a:pt x="1072756" y="263002"/>
                  <a:pt x="1052005" y="263002"/>
                </a:cubicBezTo>
                <a:lnTo>
                  <a:pt x="37572" y="263002"/>
                </a:lnTo>
                <a:cubicBezTo>
                  <a:pt x="16836" y="263002"/>
                  <a:pt x="0" y="246166"/>
                  <a:pt x="0" y="225429"/>
                </a:cubicBezTo>
                <a:lnTo>
                  <a:pt x="0" y="37572"/>
                </a:lnTo>
                <a:cubicBezTo>
                  <a:pt x="0" y="16836"/>
                  <a:pt x="16836" y="0"/>
                  <a:pt x="37572" y="0"/>
                </a:cubicBezTo>
                <a:close/>
              </a:path>
            </a:pathLst>
          </a:custGeom>
          <a:solidFill>
            <a:srgbClr val="1A535C">
              <a:alpha val="10196"/>
            </a:srgbClr>
          </a:solidFill>
          <a:ln/>
        </p:spPr>
      </p:sp>
      <p:sp>
        <p:nvSpPr>
          <p:cNvPr id="13" name="Text 11"/>
          <p:cNvSpPr/>
          <p:nvPr/>
        </p:nvSpPr>
        <p:spPr>
          <a:xfrm>
            <a:off x="417985" y="2461530"/>
            <a:ext cx="1164721" cy="263002"/>
          </a:xfrm>
          <a:prstGeom prst="rect">
            <a:avLst/>
          </a:prstGeom>
          <a:noFill/>
          <a:ln/>
        </p:spPr>
        <p:txBody>
          <a:bodyPr wrap="square" lIns="75143" tIns="18786" rIns="75143" bIns="18786" rtlCol="0" anchor="ctr"/>
          <a:lstStyle/>
          <a:p>
            <a:pPr>
              <a:lnSpc>
                <a:spcPct val="120000"/>
              </a:lnSpc>
            </a:pPr>
            <a:r>
              <a:rPr lang="en-US" sz="1183" dirty="0">
                <a:solidFill>
                  <a:srgbClr val="1A535C"/>
                </a:solidFill>
                <a:latin typeface="Quattrocento Sans" pitchFamily="34" charset="0"/>
                <a:ea typeface="Quattrocento Sans" pitchFamily="34" charset="-122"/>
                <a:cs typeface="Quattrocento Sans" pitchFamily="34" charset="-120"/>
              </a:rPr>
              <a:t>Laravel Breeze</a:t>
            </a:r>
            <a:endParaRPr lang="en-US" sz="1600" dirty="0"/>
          </a:p>
        </p:txBody>
      </p:sp>
      <p:sp>
        <p:nvSpPr>
          <p:cNvPr id="14" name="Shape 12"/>
          <p:cNvSpPr/>
          <p:nvPr/>
        </p:nvSpPr>
        <p:spPr>
          <a:xfrm>
            <a:off x="1544312" y="2461530"/>
            <a:ext cx="554182" cy="263002"/>
          </a:xfrm>
          <a:custGeom>
            <a:avLst/>
            <a:gdLst/>
            <a:ahLst/>
            <a:cxnLst/>
            <a:rect l="l" t="t" r="r" b="b"/>
            <a:pathLst>
              <a:path w="554182" h="263002">
                <a:moveTo>
                  <a:pt x="37572" y="0"/>
                </a:moveTo>
                <a:lnTo>
                  <a:pt x="516609" y="0"/>
                </a:lnTo>
                <a:cubicBezTo>
                  <a:pt x="537346" y="0"/>
                  <a:pt x="554182" y="16836"/>
                  <a:pt x="554182" y="37572"/>
                </a:cubicBezTo>
                <a:lnTo>
                  <a:pt x="554182" y="225429"/>
                </a:lnTo>
                <a:cubicBezTo>
                  <a:pt x="554182" y="246180"/>
                  <a:pt x="537360" y="263002"/>
                  <a:pt x="516609" y="263002"/>
                </a:cubicBezTo>
                <a:lnTo>
                  <a:pt x="37572" y="263002"/>
                </a:lnTo>
                <a:cubicBezTo>
                  <a:pt x="16836" y="263002"/>
                  <a:pt x="0" y="246166"/>
                  <a:pt x="0" y="225429"/>
                </a:cubicBezTo>
                <a:lnTo>
                  <a:pt x="0" y="37572"/>
                </a:lnTo>
                <a:cubicBezTo>
                  <a:pt x="0" y="16836"/>
                  <a:pt x="16836" y="0"/>
                  <a:pt x="37572" y="0"/>
                </a:cubicBezTo>
                <a:close/>
              </a:path>
            </a:pathLst>
          </a:custGeom>
          <a:solidFill>
            <a:srgbClr val="1A535C">
              <a:alpha val="10196"/>
            </a:srgbClr>
          </a:solidFill>
          <a:ln/>
        </p:spPr>
      </p:sp>
      <p:sp>
        <p:nvSpPr>
          <p:cNvPr id="15" name="Text 13"/>
          <p:cNvSpPr/>
          <p:nvPr/>
        </p:nvSpPr>
        <p:spPr>
          <a:xfrm>
            <a:off x="1544312" y="2461530"/>
            <a:ext cx="629325" cy="263002"/>
          </a:xfrm>
          <a:prstGeom prst="rect">
            <a:avLst/>
          </a:prstGeom>
          <a:noFill/>
          <a:ln/>
        </p:spPr>
        <p:txBody>
          <a:bodyPr wrap="square" lIns="75143" tIns="18786" rIns="75143" bIns="18786" rtlCol="0" anchor="ctr"/>
          <a:lstStyle/>
          <a:p>
            <a:pPr>
              <a:lnSpc>
                <a:spcPct val="120000"/>
              </a:lnSpc>
            </a:pPr>
            <a:r>
              <a:rPr lang="en-US" sz="1183" dirty="0">
                <a:solidFill>
                  <a:srgbClr val="1A535C"/>
                </a:solidFill>
                <a:latin typeface="Quattrocento Sans" pitchFamily="34" charset="0"/>
                <a:ea typeface="Quattrocento Sans" pitchFamily="34" charset="-122"/>
                <a:cs typeface="Quattrocento Sans" pitchFamily="34" charset="-120"/>
              </a:rPr>
              <a:t>Spatie</a:t>
            </a:r>
            <a:endParaRPr lang="en-US" sz="1600" dirty="0"/>
          </a:p>
        </p:txBody>
      </p:sp>
      <p:sp>
        <p:nvSpPr>
          <p:cNvPr id="16" name="Shape 14"/>
          <p:cNvSpPr/>
          <p:nvPr/>
        </p:nvSpPr>
        <p:spPr>
          <a:xfrm>
            <a:off x="4155659" y="1259237"/>
            <a:ext cx="3738379" cy="1578009"/>
          </a:xfrm>
          <a:custGeom>
            <a:avLst/>
            <a:gdLst/>
            <a:ahLst/>
            <a:cxnLst/>
            <a:rect l="l" t="t" r="r" b="b"/>
            <a:pathLst>
              <a:path w="3738379" h="1578009">
                <a:moveTo>
                  <a:pt x="37572" y="0"/>
                </a:moveTo>
                <a:lnTo>
                  <a:pt x="3700807" y="0"/>
                </a:lnTo>
                <a:cubicBezTo>
                  <a:pt x="3721558" y="0"/>
                  <a:pt x="3738379" y="16821"/>
                  <a:pt x="3738379" y="37572"/>
                </a:cubicBezTo>
                <a:lnTo>
                  <a:pt x="3738379" y="1502864"/>
                </a:lnTo>
                <a:cubicBezTo>
                  <a:pt x="3738379" y="1544366"/>
                  <a:pt x="3704736" y="1578009"/>
                  <a:pt x="3663234" y="1578009"/>
                </a:cubicBezTo>
                <a:lnTo>
                  <a:pt x="75145" y="1578009"/>
                </a:lnTo>
                <a:cubicBezTo>
                  <a:pt x="33671" y="1578009"/>
                  <a:pt x="0" y="1544338"/>
                  <a:pt x="0" y="1502864"/>
                </a:cubicBezTo>
                <a:lnTo>
                  <a:pt x="0" y="37572"/>
                </a:lnTo>
                <a:cubicBezTo>
                  <a:pt x="0" y="16821"/>
                  <a:pt x="16821" y="0"/>
                  <a:pt x="37572" y="0"/>
                </a:cubicBezTo>
                <a:close/>
              </a:path>
            </a:pathLst>
          </a:custGeom>
          <a:solidFill>
            <a:srgbClr val="FFFFFF"/>
          </a:solidFill>
          <a:ln/>
          <a:effectLst>
            <a:outerShdw sx="100000" sy="100000" kx="0" ky="0" algn="bl" rotWithShape="0" blurRad="56357" dist="37572" dir="5400000">
              <a:srgbClr val="000000">
                <a:alpha val="10196"/>
              </a:srgbClr>
            </a:outerShdw>
          </a:effectLst>
        </p:spPr>
      </p:sp>
      <p:sp>
        <p:nvSpPr>
          <p:cNvPr id="17" name="Shape 15"/>
          <p:cNvSpPr/>
          <p:nvPr/>
        </p:nvSpPr>
        <p:spPr>
          <a:xfrm>
            <a:off x="4155659" y="1259237"/>
            <a:ext cx="3738379" cy="37572"/>
          </a:xfrm>
          <a:custGeom>
            <a:avLst/>
            <a:gdLst/>
            <a:ahLst/>
            <a:cxnLst/>
            <a:rect l="l" t="t" r="r" b="b"/>
            <a:pathLst>
              <a:path w="3738379" h="37572">
                <a:moveTo>
                  <a:pt x="37572" y="0"/>
                </a:moveTo>
                <a:lnTo>
                  <a:pt x="3700807" y="0"/>
                </a:lnTo>
                <a:cubicBezTo>
                  <a:pt x="3721558" y="0"/>
                  <a:pt x="3738379" y="16821"/>
                  <a:pt x="3738379" y="37572"/>
                </a:cubicBezTo>
                <a:lnTo>
                  <a:pt x="3738379" y="37572"/>
                </a:lnTo>
                <a:lnTo>
                  <a:pt x="0" y="37572"/>
                </a:lnTo>
                <a:lnTo>
                  <a:pt x="0" y="37572"/>
                </a:lnTo>
                <a:cubicBezTo>
                  <a:pt x="0" y="16821"/>
                  <a:pt x="16821" y="0"/>
                  <a:pt x="37572" y="0"/>
                </a:cubicBezTo>
                <a:close/>
              </a:path>
            </a:pathLst>
          </a:custGeom>
          <a:solidFill>
            <a:srgbClr val="4A7C59"/>
          </a:solidFill>
          <a:ln/>
        </p:spPr>
      </p:sp>
      <p:sp>
        <p:nvSpPr>
          <p:cNvPr id="18" name="Shape 16"/>
          <p:cNvSpPr/>
          <p:nvPr/>
        </p:nvSpPr>
        <p:spPr>
          <a:xfrm>
            <a:off x="4268374" y="1390738"/>
            <a:ext cx="300573" cy="300573"/>
          </a:xfrm>
          <a:custGeom>
            <a:avLst/>
            <a:gdLst/>
            <a:ahLst/>
            <a:cxnLst/>
            <a:rect l="l" t="t" r="r" b="b"/>
            <a:pathLst>
              <a:path w="300573" h="300573">
                <a:moveTo>
                  <a:pt x="150287" y="0"/>
                </a:moveTo>
                <a:lnTo>
                  <a:pt x="150287" y="0"/>
                </a:lnTo>
                <a:cubicBezTo>
                  <a:pt x="233288" y="0"/>
                  <a:pt x="300573" y="67286"/>
                  <a:pt x="300573" y="150287"/>
                </a:cubicBezTo>
                <a:lnTo>
                  <a:pt x="300573" y="150287"/>
                </a:lnTo>
                <a:cubicBezTo>
                  <a:pt x="300573" y="233288"/>
                  <a:pt x="233288" y="300573"/>
                  <a:pt x="150287" y="300573"/>
                </a:cubicBezTo>
                <a:lnTo>
                  <a:pt x="150287" y="300573"/>
                </a:lnTo>
                <a:cubicBezTo>
                  <a:pt x="67286" y="300573"/>
                  <a:pt x="0" y="233288"/>
                  <a:pt x="0" y="150287"/>
                </a:cubicBezTo>
                <a:lnTo>
                  <a:pt x="0" y="150287"/>
                </a:lnTo>
                <a:cubicBezTo>
                  <a:pt x="0" y="67286"/>
                  <a:pt x="67286" y="0"/>
                  <a:pt x="150287" y="0"/>
                </a:cubicBezTo>
                <a:close/>
              </a:path>
            </a:pathLst>
          </a:custGeom>
          <a:solidFill>
            <a:srgbClr val="4A7C59"/>
          </a:solidFill>
          <a:ln/>
        </p:spPr>
      </p:sp>
      <p:sp>
        <p:nvSpPr>
          <p:cNvPr id="19" name="Text 17"/>
          <p:cNvSpPr/>
          <p:nvPr/>
        </p:nvSpPr>
        <p:spPr>
          <a:xfrm>
            <a:off x="4230803" y="1390738"/>
            <a:ext cx="375716" cy="300573"/>
          </a:xfrm>
          <a:prstGeom prst="rect">
            <a:avLst/>
          </a:prstGeom>
          <a:noFill/>
          <a:ln/>
        </p:spPr>
        <p:txBody>
          <a:bodyPr wrap="square" lIns="0" tIns="0" rIns="0" bIns="0" rtlCol="0" anchor="ctr"/>
          <a:lstStyle/>
          <a:p>
            <a:pPr algn="ctr">
              <a:lnSpc>
                <a:spcPct val="120000"/>
              </a:lnSpc>
            </a:pPr>
            <a:r>
              <a:rPr lang="en-US" sz="1183" b="1"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20" name="Text 18"/>
          <p:cNvSpPr/>
          <p:nvPr/>
        </p:nvSpPr>
        <p:spPr>
          <a:xfrm>
            <a:off x="4644091" y="1428310"/>
            <a:ext cx="1615581" cy="225430"/>
          </a:xfrm>
          <a:prstGeom prst="rect">
            <a:avLst/>
          </a:prstGeom>
          <a:noFill/>
          <a:ln/>
        </p:spPr>
        <p:txBody>
          <a:bodyPr wrap="square" lIns="0" tIns="0" rIns="0" bIns="0" rtlCol="0" anchor="ctr"/>
          <a:lstStyle/>
          <a:p>
            <a:pPr>
              <a:lnSpc>
                <a:spcPct val="120000"/>
              </a:lnSpc>
            </a:pPr>
            <a:r>
              <a:rPr lang="en-US" sz="1183" b="1" dirty="0">
                <a:solidFill>
                  <a:srgbClr val="1A535C"/>
                </a:solidFill>
                <a:latin typeface="Liter" pitchFamily="34" charset="0"/>
                <a:ea typeface="Liter" pitchFamily="34" charset="-122"/>
                <a:cs typeface="Liter" pitchFamily="34" charset="-120"/>
              </a:rPr>
              <a:t>Teacher Profile System</a:t>
            </a:r>
            <a:endParaRPr lang="en-US" sz="1600" dirty="0"/>
          </a:p>
        </p:txBody>
      </p:sp>
      <p:sp>
        <p:nvSpPr>
          <p:cNvPr id="21" name="Text 19"/>
          <p:cNvSpPr/>
          <p:nvPr/>
        </p:nvSpPr>
        <p:spPr>
          <a:xfrm>
            <a:off x="4268374" y="1766455"/>
            <a:ext cx="3588092" cy="619932"/>
          </a:xfrm>
          <a:prstGeom prst="rect">
            <a:avLst/>
          </a:prstGeom>
          <a:noFill/>
          <a:ln/>
        </p:spPr>
        <p:txBody>
          <a:bodyPr wrap="square" lIns="0" tIns="0" rIns="0" bIns="0" rtlCol="0" anchor="ctr"/>
          <a:lstStyle/>
          <a:p>
            <a:pPr>
              <a:lnSpc>
                <a:spcPct val="110000"/>
              </a:lnSpc>
            </a:pPr>
            <a:r>
              <a:rPr lang="en-US" sz="1183" dirty="0">
                <a:solidFill>
                  <a:srgbClr val="212529"/>
                </a:solidFill>
                <a:latin typeface="Quattrocento Sans" pitchFamily="34" charset="0"/>
                <a:ea typeface="Quattrocento Sans" pitchFamily="34" charset="-122"/>
                <a:cs typeface="Quattrocento Sans" pitchFamily="34" charset="-120"/>
              </a:rPr>
              <a:t>Full profiles with qualifications, certificate uploads, subjects, languages, hourly rate, availability calendar, and verification badges.</a:t>
            </a:r>
            <a:endParaRPr lang="en-US" sz="1600" dirty="0"/>
          </a:p>
        </p:txBody>
      </p:sp>
      <p:sp>
        <p:nvSpPr>
          <p:cNvPr id="22" name="Shape 20"/>
          <p:cNvSpPr/>
          <p:nvPr/>
        </p:nvSpPr>
        <p:spPr>
          <a:xfrm>
            <a:off x="4268374" y="2461530"/>
            <a:ext cx="657504" cy="263002"/>
          </a:xfrm>
          <a:custGeom>
            <a:avLst/>
            <a:gdLst/>
            <a:ahLst/>
            <a:cxnLst/>
            <a:rect l="l" t="t" r="r" b="b"/>
            <a:pathLst>
              <a:path w="657504" h="263002">
                <a:moveTo>
                  <a:pt x="37572" y="0"/>
                </a:moveTo>
                <a:lnTo>
                  <a:pt x="619931" y="0"/>
                </a:lnTo>
                <a:cubicBezTo>
                  <a:pt x="640668" y="0"/>
                  <a:pt x="657504" y="16836"/>
                  <a:pt x="657504" y="37572"/>
                </a:cubicBezTo>
                <a:lnTo>
                  <a:pt x="657504" y="225429"/>
                </a:lnTo>
                <a:cubicBezTo>
                  <a:pt x="657504" y="246180"/>
                  <a:pt x="640682" y="263002"/>
                  <a:pt x="619931" y="263002"/>
                </a:cubicBezTo>
                <a:lnTo>
                  <a:pt x="37572" y="263002"/>
                </a:lnTo>
                <a:cubicBezTo>
                  <a:pt x="16836" y="263002"/>
                  <a:pt x="0" y="246166"/>
                  <a:pt x="0" y="225429"/>
                </a:cubicBezTo>
                <a:lnTo>
                  <a:pt x="0" y="37572"/>
                </a:lnTo>
                <a:cubicBezTo>
                  <a:pt x="0" y="16836"/>
                  <a:pt x="16836" y="0"/>
                  <a:pt x="37572" y="0"/>
                </a:cubicBezTo>
                <a:close/>
              </a:path>
            </a:pathLst>
          </a:custGeom>
          <a:solidFill>
            <a:srgbClr val="4A7C59">
              <a:alpha val="10196"/>
            </a:srgbClr>
          </a:solidFill>
          <a:ln/>
        </p:spPr>
      </p:sp>
      <p:sp>
        <p:nvSpPr>
          <p:cNvPr id="23" name="Text 21"/>
          <p:cNvSpPr/>
          <p:nvPr/>
        </p:nvSpPr>
        <p:spPr>
          <a:xfrm>
            <a:off x="4268374" y="2461530"/>
            <a:ext cx="732647" cy="263002"/>
          </a:xfrm>
          <a:prstGeom prst="rect">
            <a:avLst/>
          </a:prstGeom>
          <a:noFill/>
          <a:ln/>
        </p:spPr>
        <p:txBody>
          <a:bodyPr wrap="square" lIns="75143" tIns="18786" rIns="75143" bIns="18786" rtlCol="0" anchor="ctr"/>
          <a:lstStyle/>
          <a:p>
            <a:pPr>
              <a:lnSpc>
                <a:spcPct val="120000"/>
              </a:lnSpc>
            </a:pPr>
            <a:r>
              <a:rPr lang="en-US" sz="1183" dirty="0">
                <a:solidFill>
                  <a:srgbClr val="4A7C59"/>
                </a:solidFill>
                <a:latin typeface="Quattrocento Sans" pitchFamily="34" charset="0"/>
                <a:ea typeface="Quattrocento Sans" pitchFamily="34" charset="-122"/>
                <a:cs typeface="Quattrocento Sans" pitchFamily="34" charset="-120"/>
              </a:rPr>
              <a:t>Verified</a:t>
            </a:r>
            <a:endParaRPr lang="en-US" sz="1600" dirty="0"/>
          </a:p>
        </p:txBody>
      </p:sp>
      <p:sp>
        <p:nvSpPr>
          <p:cNvPr id="24" name="Shape 22"/>
          <p:cNvSpPr/>
          <p:nvPr/>
        </p:nvSpPr>
        <p:spPr>
          <a:xfrm>
            <a:off x="4961101" y="2461530"/>
            <a:ext cx="817183" cy="263002"/>
          </a:xfrm>
          <a:custGeom>
            <a:avLst/>
            <a:gdLst/>
            <a:ahLst/>
            <a:cxnLst/>
            <a:rect l="l" t="t" r="r" b="b"/>
            <a:pathLst>
              <a:path w="817183" h="263002">
                <a:moveTo>
                  <a:pt x="37572" y="0"/>
                </a:moveTo>
                <a:lnTo>
                  <a:pt x="779611" y="0"/>
                </a:lnTo>
                <a:cubicBezTo>
                  <a:pt x="800348" y="0"/>
                  <a:pt x="817183" y="16836"/>
                  <a:pt x="817183" y="37572"/>
                </a:cubicBezTo>
                <a:lnTo>
                  <a:pt x="817183" y="225429"/>
                </a:lnTo>
                <a:cubicBezTo>
                  <a:pt x="817183" y="246180"/>
                  <a:pt x="800362" y="263002"/>
                  <a:pt x="779611" y="263002"/>
                </a:cubicBezTo>
                <a:lnTo>
                  <a:pt x="37572" y="263002"/>
                </a:lnTo>
                <a:cubicBezTo>
                  <a:pt x="16836" y="263002"/>
                  <a:pt x="0" y="246166"/>
                  <a:pt x="0" y="225429"/>
                </a:cubicBezTo>
                <a:lnTo>
                  <a:pt x="0" y="37572"/>
                </a:lnTo>
                <a:cubicBezTo>
                  <a:pt x="0" y="16836"/>
                  <a:pt x="16836" y="0"/>
                  <a:pt x="37572" y="0"/>
                </a:cubicBezTo>
                <a:close/>
              </a:path>
            </a:pathLst>
          </a:custGeom>
          <a:solidFill>
            <a:srgbClr val="4A7C59">
              <a:alpha val="10196"/>
            </a:srgbClr>
          </a:solidFill>
          <a:ln/>
        </p:spPr>
      </p:sp>
      <p:sp>
        <p:nvSpPr>
          <p:cNvPr id="25" name="Text 23"/>
          <p:cNvSpPr/>
          <p:nvPr/>
        </p:nvSpPr>
        <p:spPr>
          <a:xfrm>
            <a:off x="4961101" y="2461530"/>
            <a:ext cx="892327" cy="263002"/>
          </a:xfrm>
          <a:prstGeom prst="rect">
            <a:avLst/>
          </a:prstGeom>
          <a:noFill/>
          <a:ln/>
        </p:spPr>
        <p:txBody>
          <a:bodyPr wrap="square" lIns="75143" tIns="18786" rIns="75143" bIns="18786" rtlCol="0" anchor="ctr"/>
          <a:lstStyle/>
          <a:p>
            <a:pPr>
              <a:lnSpc>
                <a:spcPct val="120000"/>
              </a:lnSpc>
            </a:pPr>
            <a:r>
              <a:rPr lang="en-US" sz="1183" dirty="0">
                <a:solidFill>
                  <a:srgbClr val="4A7C59"/>
                </a:solidFill>
                <a:latin typeface="Quattrocento Sans" pitchFamily="34" charset="0"/>
                <a:ea typeface="Quattrocento Sans" pitchFamily="34" charset="-122"/>
                <a:cs typeface="Quattrocento Sans" pitchFamily="34" charset="-120"/>
              </a:rPr>
              <a:t>Top Rated</a:t>
            </a:r>
            <a:endParaRPr lang="en-US" sz="1600" dirty="0"/>
          </a:p>
        </p:txBody>
      </p:sp>
      <p:sp>
        <p:nvSpPr>
          <p:cNvPr id="26" name="Shape 24"/>
          <p:cNvSpPr/>
          <p:nvPr/>
        </p:nvSpPr>
        <p:spPr>
          <a:xfrm>
            <a:off x="5812099" y="2461530"/>
            <a:ext cx="1145935" cy="263002"/>
          </a:xfrm>
          <a:custGeom>
            <a:avLst/>
            <a:gdLst/>
            <a:ahLst/>
            <a:cxnLst/>
            <a:rect l="l" t="t" r="r" b="b"/>
            <a:pathLst>
              <a:path w="1145935" h="263002">
                <a:moveTo>
                  <a:pt x="37572" y="0"/>
                </a:moveTo>
                <a:lnTo>
                  <a:pt x="1108363" y="0"/>
                </a:lnTo>
                <a:cubicBezTo>
                  <a:pt x="1129100" y="0"/>
                  <a:pt x="1145935" y="16836"/>
                  <a:pt x="1145935" y="37572"/>
                </a:cubicBezTo>
                <a:lnTo>
                  <a:pt x="1145935" y="225429"/>
                </a:lnTo>
                <a:cubicBezTo>
                  <a:pt x="1145935" y="246180"/>
                  <a:pt x="1129114" y="263002"/>
                  <a:pt x="1108363" y="263002"/>
                </a:cubicBezTo>
                <a:lnTo>
                  <a:pt x="37572" y="263002"/>
                </a:lnTo>
                <a:cubicBezTo>
                  <a:pt x="16836" y="263002"/>
                  <a:pt x="0" y="246166"/>
                  <a:pt x="0" y="225429"/>
                </a:cubicBezTo>
                <a:lnTo>
                  <a:pt x="0" y="37572"/>
                </a:lnTo>
                <a:cubicBezTo>
                  <a:pt x="0" y="16836"/>
                  <a:pt x="16836" y="0"/>
                  <a:pt x="37572" y="0"/>
                </a:cubicBezTo>
                <a:close/>
              </a:path>
            </a:pathLst>
          </a:custGeom>
          <a:solidFill>
            <a:srgbClr val="4A7C59">
              <a:alpha val="10196"/>
            </a:srgbClr>
          </a:solidFill>
          <a:ln/>
        </p:spPr>
      </p:sp>
      <p:sp>
        <p:nvSpPr>
          <p:cNvPr id="27" name="Text 25"/>
          <p:cNvSpPr/>
          <p:nvPr/>
        </p:nvSpPr>
        <p:spPr>
          <a:xfrm>
            <a:off x="5812099" y="2461530"/>
            <a:ext cx="1221079" cy="263002"/>
          </a:xfrm>
          <a:prstGeom prst="rect">
            <a:avLst/>
          </a:prstGeom>
          <a:noFill/>
          <a:ln/>
        </p:spPr>
        <p:txBody>
          <a:bodyPr wrap="square" lIns="75143" tIns="18786" rIns="75143" bIns="18786" rtlCol="0" anchor="ctr"/>
          <a:lstStyle/>
          <a:p>
            <a:pPr>
              <a:lnSpc>
                <a:spcPct val="120000"/>
              </a:lnSpc>
            </a:pPr>
            <a:r>
              <a:rPr lang="en-US" sz="1183" dirty="0">
                <a:solidFill>
                  <a:srgbClr val="4A7C59"/>
                </a:solidFill>
                <a:latin typeface="Quattrocento Sans" pitchFamily="34" charset="0"/>
                <a:ea typeface="Quattrocento Sans" pitchFamily="34" charset="-122"/>
                <a:cs typeface="Quattrocento Sans" pitchFamily="34" charset="-120"/>
              </a:rPr>
              <a:t>Volunteer Hero</a:t>
            </a:r>
            <a:endParaRPr lang="en-US" sz="1600" dirty="0"/>
          </a:p>
        </p:txBody>
      </p:sp>
      <p:sp>
        <p:nvSpPr>
          <p:cNvPr id="28" name="Shape 26"/>
          <p:cNvSpPr/>
          <p:nvPr/>
        </p:nvSpPr>
        <p:spPr>
          <a:xfrm>
            <a:off x="8006049" y="1259237"/>
            <a:ext cx="3738379" cy="1578009"/>
          </a:xfrm>
          <a:custGeom>
            <a:avLst/>
            <a:gdLst/>
            <a:ahLst/>
            <a:cxnLst/>
            <a:rect l="l" t="t" r="r" b="b"/>
            <a:pathLst>
              <a:path w="3738379" h="1578009">
                <a:moveTo>
                  <a:pt x="37572" y="0"/>
                </a:moveTo>
                <a:lnTo>
                  <a:pt x="3700807" y="0"/>
                </a:lnTo>
                <a:cubicBezTo>
                  <a:pt x="3721558" y="0"/>
                  <a:pt x="3738379" y="16821"/>
                  <a:pt x="3738379" y="37572"/>
                </a:cubicBezTo>
                <a:lnTo>
                  <a:pt x="3738379" y="1502864"/>
                </a:lnTo>
                <a:cubicBezTo>
                  <a:pt x="3738379" y="1544366"/>
                  <a:pt x="3704736" y="1578009"/>
                  <a:pt x="3663234" y="1578009"/>
                </a:cubicBezTo>
                <a:lnTo>
                  <a:pt x="75145" y="1578009"/>
                </a:lnTo>
                <a:cubicBezTo>
                  <a:pt x="33671" y="1578009"/>
                  <a:pt x="0" y="1544338"/>
                  <a:pt x="0" y="1502864"/>
                </a:cubicBezTo>
                <a:lnTo>
                  <a:pt x="0" y="37572"/>
                </a:lnTo>
                <a:cubicBezTo>
                  <a:pt x="0" y="16821"/>
                  <a:pt x="16821" y="0"/>
                  <a:pt x="37572" y="0"/>
                </a:cubicBezTo>
                <a:close/>
              </a:path>
            </a:pathLst>
          </a:custGeom>
          <a:solidFill>
            <a:srgbClr val="FFFFFF"/>
          </a:solidFill>
          <a:ln/>
          <a:effectLst>
            <a:outerShdw sx="100000" sy="100000" kx="0" ky="0" algn="bl" rotWithShape="0" blurRad="56357" dist="37572" dir="5400000">
              <a:srgbClr val="000000">
                <a:alpha val="10196"/>
              </a:srgbClr>
            </a:outerShdw>
          </a:effectLst>
        </p:spPr>
      </p:sp>
      <p:sp>
        <p:nvSpPr>
          <p:cNvPr id="29" name="Shape 27"/>
          <p:cNvSpPr/>
          <p:nvPr/>
        </p:nvSpPr>
        <p:spPr>
          <a:xfrm>
            <a:off x="8006049" y="1259237"/>
            <a:ext cx="3738379" cy="37572"/>
          </a:xfrm>
          <a:custGeom>
            <a:avLst/>
            <a:gdLst/>
            <a:ahLst/>
            <a:cxnLst/>
            <a:rect l="l" t="t" r="r" b="b"/>
            <a:pathLst>
              <a:path w="3738379" h="37572">
                <a:moveTo>
                  <a:pt x="37572" y="0"/>
                </a:moveTo>
                <a:lnTo>
                  <a:pt x="3700807" y="0"/>
                </a:lnTo>
                <a:cubicBezTo>
                  <a:pt x="3721558" y="0"/>
                  <a:pt x="3738379" y="16821"/>
                  <a:pt x="3738379" y="37572"/>
                </a:cubicBezTo>
                <a:lnTo>
                  <a:pt x="3738379" y="37572"/>
                </a:lnTo>
                <a:lnTo>
                  <a:pt x="0" y="37572"/>
                </a:lnTo>
                <a:lnTo>
                  <a:pt x="0" y="37572"/>
                </a:lnTo>
                <a:cubicBezTo>
                  <a:pt x="0" y="16821"/>
                  <a:pt x="16821" y="0"/>
                  <a:pt x="37572" y="0"/>
                </a:cubicBezTo>
                <a:close/>
              </a:path>
            </a:pathLst>
          </a:custGeom>
          <a:solidFill>
            <a:srgbClr val="F7B538"/>
          </a:solidFill>
          <a:ln/>
        </p:spPr>
      </p:sp>
      <p:sp>
        <p:nvSpPr>
          <p:cNvPr id="30" name="Shape 28"/>
          <p:cNvSpPr/>
          <p:nvPr/>
        </p:nvSpPr>
        <p:spPr>
          <a:xfrm>
            <a:off x="8118764" y="1390738"/>
            <a:ext cx="300573" cy="300573"/>
          </a:xfrm>
          <a:custGeom>
            <a:avLst/>
            <a:gdLst/>
            <a:ahLst/>
            <a:cxnLst/>
            <a:rect l="l" t="t" r="r" b="b"/>
            <a:pathLst>
              <a:path w="300573" h="300573">
                <a:moveTo>
                  <a:pt x="150287" y="0"/>
                </a:moveTo>
                <a:lnTo>
                  <a:pt x="150287" y="0"/>
                </a:lnTo>
                <a:cubicBezTo>
                  <a:pt x="233288" y="0"/>
                  <a:pt x="300573" y="67286"/>
                  <a:pt x="300573" y="150287"/>
                </a:cubicBezTo>
                <a:lnTo>
                  <a:pt x="300573" y="150287"/>
                </a:lnTo>
                <a:cubicBezTo>
                  <a:pt x="300573" y="233288"/>
                  <a:pt x="233288" y="300573"/>
                  <a:pt x="150287" y="300573"/>
                </a:cubicBezTo>
                <a:lnTo>
                  <a:pt x="150287" y="300573"/>
                </a:lnTo>
                <a:cubicBezTo>
                  <a:pt x="67286" y="300573"/>
                  <a:pt x="0" y="233288"/>
                  <a:pt x="0" y="150287"/>
                </a:cubicBezTo>
                <a:lnTo>
                  <a:pt x="0" y="150287"/>
                </a:lnTo>
                <a:cubicBezTo>
                  <a:pt x="0" y="67286"/>
                  <a:pt x="67286" y="0"/>
                  <a:pt x="150287" y="0"/>
                </a:cubicBezTo>
                <a:close/>
              </a:path>
            </a:pathLst>
          </a:custGeom>
          <a:solidFill>
            <a:srgbClr val="F7B538"/>
          </a:solidFill>
          <a:ln/>
        </p:spPr>
      </p:sp>
      <p:sp>
        <p:nvSpPr>
          <p:cNvPr id="31" name="Text 29"/>
          <p:cNvSpPr/>
          <p:nvPr/>
        </p:nvSpPr>
        <p:spPr>
          <a:xfrm>
            <a:off x="8081192" y="1390738"/>
            <a:ext cx="375716" cy="300573"/>
          </a:xfrm>
          <a:prstGeom prst="rect">
            <a:avLst/>
          </a:prstGeom>
          <a:noFill/>
          <a:ln/>
        </p:spPr>
        <p:txBody>
          <a:bodyPr wrap="square" lIns="0" tIns="0" rIns="0" bIns="0" rtlCol="0" anchor="ctr"/>
          <a:lstStyle/>
          <a:p>
            <a:pPr algn="ctr">
              <a:lnSpc>
                <a:spcPct val="120000"/>
              </a:lnSpc>
            </a:pPr>
            <a:r>
              <a:rPr lang="en-US" sz="1183" b="1" dirty="0">
                <a:solidFill>
                  <a:srgbClr val="1A535C"/>
                </a:solidFill>
                <a:latin typeface="Quattrocento Sans" pitchFamily="34" charset="0"/>
                <a:ea typeface="Quattrocento Sans" pitchFamily="34" charset="-122"/>
                <a:cs typeface="Quattrocento Sans" pitchFamily="34" charset="-120"/>
              </a:rPr>
              <a:t>3</a:t>
            </a:r>
            <a:endParaRPr lang="en-US" sz="1600" dirty="0"/>
          </a:p>
        </p:txBody>
      </p:sp>
      <p:sp>
        <p:nvSpPr>
          <p:cNvPr id="32" name="Text 30"/>
          <p:cNvSpPr/>
          <p:nvPr/>
        </p:nvSpPr>
        <p:spPr>
          <a:xfrm>
            <a:off x="8494480" y="1428310"/>
            <a:ext cx="1681331" cy="225430"/>
          </a:xfrm>
          <a:prstGeom prst="rect">
            <a:avLst/>
          </a:prstGeom>
          <a:noFill/>
          <a:ln/>
        </p:spPr>
        <p:txBody>
          <a:bodyPr wrap="square" lIns="0" tIns="0" rIns="0" bIns="0" rtlCol="0" anchor="ctr"/>
          <a:lstStyle/>
          <a:p>
            <a:pPr>
              <a:lnSpc>
                <a:spcPct val="120000"/>
              </a:lnSpc>
            </a:pPr>
            <a:r>
              <a:rPr lang="en-US" sz="1183" b="1" dirty="0">
                <a:solidFill>
                  <a:srgbClr val="1A535C"/>
                </a:solidFill>
                <a:latin typeface="Liter" pitchFamily="34" charset="0"/>
                <a:ea typeface="Liter" pitchFamily="34" charset="-122"/>
                <a:cs typeface="Liter" pitchFamily="34" charset="-120"/>
              </a:rPr>
              <a:t>Smart Search &amp; Filtering</a:t>
            </a:r>
            <a:endParaRPr lang="en-US" sz="1600" dirty="0"/>
          </a:p>
        </p:txBody>
      </p:sp>
      <p:sp>
        <p:nvSpPr>
          <p:cNvPr id="33" name="Text 31"/>
          <p:cNvSpPr/>
          <p:nvPr/>
        </p:nvSpPr>
        <p:spPr>
          <a:xfrm>
            <a:off x="8118764" y="1766455"/>
            <a:ext cx="3588092" cy="619932"/>
          </a:xfrm>
          <a:prstGeom prst="rect">
            <a:avLst/>
          </a:prstGeom>
          <a:noFill/>
          <a:ln/>
        </p:spPr>
        <p:txBody>
          <a:bodyPr wrap="square" lIns="0" tIns="0" rIns="0" bIns="0" rtlCol="0" anchor="ctr"/>
          <a:lstStyle/>
          <a:p>
            <a:pPr>
              <a:lnSpc>
                <a:spcPct val="110000"/>
              </a:lnSpc>
            </a:pPr>
            <a:r>
              <a:rPr lang="en-US" sz="1183" dirty="0">
                <a:solidFill>
                  <a:srgbClr val="212529"/>
                </a:solidFill>
                <a:latin typeface="Quattrocento Sans" pitchFamily="34" charset="0"/>
                <a:ea typeface="Quattrocento Sans" pitchFamily="34" charset="-122"/>
                <a:cs typeface="Quattrocento Sans" pitchFamily="34" charset="-120"/>
              </a:rPr>
              <a:t>Full-text search with filters for subject, language, price range, rating, availability, gender preference. Sort by relevance, rating, price, experience.</a:t>
            </a:r>
            <a:endParaRPr lang="en-US" sz="1600" dirty="0"/>
          </a:p>
        </p:txBody>
      </p:sp>
      <p:sp>
        <p:nvSpPr>
          <p:cNvPr id="34" name="Shape 32"/>
          <p:cNvSpPr/>
          <p:nvPr/>
        </p:nvSpPr>
        <p:spPr>
          <a:xfrm>
            <a:off x="8118764" y="2461530"/>
            <a:ext cx="1023827" cy="263002"/>
          </a:xfrm>
          <a:custGeom>
            <a:avLst/>
            <a:gdLst/>
            <a:ahLst/>
            <a:cxnLst/>
            <a:rect l="l" t="t" r="r" b="b"/>
            <a:pathLst>
              <a:path w="1023827" h="263002">
                <a:moveTo>
                  <a:pt x="37572" y="0"/>
                </a:moveTo>
                <a:lnTo>
                  <a:pt x="986255" y="0"/>
                </a:lnTo>
                <a:cubicBezTo>
                  <a:pt x="1006992" y="0"/>
                  <a:pt x="1023827" y="16836"/>
                  <a:pt x="1023827" y="37572"/>
                </a:cubicBezTo>
                <a:lnTo>
                  <a:pt x="1023827" y="225429"/>
                </a:lnTo>
                <a:cubicBezTo>
                  <a:pt x="1023827" y="246180"/>
                  <a:pt x="1007006" y="263002"/>
                  <a:pt x="986255" y="263002"/>
                </a:cubicBezTo>
                <a:lnTo>
                  <a:pt x="37572" y="263002"/>
                </a:lnTo>
                <a:cubicBezTo>
                  <a:pt x="16836" y="263002"/>
                  <a:pt x="0" y="246166"/>
                  <a:pt x="0" y="225429"/>
                </a:cubicBezTo>
                <a:lnTo>
                  <a:pt x="0" y="37572"/>
                </a:lnTo>
                <a:cubicBezTo>
                  <a:pt x="0" y="16836"/>
                  <a:pt x="16836" y="0"/>
                  <a:pt x="37572" y="0"/>
                </a:cubicBezTo>
                <a:close/>
              </a:path>
            </a:pathLst>
          </a:custGeom>
          <a:solidFill>
            <a:srgbClr val="F7B538">
              <a:alpha val="20000"/>
            </a:srgbClr>
          </a:solidFill>
          <a:ln/>
        </p:spPr>
      </p:sp>
      <p:sp>
        <p:nvSpPr>
          <p:cNvPr id="35" name="Text 33"/>
          <p:cNvSpPr/>
          <p:nvPr/>
        </p:nvSpPr>
        <p:spPr>
          <a:xfrm>
            <a:off x="8118764" y="2461530"/>
            <a:ext cx="1098971" cy="263002"/>
          </a:xfrm>
          <a:prstGeom prst="rect">
            <a:avLst/>
          </a:prstGeom>
          <a:noFill/>
          <a:ln/>
        </p:spPr>
        <p:txBody>
          <a:bodyPr wrap="square" lIns="75143" tIns="18786" rIns="75143" bIns="18786" rtlCol="0" anchor="ctr"/>
          <a:lstStyle/>
          <a:p>
            <a:pPr>
              <a:lnSpc>
                <a:spcPct val="120000"/>
              </a:lnSpc>
            </a:pPr>
            <a:r>
              <a:rPr lang="en-US" sz="1183" dirty="0">
                <a:solidFill>
                  <a:srgbClr val="F7B538"/>
                </a:solidFill>
                <a:latin typeface="Quattrocento Sans" pitchFamily="34" charset="0"/>
                <a:ea typeface="Quattrocento Sans" pitchFamily="34" charset="-122"/>
                <a:cs typeface="Quattrocento Sans" pitchFamily="34" charset="-120"/>
              </a:rPr>
              <a:t>Laravel Scout</a:t>
            </a:r>
            <a:endParaRPr lang="en-US" sz="1600" dirty="0"/>
          </a:p>
        </p:txBody>
      </p:sp>
      <p:sp>
        <p:nvSpPr>
          <p:cNvPr id="36" name="Shape 34"/>
          <p:cNvSpPr/>
          <p:nvPr/>
        </p:nvSpPr>
        <p:spPr>
          <a:xfrm>
            <a:off x="9182746" y="2461530"/>
            <a:ext cx="901720" cy="263002"/>
          </a:xfrm>
          <a:custGeom>
            <a:avLst/>
            <a:gdLst/>
            <a:ahLst/>
            <a:cxnLst/>
            <a:rect l="l" t="t" r="r" b="b"/>
            <a:pathLst>
              <a:path w="901720" h="263002">
                <a:moveTo>
                  <a:pt x="37572" y="0"/>
                </a:moveTo>
                <a:lnTo>
                  <a:pt x="864147" y="0"/>
                </a:lnTo>
                <a:cubicBezTo>
                  <a:pt x="884884" y="0"/>
                  <a:pt x="901720" y="16836"/>
                  <a:pt x="901720" y="37572"/>
                </a:cubicBezTo>
                <a:lnTo>
                  <a:pt x="901720" y="225429"/>
                </a:lnTo>
                <a:cubicBezTo>
                  <a:pt x="901720" y="246180"/>
                  <a:pt x="884898" y="263002"/>
                  <a:pt x="864147" y="263002"/>
                </a:cubicBezTo>
                <a:lnTo>
                  <a:pt x="37572" y="263002"/>
                </a:lnTo>
                <a:cubicBezTo>
                  <a:pt x="16836" y="263002"/>
                  <a:pt x="0" y="246166"/>
                  <a:pt x="0" y="225429"/>
                </a:cubicBezTo>
                <a:lnTo>
                  <a:pt x="0" y="37572"/>
                </a:lnTo>
                <a:cubicBezTo>
                  <a:pt x="0" y="16836"/>
                  <a:pt x="16836" y="0"/>
                  <a:pt x="37572" y="0"/>
                </a:cubicBezTo>
                <a:close/>
              </a:path>
            </a:pathLst>
          </a:custGeom>
          <a:solidFill>
            <a:srgbClr val="F7B538">
              <a:alpha val="20000"/>
            </a:srgbClr>
          </a:solidFill>
          <a:ln/>
        </p:spPr>
      </p:sp>
      <p:sp>
        <p:nvSpPr>
          <p:cNvPr id="37" name="Text 35"/>
          <p:cNvSpPr/>
          <p:nvPr/>
        </p:nvSpPr>
        <p:spPr>
          <a:xfrm>
            <a:off x="9182746" y="2461530"/>
            <a:ext cx="976863" cy="263002"/>
          </a:xfrm>
          <a:prstGeom prst="rect">
            <a:avLst/>
          </a:prstGeom>
          <a:noFill/>
          <a:ln/>
        </p:spPr>
        <p:txBody>
          <a:bodyPr wrap="square" lIns="75143" tIns="18786" rIns="75143" bIns="18786" rtlCol="0" anchor="ctr"/>
          <a:lstStyle/>
          <a:p>
            <a:pPr>
              <a:lnSpc>
                <a:spcPct val="120000"/>
              </a:lnSpc>
            </a:pPr>
            <a:r>
              <a:rPr lang="en-US" sz="1183" dirty="0">
                <a:solidFill>
                  <a:srgbClr val="F7B538"/>
                </a:solidFill>
                <a:latin typeface="Quattrocento Sans" pitchFamily="34" charset="0"/>
                <a:ea typeface="Quattrocento Sans" pitchFamily="34" charset="-122"/>
                <a:cs typeface="Quattrocento Sans" pitchFamily="34" charset="-120"/>
              </a:rPr>
              <a:t>MeiliSearch</a:t>
            </a:r>
            <a:endParaRPr lang="en-US" sz="1600" dirty="0"/>
          </a:p>
        </p:txBody>
      </p:sp>
      <p:sp>
        <p:nvSpPr>
          <p:cNvPr id="38" name="Shape 36"/>
          <p:cNvSpPr/>
          <p:nvPr/>
        </p:nvSpPr>
        <p:spPr>
          <a:xfrm>
            <a:off x="305270" y="2968747"/>
            <a:ext cx="3738379" cy="1784653"/>
          </a:xfrm>
          <a:custGeom>
            <a:avLst/>
            <a:gdLst/>
            <a:ahLst/>
            <a:cxnLst/>
            <a:rect l="l" t="t" r="r" b="b"/>
            <a:pathLst>
              <a:path w="3738379" h="1784653">
                <a:moveTo>
                  <a:pt x="37572" y="0"/>
                </a:moveTo>
                <a:lnTo>
                  <a:pt x="3700807" y="0"/>
                </a:lnTo>
                <a:cubicBezTo>
                  <a:pt x="3721558" y="0"/>
                  <a:pt x="3738379" y="16821"/>
                  <a:pt x="3738379" y="37572"/>
                </a:cubicBezTo>
                <a:lnTo>
                  <a:pt x="3738379" y="1709502"/>
                </a:lnTo>
                <a:cubicBezTo>
                  <a:pt x="3738379" y="1751007"/>
                  <a:pt x="3704732" y="1784653"/>
                  <a:pt x="3663227" y="1784653"/>
                </a:cubicBezTo>
                <a:lnTo>
                  <a:pt x="75152" y="1784653"/>
                </a:lnTo>
                <a:cubicBezTo>
                  <a:pt x="33647" y="1784653"/>
                  <a:pt x="0" y="1751007"/>
                  <a:pt x="0" y="1709502"/>
                </a:cubicBezTo>
                <a:lnTo>
                  <a:pt x="0" y="37572"/>
                </a:lnTo>
                <a:cubicBezTo>
                  <a:pt x="0" y="16821"/>
                  <a:pt x="16821" y="0"/>
                  <a:pt x="37572" y="0"/>
                </a:cubicBezTo>
                <a:close/>
              </a:path>
            </a:pathLst>
          </a:custGeom>
          <a:solidFill>
            <a:srgbClr val="FFFFFF"/>
          </a:solidFill>
          <a:ln/>
          <a:effectLst>
            <a:outerShdw sx="100000" sy="100000" kx="0" ky="0" algn="bl" rotWithShape="0" blurRad="56357" dist="37572" dir="5400000">
              <a:srgbClr val="000000">
                <a:alpha val="10196"/>
              </a:srgbClr>
            </a:outerShdw>
          </a:effectLst>
        </p:spPr>
      </p:sp>
      <p:sp>
        <p:nvSpPr>
          <p:cNvPr id="39" name="Shape 37"/>
          <p:cNvSpPr/>
          <p:nvPr/>
        </p:nvSpPr>
        <p:spPr>
          <a:xfrm>
            <a:off x="305270" y="2968747"/>
            <a:ext cx="3738379" cy="37572"/>
          </a:xfrm>
          <a:custGeom>
            <a:avLst/>
            <a:gdLst/>
            <a:ahLst/>
            <a:cxnLst/>
            <a:rect l="l" t="t" r="r" b="b"/>
            <a:pathLst>
              <a:path w="3738379" h="37572">
                <a:moveTo>
                  <a:pt x="37572" y="0"/>
                </a:moveTo>
                <a:lnTo>
                  <a:pt x="3700807" y="0"/>
                </a:lnTo>
                <a:cubicBezTo>
                  <a:pt x="3721558" y="0"/>
                  <a:pt x="3738379" y="16821"/>
                  <a:pt x="3738379" y="37572"/>
                </a:cubicBezTo>
                <a:lnTo>
                  <a:pt x="3738379" y="37572"/>
                </a:lnTo>
                <a:lnTo>
                  <a:pt x="0" y="37572"/>
                </a:lnTo>
                <a:lnTo>
                  <a:pt x="0" y="37572"/>
                </a:lnTo>
                <a:cubicBezTo>
                  <a:pt x="0" y="16821"/>
                  <a:pt x="16821" y="0"/>
                  <a:pt x="37572" y="0"/>
                </a:cubicBezTo>
                <a:close/>
              </a:path>
            </a:pathLst>
          </a:custGeom>
          <a:solidFill>
            <a:srgbClr val="1A535C"/>
          </a:solidFill>
          <a:ln/>
        </p:spPr>
      </p:sp>
      <p:sp>
        <p:nvSpPr>
          <p:cNvPr id="40" name="Shape 38"/>
          <p:cNvSpPr/>
          <p:nvPr/>
        </p:nvSpPr>
        <p:spPr>
          <a:xfrm>
            <a:off x="417985" y="3100248"/>
            <a:ext cx="300573" cy="300573"/>
          </a:xfrm>
          <a:custGeom>
            <a:avLst/>
            <a:gdLst/>
            <a:ahLst/>
            <a:cxnLst/>
            <a:rect l="l" t="t" r="r" b="b"/>
            <a:pathLst>
              <a:path w="300573" h="300573">
                <a:moveTo>
                  <a:pt x="150287" y="0"/>
                </a:moveTo>
                <a:lnTo>
                  <a:pt x="150287" y="0"/>
                </a:lnTo>
                <a:cubicBezTo>
                  <a:pt x="233288" y="0"/>
                  <a:pt x="300573" y="67286"/>
                  <a:pt x="300573" y="150287"/>
                </a:cubicBezTo>
                <a:lnTo>
                  <a:pt x="300573" y="150287"/>
                </a:lnTo>
                <a:cubicBezTo>
                  <a:pt x="300573" y="233288"/>
                  <a:pt x="233288" y="300573"/>
                  <a:pt x="150287" y="300573"/>
                </a:cubicBezTo>
                <a:lnTo>
                  <a:pt x="150287" y="300573"/>
                </a:lnTo>
                <a:cubicBezTo>
                  <a:pt x="67286" y="300573"/>
                  <a:pt x="0" y="233288"/>
                  <a:pt x="0" y="150287"/>
                </a:cubicBezTo>
                <a:lnTo>
                  <a:pt x="0" y="150287"/>
                </a:lnTo>
                <a:cubicBezTo>
                  <a:pt x="0" y="67286"/>
                  <a:pt x="67286" y="0"/>
                  <a:pt x="150287" y="0"/>
                </a:cubicBezTo>
                <a:close/>
              </a:path>
            </a:pathLst>
          </a:custGeom>
          <a:solidFill>
            <a:srgbClr val="1A535C"/>
          </a:solidFill>
          <a:ln/>
        </p:spPr>
      </p:sp>
      <p:sp>
        <p:nvSpPr>
          <p:cNvPr id="41" name="Text 39"/>
          <p:cNvSpPr/>
          <p:nvPr/>
        </p:nvSpPr>
        <p:spPr>
          <a:xfrm>
            <a:off x="380413" y="3100248"/>
            <a:ext cx="375716" cy="300573"/>
          </a:xfrm>
          <a:prstGeom prst="rect">
            <a:avLst/>
          </a:prstGeom>
          <a:noFill/>
          <a:ln/>
        </p:spPr>
        <p:txBody>
          <a:bodyPr wrap="square" lIns="0" tIns="0" rIns="0" bIns="0" rtlCol="0" anchor="ctr"/>
          <a:lstStyle/>
          <a:p>
            <a:pPr algn="ctr">
              <a:lnSpc>
                <a:spcPct val="120000"/>
              </a:lnSpc>
            </a:pPr>
            <a:r>
              <a:rPr lang="en-US" sz="1183" b="1" dirty="0">
                <a:solidFill>
                  <a:srgbClr val="FFFFFF"/>
                </a:solidFill>
                <a:latin typeface="Quattrocento Sans" pitchFamily="34" charset="0"/>
                <a:ea typeface="Quattrocento Sans" pitchFamily="34" charset="-122"/>
                <a:cs typeface="Quattrocento Sans" pitchFamily="34" charset="-120"/>
              </a:rPr>
              <a:t>4</a:t>
            </a:r>
            <a:endParaRPr lang="en-US" sz="1600" dirty="0"/>
          </a:p>
        </p:txBody>
      </p:sp>
      <p:sp>
        <p:nvSpPr>
          <p:cNvPr id="42" name="Text 40"/>
          <p:cNvSpPr/>
          <p:nvPr/>
        </p:nvSpPr>
        <p:spPr>
          <a:xfrm>
            <a:off x="793701" y="3137820"/>
            <a:ext cx="1512259" cy="225430"/>
          </a:xfrm>
          <a:prstGeom prst="rect">
            <a:avLst/>
          </a:prstGeom>
          <a:noFill/>
          <a:ln/>
        </p:spPr>
        <p:txBody>
          <a:bodyPr wrap="square" lIns="0" tIns="0" rIns="0" bIns="0" rtlCol="0" anchor="ctr"/>
          <a:lstStyle/>
          <a:p>
            <a:pPr>
              <a:lnSpc>
                <a:spcPct val="120000"/>
              </a:lnSpc>
            </a:pPr>
            <a:r>
              <a:rPr lang="en-US" sz="1183" b="1" dirty="0">
                <a:solidFill>
                  <a:srgbClr val="1A535C"/>
                </a:solidFill>
                <a:latin typeface="Liter" pitchFamily="34" charset="0"/>
                <a:ea typeface="Liter" pitchFamily="34" charset="-122"/>
                <a:cs typeface="Liter" pitchFamily="34" charset="-120"/>
              </a:rPr>
              <a:t>Real-Time Messaging</a:t>
            </a:r>
            <a:endParaRPr lang="en-US" sz="1600" dirty="0"/>
          </a:p>
        </p:txBody>
      </p:sp>
      <p:sp>
        <p:nvSpPr>
          <p:cNvPr id="43" name="Text 41"/>
          <p:cNvSpPr/>
          <p:nvPr/>
        </p:nvSpPr>
        <p:spPr>
          <a:xfrm>
            <a:off x="417985" y="3475965"/>
            <a:ext cx="3588092" cy="826576"/>
          </a:xfrm>
          <a:prstGeom prst="rect">
            <a:avLst/>
          </a:prstGeom>
          <a:noFill/>
          <a:ln/>
        </p:spPr>
        <p:txBody>
          <a:bodyPr wrap="square" lIns="0" tIns="0" rIns="0" bIns="0" rtlCol="0" anchor="ctr"/>
          <a:lstStyle/>
          <a:p>
            <a:pPr>
              <a:lnSpc>
                <a:spcPct val="110000"/>
              </a:lnSpc>
            </a:pPr>
            <a:r>
              <a:rPr lang="en-US" sz="1183" dirty="0">
                <a:solidFill>
                  <a:srgbClr val="212529"/>
                </a:solidFill>
                <a:latin typeface="Quattrocento Sans" pitchFamily="34" charset="0"/>
                <a:ea typeface="Quattrocento Sans" pitchFamily="34" charset="-122"/>
                <a:cs typeface="Quattrocento Sans" pitchFamily="34" charset="-120"/>
              </a:rPr>
              <a:t>WebSocket-based chat with instant delivery, text/image/PDF attachments, read receipts, typing indicators, searchable history, and push notifications.</a:t>
            </a:r>
            <a:endParaRPr lang="en-US" sz="1600" dirty="0"/>
          </a:p>
        </p:txBody>
      </p:sp>
      <p:sp>
        <p:nvSpPr>
          <p:cNvPr id="44" name="Shape 42"/>
          <p:cNvSpPr/>
          <p:nvPr/>
        </p:nvSpPr>
        <p:spPr>
          <a:xfrm>
            <a:off x="417985" y="4377684"/>
            <a:ext cx="976863" cy="263002"/>
          </a:xfrm>
          <a:custGeom>
            <a:avLst/>
            <a:gdLst/>
            <a:ahLst/>
            <a:cxnLst/>
            <a:rect l="l" t="t" r="r" b="b"/>
            <a:pathLst>
              <a:path w="976863" h="263002">
                <a:moveTo>
                  <a:pt x="37572" y="0"/>
                </a:moveTo>
                <a:lnTo>
                  <a:pt x="939290" y="0"/>
                </a:lnTo>
                <a:cubicBezTo>
                  <a:pt x="960027" y="0"/>
                  <a:pt x="976863" y="16836"/>
                  <a:pt x="976863" y="37572"/>
                </a:cubicBezTo>
                <a:lnTo>
                  <a:pt x="976863" y="225429"/>
                </a:lnTo>
                <a:cubicBezTo>
                  <a:pt x="976863" y="246180"/>
                  <a:pt x="960041" y="263002"/>
                  <a:pt x="939290" y="263002"/>
                </a:cubicBezTo>
                <a:lnTo>
                  <a:pt x="37572" y="263002"/>
                </a:lnTo>
                <a:cubicBezTo>
                  <a:pt x="16836" y="263002"/>
                  <a:pt x="0" y="246166"/>
                  <a:pt x="0" y="225429"/>
                </a:cubicBezTo>
                <a:lnTo>
                  <a:pt x="0" y="37572"/>
                </a:lnTo>
                <a:cubicBezTo>
                  <a:pt x="0" y="16836"/>
                  <a:pt x="16836" y="0"/>
                  <a:pt x="37572" y="0"/>
                </a:cubicBezTo>
                <a:close/>
              </a:path>
            </a:pathLst>
          </a:custGeom>
          <a:solidFill>
            <a:srgbClr val="1A535C">
              <a:alpha val="10196"/>
            </a:srgbClr>
          </a:solidFill>
          <a:ln/>
        </p:spPr>
      </p:sp>
      <p:sp>
        <p:nvSpPr>
          <p:cNvPr id="45" name="Text 43"/>
          <p:cNvSpPr/>
          <p:nvPr/>
        </p:nvSpPr>
        <p:spPr>
          <a:xfrm>
            <a:off x="417985" y="4377684"/>
            <a:ext cx="1052006" cy="263002"/>
          </a:xfrm>
          <a:prstGeom prst="rect">
            <a:avLst/>
          </a:prstGeom>
          <a:noFill/>
          <a:ln/>
        </p:spPr>
        <p:txBody>
          <a:bodyPr wrap="square" lIns="75143" tIns="18786" rIns="75143" bIns="18786" rtlCol="0" anchor="ctr"/>
          <a:lstStyle/>
          <a:p>
            <a:pPr>
              <a:lnSpc>
                <a:spcPct val="120000"/>
              </a:lnSpc>
            </a:pPr>
            <a:r>
              <a:rPr lang="en-US" sz="1183" dirty="0">
                <a:solidFill>
                  <a:srgbClr val="1A535C"/>
                </a:solidFill>
                <a:latin typeface="Quattrocento Sans" pitchFamily="34" charset="0"/>
                <a:ea typeface="Quattrocento Sans" pitchFamily="34" charset="-122"/>
                <a:cs typeface="Quattrocento Sans" pitchFamily="34" charset="-120"/>
              </a:rPr>
              <a:t>Laravel Echo</a:t>
            </a:r>
            <a:endParaRPr lang="en-US" sz="1600" dirty="0"/>
          </a:p>
        </p:txBody>
      </p:sp>
      <p:sp>
        <p:nvSpPr>
          <p:cNvPr id="46" name="Shape 44"/>
          <p:cNvSpPr/>
          <p:nvPr/>
        </p:nvSpPr>
        <p:spPr>
          <a:xfrm>
            <a:off x="1430658" y="4377684"/>
            <a:ext cx="591753" cy="263002"/>
          </a:xfrm>
          <a:custGeom>
            <a:avLst/>
            <a:gdLst/>
            <a:ahLst/>
            <a:cxnLst/>
            <a:rect l="l" t="t" r="r" b="b"/>
            <a:pathLst>
              <a:path w="591753" h="263002">
                <a:moveTo>
                  <a:pt x="37572" y="0"/>
                </a:moveTo>
                <a:lnTo>
                  <a:pt x="554181" y="0"/>
                </a:lnTo>
                <a:cubicBezTo>
                  <a:pt x="574918" y="0"/>
                  <a:pt x="591753" y="16836"/>
                  <a:pt x="591753" y="37572"/>
                </a:cubicBezTo>
                <a:lnTo>
                  <a:pt x="591753" y="225429"/>
                </a:lnTo>
                <a:cubicBezTo>
                  <a:pt x="591753" y="246180"/>
                  <a:pt x="574932" y="263002"/>
                  <a:pt x="554181" y="263002"/>
                </a:cubicBezTo>
                <a:lnTo>
                  <a:pt x="37572" y="263002"/>
                </a:lnTo>
                <a:cubicBezTo>
                  <a:pt x="16836" y="263002"/>
                  <a:pt x="0" y="246166"/>
                  <a:pt x="0" y="225429"/>
                </a:cubicBezTo>
                <a:lnTo>
                  <a:pt x="0" y="37572"/>
                </a:lnTo>
                <a:cubicBezTo>
                  <a:pt x="0" y="16836"/>
                  <a:pt x="16836" y="0"/>
                  <a:pt x="37572" y="0"/>
                </a:cubicBezTo>
                <a:close/>
              </a:path>
            </a:pathLst>
          </a:custGeom>
          <a:solidFill>
            <a:srgbClr val="1A535C">
              <a:alpha val="10196"/>
            </a:srgbClr>
          </a:solidFill>
          <a:ln/>
        </p:spPr>
      </p:sp>
      <p:sp>
        <p:nvSpPr>
          <p:cNvPr id="47" name="Text 45"/>
          <p:cNvSpPr/>
          <p:nvPr/>
        </p:nvSpPr>
        <p:spPr>
          <a:xfrm>
            <a:off x="1430658" y="4377684"/>
            <a:ext cx="666897" cy="263002"/>
          </a:xfrm>
          <a:prstGeom prst="rect">
            <a:avLst/>
          </a:prstGeom>
          <a:noFill/>
          <a:ln/>
        </p:spPr>
        <p:txBody>
          <a:bodyPr wrap="square" lIns="75143" tIns="18786" rIns="75143" bIns="18786" rtlCol="0" anchor="ctr"/>
          <a:lstStyle/>
          <a:p>
            <a:pPr>
              <a:lnSpc>
                <a:spcPct val="120000"/>
              </a:lnSpc>
            </a:pPr>
            <a:r>
              <a:rPr lang="en-US" sz="1183" dirty="0">
                <a:solidFill>
                  <a:srgbClr val="1A535C"/>
                </a:solidFill>
                <a:latin typeface="Quattrocento Sans" pitchFamily="34" charset="0"/>
                <a:ea typeface="Quattrocento Sans" pitchFamily="34" charset="-122"/>
                <a:cs typeface="Quattrocento Sans" pitchFamily="34" charset="-120"/>
              </a:rPr>
              <a:t>Pusher</a:t>
            </a:r>
            <a:endParaRPr lang="en-US" sz="1600" dirty="0"/>
          </a:p>
        </p:txBody>
      </p:sp>
      <p:sp>
        <p:nvSpPr>
          <p:cNvPr id="48" name="Shape 46"/>
          <p:cNvSpPr/>
          <p:nvPr/>
        </p:nvSpPr>
        <p:spPr>
          <a:xfrm>
            <a:off x="4155659" y="2968747"/>
            <a:ext cx="3738379" cy="1784653"/>
          </a:xfrm>
          <a:custGeom>
            <a:avLst/>
            <a:gdLst/>
            <a:ahLst/>
            <a:cxnLst/>
            <a:rect l="l" t="t" r="r" b="b"/>
            <a:pathLst>
              <a:path w="3738379" h="1784653">
                <a:moveTo>
                  <a:pt x="37572" y="0"/>
                </a:moveTo>
                <a:lnTo>
                  <a:pt x="3700807" y="0"/>
                </a:lnTo>
                <a:cubicBezTo>
                  <a:pt x="3721558" y="0"/>
                  <a:pt x="3738379" y="16821"/>
                  <a:pt x="3738379" y="37572"/>
                </a:cubicBezTo>
                <a:lnTo>
                  <a:pt x="3738379" y="1709502"/>
                </a:lnTo>
                <a:cubicBezTo>
                  <a:pt x="3738379" y="1751007"/>
                  <a:pt x="3704732" y="1784653"/>
                  <a:pt x="3663227" y="1784653"/>
                </a:cubicBezTo>
                <a:lnTo>
                  <a:pt x="75152" y="1784653"/>
                </a:lnTo>
                <a:cubicBezTo>
                  <a:pt x="33647" y="1784653"/>
                  <a:pt x="0" y="1751007"/>
                  <a:pt x="0" y="1709502"/>
                </a:cubicBezTo>
                <a:lnTo>
                  <a:pt x="0" y="37572"/>
                </a:lnTo>
                <a:cubicBezTo>
                  <a:pt x="0" y="16821"/>
                  <a:pt x="16821" y="0"/>
                  <a:pt x="37572" y="0"/>
                </a:cubicBezTo>
                <a:close/>
              </a:path>
            </a:pathLst>
          </a:custGeom>
          <a:solidFill>
            <a:srgbClr val="FFFFFF"/>
          </a:solidFill>
          <a:ln/>
          <a:effectLst>
            <a:outerShdw sx="100000" sy="100000" kx="0" ky="0" algn="bl" rotWithShape="0" blurRad="56357" dist="37572" dir="5400000">
              <a:srgbClr val="000000">
                <a:alpha val="10196"/>
              </a:srgbClr>
            </a:outerShdw>
          </a:effectLst>
        </p:spPr>
      </p:sp>
      <p:sp>
        <p:nvSpPr>
          <p:cNvPr id="49" name="Shape 47"/>
          <p:cNvSpPr/>
          <p:nvPr/>
        </p:nvSpPr>
        <p:spPr>
          <a:xfrm>
            <a:off x="4155659" y="2968747"/>
            <a:ext cx="3738379" cy="37572"/>
          </a:xfrm>
          <a:custGeom>
            <a:avLst/>
            <a:gdLst/>
            <a:ahLst/>
            <a:cxnLst/>
            <a:rect l="l" t="t" r="r" b="b"/>
            <a:pathLst>
              <a:path w="3738379" h="37572">
                <a:moveTo>
                  <a:pt x="37572" y="0"/>
                </a:moveTo>
                <a:lnTo>
                  <a:pt x="3700807" y="0"/>
                </a:lnTo>
                <a:cubicBezTo>
                  <a:pt x="3721558" y="0"/>
                  <a:pt x="3738379" y="16821"/>
                  <a:pt x="3738379" y="37572"/>
                </a:cubicBezTo>
                <a:lnTo>
                  <a:pt x="3738379" y="37572"/>
                </a:lnTo>
                <a:lnTo>
                  <a:pt x="0" y="37572"/>
                </a:lnTo>
                <a:lnTo>
                  <a:pt x="0" y="37572"/>
                </a:lnTo>
                <a:cubicBezTo>
                  <a:pt x="0" y="16821"/>
                  <a:pt x="16821" y="0"/>
                  <a:pt x="37572" y="0"/>
                </a:cubicBezTo>
                <a:close/>
              </a:path>
            </a:pathLst>
          </a:custGeom>
          <a:solidFill>
            <a:srgbClr val="4A7C59"/>
          </a:solidFill>
          <a:ln/>
        </p:spPr>
      </p:sp>
      <p:sp>
        <p:nvSpPr>
          <p:cNvPr id="50" name="Shape 48"/>
          <p:cNvSpPr/>
          <p:nvPr/>
        </p:nvSpPr>
        <p:spPr>
          <a:xfrm>
            <a:off x="4268374" y="3100248"/>
            <a:ext cx="300573" cy="300573"/>
          </a:xfrm>
          <a:custGeom>
            <a:avLst/>
            <a:gdLst/>
            <a:ahLst/>
            <a:cxnLst/>
            <a:rect l="l" t="t" r="r" b="b"/>
            <a:pathLst>
              <a:path w="300573" h="300573">
                <a:moveTo>
                  <a:pt x="150287" y="0"/>
                </a:moveTo>
                <a:lnTo>
                  <a:pt x="150287" y="0"/>
                </a:lnTo>
                <a:cubicBezTo>
                  <a:pt x="233288" y="0"/>
                  <a:pt x="300573" y="67286"/>
                  <a:pt x="300573" y="150287"/>
                </a:cubicBezTo>
                <a:lnTo>
                  <a:pt x="300573" y="150287"/>
                </a:lnTo>
                <a:cubicBezTo>
                  <a:pt x="300573" y="233288"/>
                  <a:pt x="233288" y="300573"/>
                  <a:pt x="150287" y="300573"/>
                </a:cubicBezTo>
                <a:lnTo>
                  <a:pt x="150287" y="300573"/>
                </a:lnTo>
                <a:cubicBezTo>
                  <a:pt x="67286" y="300573"/>
                  <a:pt x="0" y="233288"/>
                  <a:pt x="0" y="150287"/>
                </a:cubicBezTo>
                <a:lnTo>
                  <a:pt x="0" y="150287"/>
                </a:lnTo>
                <a:cubicBezTo>
                  <a:pt x="0" y="67286"/>
                  <a:pt x="67286" y="0"/>
                  <a:pt x="150287" y="0"/>
                </a:cubicBezTo>
                <a:close/>
              </a:path>
            </a:pathLst>
          </a:custGeom>
          <a:solidFill>
            <a:srgbClr val="4A7C59"/>
          </a:solidFill>
          <a:ln/>
        </p:spPr>
      </p:sp>
      <p:sp>
        <p:nvSpPr>
          <p:cNvPr id="51" name="Text 49"/>
          <p:cNvSpPr/>
          <p:nvPr/>
        </p:nvSpPr>
        <p:spPr>
          <a:xfrm>
            <a:off x="4230803" y="3100248"/>
            <a:ext cx="375716" cy="300573"/>
          </a:xfrm>
          <a:prstGeom prst="rect">
            <a:avLst/>
          </a:prstGeom>
          <a:noFill/>
          <a:ln/>
        </p:spPr>
        <p:txBody>
          <a:bodyPr wrap="square" lIns="0" tIns="0" rIns="0" bIns="0" rtlCol="0" anchor="ctr"/>
          <a:lstStyle/>
          <a:p>
            <a:pPr algn="ctr">
              <a:lnSpc>
                <a:spcPct val="120000"/>
              </a:lnSpc>
            </a:pPr>
            <a:r>
              <a:rPr lang="en-US" sz="1183" b="1" dirty="0">
                <a:solidFill>
                  <a:srgbClr val="FFFFFF"/>
                </a:solidFill>
                <a:latin typeface="Quattrocento Sans" pitchFamily="34" charset="0"/>
                <a:ea typeface="Quattrocento Sans" pitchFamily="34" charset="-122"/>
                <a:cs typeface="Quattrocento Sans" pitchFamily="34" charset="-120"/>
              </a:rPr>
              <a:t>5</a:t>
            </a:r>
            <a:endParaRPr lang="en-US" sz="1600" dirty="0"/>
          </a:p>
        </p:txBody>
      </p:sp>
      <p:sp>
        <p:nvSpPr>
          <p:cNvPr id="52" name="Text 50"/>
          <p:cNvSpPr/>
          <p:nvPr/>
        </p:nvSpPr>
        <p:spPr>
          <a:xfrm>
            <a:off x="4644091" y="3137820"/>
            <a:ext cx="1089578" cy="225430"/>
          </a:xfrm>
          <a:prstGeom prst="rect">
            <a:avLst/>
          </a:prstGeom>
          <a:noFill/>
          <a:ln/>
        </p:spPr>
        <p:txBody>
          <a:bodyPr wrap="square" lIns="0" tIns="0" rIns="0" bIns="0" rtlCol="0" anchor="ctr"/>
          <a:lstStyle/>
          <a:p>
            <a:pPr>
              <a:lnSpc>
                <a:spcPct val="120000"/>
              </a:lnSpc>
            </a:pPr>
            <a:r>
              <a:rPr lang="en-US" sz="1183" b="1" dirty="0">
                <a:solidFill>
                  <a:srgbClr val="1A535C"/>
                </a:solidFill>
                <a:latin typeface="Liter" pitchFamily="34" charset="0"/>
                <a:ea typeface="Liter" pitchFamily="34" charset="-122"/>
                <a:cs typeface="Liter" pitchFamily="34" charset="-120"/>
              </a:rPr>
              <a:t>Video Sessions</a:t>
            </a:r>
            <a:endParaRPr lang="en-US" sz="1600" dirty="0"/>
          </a:p>
        </p:txBody>
      </p:sp>
      <p:sp>
        <p:nvSpPr>
          <p:cNvPr id="53" name="Text 51"/>
          <p:cNvSpPr/>
          <p:nvPr/>
        </p:nvSpPr>
        <p:spPr>
          <a:xfrm>
            <a:off x="4268374" y="3475965"/>
            <a:ext cx="3588092" cy="826576"/>
          </a:xfrm>
          <a:prstGeom prst="rect">
            <a:avLst/>
          </a:prstGeom>
          <a:noFill/>
          <a:ln/>
        </p:spPr>
        <p:txBody>
          <a:bodyPr wrap="square" lIns="0" tIns="0" rIns="0" bIns="0" rtlCol="0" anchor="ctr"/>
          <a:lstStyle/>
          <a:p>
            <a:pPr>
              <a:lnSpc>
                <a:spcPct val="110000"/>
              </a:lnSpc>
            </a:pPr>
            <a:r>
              <a:rPr lang="en-US" sz="1183" dirty="0">
                <a:solidFill>
                  <a:srgbClr val="212529"/>
                </a:solidFill>
                <a:latin typeface="Quattrocento Sans" pitchFamily="34" charset="0"/>
                <a:ea typeface="Quattrocento Sans" pitchFamily="34" charset="-122"/>
                <a:cs typeface="Quattrocento Sans" pitchFamily="34" charset="-120"/>
              </a:rPr>
              <a:t>Secure 1-on-1 and group sessions (up to 30 students) with camera/mic controls, screen sharing, whiteboard, raise-hand, session recording on AWS S3.</a:t>
            </a:r>
            <a:endParaRPr lang="en-US" sz="1600" dirty="0"/>
          </a:p>
        </p:txBody>
      </p:sp>
      <p:sp>
        <p:nvSpPr>
          <p:cNvPr id="54" name="Shape 52"/>
          <p:cNvSpPr/>
          <p:nvPr/>
        </p:nvSpPr>
        <p:spPr>
          <a:xfrm>
            <a:off x="4268374" y="4377684"/>
            <a:ext cx="958077" cy="263002"/>
          </a:xfrm>
          <a:custGeom>
            <a:avLst/>
            <a:gdLst/>
            <a:ahLst/>
            <a:cxnLst/>
            <a:rect l="l" t="t" r="r" b="b"/>
            <a:pathLst>
              <a:path w="958077" h="263002">
                <a:moveTo>
                  <a:pt x="37572" y="0"/>
                </a:moveTo>
                <a:lnTo>
                  <a:pt x="920505" y="0"/>
                </a:lnTo>
                <a:cubicBezTo>
                  <a:pt x="941241" y="0"/>
                  <a:pt x="958077" y="16836"/>
                  <a:pt x="958077" y="37572"/>
                </a:cubicBezTo>
                <a:lnTo>
                  <a:pt x="958077" y="225429"/>
                </a:lnTo>
                <a:cubicBezTo>
                  <a:pt x="958077" y="246180"/>
                  <a:pt x="941255" y="263002"/>
                  <a:pt x="920505" y="263002"/>
                </a:cubicBezTo>
                <a:lnTo>
                  <a:pt x="37572" y="263002"/>
                </a:lnTo>
                <a:cubicBezTo>
                  <a:pt x="16836" y="263002"/>
                  <a:pt x="0" y="246166"/>
                  <a:pt x="0" y="225429"/>
                </a:cubicBezTo>
                <a:lnTo>
                  <a:pt x="0" y="37572"/>
                </a:lnTo>
                <a:cubicBezTo>
                  <a:pt x="0" y="16836"/>
                  <a:pt x="16836" y="0"/>
                  <a:pt x="37572" y="0"/>
                </a:cubicBezTo>
                <a:close/>
              </a:path>
            </a:pathLst>
          </a:custGeom>
          <a:solidFill>
            <a:srgbClr val="4A7C59">
              <a:alpha val="10196"/>
            </a:srgbClr>
          </a:solidFill>
          <a:ln/>
        </p:spPr>
      </p:sp>
      <p:sp>
        <p:nvSpPr>
          <p:cNvPr id="55" name="Text 53"/>
          <p:cNvSpPr/>
          <p:nvPr/>
        </p:nvSpPr>
        <p:spPr>
          <a:xfrm>
            <a:off x="4268374" y="4377684"/>
            <a:ext cx="1033220" cy="263002"/>
          </a:xfrm>
          <a:prstGeom prst="rect">
            <a:avLst/>
          </a:prstGeom>
          <a:noFill/>
          <a:ln/>
        </p:spPr>
        <p:txBody>
          <a:bodyPr wrap="square" lIns="75143" tIns="18786" rIns="75143" bIns="18786" rtlCol="0" anchor="ctr"/>
          <a:lstStyle/>
          <a:p>
            <a:pPr>
              <a:lnSpc>
                <a:spcPct val="120000"/>
              </a:lnSpc>
            </a:pPr>
            <a:r>
              <a:rPr lang="en-US" sz="1183" dirty="0">
                <a:solidFill>
                  <a:srgbClr val="4A7C59"/>
                </a:solidFill>
                <a:latin typeface="Quattrocento Sans" pitchFamily="34" charset="0"/>
                <a:ea typeface="Quattrocento Sans" pitchFamily="34" charset="-122"/>
                <a:cs typeface="Quattrocento Sans" pitchFamily="34" charset="-120"/>
              </a:rPr>
              <a:t>Twilio Video</a:t>
            </a:r>
            <a:endParaRPr lang="en-US" sz="1600" dirty="0"/>
          </a:p>
        </p:txBody>
      </p:sp>
      <p:sp>
        <p:nvSpPr>
          <p:cNvPr id="56" name="Shape 54"/>
          <p:cNvSpPr/>
          <p:nvPr/>
        </p:nvSpPr>
        <p:spPr>
          <a:xfrm>
            <a:off x="5263906" y="4377684"/>
            <a:ext cx="695076" cy="263002"/>
          </a:xfrm>
          <a:custGeom>
            <a:avLst/>
            <a:gdLst/>
            <a:ahLst/>
            <a:cxnLst/>
            <a:rect l="l" t="t" r="r" b="b"/>
            <a:pathLst>
              <a:path w="695076" h="263002">
                <a:moveTo>
                  <a:pt x="37572" y="0"/>
                </a:moveTo>
                <a:lnTo>
                  <a:pt x="657503" y="0"/>
                </a:lnTo>
                <a:cubicBezTo>
                  <a:pt x="678240" y="0"/>
                  <a:pt x="695076" y="16836"/>
                  <a:pt x="695076" y="37572"/>
                </a:cubicBezTo>
                <a:lnTo>
                  <a:pt x="695076" y="225429"/>
                </a:lnTo>
                <a:cubicBezTo>
                  <a:pt x="695076" y="246180"/>
                  <a:pt x="678254" y="263002"/>
                  <a:pt x="657503" y="263002"/>
                </a:cubicBezTo>
                <a:lnTo>
                  <a:pt x="37572" y="263002"/>
                </a:lnTo>
                <a:cubicBezTo>
                  <a:pt x="16836" y="263002"/>
                  <a:pt x="0" y="246166"/>
                  <a:pt x="0" y="225429"/>
                </a:cubicBezTo>
                <a:lnTo>
                  <a:pt x="0" y="37572"/>
                </a:lnTo>
                <a:cubicBezTo>
                  <a:pt x="0" y="16836"/>
                  <a:pt x="16836" y="0"/>
                  <a:pt x="37572" y="0"/>
                </a:cubicBezTo>
                <a:close/>
              </a:path>
            </a:pathLst>
          </a:custGeom>
          <a:solidFill>
            <a:srgbClr val="4A7C59">
              <a:alpha val="10196"/>
            </a:srgbClr>
          </a:solidFill>
          <a:ln/>
        </p:spPr>
      </p:sp>
      <p:sp>
        <p:nvSpPr>
          <p:cNvPr id="57" name="Text 55"/>
          <p:cNvSpPr/>
          <p:nvPr/>
        </p:nvSpPr>
        <p:spPr>
          <a:xfrm>
            <a:off x="5263906" y="4377684"/>
            <a:ext cx="770219" cy="263002"/>
          </a:xfrm>
          <a:prstGeom prst="rect">
            <a:avLst/>
          </a:prstGeom>
          <a:noFill/>
          <a:ln/>
        </p:spPr>
        <p:txBody>
          <a:bodyPr wrap="square" lIns="75143" tIns="18786" rIns="75143" bIns="18786" rtlCol="0" anchor="ctr"/>
          <a:lstStyle/>
          <a:p>
            <a:pPr>
              <a:lnSpc>
                <a:spcPct val="120000"/>
              </a:lnSpc>
            </a:pPr>
            <a:r>
              <a:rPr lang="en-US" sz="1183" dirty="0">
                <a:solidFill>
                  <a:srgbClr val="4A7C59"/>
                </a:solidFill>
                <a:latin typeface="Quattrocento Sans" pitchFamily="34" charset="0"/>
                <a:ea typeface="Quattrocento Sans" pitchFamily="34" charset="-122"/>
                <a:cs typeface="Quattrocento Sans" pitchFamily="34" charset="-120"/>
              </a:rPr>
              <a:t>AWS S3</a:t>
            </a:r>
            <a:endParaRPr lang="en-US" sz="1600" dirty="0"/>
          </a:p>
        </p:txBody>
      </p:sp>
      <p:sp>
        <p:nvSpPr>
          <p:cNvPr id="58" name="Shape 56"/>
          <p:cNvSpPr/>
          <p:nvPr/>
        </p:nvSpPr>
        <p:spPr>
          <a:xfrm>
            <a:off x="8006049" y="2968747"/>
            <a:ext cx="3738379" cy="1784653"/>
          </a:xfrm>
          <a:custGeom>
            <a:avLst/>
            <a:gdLst/>
            <a:ahLst/>
            <a:cxnLst/>
            <a:rect l="l" t="t" r="r" b="b"/>
            <a:pathLst>
              <a:path w="3738379" h="1784653">
                <a:moveTo>
                  <a:pt x="37572" y="0"/>
                </a:moveTo>
                <a:lnTo>
                  <a:pt x="3700807" y="0"/>
                </a:lnTo>
                <a:cubicBezTo>
                  <a:pt x="3721558" y="0"/>
                  <a:pt x="3738379" y="16821"/>
                  <a:pt x="3738379" y="37572"/>
                </a:cubicBezTo>
                <a:lnTo>
                  <a:pt x="3738379" y="1709502"/>
                </a:lnTo>
                <a:cubicBezTo>
                  <a:pt x="3738379" y="1751007"/>
                  <a:pt x="3704732" y="1784653"/>
                  <a:pt x="3663227" y="1784653"/>
                </a:cubicBezTo>
                <a:lnTo>
                  <a:pt x="75152" y="1784653"/>
                </a:lnTo>
                <a:cubicBezTo>
                  <a:pt x="33647" y="1784653"/>
                  <a:pt x="0" y="1751007"/>
                  <a:pt x="0" y="1709502"/>
                </a:cubicBezTo>
                <a:lnTo>
                  <a:pt x="0" y="37572"/>
                </a:lnTo>
                <a:cubicBezTo>
                  <a:pt x="0" y="16821"/>
                  <a:pt x="16821" y="0"/>
                  <a:pt x="37572" y="0"/>
                </a:cubicBezTo>
                <a:close/>
              </a:path>
            </a:pathLst>
          </a:custGeom>
          <a:solidFill>
            <a:srgbClr val="FFFFFF"/>
          </a:solidFill>
          <a:ln/>
          <a:effectLst>
            <a:outerShdw sx="100000" sy="100000" kx="0" ky="0" algn="bl" rotWithShape="0" blurRad="56357" dist="37572" dir="5400000">
              <a:srgbClr val="000000">
                <a:alpha val="10196"/>
              </a:srgbClr>
            </a:outerShdw>
          </a:effectLst>
        </p:spPr>
      </p:sp>
      <p:sp>
        <p:nvSpPr>
          <p:cNvPr id="59" name="Shape 57"/>
          <p:cNvSpPr/>
          <p:nvPr/>
        </p:nvSpPr>
        <p:spPr>
          <a:xfrm>
            <a:off x="8006049" y="2968747"/>
            <a:ext cx="3738379" cy="37572"/>
          </a:xfrm>
          <a:custGeom>
            <a:avLst/>
            <a:gdLst/>
            <a:ahLst/>
            <a:cxnLst/>
            <a:rect l="l" t="t" r="r" b="b"/>
            <a:pathLst>
              <a:path w="3738379" h="37572">
                <a:moveTo>
                  <a:pt x="37572" y="0"/>
                </a:moveTo>
                <a:lnTo>
                  <a:pt x="3700807" y="0"/>
                </a:lnTo>
                <a:cubicBezTo>
                  <a:pt x="3721558" y="0"/>
                  <a:pt x="3738379" y="16821"/>
                  <a:pt x="3738379" y="37572"/>
                </a:cubicBezTo>
                <a:lnTo>
                  <a:pt x="3738379" y="37572"/>
                </a:lnTo>
                <a:lnTo>
                  <a:pt x="0" y="37572"/>
                </a:lnTo>
                <a:lnTo>
                  <a:pt x="0" y="37572"/>
                </a:lnTo>
                <a:cubicBezTo>
                  <a:pt x="0" y="16821"/>
                  <a:pt x="16821" y="0"/>
                  <a:pt x="37572" y="0"/>
                </a:cubicBezTo>
                <a:close/>
              </a:path>
            </a:pathLst>
          </a:custGeom>
          <a:solidFill>
            <a:srgbClr val="F7B538"/>
          </a:solidFill>
          <a:ln/>
        </p:spPr>
      </p:sp>
      <p:sp>
        <p:nvSpPr>
          <p:cNvPr id="60" name="Shape 58"/>
          <p:cNvSpPr/>
          <p:nvPr/>
        </p:nvSpPr>
        <p:spPr>
          <a:xfrm>
            <a:off x="8118764" y="3100248"/>
            <a:ext cx="300573" cy="300573"/>
          </a:xfrm>
          <a:custGeom>
            <a:avLst/>
            <a:gdLst/>
            <a:ahLst/>
            <a:cxnLst/>
            <a:rect l="l" t="t" r="r" b="b"/>
            <a:pathLst>
              <a:path w="300573" h="300573">
                <a:moveTo>
                  <a:pt x="150287" y="0"/>
                </a:moveTo>
                <a:lnTo>
                  <a:pt x="150287" y="0"/>
                </a:lnTo>
                <a:cubicBezTo>
                  <a:pt x="233288" y="0"/>
                  <a:pt x="300573" y="67286"/>
                  <a:pt x="300573" y="150287"/>
                </a:cubicBezTo>
                <a:lnTo>
                  <a:pt x="300573" y="150287"/>
                </a:lnTo>
                <a:cubicBezTo>
                  <a:pt x="300573" y="233288"/>
                  <a:pt x="233288" y="300573"/>
                  <a:pt x="150287" y="300573"/>
                </a:cubicBezTo>
                <a:lnTo>
                  <a:pt x="150287" y="300573"/>
                </a:lnTo>
                <a:cubicBezTo>
                  <a:pt x="67286" y="300573"/>
                  <a:pt x="0" y="233288"/>
                  <a:pt x="0" y="150287"/>
                </a:cubicBezTo>
                <a:lnTo>
                  <a:pt x="0" y="150287"/>
                </a:lnTo>
                <a:cubicBezTo>
                  <a:pt x="0" y="67286"/>
                  <a:pt x="67286" y="0"/>
                  <a:pt x="150287" y="0"/>
                </a:cubicBezTo>
                <a:close/>
              </a:path>
            </a:pathLst>
          </a:custGeom>
          <a:solidFill>
            <a:srgbClr val="F7B538"/>
          </a:solidFill>
          <a:ln/>
        </p:spPr>
      </p:sp>
      <p:sp>
        <p:nvSpPr>
          <p:cNvPr id="61" name="Text 59"/>
          <p:cNvSpPr/>
          <p:nvPr/>
        </p:nvSpPr>
        <p:spPr>
          <a:xfrm>
            <a:off x="8081192" y="3100248"/>
            <a:ext cx="375716" cy="300573"/>
          </a:xfrm>
          <a:prstGeom prst="rect">
            <a:avLst/>
          </a:prstGeom>
          <a:noFill/>
          <a:ln/>
        </p:spPr>
        <p:txBody>
          <a:bodyPr wrap="square" lIns="0" tIns="0" rIns="0" bIns="0" rtlCol="0" anchor="ctr"/>
          <a:lstStyle/>
          <a:p>
            <a:pPr algn="ctr">
              <a:lnSpc>
                <a:spcPct val="120000"/>
              </a:lnSpc>
            </a:pPr>
            <a:r>
              <a:rPr lang="en-US" sz="1183" b="1" dirty="0">
                <a:solidFill>
                  <a:srgbClr val="1A535C"/>
                </a:solidFill>
                <a:latin typeface="Quattrocento Sans" pitchFamily="34" charset="0"/>
                <a:ea typeface="Quattrocento Sans" pitchFamily="34" charset="-122"/>
                <a:cs typeface="Quattrocento Sans" pitchFamily="34" charset="-120"/>
              </a:rPr>
              <a:t>6</a:t>
            </a:r>
            <a:endParaRPr lang="en-US" sz="1600" dirty="0"/>
          </a:p>
        </p:txBody>
      </p:sp>
      <p:sp>
        <p:nvSpPr>
          <p:cNvPr id="62" name="Text 60"/>
          <p:cNvSpPr/>
          <p:nvPr/>
        </p:nvSpPr>
        <p:spPr>
          <a:xfrm>
            <a:off x="8494480" y="3137820"/>
            <a:ext cx="1531045" cy="225430"/>
          </a:xfrm>
          <a:prstGeom prst="rect">
            <a:avLst/>
          </a:prstGeom>
          <a:noFill/>
          <a:ln/>
        </p:spPr>
        <p:txBody>
          <a:bodyPr wrap="square" lIns="0" tIns="0" rIns="0" bIns="0" rtlCol="0" anchor="ctr"/>
          <a:lstStyle/>
          <a:p>
            <a:pPr>
              <a:lnSpc>
                <a:spcPct val="120000"/>
              </a:lnSpc>
            </a:pPr>
            <a:r>
              <a:rPr lang="en-US" sz="1183" b="1" dirty="0">
                <a:solidFill>
                  <a:srgbClr val="1A535C"/>
                </a:solidFill>
                <a:latin typeface="Liter" pitchFamily="34" charset="0"/>
                <a:ea typeface="Liter" pitchFamily="34" charset="-122"/>
                <a:cs typeface="Liter" pitchFamily="34" charset="-120"/>
              </a:rPr>
              <a:t>Booking &amp; Scheduling</a:t>
            </a:r>
            <a:endParaRPr lang="en-US" sz="1600" dirty="0"/>
          </a:p>
        </p:txBody>
      </p:sp>
      <p:sp>
        <p:nvSpPr>
          <p:cNvPr id="63" name="Text 61"/>
          <p:cNvSpPr/>
          <p:nvPr/>
        </p:nvSpPr>
        <p:spPr>
          <a:xfrm>
            <a:off x="8118764" y="3475965"/>
            <a:ext cx="3588092" cy="826576"/>
          </a:xfrm>
          <a:prstGeom prst="rect">
            <a:avLst/>
          </a:prstGeom>
          <a:noFill/>
          <a:ln/>
        </p:spPr>
        <p:txBody>
          <a:bodyPr wrap="square" lIns="0" tIns="0" rIns="0" bIns="0" rtlCol="0" anchor="ctr"/>
          <a:lstStyle/>
          <a:p>
            <a:pPr>
              <a:lnSpc>
                <a:spcPct val="110000"/>
              </a:lnSpc>
            </a:pPr>
            <a:r>
              <a:rPr lang="en-US" sz="1183" dirty="0">
                <a:solidFill>
                  <a:srgbClr val="212529"/>
                </a:solidFill>
                <a:latin typeface="Quattrocento Sans" pitchFamily="34" charset="0"/>
                <a:ea typeface="Quattrocento Sans" pitchFamily="34" charset="-122"/>
                <a:cs typeface="Quattrocento Sans" pitchFamily="34" charset="-120"/>
              </a:rPr>
              <a:t>Integrated calendar with one-click booking, email/SMS/WhatsApp confirmations, 24-hour and 1-hour reminders, cancellation policies.</a:t>
            </a:r>
            <a:endParaRPr lang="en-US" sz="1600" dirty="0"/>
          </a:p>
        </p:txBody>
      </p:sp>
      <p:sp>
        <p:nvSpPr>
          <p:cNvPr id="64" name="Shape 62"/>
          <p:cNvSpPr/>
          <p:nvPr/>
        </p:nvSpPr>
        <p:spPr>
          <a:xfrm>
            <a:off x="8118764" y="4377684"/>
            <a:ext cx="901720" cy="263002"/>
          </a:xfrm>
          <a:custGeom>
            <a:avLst/>
            <a:gdLst/>
            <a:ahLst/>
            <a:cxnLst/>
            <a:rect l="l" t="t" r="r" b="b"/>
            <a:pathLst>
              <a:path w="901720" h="263002">
                <a:moveTo>
                  <a:pt x="37572" y="0"/>
                </a:moveTo>
                <a:lnTo>
                  <a:pt x="864147" y="0"/>
                </a:lnTo>
                <a:cubicBezTo>
                  <a:pt x="884884" y="0"/>
                  <a:pt x="901720" y="16836"/>
                  <a:pt x="901720" y="37572"/>
                </a:cubicBezTo>
                <a:lnTo>
                  <a:pt x="901720" y="225429"/>
                </a:lnTo>
                <a:cubicBezTo>
                  <a:pt x="901720" y="246180"/>
                  <a:pt x="884898" y="263002"/>
                  <a:pt x="864147" y="263002"/>
                </a:cubicBezTo>
                <a:lnTo>
                  <a:pt x="37572" y="263002"/>
                </a:lnTo>
                <a:cubicBezTo>
                  <a:pt x="16836" y="263002"/>
                  <a:pt x="0" y="246166"/>
                  <a:pt x="0" y="225429"/>
                </a:cubicBezTo>
                <a:lnTo>
                  <a:pt x="0" y="37572"/>
                </a:lnTo>
                <a:cubicBezTo>
                  <a:pt x="0" y="16836"/>
                  <a:pt x="16836" y="0"/>
                  <a:pt x="37572" y="0"/>
                </a:cubicBezTo>
                <a:close/>
              </a:path>
            </a:pathLst>
          </a:custGeom>
          <a:solidFill>
            <a:srgbClr val="F7B538">
              <a:alpha val="20000"/>
            </a:srgbClr>
          </a:solidFill>
          <a:ln/>
        </p:spPr>
      </p:sp>
      <p:sp>
        <p:nvSpPr>
          <p:cNvPr id="65" name="Text 63"/>
          <p:cNvSpPr/>
          <p:nvPr/>
        </p:nvSpPr>
        <p:spPr>
          <a:xfrm>
            <a:off x="8118764" y="4377684"/>
            <a:ext cx="976863" cy="263002"/>
          </a:xfrm>
          <a:prstGeom prst="rect">
            <a:avLst/>
          </a:prstGeom>
          <a:noFill/>
          <a:ln/>
        </p:spPr>
        <p:txBody>
          <a:bodyPr wrap="square" lIns="75143" tIns="18786" rIns="75143" bIns="18786" rtlCol="0" anchor="ctr"/>
          <a:lstStyle/>
          <a:p>
            <a:pPr>
              <a:lnSpc>
                <a:spcPct val="120000"/>
              </a:lnSpc>
            </a:pPr>
            <a:r>
              <a:rPr lang="en-US" sz="1183" dirty="0">
                <a:solidFill>
                  <a:srgbClr val="F7B538"/>
                </a:solidFill>
                <a:latin typeface="Quattrocento Sans" pitchFamily="34" charset="0"/>
                <a:ea typeface="Quattrocento Sans" pitchFamily="34" charset="-122"/>
                <a:cs typeface="Quattrocento Sans" pitchFamily="34" charset="-120"/>
              </a:rPr>
              <a:t>Laravel Zap</a:t>
            </a:r>
            <a:endParaRPr lang="en-US" sz="1600" dirty="0"/>
          </a:p>
        </p:txBody>
      </p:sp>
      <p:sp>
        <p:nvSpPr>
          <p:cNvPr id="66" name="Shape 64"/>
          <p:cNvSpPr/>
          <p:nvPr/>
        </p:nvSpPr>
        <p:spPr>
          <a:xfrm>
            <a:off x="9056177" y="4377684"/>
            <a:ext cx="807790" cy="263002"/>
          </a:xfrm>
          <a:custGeom>
            <a:avLst/>
            <a:gdLst/>
            <a:ahLst/>
            <a:cxnLst/>
            <a:rect l="l" t="t" r="r" b="b"/>
            <a:pathLst>
              <a:path w="807790" h="263002">
                <a:moveTo>
                  <a:pt x="37572" y="0"/>
                </a:moveTo>
                <a:lnTo>
                  <a:pt x="770218" y="0"/>
                </a:lnTo>
                <a:cubicBezTo>
                  <a:pt x="790955" y="0"/>
                  <a:pt x="807790" y="16836"/>
                  <a:pt x="807790" y="37572"/>
                </a:cubicBezTo>
                <a:lnTo>
                  <a:pt x="807790" y="225429"/>
                </a:lnTo>
                <a:cubicBezTo>
                  <a:pt x="807790" y="246180"/>
                  <a:pt x="790969" y="263002"/>
                  <a:pt x="770218" y="263002"/>
                </a:cubicBezTo>
                <a:lnTo>
                  <a:pt x="37572" y="263002"/>
                </a:lnTo>
                <a:cubicBezTo>
                  <a:pt x="16836" y="263002"/>
                  <a:pt x="0" y="246166"/>
                  <a:pt x="0" y="225429"/>
                </a:cubicBezTo>
                <a:lnTo>
                  <a:pt x="0" y="37572"/>
                </a:lnTo>
                <a:cubicBezTo>
                  <a:pt x="0" y="16836"/>
                  <a:pt x="16836" y="0"/>
                  <a:pt x="37572" y="0"/>
                </a:cubicBezTo>
                <a:close/>
              </a:path>
            </a:pathLst>
          </a:custGeom>
          <a:solidFill>
            <a:srgbClr val="F7B538">
              <a:alpha val="20000"/>
            </a:srgbClr>
          </a:solidFill>
          <a:ln/>
        </p:spPr>
      </p:sp>
      <p:sp>
        <p:nvSpPr>
          <p:cNvPr id="67" name="Text 65"/>
          <p:cNvSpPr/>
          <p:nvPr/>
        </p:nvSpPr>
        <p:spPr>
          <a:xfrm>
            <a:off x="9056177" y="4377684"/>
            <a:ext cx="882934" cy="263002"/>
          </a:xfrm>
          <a:prstGeom prst="rect">
            <a:avLst/>
          </a:prstGeom>
          <a:noFill/>
          <a:ln/>
        </p:spPr>
        <p:txBody>
          <a:bodyPr wrap="square" lIns="75143" tIns="18786" rIns="75143" bIns="18786" rtlCol="0" anchor="ctr"/>
          <a:lstStyle/>
          <a:p>
            <a:pPr>
              <a:lnSpc>
                <a:spcPct val="120000"/>
              </a:lnSpc>
            </a:pPr>
            <a:r>
              <a:rPr lang="en-US" sz="1183" dirty="0">
                <a:solidFill>
                  <a:srgbClr val="F7B538"/>
                </a:solidFill>
                <a:latin typeface="Quattrocento Sans" pitchFamily="34" charset="0"/>
                <a:ea typeface="Quattrocento Sans" pitchFamily="34" charset="-122"/>
                <a:cs typeface="Quattrocento Sans" pitchFamily="34" charset="-120"/>
              </a:rPr>
              <a:t>Scheduler</a:t>
            </a:r>
            <a:endParaRPr lang="en-US" sz="1600" dirty="0"/>
          </a:p>
        </p:txBody>
      </p:sp>
      <p:sp>
        <p:nvSpPr>
          <p:cNvPr id="68" name="Shape 66"/>
          <p:cNvSpPr/>
          <p:nvPr/>
        </p:nvSpPr>
        <p:spPr>
          <a:xfrm>
            <a:off x="305270" y="4884901"/>
            <a:ext cx="3738379" cy="1784653"/>
          </a:xfrm>
          <a:custGeom>
            <a:avLst/>
            <a:gdLst/>
            <a:ahLst/>
            <a:cxnLst/>
            <a:rect l="l" t="t" r="r" b="b"/>
            <a:pathLst>
              <a:path w="3738379" h="1784653">
                <a:moveTo>
                  <a:pt x="37572" y="0"/>
                </a:moveTo>
                <a:lnTo>
                  <a:pt x="3700807" y="0"/>
                </a:lnTo>
                <a:cubicBezTo>
                  <a:pt x="3721558" y="0"/>
                  <a:pt x="3738379" y="16821"/>
                  <a:pt x="3738379" y="37572"/>
                </a:cubicBezTo>
                <a:lnTo>
                  <a:pt x="3738379" y="1709502"/>
                </a:lnTo>
                <a:cubicBezTo>
                  <a:pt x="3738379" y="1751007"/>
                  <a:pt x="3704732" y="1784653"/>
                  <a:pt x="3663227" y="1784653"/>
                </a:cubicBezTo>
                <a:lnTo>
                  <a:pt x="75152" y="1784653"/>
                </a:lnTo>
                <a:cubicBezTo>
                  <a:pt x="33647" y="1784653"/>
                  <a:pt x="0" y="1751007"/>
                  <a:pt x="0" y="1709502"/>
                </a:cubicBezTo>
                <a:lnTo>
                  <a:pt x="0" y="37572"/>
                </a:lnTo>
                <a:cubicBezTo>
                  <a:pt x="0" y="16821"/>
                  <a:pt x="16821" y="0"/>
                  <a:pt x="37572" y="0"/>
                </a:cubicBezTo>
                <a:close/>
              </a:path>
            </a:pathLst>
          </a:custGeom>
          <a:solidFill>
            <a:srgbClr val="FFFFFF"/>
          </a:solidFill>
          <a:ln/>
          <a:effectLst>
            <a:outerShdw sx="100000" sy="100000" kx="0" ky="0" algn="bl" rotWithShape="0" blurRad="56357" dist="37572" dir="5400000">
              <a:srgbClr val="000000">
                <a:alpha val="10196"/>
              </a:srgbClr>
            </a:outerShdw>
          </a:effectLst>
        </p:spPr>
      </p:sp>
      <p:sp>
        <p:nvSpPr>
          <p:cNvPr id="69" name="Shape 67"/>
          <p:cNvSpPr/>
          <p:nvPr/>
        </p:nvSpPr>
        <p:spPr>
          <a:xfrm>
            <a:off x="305270" y="4884901"/>
            <a:ext cx="3738379" cy="37572"/>
          </a:xfrm>
          <a:custGeom>
            <a:avLst/>
            <a:gdLst/>
            <a:ahLst/>
            <a:cxnLst/>
            <a:rect l="l" t="t" r="r" b="b"/>
            <a:pathLst>
              <a:path w="3738379" h="37572">
                <a:moveTo>
                  <a:pt x="37572" y="0"/>
                </a:moveTo>
                <a:lnTo>
                  <a:pt x="3700807" y="0"/>
                </a:lnTo>
                <a:cubicBezTo>
                  <a:pt x="3721558" y="0"/>
                  <a:pt x="3738379" y="16821"/>
                  <a:pt x="3738379" y="37572"/>
                </a:cubicBezTo>
                <a:lnTo>
                  <a:pt x="3738379" y="37572"/>
                </a:lnTo>
                <a:lnTo>
                  <a:pt x="0" y="37572"/>
                </a:lnTo>
                <a:lnTo>
                  <a:pt x="0" y="37572"/>
                </a:lnTo>
                <a:cubicBezTo>
                  <a:pt x="0" y="16821"/>
                  <a:pt x="16821" y="0"/>
                  <a:pt x="37572" y="0"/>
                </a:cubicBezTo>
                <a:close/>
              </a:path>
            </a:pathLst>
          </a:custGeom>
          <a:solidFill>
            <a:srgbClr val="1A535C"/>
          </a:solidFill>
          <a:ln/>
        </p:spPr>
      </p:sp>
      <p:sp>
        <p:nvSpPr>
          <p:cNvPr id="70" name="Shape 68"/>
          <p:cNvSpPr/>
          <p:nvPr/>
        </p:nvSpPr>
        <p:spPr>
          <a:xfrm>
            <a:off x="417985" y="5016402"/>
            <a:ext cx="300573" cy="300573"/>
          </a:xfrm>
          <a:custGeom>
            <a:avLst/>
            <a:gdLst/>
            <a:ahLst/>
            <a:cxnLst/>
            <a:rect l="l" t="t" r="r" b="b"/>
            <a:pathLst>
              <a:path w="300573" h="300573">
                <a:moveTo>
                  <a:pt x="150287" y="0"/>
                </a:moveTo>
                <a:lnTo>
                  <a:pt x="150287" y="0"/>
                </a:lnTo>
                <a:cubicBezTo>
                  <a:pt x="233288" y="0"/>
                  <a:pt x="300573" y="67286"/>
                  <a:pt x="300573" y="150287"/>
                </a:cubicBezTo>
                <a:lnTo>
                  <a:pt x="300573" y="150287"/>
                </a:lnTo>
                <a:cubicBezTo>
                  <a:pt x="300573" y="233288"/>
                  <a:pt x="233288" y="300573"/>
                  <a:pt x="150287" y="300573"/>
                </a:cubicBezTo>
                <a:lnTo>
                  <a:pt x="150287" y="300573"/>
                </a:lnTo>
                <a:cubicBezTo>
                  <a:pt x="67286" y="300573"/>
                  <a:pt x="0" y="233288"/>
                  <a:pt x="0" y="150287"/>
                </a:cubicBezTo>
                <a:lnTo>
                  <a:pt x="0" y="150287"/>
                </a:lnTo>
                <a:cubicBezTo>
                  <a:pt x="0" y="67286"/>
                  <a:pt x="67286" y="0"/>
                  <a:pt x="150287" y="0"/>
                </a:cubicBezTo>
                <a:close/>
              </a:path>
            </a:pathLst>
          </a:custGeom>
          <a:solidFill>
            <a:srgbClr val="1A535C"/>
          </a:solidFill>
          <a:ln/>
        </p:spPr>
      </p:sp>
      <p:sp>
        <p:nvSpPr>
          <p:cNvPr id="71" name="Text 69"/>
          <p:cNvSpPr/>
          <p:nvPr/>
        </p:nvSpPr>
        <p:spPr>
          <a:xfrm>
            <a:off x="380413" y="5016402"/>
            <a:ext cx="375716" cy="300573"/>
          </a:xfrm>
          <a:prstGeom prst="rect">
            <a:avLst/>
          </a:prstGeom>
          <a:noFill/>
          <a:ln/>
        </p:spPr>
        <p:txBody>
          <a:bodyPr wrap="square" lIns="0" tIns="0" rIns="0" bIns="0" rtlCol="0" anchor="ctr"/>
          <a:lstStyle/>
          <a:p>
            <a:pPr algn="ctr">
              <a:lnSpc>
                <a:spcPct val="120000"/>
              </a:lnSpc>
            </a:pPr>
            <a:r>
              <a:rPr lang="en-US" sz="1183" b="1" dirty="0">
                <a:solidFill>
                  <a:srgbClr val="FFFFFF"/>
                </a:solidFill>
                <a:latin typeface="Quattrocento Sans" pitchFamily="34" charset="0"/>
                <a:ea typeface="Quattrocento Sans" pitchFamily="34" charset="-122"/>
                <a:cs typeface="Quattrocento Sans" pitchFamily="34" charset="-120"/>
              </a:rPr>
              <a:t>7</a:t>
            </a:r>
            <a:endParaRPr lang="en-US" sz="1600" dirty="0"/>
          </a:p>
        </p:txBody>
      </p:sp>
      <p:sp>
        <p:nvSpPr>
          <p:cNvPr id="72" name="Text 70"/>
          <p:cNvSpPr/>
          <p:nvPr/>
        </p:nvSpPr>
        <p:spPr>
          <a:xfrm>
            <a:off x="793701" y="5053974"/>
            <a:ext cx="1296222" cy="225430"/>
          </a:xfrm>
          <a:prstGeom prst="rect">
            <a:avLst/>
          </a:prstGeom>
          <a:noFill/>
          <a:ln/>
        </p:spPr>
        <p:txBody>
          <a:bodyPr wrap="square" lIns="0" tIns="0" rIns="0" bIns="0" rtlCol="0" anchor="ctr"/>
          <a:lstStyle/>
          <a:p>
            <a:pPr>
              <a:lnSpc>
                <a:spcPct val="120000"/>
              </a:lnSpc>
            </a:pPr>
            <a:r>
              <a:rPr lang="en-US" sz="1183" b="1" dirty="0">
                <a:solidFill>
                  <a:srgbClr val="1A535C"/>
                </a:solidFill>
                <a:latin typeface="Liter" pitchFamily="34" charset="0"/>
                <a:ea typeface="Liter" pitchFamily="34" charset="-122"/>
                <a:cs typeface="Liter" pitchFamily="34" charset="-120"/>
              </a:rPr>
              <a:t>Ratings &amp; Reviews</a:t>
            </a:r>
            <a:endParaRPr lang="en-US" sz="1600" dirty="0"/>
          </a:p>
        </p:txBody>
      </p:sp>
      <p:sp>
        <p:nvSpPr>
          <p:cNvPr id="73" name="Text 71"/>
          <p:cNvSpPr/>
          <p:nvPr/>
        </p:nvSpPr>
        <p:spPr>
          <a:xfrm>
            <a:off x="417985" y="5392119"/>
            <a:ext cx="3588092" cy="826576"/>
          </a:xfrm>
          <a:prstGeom prst="rect">
            <a:avLst/>
          </a:prstGeom>
          <a:noFill/>
          <a:ln/>
        </p:spPr>
        <p:txBody>
          <a:bodyPr wrap="square" lIns="0" tIns="0" rIns="0" bIns="0" rtlCol="0" anchor="ctr"/>
          <a:lstStyle/>
          <a:p>
            <a:pPr>
              <a:lnSpc>
                <a:spcPct val="110000"/>
              </a:lnSpc>
            </a:pPr>
            <a:r>
              <a:rPr lang="en-US" sz="1183" dirty="0">
                <a:solidFill>
                  <a:srgbClr val="212529"/>
                </a:solidFill>
                <a:latin typeface="Quattrocento Sans" pitchFamily="34" charset="0"/>
                <a:ea typeface="Quattrocento Sans" pitchFamily="34" charset="-122"/>
                <a:cs typeface="Quattrocento Sans" pitchFamily="34" charset="-120"/>
              </a:rPr>
              <a:t>Two-way feedback system: students rate teachers (1-5 stars + written review), teachers note student engagement. Public reviews with admin moderation.</a:t>
            </a:r>
            <a:endParaRPr lang="en-US" sz="1600" dirty="0"/>
          </a:p>
        </p:txBody>
      </p:sp>
      <p:sp>
        <p:nvSpPr>
          <p:cNvPr id="74" name="Shape 72"/>
          <p:cNvSpPr/>
          <p:nvPr/>
        </p:nvSpPr>
        <p:spPr>
          <a:xfrm>
            <a:off x="417985" y="6293838"/>
            <a:ext cx="1127149" cy="263002"/>
          </a:xfrm>
          <a:custGeom>
            <a:avLst/>
            <a:gdLst/>
            <a:ahLst/>
            <a:cxnLst/>
            <a:rect l="l" t="t" r="r" b="b"/>
            <a:pathLst>
              <a:path w="1127149" h="263002">
                <a:moveTo>
                  <a:pt x="37572" y="0"/>
                </a:moveTo>
                <a:lnTo>
                  <a:pt x="1089577" y="0"/>
                </a:lnTo>
                <a:cubicBezTo>
                  <a:pt x="1110314" y="0"/>
                  <a:pt x="1127149" y="16836"/>
                  <a:pt x="1127149" y="37572"/>
                </a:cubicBezTo>
                <a:lnTo>
                  <a:pt x="1127149" y="225429"/>
                </a:lnTo>
                <a:cubicBezTo>
                  <a:pt x="1127149" y="246180"/>
                  <a:pt x="1110328" y="263002"/>
                  <a:pt x="1089577" y="263002"/>
                </a:cubicBezTo>
                <a:lnTo>
                  <a:pt x="37572" y="263002"/>
                </a:lnTo>
                <a:cubicBezTo>
                  <a:pt x="16836" y="263002"/>
                  <a:pt x="0" y="246166"/>
                  <a:pt x="0" y="225429"/>
                </a:cubicBezTo>
                <a:lnTo>
                  <a:pt x="0" y="37572"/>
                </a:lnTo>
                <a:cubicBezTo>
                  <a:pt x="0" y="16836"/>
                  <a:pt x="16836" y="0"/>
                  <a:pt x="37572" y="0"/>
                </a:cubicBezTo>
                <a:close/>
              </a:path>
            </a:pathLst>
          </a:custGeom>
          <a:solidFill>
            <a:srgbClr val="1A535C">
              <a:alpha val="10196"/>
            </a:srgbClr>
          </a:solidFill>
          <a:ln/>
        </p:spPr>
      </p:sp>
      <p:sp>
        <p:nvSpPr>
          <p:cNvPr id="75" name="Text 73"/>
          <p:cNvSpPr/>
          <p:nvPr/>
        </p:nvSpPr>
        <p:spPr>
          <a:xfrm>
            <a:off x="417985" y="6293838"/>
            <a:ext cx="1202293" cy="263002"/>
          </a:xfrm>
          <a:prstGeom prst="rect">
            <a:avLst/>
          </a:prstGeom>
          <a:noFill/>
          <a:ln/>
        </p:spPr>
        <p:txBody>
          <a:bodyPr wrap="square" lIns="75143" tIns="18786" rIns="75143" bIns="18786" rtlCol="0" anchor="ctr"/>
          <a:lstStyle/>
          <a:p>
            <a:pPr>
              <a:lnSpc>
                <a:spcPct val="120000"/>
              </a:lnSpc>
            </a:pPr>
            <a:r>
              <a:rPr lang="en-US" sz="1183" dirty="0">
                <a:solidFill>
                  <a:srgbClr val="1A535C"/>
                </a:solidFill>
                <a:latin typeface="Quattrocento Sans" pitchFamily="34" charset="0"/>
                <a:ea typeface="Quattrocento Sans" pitchFamily="34" charset="-122"/>
                <a:cs typeface="Quattrocento Sans" pitchFamily="34" charset="-120"/>
              </a:rPr>
              <a:t>Public Reviews</a:t>
            </a:r>
            <a:endParaRPr lang="en-US" sz="1600" dirty="0"/>
          </a:p>
        </p:txBody>
      </p:sp>
      <p:sp>
        <p:nvSpPr>
          <p:cNvPr id="76" name="Shape 74"/>
          <p:cNvSpPr/>
          <p:nvPr/>
        </p:nvSpPr>
        <p:spPr>
          <a:xfrm>
            <a:off x="1582119" y="6293838"/>
            <a:ext cx="901720" cy="263002"/>
          </a:xfrm>
          <a:custGeom>
            <a:avLst/>
            <a:gdLst/>
            <a:ahLst/>
            <a:cxnLst/>
            <a:rect l="l" t="t" r="r" b="b"/>
            <a:pathLst>
              <a:path w="901720" h="263002">
                <a:moveTo>
                  <a:pt x="37572" y="0"/>
                </a:moveTo>
                <a:lnTo>
                  <a:pt x="864147" y="0"/>
                </a:lnTo>
                <a:cubicBezTo>
                  <a:pt x="884884" y="0"/>
                  <a:pt x="901720" y="16836"/>
                  <a:pt x="901720" y="37572"/>
                </a:cubicBezTo>
                <a:lnTo>
                  <a:pt x="901720" y="225429"/>
                </a:lnTo>
                <a:cubicBezTo>
                  <a:pt x="901720" y="246180"/>
                  <a:pt x="884898" y="263002"/>
                  <a:pt x="864147" y="263002"/>
                </a:cubicBezTo>
                <a:lnTo>
                  <a:pt x="37572" y="263002"/>
                </a:lnTo>
                <a:cubicBezTo>
                  <a:pt x="16836" y="263002"/>
                  <a:pt x="0" y="246166"/>
                  <a:pt x="0" y="225429"/>
                </a:cubicBezTo>
                <a:lnTo>
                  <a:pt x="0" y="37572"/>
                </a:lnTo>
                <a:cubicBezTo>
                  <a:pt x="0" y="16836"/>
                  <a:pt x="16836" y="0"/>
                  <a:pt x="37572" y="0"/>
                </a:cubicBezTo>
                <a:close/>
              </a:path>
            </a:pathLst>
          </a:custGeom>
          <a:solidFill>
            <a:srgbClr val="1A535C">
              <a:alpha val="10196"/>
            </a:srgbClr>
          </a:solidFill>
          <a:ln/>
        </p:spPr>
      </p:sp>
      <p:sp>
        <p:nvSpPr>
          <p:cNvPr id="77" name="Text 75"/>
          <p:cNvSpPr/>
          <p:nvPr/>
        </p:nvSpPr>
        <p:spPr>
          <a:xfrm>
            <a:off x="1582119" y="6293838"/>
            <a:ext cx="976863" cy="263002"/>
          </a:xfrm>
          <a:prstGeom prst="rect">
            <a:avLst/>
          </a:prstGeom>
          <a:noFill/>
          <a:ln/>
        </p:spPr>
        <p:txBody>
          <a:bodyPr wrap="square" lIns="75143" tIns="18786" rIns="75143" bIns="18786" rtlCol="0" anchor="ctr"/>
          <a:lstStyle/>
          <a:p>
            <a:pPr>
              <a:lnSpc>
                <a:spcPct val="120000"/>
              </a:lnSpc>
            </a:pPr>
            <a:r>
              <a:rPr lang="en-US" sz="1183" dirty="0">
                <a:solidFill>
                  <a:srgbClr val="1A535C"/>
                </a:solidFill>
                <a:latin typeface="Quattrocento Sans" pitchFamily="34" charset="0"/>
                <a:ea typeface="Quattrocento Sans" pitchFamily="34" charset="-122"/>
                <a:cs typeface="Quattrocento Sans" pitchFamily="34" charset="-120"/>
              </a:rPr>
              <a:t>Moderation</a:t>
            </a:r>
            <a:endParaRPr lang="en-US" sz="1600" dirty="0"/>
          </a:p>
        </p:txBody>
      </p:sp>
      <p:sp>
        <p:nvSpPr>
          <p:cNvPr id="78" name="Shape 76"/>
          <p:cNvSpPr/>
          <p:nvPr/>
        </p:nvSpPr>
        <p:spPr>
          <a:xfrm>
            <a:off x="4155659" y="4884901"/>
            <a:ext cx="3738379" cy="1784653"/>
          </a:xfrm>
          <a:custGeom>
            <a:avLst/>
            <a:gdLst/>
            <a:ahLst/>
            <a:cxnLst/>
            <a:rect l="l" t="t" r="r" b="b"/>
            <a:pathLst>
              <a:path w="3738379" h="1784653">
                <a:moveTo>
                  <a:pt x="37572" y="0"/>
                </a:moveTo>
                <a:lnTo>
                  <a:pt x="3700807" y="0"/>
                </a:lnTo>
                <a:cubicBezTo>
                  <a:pt x="3721558" y="0"/>
                  <a:pt x="3738379" y="16821"/>
                  <a:pt x="3738379" y="37572"/>
                </a:cubicBezTo>
                <a:lnTo>
                  <a:pt x="3738379" y="1709502"/>
                </a:lnTo>
                <a:cubicBezTo>
                  <a:pt x="3738379" y="1751007"/>
                  <a:pt x="3704732" y="1784653"/>
                  <a:pt x="3663227" y="1784653"/>
                </a:cubicBezTo>
                <a:lnTo>
                  <a:pt x="75152" y="1784653"/>
                </a:lnTo>
                <a:cubicBezTo>
                  <a:pt x="33647" y="1784653"/>
                  <a:pt x="0" y="1751007"/>
                  <a:pt x="0" y="1709502"/>
                </a:cubicBezTo>
                <a:lnTo>
                  <a:pt x="0" y="37572"/>
                </a:lnTo>
                <a:cubicBezTo>
                  <a:pt x="0" y="16821"/>
                  <a:pt x="16821" y="0"/>
                  <a:pt x="37572" y="0"/>
                </a:cubicBezTo>
                <a:close/>
              </a:path>
            </a:pathLst>
          </a:custGeom>
          <a:solidFill>
            <a:srgbClr val="FFFFFF"/>
          </a:solidFill>
          <a:ln/>
          <a:effectLst>
            <a:outerShdw sx="100000" sy="100000" kx="0" ky="0" algn="bl" rotWithShape="0" blurRad="56357" dist="37572" dir="5400000">
              <a:srgbClr val="000000">
                <a:alpha val="10196"/>
              </a:srgbClr>
            </a:outerShdw>
          </a:effectLst>
        </p:spPr>
      </p:sp>
      <p:sp>
        <p:nvSpPr>
          <p:cNvPr id="79" name="Shape 77"/>
          <p:cNvSpPr/>
          <p:nvPr/>
        </p:nvSpPr>
        <p:spPr>
          <a:xfrm>
            <a:off x="4155659" y="4884901"/>
            <a:ext cx="3738379" cy="37572"/>
          </a:xfrm>
          <a:custGeom>
            <a:avLst/>
            <a:gdLst/>
            <a:ahLst/>
            <a:cxnLst/>
            <a:rect l="l" t="t" r="r" b="b"/>
            <a:pathLst>
              <a:path w="3738379" h="37572">
                <a:moveTo>
                  <a:pt x="37572" y="0"/>
                </a:moveTo>
                <a:lnTo>
                  <a:pt x="3700807" y="0"/>
                </a:lnTo>
                <a:cubicBezTo>
                  <a:pt x="3721558" y="0"/>
                  <a:pt x="3738379" y="16821"/>
                  <a:pt x="3738379" y="37572"/>
                </a:cubicBezTo>
                <a:lnTo>
                  <a:pt x="3738379" y="37572"/>
                </a:lnTo>
                <a:lnTo>
                  <a:pt x="0" y="37572"/>
                </a:lnTo>
                <a:lnTo>
                  <a:pt x="0" y="37572"/>
                </a:lnTo>
                <a:cubicBezTo>
                  <a:pt x="0" y="16821"/>
                  <a:pt x="16821" y="0"/>
                  <a:pt x="37572" y="0"/>
                </a:cubicBezTo>
                <a:close/>
              </a:path>
            </a:pathLst>
          </a:custGeom>
          <a:solidFill>
            <a:srgbClr val="4A7C59"/>
          </a:solidFill>
          <a:ln/>
        </p:spPr>
      </p:sp>
      <p:sp>
        <p:nvSpPr>
          <p:cNvPr id="80" name="Shape 78"/>
          <p:cNvSpPr/>
          <p:nvPr/>
        </p:nvSpPr>
        <p:spPr>
          <a:xfrm>
            <a:off x="4268374" y="5016402"/>
            <a:ext cx="300573" cy="300573"/>
          </a:xfrm>
          <a:custGeom>
            <a:avLst/>
            <a:gdLst/>
            <a:ahLst/>
            <a:cxnLst/>
            <a:rect l="l" t="t" r="r" b="b"/>
            <a:pathLst>
              <a:path w="300573" h="300573">
                <a:moveTo>
                  <a:pt x="150287" y="0"/>
                </a:moveTo>
                <a:lnTo>
                  <a:pt x="150287" y="0"/>
                </a:lnTo>
                <a:cubicBezTo>
                  <a:pt x="233288" y="0"/>
                  <a:pt x="300573" y="67286"/>
                  <a:pt x="300573" y="150287"/>
                </a:cubicBezTo>
                <a:lnTo>
                  <a:pt x="300573" y="150287"/>
                </a:lnTo>
                <a:cubicBezTo>
                  <a:pt x="300573" y="233288"/>
                  <a:pt x="233288" y="300573"/>
                  <a:pt x="150287" y="300573"/>
                </a:cubicBezTo>
                <a:lnTo>
                  <a:pt x="150287" y="300573"/>
                </a:lnTo>
                <a:cubicBezTo>
                  <a:pt x="67286" y="300573"/>
                  <a:pt x="0" y="233288"/>
                  <a:pt x="0" y="150287"/>
                </a:cubicBezTo>
                <a:lnTo>
                  <a:pt x="0" y="150287"/>
                </a:lnTo>
                <a:cubicBezTo>
                  <a:pt x="0" y="67286"/>
                  <a:pt x="67286" y="0"/>
                  <a:pt x="150287" y="0"/>
                </a:cubicBezTo>
                <a:close/>
              </a:path>
            </a:pathLst>
          </a:custGeom>
          <a:solidFill>
            <a:srgbClr val="4A7C59"/>
          </a:solidFill>
          <a:ln/>
        </p:spPr>
      </p:sp>
      <p:sp>
        <p:nvSpPr>
          <p:cNvPr id="81" name="Text 79"/>
          <p:cNvSpPr/>
          <p:nvPr/>
        </p:nvSpPr>
        <p:spPr>
          <a:xfrm>
            <a:off x="4230803" y="5016402"/>
            <a:ext cx="375716" cy="300573"/>
          </a:xfrm>
          <a:prstGeom prst="rect">
            <a:avLst/>
          </a:prstGeom>
          <a:noFill/>
          <a:ln/>
        </p:spPr>
        <p:txBody>
          <a:bodyPr wrap="square" lIns="0" tIns="0" rIns="0" bIns="0" rtlCol="0" anchor="ctr"/>
          <a:lstStyle/>
          <a:p>
            <a:pPr algn="ctr">
              <a:lnSpc>
                <a:spcPct val="120000"/>
              </a:lnSpc>
            </a:pPr>
            <a:r>
              <a:rPr lang="en-US" sz="1183" b="1" dirty="0">
                <a:solidFill>
                  <a:srgbClr val="FFFFFF"/>
                </a:solidFill>
                <a:latin typeface="Quattrocento Sans" pitchFamily="34" charset="0"/>
                <a:ea typeface="Quattrocento Sans" pitchFamily="34" charset="-122"/>
                <a:cs typeface="Quattrocento Sans" pitchFamily="34" charset="-120"/>
              </a:rPr>
              <a:t>8</a:t>
            </a:r>
            <a:endParaRPr lang="en-US" sz="1600" dirty="0"/>
          </a:p>
        </p:txBody>
      </p:sp>
      <p:sp>
        <p:nvSpPr>
          <p:cNvPr id="82" name="Text 80"/>
          <p:cNvSpPr/>
          <p:nvPr/>
        </p:nvSpPr>
        <p:spPr>
          <a:xfrm>
            <a:off x="4644091" y="5053974"/>
            <a:ext cx="1192900" cy="225430"/>
          </a:xfrm>
          <a:prstGeom prst="rect">
            <a:avLst/>
          </a:prstGeom>
          <a:noFill/>
          <a:ln/>
        </p:spPr>
        <p:txBody>
          <a:bodyPr wrap="square" lIns="0" tIns="0" rIns="0" bIns="0" rtlCol="0" anchor="ctr"/>
          <a:lstStyle/>
          <a:p>
            <a:pPr>
              <a:lnSpc>
                <a:spcPct val="120000"/>
              </a:lnSpc>
            </a:pPr>
            <a:r>
              <a:rPr lang="en-US" sz="1183" b="1" dirty="0">
                <a:solidFill>
                  <a:srgbClr val="1A535C"/>
                </a:solidFill>
                <a:latin typeface="Liter" pitchFamily="34" charset="0"/>
                <a:ea typeface="Liter" pitchFamily="34" charset="-122"/>
                <a:cs typeface="Liter" pitchFamily="34" charset="-120"/>
              </a:rPr>
              <a:t>Payment System</a:t>
            </a:r>
            <a:endParaRPr lang="en-US" sz="1600" dirty="0"/>
          </a:p>
        </p:txBody>
      </p:sp>
      <p:sp>
        <p:nvSpPr>
          <p:cNvPr id="83" name="Text 81"/>
          <p:cNvSpPr/>
          <p:nvPr/>
        </p:nvSpPr>
        <p:spPr>
          <a:xfrm>
            <a:off x="4268374" y="5392119"/>
            <a:ext cx="3588092" cy="826576"/>
          </a:xfrm>
          <a:prstGeom prst="rect">
            <a:avLst/>
          </a:prstGeom>
          <a:noFill/>
          <a:ln/>
        </p:spPr>
        <p:txBody>
          <a:bodyPr wrap="square" lIns="0" tIns="0" rIns="0" bIns="0" rtlCol="0" anchor="ctr"/>
          <a:lstStyle/>
          <a:p>
            <a:pPr>
              <a:lnSpc>
                <a:spcPct val="110000"/>
              </a:lnSpc>
            </a:pPr>
            <a:r>
              <a:rPr lang="en-US" sz="1183" dirty="0">
                <a:solidFill>
                  <a:srgbClr val="212529"/>
                </a:solidFill>
                <a:latin typeface="Quattrocento Sans" pitchFamily="34" charset="0"/>
                <a:ea typeface="Quattrocento Sans" pitchFamily="34" charset="-122"/>
                <a:cs typeface="Quattrocento Sans" pitchFamily="34" charset="-120"/>
              </a:rPr>
              <a:t>Prepay via Razorpay (UPI, cards, net banking), funds held in escrow, released after session completion. 10-15% platform commission.</a:t>
            </a:r>
            <a:endParaRPr lang="en-US" sz="1600" dirty="0"/>
          </a:p>
        </p:txBody>
      </p:sp>
      <p:sp>
        <p:nvSpPr>
          <p:cNvPr id="84" name="Shape 82"/>
          <p:cNvSpPr/>
          <p:nvPr/>
        </p:nvSpPr>
        <p:spPr>
          <a:xfrm>
            <a:off x="4268374" y="6293838"/>
            <a:ext cx="751433" cy="263002"/>
          </a:xfrm>
          <a:custGeom>
            <a:avLst/>
            <a:gdLst/>
            <a:ahLst/>
            <a:cxnLst/>
            <a:rect l="l" t="t" r="r" b="b"/>
            <a:pathLst>
              <a:path w="751433" h="263002">
                <a:moveTo>
                  <a:pt x="37572" y="0"/>
                </a:moveTo>
                <a:lnTo>
                  <a:pt x="713861" y="0"/>
                </a:lnTo>
                <a:cubicBezTo>
                  <a:pt x="734597" y="0"/>
                  <a:pt x="751433" y="16836"/>
                  <a:pt x="751433" y="37572"/>
                </a:cubicBezTo>
                <a:lnTo>
                  <a:pt x="751433" y="225429"/>
                </a:lnTo>
                <a:cubicBezTo>
                  <a:pt x="751433" y="246180"/>
                  <a:pt x="734611" y="263002"/>
                  <a:pt x="713861" y="263002"/>
                </a:cubicBezTo>
                <a:lnTo>
                  <a:pt x="37572" y="263002"/>
                </a:lnTo>
                <a:cubicBezTo>
                  <a:pt x="16836" y="263002"/>
                  <a:pt x="0" y="246166"/>
                  <a:pt x="0" y="225429"/>
                </a:cubicBezTo>
                <a:lnTo>
                  <a:pt x="0" y="37572"/>
                </a:lnTo>
                <a:cubicBezTo>
                  <a:pt x="0" y="16836"/>
                  <a:pt x="16836" y="0"/>
                  <a:pt x="37572" y="0"/>
                </a:cubicBezTo>
                <a:close/>
              </a:path>
            </a:pathLst>
          </a:custGeom>
          <a:solidFill>
            <a:srgbClr val="4A7C59">
              <a:alpha val="10196"/>
            </a:srgbClr>
          </a:solidFill>
          <a:ln/>
        </p:spPr>
      </p:sp>
      <p:sp>
        <p:nvSpPr>
          <p:cNvPr id="85" name="Text 83"/>
          <p:cNvSpPr/>
          <p:nvPr/>
        </p:nvSpPr>
        <p:spPr>
          <a:xfrm>
            <a:off x="4268374" y="6293838"/>
            <a:ext cx="826576" cy="263002"/>
          </a:xfrm>
          <a:prstGeom prst="rect">
            <a:avLst/>
          </a:prstGeom>
          <a:noFill/>
          <a:ln/>
        </p:spPr>
        <p:txBody>
          <a:bodyPr wrap="square" lIns="75143" tIns="18786" rIns="75143" bIns="18786" rtlCol="0" anchor="ctr"/>
          <a:lstStyle/>
          <a:p>
            <a:pPr>
              <a:lnSpc>
                <a:spcPct val="120000"/>
              </a:lnSpc>
            </a:pPr>
            <a:r>
              <a:rPr lang="en-US" sz="1183" dirty="0">
                <a:solidFill>
                  <a:srgbClr val="4A7C59"/>
                </a:solidFill>
                <a:latin typeface="Quattrocento Sans" pitchFamily="34" charset="0"/>
                <a:ea typeface="Quattrocento Sans" pitchFamily="34" charset="-122"/>
                <a:cs typeface="Quattrocento Sans" pitchFamily="34" charset="-120"/>
              </a:rPr>
              <a:t>Razorpay</a:t>
            </a:r>
            <a:endParaRPr lang="en-US" sz="1600" dirty="0"/>
          </a:p>
        </p:txBody>
      </p:sp>
      <p:sp>
        <p:nvSpPr>
          <p:cNvPr id="86" name="Shape 84"/>
          <p:cNvSpPr/>
          <p:nvPr/>
        </p:nvSpPr>
        <p:spPr>
          <a:xfrm>
            <a:off x="5060431" y="6293838"/>
            <a:ext cx="629325" cy="263002"/>
          </a:xfrm>
          <a:custGeom>
            <a:avLst/>
            <a:gdLst/>
            <a:ahLst/>
            <a:cxnLst/>
            <a:rect l="l" t="t" r="r" b="b"/>
            <a:pathLst>
              <a:path w="629325" h="263002">
                <a:moveTo>
                  <a:pt x="37572" y="0"/>
                </a:moveTo>
                <a:lnTo>
                  <a:pt x="591753" y="0"/>
                </a:lnTo>
                <a:cubicBezTo>
                  <a:pt x="612489" y="0"/>
                  <a:pt x="629325" y="16836"/>
                  <a:pt x="629325" y="37572"/>
                </a:cubicBezTo>
                <a:lnTo>
                  <a:pt x="629325" y="225429"/>
                </a:lnTo>
                <a:cubicBezTo>
                  <a:pt x="629325" y="246180"/>
                  <a:pt x="612503" y="263002"/>
                  <a:pt x="591753" y="263002"/>
                </a:cubicBezTo>
                <a:lnTo>
                  <a:pt x="37572" y="263002"/>
                </a:lnTo>
                <a:cubicBezTo>
                  <a:pt x="16836" y="263002"/>
                  <a:pt x="0" y="246166"/>
                  <a:pt x="0" y="225429"/>
                </a:cubicBezTo>
                <a:lnTo>
                  <a:pt x="0" y="37572"/>
                </a:lnTo>
                <a:cubicBezTo>
                  <a:pt x="0" y="16836"/>
                  <a:pt x="16836" y="0"/>
                  <a:pt x="37572" y="0"/>
                </a:cubicBezTo>
                <a:close/>
              </a:path>
            </a:pathLst>
          </a:custGeom>
          <a:solidFill>
            <a:srgbClr val="4A7C59">
              <a:alpha val="10196"/>
            </a:srgbClr>
          </a:solidFill>
          <a:ln/>
        </p:spPr>
      </p:sp>
      <p:sp>
        <p:nvSpPr>
          <p:cNvPr id="87" name="Text 85"/>
          <p:cNvSpPr/>
          <p:nvPr/>
        </p:nvSpPr>
        <p:spPr>
          <a:xfrm>
            <a:off x="5060431" y="6293838"/>
            <a:ext cx="704468" cy="263002"/>
          </a:xfrm>
          <a:prstGeom prst="rect">
            <a:avLst/>
          </a:prstGeom>
          <a:noFill/>
          <a:ln/>
        </p:spPr>
        <p:txBody>
          <a:bodyPr wrap="square" lIns="75143" tIns="18786" rIns="75143" bIns="18786" rtlCol="0" anchor="ctr"/>
          <a:lstStyle/>
          <a:p>
            <a:pPr>
              <a:lnSpc>
                <a:spcPct val="120000"/>
              </a:lnSpc>
            </a:pPr>
            <a:r>
              <a:rPr lang="en-US" sz="1183" dirty="0">
                <a:solidFill>
                  <a:srgbClr val="4A7C59"/>
                </a:solidFill>
                <a:latin typeface="Quattrocento Sans" pitchFamily="34" charset="0"/>
                <a:ea typeface="Quattrocento Sans" pitchFamily="34" charset="-122"/>
                <a:cs typeface="Quattrocento Sans" pitchFamily="34" charset="-120"/>
              </a:rPr>
              <a:t>Escrow</a:t>
            </a:r>
            <a:endParaRPr lang="en-US" sz="1600" dirty="0"/>
          </a:p>
        </p:txBody>
      </p:sp>
      <p:sp>
        <p:nvSpPr>
          <p:cNvPr id="88" name="Shape 86"/>
          <p:cNvSpPr/>
          <p:nvPr/>
        </p:nvSpPr>
        <p:spPr>
          <a:xfrm>
            <a:off x="5729676" y="6293838"/>
            <a:ext cx="939291" cy="263002"/>
          </a:xfrm>
          <a:custGeom>
            <a:avLst/>
            <a:gdLst/>
            <a:ahLst/>
            <a:cxnLst/>
            <a:rect l="l" t="t" r="r" b="b"/>
            <a:pathLst>
              <a:path w="939291" h="263002">
                <a:moveTo>
                  <a:pt x="37572" y="0"/>
                </a:moveTo>
                <a:lnTo>
                  <a:pt x="901719" y="0"/>
                </a:lnTo>
                <a:cubicBezTo>
                  <a:pt x="922456" y="0"/>
                  <a:pt x="939291" y="16836"/>
                  <a:pt x="939291" y="37572"/>
                </a:cubicBezTo>
                <a:lnTo>
                  <a:pt x="939291" y="225429"/>
                </a:lnTo>
                <a:cubicBezTo>
                  <a:pt x="939291" y="246180"/>
                  <a:pt x="922469" y="263002"/>
                  <a:pt x="901719" y="263002"/>
                </a:cubicBezTo>
                <a:lnTo>
                  <a:pt x="37572" y="263002"/>
                </a:lnTo>
                <a:cubicBezTo>
                  <a:pt x="16836" y="263002"/>
                  <a:pt x="0" y="246166"/>
                  <a:pt x="0" y="225429"/>
                </a:cubicBezTo>
                <a:lnTo>
                  <a:pt x="0" y="37572"/>
                </a:lnTo>
                <a:cubicBezTo>
                  <a:pt x="0" y="16836"/>
                  <a:pt x="16836" y="0"/>
                  <a:pt x="37572" y="0"/>
                </a:cubicBezTo>
                <a:close/>
              </a:path>
            </a:pathLst>
          </a:custGeom>
          <a:solidFill>
            <a:srgbClr val="4A7C59">
              <a:alpha val="10196"/>
            </a:srgbClr>
          </a:solidFill>
          <a:ln/>
        </p:spPr>
      </p:sp>
      <p:sp>
        <p:nvSpPr>
          <p:cNvPr id="89" name="Text 87"/>
          <p:cNvSpPr/>
          <p:nvPr/>
        </p:nvSpPr>
        <p:spPr>
          <a:xfrm>
            <a:off x="5729676" y="6293838"/>
            <a:ext cx="1014435" cy="263002"/>
          </a:xfrm>
          <a:prstGeom prst="rect">
            <a:avLst/>
          </a:prstGeom>
          <a:noFill/>
          <a:ln/>
        </p:spPr>
        <p:txBody>
          <a:bodyPr wrap="square" lIns="75143" tIns="18786" rIns="75143" bIns="18786" rtlCol="0" anchor="ctr"/>
          <a:lstStyle/>
          <a:p>
            <a:pPr>
              <a:lnSpc>
                <a:spcPct val="120000"/>
              </a:lnSpc>
            </a:pPr>
            <a:r>
              <a:rPr lang="en-US" sz="1183" dirty="0">
                <a:solidFill>
                  <a:srgbClr val="4A7C59"/>
                </a:solidFill>
                <a:latin typeface="Quattrocento Sans" pitchFamily="34" charset="0"/>
                <a:ea typeface="Quattrocento Sans" pitchFamily="34" charset="-122"/>
                <a:cs typeface="Quattrocento Sans" pitchFamily="34" charset="-120"/>
              </a:rPr>
              <a:t>Auto Payout</a:t>
            </a:r>
            <a:endParaRPr lang="en-US" sz="1600" dirty="0"/>
          </a:p>
        </p:txBody>
      </p:sp>
      <p:sp>
        <p:nvSpPr>
          <p:cNvPr id="90" name="Shape 88"/>
          <p:cNvSpPr/>
          <p:nvPr/>
        </p:nvSpPr>
        <p:spPr>
          <a:xfrm>
            <a:off x="8006049" y="4884901"/>
            <a:ext cx="3738379" cy="1784653"/>
          </a:xfrm>
          <a:custGeom>
            <a:avLst/>
            <a:gdLst/>
            <a:ahLst/>
            <a:cxnLst/>
            <a:rect l="l" t="t" r="r" b="b"/>
            <a:pathLst>
              <a:path w="3738379" h="1784653">
                <a:moveTo>
                  <a:pt x="37572" y="0"/>
                </a:moveTo>
                <a:lnTo>
                  <a:pt x="3700807" y="0"/>
                </a:lnTo>
                <a:cubicBezTo>
                  <a:pt x="3721558" y="0"/>
                  <a:pt x="3738379" y="16821"/>
                  <a:pt x="3738379" y="37572"/>
                </a:cubicBezTo>
                <a:lnTo>
                  <a:pt x="3738379" y="1709502"/>
                </a:lnTo>
                <a:cubicBezTo>
                  <a:pt x="3738379" y="1751007"/>
                  <a:pt x="3704732" y="1784653"/>
                  <a:pt x="3663227" y="1784653"/>
                </a:cubicBezTo>
                <a:lnTo>
                  <a:pt x="75152" y="1784653"/>
                </a:lnTo>
                <a:cubicBezTo>
                  <a:pt x="33647" y="1784653"/>
                  <a:pt x="0" y="1751007"/>
                  <a:pt x="0" y="1709502"/>
                </a:cubicBezTo>
                <a:lnTo>
                  <a:pt x="0" y="37572"/>
                </a:lnTo>
                <a:cubicBezTo>
                  <a:pt x="0" y="16821"/>
                  <a:pt x="16821" y="0"/>
                  <a:pt x="37572" y="0"/>
                </a:cubicBezTo>
                <a:close/>
              </a:path>
            </a:pathLst>
          </a:custGeom>
          <a:solidFill>
            <a:srgbClr val="FFFFFF"/>
          </a:solidFill>
          <a:ln/>
          <a:effectLst>
            <a:outerShdw sx="100000" sy="100000" kx="0" ky="0" algn="bl" rotWithShape="0" blurRad="56357" dist="37572" dir="5400000">
              <a:srgbClr val="000000">
                <a:alpha val="10196"/>
              </a:srgbClr>
            </a:outerShdw>
          </a:effectLst>
        </p:spPr>
      </p:sp>
      <p:sp>
        <p:nvSpPr>
          <p:cNvPr id="91" name="Shape 89"/>
          <p:cNvSpPr/>
          <p:nvPr/>
        </p:nvSpPr>
        <p:spPr>
          <a:xfrm>
            <a:off x="8006049" y="4884901"/>
            <a:ext cx="3738379" cy="37572"/>
          </a:xfrm>
          <a:custGeom>
            <a:avLst/>
            <a:gdLst/>
            <a:ahLst/>
            <a:cxnLst/>
            <a:rect l="l" t="t" r="r" b="b"/>
            <a:pathLst>
              <a:path w="3738379" h="37572">
                <a:moveTo>
                  <a:pt x="37572" y="0"/>
                </a:moveTo>
                <a:lnTo>
                  <a:pt x="3700807" y="0"/>
                </a:lnTo>
                <a:cubicBezTo>
                  <a:pt x="3721558" y="0"/>
                  <a:pt x="3738379" y="16821"/>
                  <a:pt x="3738379" y="37572"/>
                </a:cubicBezTo>
                <a:lnTo>
                  <a:pt x="3738379" y="37572"/>
                </a:lnTo>
                <a:lnTo>
                  <a:pt x="0" y="37572"/>
                </a:lnTo>
                <a:lnTo>
                  <a:pt x="0" y="37572"/>
                </a:lnTo>
                <a:cubicBezTo>
                  <a:pt x="0" y="16821"/>
                  <a:pt x="16821" y="0"/>
                  <a:pt x="37572" y="0"/>
                </a:cubicBezTo>
                <a:close/>
              </a:path>
            </a:pathLst>
          </a:custGeom>
          <a:solidFill>
            <a:srgbClr val="F7B538"/>
          </a:solidFill>
          <a:ln/>
        </p:spPr>
      </p:sp>
      <p:sp>
        <p:nvSpPr>
          <p:cNvPr id="92" name="Shape 90"/>
          <p:cNvSpPr/>
          <p:nvPr/>
        </p:nvSpPr>
        <p:spPr>
          <a:xfrm>
            <a:off x="8118764" y="5016402"/>
            <a:ext cx="300573" cy="300573"/>
          </a:xfrm>
          <a:custGeom>
            <a:avLst/>
            <a:gdLst/>
            <a:ahLst/>
            <a:cxnLst/>
            <a:rect l="l" t="t" r="r" b="b"/>
            <a:pathLst>
              <a:path w="300573" h="300573">
                <a:moveTo>
                  <a:pt x="150287" y="0"/>
                </a:moveTo>
                <a:lnTo>
                  <a:pt x="150287" y="0"/>
                </a:lnTo>
                <a:cubicBezTo>
                  <a:pt x="233288" y="0"/>
                  <a:pt x="300573" y="67286"/>
                  <a:pt x="300573" y="150287"/>
                </a:cubicBezTo>
                <a:lnTo>
                  <a:pt x="300573" y="150287"/>
                </a:lnTo>
                <a:cubicBezTo>
                  <a:pt x="300573" y="233288"/>
                  <a:pt x="233288" y="300573"/>
                  <a:pt x="150287" y="300573"/>
                </a:cubicBezTo>
                <a:lnTo>
                  <a:pt x="150287" y="300573"/>
                </a:lnTo>
                <a:cubicBezTo>
                  <a:pt x="67286" y="300573"/>
                  <a:pt x="0" y="233288"/>
                  <a:pt x="0" y="150287"/>
                </a:cubicBezTo>
                <a:lnTo>
                  <a:pt x="0" y="150287"/>
                </a:lnTo>
                <a:cubicBezTo>
                  <a:pt x="0" y="67286"/>
                  <a:pt x="67286" y="0"/>
                  <a:pt x="150287" y="0"/>
                </a:cubicBezTo>
                <a:close/>
              </a:path>
            </a:pathLst>
          </a:custGeom>
          <a:solidFill>
            <a:srgbClr val="F7B538"/>
          </a:solidFill>
          <a:ln/>
        </p:spPr>
      </p:sp>
      <p:sp>
        <p:nvSpPr>
          <p:cNvPr id="93" name="Text 91"/>
          <p:cNvSpPr/>
          <p:nvPr/>
        </p:nvSpPr>
        <p:spPr>
          <a:xfrm>
            <a:off x="8081192" y="5016402"/>
            <a:ext cx="375716" cy="300573"/>
          </a:xfrm>
          <a:prstGeom prst="rect">
            <a:avLst/>
          </a:prstGeom>
          <a:noFill/>
          <a:ln/>
        </p:spPr>
        <p:txBody>
          <a:bodyPr wrap="square" lIns="0" tIns="0" rIns="0" bIns="0" rtlCol="0" anchor="ctr"/>
          <a:lstStyle/>
          <a:p>
            <a:pPr algn="ctr">
              <a:lnSpc>
                <a:spcPct val="120000"/>
              </a:lnSpc>
            </a:pPr>
            <a:r>
              <a:rPr lang="en-US" sz="1183" b="1" dirty="0">
                <a:solidFill>
                  <a:srgbClr val="1A535C"/>
                </a:solidFill>
                <a:latin typeface="Quattrocento Sans" pitchFamily="34" charset="0"/>
                <a:ea typeface="Quattrocento Sans" pitchFamily="34" charset="-122"/>
                <a:cs typeface="Quattrocento Sans" pitchFamily="34" charset="-120"/>
              </a:rPr>
              <a:t>9</a:t>
            </a:r>
            <a:endParaRPr lang="en-US" sz="1600" dirty="0"/>
          </a:p>
        </p:txBody>
      </p:sp>
      <p:sp>
        <p:nvSpPr>
          <p:cNvPr id="94" name="Text 92"/>
          <p:cNvSpPr/>
          <p:nvPr/>
        </p:nvSpPr>
        <p:spPr>
          <a:xfrm>
            <a:off x="8494480" y="5053974"/>
            <a:ext cx="901720" cy="225430"/>
          </a:xfrm>
          <a:prstGeom prst="rect">
            <a:avLst/>
          </a:prstGeom>
          <a:noFill/>
          <a:ln/>
        </p:spPr>
        <p:txBody>
          <a:bodyPr wrap="square" lIns="0" tIns="0" rIns="0" bIns="0" rtlCol="0" anchor="ctr"/>
          <a:lstStyle/>
          <a:p>
            <a:pPr>
              <a:lnSpc>
                <a:spcPct val="120000"/>
              </a:lnSpc>
            </a:pPr>
            <a:r>
              <a:rPr lang="en-US" sz="1183" b="1" dirty="0">
                <a:solidFill>
                  <a:srgbClr val="1A535C"/>
                </a:solidFill>
                <a:latin typeface="Liter" pitchFamily="34" charset="0"/>
                <a:ea typeface="Liter" pitchFamily="34" charset="-122"/>
                <a:cs typeface="Liter" pitchFamily="34" charset="-120"/>
              </a:rPr>
              <a:t>Admin Panel</a:t>
            </a:r>
            <a:endParaRPr lang="en-US" sz="1600" dirty="0"/>
          </a:p>
        </p:txBody>
      </p:sp>
      <p:sp>
        <p:nvSpPr>
          <p:cNvPr id="95" name="Text 93"/>
          <p:cNvSpPr/>
          <p:nvPr/>
        </p:nvSpPr>
        <p:spPr>
          <a:xfrm>
            <a:off x="8118764" y="5392119"/>
            <a:ext cx="3588092" cy="826576"/>
          </a:xfrm>
          <a:prstGeom prst="rect">
            <a:avLst/>
          </a:prstGeom>
          <a:noFill/>
          <a:ln/>
        </p:spPr>
        <p:txBody>
          <a:bodyPr wrap="square" lIns="0" tIns="0" rIns="0" bIns="0" rtlCol="0" anchor="ctr"/>
          <a:lstStyle/>
          <a:p>
            <a:pPr>
              <a:lnSpc>
                <a:spcPct val="110000"/>
              </a:lnSpc>
            </a:pPr>
            <a:r>
              <a:rPr lang="en-US" sz="1183" dirty="0">
                <a:solidFill>
                  <a:srgbClr val="212529"/>
                </a:solidFill>
                <a:latin typeface="Quattrocento Sans" pitchFamily="34" charset="0"/>
                <a:ea typeface="Quattrocento Sans" pitchFamily="34" charset="-122"/>
                <a:cs typeface="Quattrocento Sans" pitchFamily="34" charset="-120"/>
              </a:rPr>
              <a:t>User management, teacher credential verification queue, content moderation, analytics dashboard (DAU, MAU, revenue), dispute resolution, announcements.</a:t>
            </a:r>
            <a:endParaRPr lang="en-US" sz="1600" dirty="0"/>
          </a:p>
        </p:txBody>
      </p:sp>
      <p:sp>
        <p:nvSpPr>
          <p:cNvPr id="96" name="Shape 94"/>
          <p:cNvSpPr/>
          <p:nvPr/>
        </p:nvSpPr>
        <p:spPr>
          <a:xfrm>
            <a:off x="8118764" y="6293838"/>
            <a:ext cx="742040" cy="263002"/>
          </a:xfrm>
          <a:custGeom>
            <a:avLst/>
            <a:gdLst/>
            <a:ahLst/>
            <a:cxnLst/>
            <a:rect l="l" t="t" r="r" b="b"/>
            <a:pathLst>
              <a:path w="742040" h="263002">
                <a:moveTo>
                  <a:pt x="37572" y="0"/>
                </a:moveTo>
                <a:lnTo>
                  <a:pt x="704468" y="0"/>
                </a:lnTo>
                <a:cubicBezTo>
                  <a:pt x="725204" y="0"/>
                  <a:pt x="742040" y="16836"/>
                  <a:pt x="742040" y="37572"/>
                </a:cubicBezTo>
                <a:lnTo>
                  <a:pt x="742040" y="225429"/>
                </a:lnTo>
                <a:cubicBezTo>
                  <a:pt x="742040" y="246180"/>
                  <a:pt x="725218" y="263002"/>
                  <a:pt x="704468" y="263002"/>
                </a:cubicBezTo>
                <a:lnTo>
                  <a:pt x="37572" y="263002"/>
                </a:lnTo>
                <a:cubicBezTo>
                  <a:pt x="16836" y="263002"/>
                  <a:pt x="0" y="246166"/>
                  <a:pt x="0" y="225429"/>
                </a:cubicBezTo>
                <a:lnTo>
                  <a:pt x="0" y="37572"/>
                </a:lnTo>
                <a:cubicBezTo>
                  <a:pt x="0" y="16836"/>
                  <a:pt x="16836" y="0"/>
                  <a:pt x="37572" y="0"/>
                </a:cubicBezTo>
                <a:close/>
              </a:path>
            </a:pathLst>
          </a:custGeom>
          <a:solidFill>
            <a:srgbClr val="F7B538">
              <a:alpha val="20000"/>
            </a:srgbClr>
          </a:solidFill>
          <a:ln/>
        </p:spPr>
      </p:sp>
      <p:sp>
        <p:nvSpPr>
          <p:cNvPr id="97" name="Text 95"/>
          <p:cNvSpPr/>
          <p:nvPr/>
        </p:nvSpPr>
        <p:spPr>
          <a:xfrm>
            <a:off x="8118764" y="6293838"/>
            <a:ext cx="817183" cy="263002"/>
          </a:xfrm>
          <a:prstGeom prst="rect">
            <a:avLst/>
          </a:prstGeom>
          <a:noFill/>
          <a:ln/>
        </p:spPr>
        <p:txBody>
          <a:bodyPr wrap="square" lIns="75143" tIns="18786" rIns="75143" bIns="18786" rtlCol="0" anchor="ctr"/>
          <a:lstStyle/>
          <a:p>
            <a:pPr>
              <a:lnSpc>
                <a:spcPct val="120000"/>
              </a:lnSpc>
            </a:pPr>
            <a:r>
              <a:rPr lang="en-US" sz="1183" dirty="0">
                <a:solidFill>
                  <a:srgbClr val="F7B538"/>
                </a:solidFill>
                <a:latin typeface="Quattrocento Sans" pitchFamily="34" charset="0"/>
                <a:ea typeface="Quattrocento Sans" pitchFamily="34" charset="-122"/>
                <a:cs typeface="Quattrocento Sans" pitchFamily="34" charset="-120"/>
              </a:rPr>
              <a:t>Analytics</a:t>
            </a:r>
            <a:endParaRPr lang="en-US" sz="1600" dirty="0"/>
          </a:p>
        </p:txBody>
      </p:sp>
      <p:sp>
        <p:nvSpPr>
          <p:cNvPr id="98" name="Shape 96"/>
          <p:cNvSpPr/>
          <p:nvPr/>
        </p:nvSpPr>
        <p:spPr>
          <a:xfrm>
            <a:off x="8896144" y="6293838"/>
            <a:ext cx="901720" cy="263002"/>
          </a:xfrm>
          <a:custGeom>
            <a:avLst/>
            <a:gdLst/>
            <a:ahLst/>
            <a:cxnLst/>
            <a:rect l="l" t="t" r="r" b="b"/>
            <a:pathLst>
              <a:path w="901720" h="263002">
                <a:moveTo>
                  <a:pt x="37572" y="0"/>
                </a:moveTo>
                <a:lnTo>
                  <a:pt x="864147" y="0"/>
                </a:lnTo>
                <a:cubicBezTo>
                  <a:pt x="884884" y="0"/>
                  <a:pt x="901720" y="16836"/>
                  <a:pt x="901720" y="37572"/>
                </a:cubicBezTo>
                <a:lnTo>
                  <a:pt x="901720" y="225429"/>
                </a:lnTo>
                <a:cubicBezTo>
                  <a:pt x="901720" y="246180"/>
                  <a:pt x="884898" y="263002"/>
                  <a:pt x="864147" y="263002"/>
                </a:cubicBezTo>
                <a:lnTo>
                  <a:pt x="37572" y="263002"/>
                </a:lnTo>
                <a:cubicBezTo>
                  <a:pt x="16836" y="263002"/>
                  <a:pt x="0" y="246166"/>
                  <a:pt x="0" y="225429"/>
                </a:cubicBezTo>
                <a:lnTo>
                  <a:pt x="0" y="37572"/>
                </a:lnTo>
                <a:cubicBezTo>
                  <a:pt x="0" y="16836"/>
                  <a:pt x="16836" y="0"/>
                  <a:pt x="37572" y="0"/>
                </a:cubicBezTo>
                <a:close/>
              </a:path>
            </a:pathLst>
          </a:custGeom>
          <a:solidFill>
            <a:srgbClr val="F7B538">
              <a:alpha val="20000"/>
            </a:srgbClr>
          </a:solidFill>
          <a:ln/>
        </p:spPr>
      </p:sp>
      <p:sp>
        <p:nvSpPr>
          <p:cNvPr id="99" name="Text 97"/>
          <p:cNvSpPr/>
          <p:nvPr/>
        </p:nvSpPr>
        <p:spPr>
          <a:xfrm>
            <a:off x="8896144" y="6293838"/>
            <a:ext cx="976863" cy="263002"/>
          </a:xfrm>
          <a:prstGeom prst="rect">
            <a:avLst/>
          </a:prstGeom>
          <a:noFill/>
          <a:ln/>
        </p:spPr>
        <p:txBody>
          <a:bodyPr wrap="square" lIns="75143" tIns="18786" rIns="75143" bIns="18786" rtlCol="0" anchor="ctr"/>
          <a:lstStyle/>
          <a:p>
            <a:pPr>
              <a:lnSpc>
                <a:spcPct val="120000"/>
              </a:lnSpc>
            </a:pPr>
            <a:r>
              <a:rPr lang="en-US" sz="1183" dirty="0">
                <a:solidFill>
                  <a:srgbClr val="F7B538"/>
                </a:solidFill>
                <a:latin typeface="Quattrocento Sans" pitchFamily="34" charset="0"/>
                <a:ea typeface="Quattrocento Sans" pitchFamily="34" charset="-122"/>
                <a:cs typeface="Quattrocento Sans" pitchFamily="34" charset="-120"/>
              </a:rPr>
              <a:t>Moderation</a:t>
            </a:r>
            <a:endParaRPr lang="en-US" sz="16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63511" y="0"/>
            <a:ext cx="11620500" cy="190500"/>
          </a:xfrm>
          <a:prstGeom prst="rect">
            <a:avLst/>
          </a:prstGeom>
          <a:noFill/>
          <a:ln/>
        </p:spPr>
        <p:txBody>
          <a:bodyPr wrap="square" lIns="0" tIns="0" rIns="0" bIns="0" rtlCol="0" anchor="ctr"/>
          <a:lstStyle/>
          <a:p>
            <a:pPr>
              <a:lnSpc>
                <a:spcPct val="130000"/>
              </a:lnSpc>
            </a:pPr>
            <a:r>
              <a:rPr lang="en-US" sz="1000" b="1" spc="50" kern="0" dirty="0">
                <a:solidFill>
                  <a:srgbClr val="4A7C59"/>
                </a:solidFill>
                <a:latin typeface="Quattrocento Sans" pitchFamily="34" charset="0"/>
                <a:ea typeface="Quattrocento Sans" pitchFamily="34" charset="-122"/>
                <a:cs typeface="Quattrocento Sans" pitchFamily="34" charset="-120"/>
              </a:rPr>
              <a:t>UNIQUE DIFFERENTIATING FEATURES — PART A</a:t>
            </a:r>
            <a:endParaRPr lang="en-US" sz="1600" dirty="0"/>
          </a:p>
        </p:txBody>
      </p:sp>
      <p:sp>
        <p:nvSpPr>
          <p:cNvPr id="3" name="Text 1"/>
          <p:cNvSpPr/>
          <p:nvPr/>
        </p:nvSpPr>
        <p:spPr>
          <a:xfrm>
            <a:off x="63511" y="190500"/>
            <a:ext cx="11676063" cy="285750"/>
          </a:xfrm>
          <a:prstGeom prst="rect">
            <a:avLst/>
          </a:prstGeom>
          <a:noFill/>
          <a:ln/>
        </p:spPr>
        <p:txBody>
          <a:bodyPr wrap="square" lIns="0" tIns="0" rIns="0" bIns="0" rtlCol="0" anchor="ctr"/>
          <a:lstStyle/>
          <a:p>
            <a:pPr>
              <a:lnSpc>
                <a:spcPct val="100000"/>
              </a:lnSpc>
            </a:pPr>
            <a:r>
              <a:rPr lang="en-US" sz="1875" b="1" dirty="0">
                <a:solidFill>
                  <a:srgbClr val="1A535C"/>
                </a:solidFill>
                <a:latin typeface="Liter" pitchFamily="34" charset="0"/>
                <a:ea typeface="Liter" pitchFamily="34" charset="-122"/>
                <a:cs typeface="Liter" pitchFamily="34" charset="-120"/>
              </a:rPr>
              <a:t>8 Features from Core Competitive Research</a:t>
            </a:r>
            <a:endParaRPr lang="en-US" sz="1600" dirty="0"/>
          </a:p>
        </p:txBody>
      </p:sp>
      <p:sp>
        <p:nvSpPr>
          <p:cNvPr id="4" name="Text 2"/>
          <p:cNvSpPr/>
          <p:nvPr/>
        </p:nvSpPr>
        <p:spPr>
          <a:xfrm>
            <a:off x="4778175" y="190500"/>
            <a:ext cx="11620500" cy="190500"/>
          </a:xfrm>
          <a:prstGeom prst="rect">
            <a:avLst/>
          </a:prstGeom>
          <a:noFill/>
          <a:ln/>
        </p:spPr>
        <p:txBody>
          <a:bodyPr wrap="square" lIns="0" tIns="0" rIns="0" bIns="0" rtlCol="0" anchor="ctr"/>
          <a:lstStyle/>
          <a:p>
            <a:pPr>
              <a:lnSpc>
                <a:spcPct val="130000"/>
              </a:lnSpc>
            </a:pPr>
            <a:r>
              <a:rPr lang="en-US" sz="1000" dirty="0">
                <a:solidFill>
                  <a:srgbClr val="212529">
                    <a:alpha val="70000"/>
                  </a:srgbClr>
                </a:solidFill>
                <a:latin typeface="Quattrocento Sans" pitchFamily="34" charset="0"/>
                <a:ea typeface="Quattrocento Sans" pitchFamily="34" charset="-122"/>
                <a:cs typeface="Quattrocento Sans" pitchFamily="34" charset="-120"/>
              </a:rPr>
              <a:t>Each solves a real problem that no existing tutoring platform addresses</a:t>
            </a:r>
            <a:endParaRPr lang="en-US" sz="1600" dirty="0"/>
          </a:p>
        </p:txBody>
      </p:sp>
      <p:sp>
        <p:nvSpPr>
          <p:cNvPr id="5" name="Shape 3"/>
          <p:cNvSpPr/>
          <p:nvPr/>
        </p:nvSpPr>
        <p:spPr>
          <a:xfrm>
            <a:off x="333375" y="1206500"/>
            <a:ext cx="5715000" cy="1698625"/>
          </a:xfrm>
          <a:custGeom>
            <a:avLst/>
            <a:gdLst/>
            <a:ahLst/>
            <a:cxnLst/>
            <a:rect l="l" t="t" r="r" b="b"/>
            <a:pathLst>
              <a:path w="5715000" h="1698625">
                <a:moveTo>
                  <a:pt x="31750" y="0"/>
                </a:moveTo>
                <a:lnTo>
                  <a:pt x="5651505" y="0"/>
                </a:lnTo>
                <a:cubicBezTo>
                  <a:pt x="5686572" y="0"/>
                  <a:pt x="5715000" y="28428"/>
                  <a:pt x="5715000" y="63495"/>
                </a:cubicBezTo>
                <a:lnTo>
                  <a:pt x="5715000" y="1635130"/>
                </a:lnTo>
                <a:cubicBezTo>
                  <a:pt x="5715000" y="1670197"/>
                  <a:pt x="5686572" y="1698625"/>
                  <a:pt x="5651505" y="1698625"/>
                </a:cubicBezTo>
                <a:lnTo>
                  <a:pt x="31750" y="1698625"/>
                </a:lnTo>
                <a:cubicBezTo>
                  <a:pt x="14215" y="1698625"/>
                  <a:pt x="0" y="1684410"/>
                  <a:pt x="0" y="1666875"/>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6" name="Shape 4"/>
          <p:cNvSpPr/>
          <p:nvPr/>
        </p:nvSpPr>
        <p:spPr>
          <a:xfrm>
            <a:off x="333375" y="1206500"/>
            <a:ext cx="31750" cy="1698625"/>
          </a:xfrm>
          <a:custGeom>
            <a:avLst/>
            <a:gdLst/>
            <a:ahLst/>
            <a:cxnLst/>
            <a:rect l="l" t="t" r="r" b="b"/>
            <a:pathLst>
              <a:path w="31750" h="1698625">
                <a:moveTo>
                  <a:pt x="31750" y="0"/>
                </a:moveTo>
                <a:lnTo>
                  <a:pt x="31750" y="0"/>
                </a:lnTo>
                <a:lnTo>
                  <a:pt x="31750" y="1698625"/>
                </a:lnTo>
                <a:lnTo>
                  <a:pt x="31750" y="1698625"/>
                </a:lnTo>
                <a:cubicBezTo>
                  <a:pt x="14227" y="1698625"/>
                  <a:pt x="0" y="1684398"/>
                  <a:pt x="0" y="1666875"/>
                </a:cubicBezTo>
                <a:lnTo>
                  <a:pt x="0" y="31750"/>
                </a:lnTo>
                <a:cubicBezTo>
                  <a:pt x="0" y="14227"/>
                  <a:pt x="14227" y="0"/>
                  <a:pt x="31750" y="0"/>
                </a:cubicBezTo>
                <a:close/>
              </a:path>
            </a:pathLst>
          </a:custGeom>
          <a:solidFill>
            <a:srgbClr val="1A535C"/>
          </a:solidFill>
          <a:ln/>
        </p:spPr>
      </p:sp>
      <p:sp>
        <p:nvSpPr>
          <p:cNvPr id="7" name="Shape 5"/>
          <p:cNvSpPr/>
          <p:nvPr/>
        </p:nvSpPr>
        <p:spPr>
          <a:xfrm>
            <a:off x="444500" y="1365250"/>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1A535C"/>
          </a:solidFill>
          <a:ln/>
        </p:spPr>
      </p:sp>
      <p:sp>
        <p:nvSpPr>
          <p:cNvPr id="8" name="Text 6"/>
          <p:cNvSpPr/>
          <p:nvPr/>
        </p:nvSpPr>
        <p:spPr>
          <a:xfrm>
            <a:off x="412750" y="1365250"/>
            <a:ext cx="317500" cy="2540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1</a:t>
            </a:r>
            <a:endParaRPr lang="en-US" sz="1600" dirty="0"/>
          </a:p>
        </p:txBody>
      </p:sp>
      <p:sp>
        <p:nvSpPr>
          <p:cNvPr id="9" name="Text 7"/>
          <p:cNvSpPr/>
          <p:nvPr/>
        </p:nvSpPr>
        <p:spPr>
          <a:xfrm>
            <a:off x="762000" y="1301750"/>
            <a:ext cx="1293813"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Mother Tongue Mode</a:t>
            </a:r>
            <a:endParaRPr lang="en-US" sz="1600" dirty="0"/>
          </a:p>
        </p:txBody>
      </p:sp>
      <p:sp>
        <p:nvSpPr>
          <p:cNvPr id="10" name="Text 8"/>
          <p:cNvSpPr/>
          <p:nvPr/>
        </p:nvSpPr>
        <p:spPr>
          <a:xfrm>
            <a:off x="762000" y="1492250"/>
            <a:ext cx="1293813" cy="190500"/>
          </a:xfrm>
          <a:prstGeom prst="rect">
            <a:avLst/>
          </a:prstGeom>
          <a:noFill/>
          <a:ln/>
        </p:spPr>
        <p:txBody>
          <a:bodyPr wrap="square" lIns="0" tIns="0" rIns="0" bIns="0" rtlCol="0" anchor="ctr"/>
          <a:lstStyle/>
          <a:p>
            <a:pPr>
              <a:lnSpc>
                <a:spcPct val="130000"/>
              </a:lnSpc>
            </a:pPr>
            <a:r>
              <a:rPr lang="en-US" sz="1000" b="1" dirty="0">
                <a:solidFill>
                  <a:srgbClr val="4A7C59"/>
                </a:solidFill>
                <a:latin typeface="Quattrocento Sans" pitchFamily="34" charset="0"/>
                <a:ea typeface="Quattrocento Sans" pitchFamily="34" charset="-122"/>
                <a:cs typeface="Quattrocento Sans" pitchFamily="34" charset="-120"/>
              </a:rPr>
              <a:t>Language Accessibility</a:t>
            </a:r>
            <a:endParaRPr lang="en-US" sz="1600" dirty="0"/>
          </a:p>
        </p:txBody>
      </p:sp>
      <p:sp>
        <p:nvSpPr>
          <p:cNvPr id="11" name="Text 9"/>
          <p:cNvSpPr/>
          <p:nvPr/>
        </p:nvSpPr>
        <p:spPr>
          <a:xfrm>
            <a:off x="444500" y="1714500"/>
            <a:ext cx="5572125" cy="52387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Students select from 8+ Indian languages (Hindi, Punjabi, Tamil, Bengali, Marathi, Gujarati, Telugu, Kannada). Real-time subtitle translation using Google Speech-to-Text + Translate API during video sessions.</a:t>
            </a:r>
            <a:endParaRPr lang="en-US" sz="1600" dirty="0"/>
          </a:p>
        </p:txBody>
      </p:sp>
      <p:sp>
        <p:nvSpPr>
          <p:cNvPr id="12" name="Shape 10"/>
          <p:cNvSpPr/>
          <p:nvPr/>
        </p:nvSpPr>
        <p:spPr>
          <a:xfrm>
            <a:off x="444500" y="2301875"/>
            <a:ext cx="5508625" cy="508000"/>
          </a:xfrm>
          <a:custGeom>
            <a:avLst/>
            <a:gdLst/>
            <a:ahLst/>
            <a:cxnLst/>
            <a:rect l="l" t="t" r="r" b="b"/>
            <a:pathLst>
              <a:path w="5508625" h="508000">
                <a:moveTo>
                  <a:pt x="63500" y="0"/>
                </a:moveTo>
                <a:lnTo>
                  <a:pt x="5445125" y="0"/>
                </a:lnTo>
                <a:cubicBezTo>
                  <a:pt x="5480172" y="0"/>
                  <a:pt x="5508625" y="28453"/>
                  <a:pt x="5508625" y="63500"/>
                </a:cubicBezTo>
                <a:lnTo>
                  <a:pt x="5508625" y="444500"/>
                </a:lnTo>
                <a:cubicBezTo>
                  <a:pt x="5508625" y="479547"/>
                  <a:pt x="5480172" y="508000"/>
                  <a:pt x="5445125" y="508000"/>
                </a:cubicBezTo>
                <a:lnTo>
                  <a:pt x="63500" y="508000"/>
                </a:lnTo>
                <a:cubicBezTo>
                  <a:pt x="28453" y="508000"/>
                  <a:pt x="0" y="479547"/>
                  <a:pt x="0" y="444500"/>
                </a:cubicBezTo>
                <a:lnTo>
                  <a:pt x="0" y="63500"/>
                </a:lnTo>
                <a:cubicBezTo>
                  <a:pt x="0" y="28453"/>
                  <a:pt x="28453" y="0"/>
                  <a:pt x="63500" y="0"/>
                </a:cubicBezTo>
                <a:close/>
              </a:path>
            </a:pathLst>
          </a:custGeom>
          <a:solidFill>
            <a:srgbClr val="1A535C">
              <a:alpha val="10196"/>
            </a:srgbClr>
          </a:solidFill>
          <a:ln/>
        </p:spPr>
      </p:sp>
      <p:sp>
        <p:nvSpPr>
          <p:cNvPr id="13" name="Text 11"/>
          <p:cNvSpPr/>
          <p:nvPr/>
        </p:nvSpPr>
        <p:spPr>
          <a:xfrm>
            <a:off x="508000" y="2365375"/>
            <a:ext cx="5445125" cy="381000"/>
          </a:xfrm>
          <a:prstGeom prst="rect">
            <a:avLst/>
          </a:prstGeom>
          <a:noFill/>
          <a:ln/>
        </p:spPr>
        <p:txBody>
          <a:bodyPr wrap="square" lIns="0" tIns="0" rIns="0" bIns="0" rtlCol="0" anchor="ctr"/>
          <a:lstStyle/>
          <a:p>
            <a:pPr>
              <a:lnSpc>
                <a:spcPct val="130000"/>
              </a:lnSpc>
            </a:pPr>
            <a:r>
              <a:rPr lang="en-US" sz="1000" b="1" dirty="0">
                <a:solidFill>
                  <a:srgbClr val="1A535C"/>
                </a:solidFill>
                <a:latin typeface="Quattrocento Sans" pitchFamily="34" charset="0"/>
                <a:ea typeface="Quattrocento Sans" pitchFamily="34" charset="-122"/>
                <a:cs typeface="Quattrocento Sans" pitchFamily="34" charset="-120"/>
              </a:rPr>
              <a:t>Why Unique:</a:t>
            </a:r>
            <a:pPr>
              <a:lnSpc>
                <a:spcPct val="130000"/>
              </a:lnSpc>
            </a:pPr>
            <a:r>
              <a:rPr lang="en-US" sz="1000" dirty="0">
                <a:solidFill>
                  <a:srgbClr val="1A535C"/>
                </a:solidFill>
                <a:latin typeface="Quattrocento Sans" pitchFamily="34" charset="0"/>
                <a:ea typeface="Quattrocento Sans" pitchFamily="34" charset="-122"/>
                <a:cs typeface="Quattrocento Sans" pitchFamily="34" charset="-120"/>
              </a:rPr>
              <a:t> Vedantu/Unacademy are overwhelmingly English/Hindi. Tier 2/3 India is massively underserved.</a:t>
            </a:r>
            <a:endParaRPr lang="en-US" sz="1600" dirty="0"/>
          </a:p>
        </p:txBody>
      </p:sp>
      <p:sp>
        <p:nvSpPr>
          <p:cNvPr id="14" name="Shape 12"/>
          <p:cNvSpPr/>
          <p:nvPr/>
        </p:nvSpPr>
        <p:spPr>
          <a:xfrm>
            <a:off x="6159500" y="1206500"/>
            <a:ext cx="5715000" cy="1698625"/>
          </a:xfrm>
          <a:custGeom>
            <a:avLst/>
            <a:gdLst/>
            <a:ahLst/>
            <a:cxnLst/>
            <a:rect l="l" t="t" r="r" b="b"/>
            <a:pathLst>
              <a:path w="5715000" h="1698625">
                <a:moveTo>
                  <a:pt x="31750" y="0"/>
                </a:moveTo>
                <a:lnTo>
                  <a:pt x="5651505" y="0"/>
                </a:lnTo>
                <a:cubicBezTo>
                  <a:pt x="5686572" y="0"/>
                  <a:pt x="5715000" y="28428"/>
                  <a:pt x="5715000" y="63495"/>
                </a:cubicBezTo>
                <a:lnTo>
                  <a:pt x="5715000" y="1635130"/>
                </a:lnTo>
                <a:cubicBezTo>
                  <a:pt x="5715000" y="1670197"/>
                  <a:pt x="5686572" y="1698625"/>
                  <a:pt x="5651505" y="1698625"/>
                </a:cubicBezTo>
                <a:lnTo>
                  <a:pt x="31750" y="1698625"/>
                </a:lnTo>
                <a:cubicBezTo>
                  <a:pt x="14215" y="1698625"/>
                  <a:pt x="0" y="1684410"/>
                  <a:pt x="0" y="1666875"/>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15" name="Shape 13"/>
          <p:cNvSpPr/>
          <p:nvPr/>
        </p:nvSpPr>
        <p:spPr>
          <a:xfrm>
            <a:off x="6159500" y="1206500"/>
            <a:ext cx="31750" cy="1698625"/>
          </a:xfrm>
          <a:custGeom>
            <a:avLst/>
            <a:gdLst/>
            <a:ahLst/>
            <a:cxnLst/>
            <a:rect l="l" t="t" r="r" b="b"/>
            <a:pathLst>
              <a:path w="31750" h="1698625">
                <a:moveTo>
                  <a:pt x="31750" y="0"/>
                </a:moveTo>
                <a:lnTo>
                  <a:pt x="31750" y="0"/>
                </a:lnTo>
                <a:lnTo>
                  <a:pt x="31750" y="1698625"/>
                </a:lnTo>
                <a:lnTo>
                  <a:pt x="31750" y="1698625"/>
                </a:lnTo>
                <a:cubicBezTo>
                  <a:pt x="14227" y="1698625"/>
                  <a:pt x="0" y="1684398"/>
                  <a:pt x="0" y="1666875"/>
                </a:cubicBezTo>
                <a:lnTo>
                  <a:pt x="0" y="31750"/>
                </a:lnTo>
                <a:cubicBezTo>
                  <a:pt x="0" y="14227"/>
                  <a:pt x="14227" y="0"/>
                  <a:pt x="31750" y="0"/>
                </a:cubicBezTo>
                <a:close/>
              </a:path>
            </a:pathLst>
          </a:custGeom>
          <a:solidFill>
            <a:srgbClr val="4A7C59"/>
          </a:solidFill>
          <a:ln/>
        </p:spPr>
      </p:sp>
      <p:sp>
        <p:nvSpPr>
          <p:cNvPr id="16" name="Shape 14"/>
          <p:cNvSpPr/>
          <p:nvPr/>
        </p:nvSpPr>
        <p:spPr>
          <a:xfrm>
            <a:off x="6270625" y="1365250"/>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4A7C59"/>
          </a:solidFill>
          <a:ln/>
        </p:spPr>
      </p:sp>
      <p:sp>
        <p:nvSpPr>
          <p:cNvPr id="17" name="Text 15"/>
          <p:cNvSpPr/>
          <p:nvPr/>
        </p:nvSpPr>
        <p:spPr>
          <a:xfrm>
            <a:off x="6238875" y="1365250"/>
            <a:ext cx="317500" cy="2540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18" name="Text 16"/>
          <p:cNvSpPr/>
          <p:nvPr/>
        </p:nvSpPr>
        <p:spPr>
          <a:xfrm>
            <a:off x="6588125" y="1301750"/>
            <a:ext cx="1285875"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Teacher Impact Score</a:t>
            </a:r>
            <a:endParaRPr lang="en-US" sz="1600" dirty="0"/>
          </a:p>
        </p:txBody>
      </p:sp>
      <p:sp>
        <p:nvSpPr>
          <p:cNvPr id="19" name="Text 17"/>
          <p:cNvSpPr/>
          <p:nvPr/>
        </p:nvSpPr>
        <p:spPr>
          <a:xfrm>
            <a:off x="6588125" y="1492250"/>
            <a:ext cx="1285875" cy="190500"/>
          </a:xfrm>
          <a:prstGeom prst="rect">
            <a:avLst/>
          </a:prstGeom>
          <a:noFill/>
          <a:ln/>
        </p:spPr>
        <p:txBody>
          <a:bodyPr wrap="square" lIns="0" tIns="0" rIns="0" bIns="0" rtlCol="0" anchor="ctr"/>
          <a:lstStyle/>
          <a:p>
            <a:pPr>
              <a:lnSpc>
                <a:spcPct val="130000"/>
              </a:lnSpc>
            </a:pPr>
            <a:r>
              <a:rPr lang="en-US" sz="1000" b="1" dirty="0">
                <a:solidFill>
                  <a:srgbClr val="4A7C59"/>
                </a:solidFill>
                <a:latin typeface="Quattrocento Sans" pitchFamily="34" charset="0"/>
                <a:ea typeface="Quattrocento Sans" pitchFamily="34" charset="-122"/>
                <a:cs typeface="Quattrocento Sans" pitchFamily="34" charset="-120"/>
              </a:rPr>
              <a:t>Trust &amp; Accountability</a:t>
            </a:r>
            <a:endParaRPr lang="en-US" sz="1600" dirty="0"/>
          </a:p>
        </p:txBody>
      </p:sp>
      <p:sp>
        <p:nvSpPr>
          <p:cNvPr id="20" name="Text 18"/>
          <p:cNvSpPr/>
          <p:nvPr/>
        </p:nvSpPr>
        <p:spPr>
          <a:xfrm>
            <a:off x="6270625" y="1714500"/>
            <a:ext cx="5572125" cy="71437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Dynamic 0-100 score replacing standard 5-star rating. Calculated nightly from 5 weighted factors: return rate (30%), consistency (20%), sentiment analysis (20%), improvement (20%), volunteer hours (10%).</a:t>
            </a:r>
            <a:endParaRPr lang="en-US" sz="1600" dirty="0"/>
          </a:p>
        </p:txBody>
      </p:sp>
      <p:sp>
        <p:nvSpPr>
          <p:cNvPr id="21" name="Shape 19"/>
          <p:cNvSpPr/>
          <p:nvPr/>
        </p:nvSpPr>
        <p:spPr>
          <a:xfrm>
            <a:off x="6270625" y="2492375"/>
            <a:ext cx="5508625" cy="317500"/>
          </a:xfrm>
          <a:custGeom>
            <a:avLst/>
            <a:gdLst/>
            <a:ahLst/>
            <a:cxnLst/>
            <a:rect l="l" t="t" r="r" b="b"/>
            <a:pathLst>
              <a:path w="5508625" h="317500">
                <a:moveTo>
                  <a:pt x="63500" y="0"/>
                </a:moveTo>
                <a:lnTo>
                  <a:pt x="5445125" y="0"/>
                </a:lnTo>
                <a:cubicBezTo>
                  <a:pt x="5480172" y="0"/>
                  <a:pt x="5508625" y="28453"/>
                  <a:pt x="5508625" y="63500"/>
                </a:cubicBezTo>
                <a:lnTo>
                  <a:pt x="5508625" y="254000"/>
                </a:lnTo>
                <a:cubicBezTo>
                  <a:pt x="5508625" y="289047"/>
                  <a:pt x="5480172" y="317500"/>
                  <a:pt x="5445125" y="317500"/>
                </a:cubicBezTo>
                <a:lnTo>
                  <a:pt x="63500" y="317500"/>
                </a:lnTo>
                <a:cubicBezTo>
                  <a:pt x="28453" y="317500"/>
                  <a:pt x="0" y="289047"/>
                  <a:pt x="0" y="254000"/>
                </a:cubicBezTo>
                <a:lnTo>
                  <a:pt x="0" y="63500"/>
                </a:lnTo>
                <a:cubicBezTo>
                  <a:pt x="0" y="28453"/>
                  <a:pt x="28453" y="0"/>
                  <a:pt x="63500" y="0"/>
                </a:cubicBezTo>
                <a:close/>
              </a:path>
            </a:pathLst>
          </a:custGeom>
          <a:solidFill>
            <a:srgbClr val="4A7C59">
              <a:alpha val="10196"/>
            </a:srgbClr>
          </a:solidFill>
          <a:ln/>
        </p:spPr>
      </p:sp>
      <p:sp>
        <p:nvSpPr>
          <p:cNvPr id="22" name="Text 20"/>
          <p:cNvSpPr/>
          <p:nvPr/>
        </p:nvSpPr>
        <p:spPr>
          <a:xfrm>
            <a:off x="6334125" y="2555875"/>
            <a:ext cx="5445125" cy="190500"/>
          </a:xfrm>
          <a:prstGeom prst="rect">
            <a:avLst/>
          </a:prstGeom>
          <a:noFill/>
          <a:ln/>
        </p:spPr>
        <p:txBody>
          <a:bodyPr wrap="square" lIns="0" tIns="0" rIns="0" bIns="0" rtlCol="0" anchor="ctr"/>
          <a:lstStyle/>
          <a:p>
            <a:pPr>
              <a:lnSpc>
                <a:spcPct val="130000"/>
              </a:lnSpc>
            </a:pPr>
            <a:r>
              <a:rPr lang="en-US" sz="1000" b="1" dirty="0">
                <a:solidFill>
                  <a:srgbClr val="4A7C59"/>
                </a:solidFill>
                <a:latin typeface="Quattrocento Sans" pitchFamily="34" charset="0"/>
                <a:ea typeface="Quattrocento Sans" pitchFamily="34" charset="-122"/>
                <a:cs typeface="Quattrocento Sans" pitchFamily="34" charset="-120"/>
              </a:rPr>
              <a:t>PHP:</a:t>
            </a:r>
            <a:pPr>
              <a:lnSpc>
                <a:spcPct val="130000"/>
              </a:lnSpc>
            </a:pPr>
            <a:r>
              <a:rPr lang="en-US" sz="1000" dirty="0">
                <a:solidFill>
                  <a:srgbClr val="4A7C59"/>
                </a:solidFill>
                <a:latin typeface="Quattrocento Sans" pitchFamily="34" charset="0"/>
                <a:ea typeface="Quattrocento Sans" pitchFamily="34" charset="-122"/>
                <a:cs typeface="Quattrocento Sans" pitchFamily="34" charset="-120"/>
              </a:rPr>
              <a:t> ImpactScoreService.php runs via Laravel Scheduler with OpenAI sentiment analysis.</a:t>
            </a:r>
            <a:endParaRPr lang="en-US" sz="1600" dirty="0"/>
          </a:p>
        </p:txBody>
      </p:sp>
      <p:sp>
        <p:nvSpPr>
          <p:cNvPr id="23" name="Shape 21"/>
          <p:cNvSpPr/>
          <p:nvPr/>
        </p:nvSpPr>
        <p:spPr>
          <a:xfrm>
            <a:off x="333375" y="3000375"/>
            <a:ext cx="5715000" cy="1508125"/>
          </a:xfrm>
          <a:custGeom>
            <a:avLst/>
            <a:gdLst/>
            <a:ahLst/>
            <a:cxnLst/>
            <a:rect l="l" t="t" r="r" b="b"/>
            <a:pathLst>
              <a:path w="5715000" h="1508125">
                <a:moveTo>
                  <a:pt x="31750" y="0"/>
                </a:moveTo>
                <a:lnTo>
                  <a:pt x="5651493" y="0"/>
                </a:lnTo>
                <a:cubicBezTo>
                  <a:pt x="5686567" y="0"/>
                  <a:pt x="5715000" y="28433"/>
                  <a:pt x="5715000" y="63507"/>
                </a:cubicBezTo>
                <a:lnTo>
                  <a:pt x="5715000" y="1444618"/>
                </a:lnTo>
                <a:cubicBezTo>
                  <a:pt x="5715000" y="1479692"/>
                  <a:pt x="5686567" y="1508125"/>
                  <a:pt x="5651493" y="1508125"/>
                </a:cubicBezTo>
                <a:lnTo>
                  <a:pt x="31750" y="1508125"/>
                </a:lnTo>
                <a:cubicBezTo>
                  <a:pt x="14215" y="1508125"/>
                  <a:pt x="0" y="1493910"/>
                  <a:pt x="0" y="1476375"/>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24" name="Shape 22"/>
          <p:cNvSpPr/>
          <p:nvPr/>
        </p:nvSpPr>
        <p:spPr>
          <a:xfrm>
            <a:off x="333375" y="3000375"/>
            <a:ext cx="31750" cy="1508125"/>
          </a:xfrm>
          <a:custGeom>
            <a:avLst/>
            <a:gdLst/>
            <a:ahLst/>
            <a:cxnLst/>
            <a:rect l="l" t="t" r="r" b="b"/>
            <a:pathLst>
              <a:path w="31750" h="1508125">
                <a:moveTo>
                  <a:pt x="31750" y="0"/>
                </a:moveTo>
                <a:lnTo>
                  <a:pt x="31750" y="0"/>
                </a:lnTo>
                <a:lnTo>
                  <a:pt x="31750" y="1508125"/>
                </a:lnTo>
                <a:lnTo>
                  <a:pt x="31750" y="1508125"/>
                </a:lnTo>
                <a:cubicBezTo>
                  <a:pt x="14227" y="1508125"/>
                  <a:pt x="0" y="1493898"/>
                  <a:pt x="0" y="1476375"/>
                </a:cubicBezTo>
                <a:lnTo>
                  <a:pt x="0" y="31750"/>
                </a:lnTo>
                <a:cubicBezTo>
                  <a:pt x="0" y="14227"/>
                  <a:pt x="14227" y="0"/>
                  <a:pt x="31750" y="0"/>
                </a:cubicBezTo>
                <a:close/>
              </a:path>
            </a:pathLst>
          </a:custGeom>
          <a:solidFill>
            <a:srgbClr val="F7B538"/>
          </a:solidFill>
          <a:ln/>
        </p:spPr>
      </p:sp>
      <p:sp>
        <p:nvSpPr>
          <p:cNvPr id="25" name="Shape 23"/>
          <p:cNvSpPr/>
          <p:nvPr/>
        </p:nvSpPr>
        <p:spPr>
          <a:xfrm>
            <a:off x="444500" y="3159125"/>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F7B538"/>
          </a:solidFill>
          <a:ln/>
        </p:spPr>
      </p:sp>
      <p:sp>
        <p:nvSpPr>
          <p:cNvPr id="26" name="Text 24"/>
          <p:cNvSpPr/>
          <p:nvPr/>
        </p:nvSpPr>
        <p:spPr>
          <a:xfrm>
            <a:off x="412750" y="3159125"/>
            <a:ext cx="317500" cy="254000"/>
          </a:xfrm>
          <a:prstGeom prst="rect">
            <a:avLst/>
          </a:prstGeom>
          <a:noFill/>
          <a:ln/>
        </p:spPr>
        <p:txBody>
          <a:bodyPr wrap="square" lIns="0" tIns="0" rIns="0" bIns="0" rtlCol="0" anchor="ctr"/>
          <a:lstStyle/>
          <a:p>
            <a:pPr algn="ctr">
              <a:lnSpc>
                <a:spcPct val="130000"/>
              </a:lnSpc>
            </a:pPr>
            <a:r>
              <a:rPr lang="en-US" sz="1000" b="1" dirty="0">
                <a:solidFill>
                  <a:srgbClr val="1A535C"/>
                </a:solidFill>
                <a:latin typeface="Quattrocento Sans" pitchFamily="34" charset="0"/>
                <a:ea typeface="Quattrocento Sans" pitchFamily="34" charset="-122"/>
                <a:cs typeface="Quattrocento Sans" pitchFamily="34" charset="-120"/>
              </a:rPr>
              <a:t>3</a:t>
            </a:r>
            <a:endParaRPr lang="en-US" sz="1600" dirty="0"/>
          </a:p>
        </p:txBody>
      </p:sp>
      <p:sp>
        <p:nvSpPr>
          <p:cNvPr id="27" name="Text 25"/>
          <p:cNvSpPr/>
          <p:nvPr/>
        </p:nvSpPr>
        <p:spPr>
          <a:xfrm>
            <a:off x="762000" y="3095625"/>
            <a:ext cx="1722438"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Learning Contract System</a:t>
            </a:r>
            <a:endParaRPr lang="en-US" sz="1600" dirty="0"/>
          </a:p>
        </p:txBody>
      </p:sp>
      <p:sp>
        <p:nvSpPr>
          <p:cNvPr id="28" name="Text 26"/>
          <p:cNvSpPr/>
          <p:nvPr/>
        </p:nvSpPr>
        <p:spPr>
          <a:xfrm>
            <a:off x="762000" y="3286125"/>
            <a:ext cx="1722438" cy="190500"/>
          </a:xfrm>
          <a:prstGeom prst="rect">
            <a:avLst/>
          </a:prstGeom>
          <a:noFill/>
          <a:ln/>
        </p:spPr>
        <p:txBody>
          <a:bodyPr wrap="square" lIns="0" tIns="0" rIns="0" bIns="0" rtlCol="0" anchor="ctr"/>
          <a:lstStyle/>
          <a:p>
            <a:pPr>
              <a:lnSpc>
                <a:spcPct val="130000"/>
              </a:lnSpc>
            </a:pPr>
            <a:r>
              <a:rPr lang="en-US" sz="1000" b="1" dirty="0">
                <a:solidFill>
                  <a:srgbClr val="4A7C59"/>
                </a:solidFill>
                <a:latin typeface="Quattrocento Sans" pitchFamily="34" charset="0"/>
                <a:ea typeface="Quattrocento Sans" pitchFamily="34" charset="-122"/>
                <a:cs typeface="Quattrocento Sans" pitchFamily="34" charset="-120"/>
              </a:rPr>
              <a:t>Commitment &amp; Accountability</a:t>
            </a:r>
            <a:endParaRPr lang="en-US" sz="1600" dirty="0"/>
          </a:p>
        </p:txBody>
      </p:sp>
      <p:sp>
        <p:nvSpPr>
          <p:cNvPr id="29" name="Text 27"/>
          <p:cNvSpPr/>
          <p:nvPr/>
        </p:nvSpPr>
        <p:spPr>
          <a:xfrm>
            <a:off x="444500" y="3508375"/>
            <a:ext cx="5572125" cy="52387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For 3+ session bookings, both parties digitally sign a contract specifying topics, target date, homework commitment, progress measurement. Auto-generated fulfilment report at completion.</a:t>
            </a:r>
            <a:endParaRPr lang="en-US" sz="1600" dirty="0"/>
          </a:p>
        </p:txBody>
      </p:sp>
      <p:sp>
        <p:nvSpPr>
          <p:cNvPr id="30" name="Shape 28"/>
          <p:cNvSpPr/>
          <p:nvPr/>
        </p:nvSpPr>
        <p:spPr>
          <a:xfrm>
            <a:off x="444500" y="4095750"/>
            <a:ext cx="5508625" cy="317500"/>
          </a:xfrm>
          <a:custGeom>
            <a:avLst/>
            <a:gdLst/>
            <a:ahLst/>
            <a:cxnLst/>
            <a:rect l="l" t="t" r="r" b="b"/>
            <a:pathLst>
              <a:path w="5508625" h="317500">
                <a:moveTo>
                  <a:pt x="63500" y="0"/>
                </a:moveTo>
                <a:lnTo>
                  <a:pt x="5445125" y="0"/>
                </a:lnTo>
                <a:cubicBezTo>
                  <a:pt x="5480172" y="0"/>
                  <a:pt x="5508625" y="28453"/>
                  <a:pt x="5508625" y="63500"/>
                </a:cubicBezTo>
                <a:lnTo>
                  <a:pt x="5508625" y="254000"/>
                </a:lnTo>
                <a:cubicBezTo>
                  <a:pt x="5508625" y="289047"/>
                  <a:pt x="5480172" y="317500"/>
                  <a:pt x="5445125" y="317500"/>
                </a:cubicBezTo>
                <a:lnTo>
                  <a:pt x="63500" y="317500"/>
                </a:lnTo>
                <a:cubicBezTo>
                  <a:pt x="28453" y="317500"/>
                  <a:pt x="0" y="289047"/>
                  <a:pt x="0" y="254000"/>
                </a:cubicBezTo>
                <a:lnTo>
                  <a:pt x="0" y="63500"/>
                </a:lnTo>
                <a:cubicBezTo>
                  <a:pt x="0" y="28453"/>
                  <a:pt x="28453" y="0"/>
                  <a:pt x="63500" y="0"/>
                </a:cubicBezTo>
                <a:close/>
              </a:path>
            </a:pathLst>
          </a:custGeom>
          <a:solidFill>
            <a:srgbClr val="F7B538">
              <a:alpha val="20000"/>
            </a:srgbClr>
          </a:solidFill>
          <a:ln/>
        </p:spPr>
      </p:sp>
      <p:sp>
        <p:nvSpPr>
          <p:cNvPr id="31" name="Text 29"/>
          <p:cNvSpPr/>
          <p:nvPr/>
        </p:nvSpPr>
        <p:spPr>
          <a:xfrm>
            <a:off x="508000" y="4159250"/>
            <a:ext cx="5445125" cy="190500"/>
          </a:xfrm>
          <a:prstGeom prst="rect">
            <a:avLst/>
          </a:prstGeom>
          <a:noFill/>
          <a:ln/>
        </p:spPr>
        <p:txBody>
          <a:bodyPr wrap="square" lIns="0" tIns="0" rIns="0" bIns="0" rtlCol="0" anchor="ctr"/>
          <a:lstStyle/>
          <a:p>
            <a:pPr>
              <a:lnSpc>
                <a:spcPct val="130000"/>
              </a:lnSpc>
            </a:pPr>
            <a:r>
              <a:rPr lang="en-US" sz="1000" b="1" dirty="0">
                <a:solidFill>
                  <a:srgbClr val="F7B538"/>
                </a:solidFill>
                <a:latin typeface="Quattrocento Sans" pitchFamily="34" charset="0"/>
                <a:ea typeface="Quattrocento Sans" pitchFamily="34" charset="-122"/>
                <a:cs typeface="Quattrocento Sans" pitchFamily="34" charset="-120"/>
              </a:rPr>
              <a:t>PHP:</a:t>
            </a:r>
            <a:pPr>
              <a:lnSpc>
                <a:spcPct val="130000"/>
              </a:lnSpc>
            </a:pPr>
            <a:r>
              <a:rPr lang="en-US" sz="1000" dirty="0">
                <a:solidFill>
                  <a:srgbClr val="F7B538"/>
                </a:solidFill>
                <a:latin typeface="Quattrocento Sans" pitchFamily="34" charset="0"/>
                <a:ea typeface="Quattrocento Sans" pitchFamily="34" charset="-122"/>
                <a:cs typeface="Quattrocento Sans" pitchFamily="34" charset="-120"/>
              </a:rPr>
              <a:t> barryvdh/laravel-dompdf generates PDF contracts with e-signature timestamps.</a:t>
            </a:r>
            <a:endParaRPr lang="en-US" sz="1600" dirty="0"/>
          </a:p>
        </p:txBody>
      </p:sp>
      <p:sp>
        <p:nvSpPr>
          <p:cNvPr id="32" name="Shape 30"/>
          <p:cNvSpPr/>
          <p:nvPr/>
        </p:nvSpPr>
        <p:spPr>
          <a:xfrm>
            <a:off x="6159500" y="3000375"/>
            <a:ext cx="5715000" cy="1508125"/>
          </a:xfrm>
          <a:custGeom>
            <a:avLst/>
            <a:gdLst/>
            <a:ahLst/>
            <a:cxnLst/>
            <a:rect l="l" t="t" r="r" b="b"/>
            <a:pathLst>
              <a:path w="5715000" h="1508125">
                <a:moveTo>
                  <a:pt x="31750" y="0"/>
                </a:moveTo>
                <a:lnTo>
                  <a:pt x="5651493" y="0"/>
                </a:lnTo>
                <a:cubicBezTo>
                  <a:pt x="5686567" y="0"/>
                  <a:pt x="5715000" y="28433"/>
                  <a:pt x="5715000" y="63507"/>
                </a:cubicBezTo>
                <a:lnTo>
                  <a:pt x="5715000" y="1444618"/>
                </a:lnTo>
                <a:cubicBezTo>
                  <a:pt x="5715000" y="1479692"/>
                  <a:pt x="5686567" y="1508125"/>
                  <a:pt x="5651493" y="1508125"/>
                </a:cubicBezTo>
                <a:lnTo>
                  <a:pt x="31750" y="1508125"/>
                </a:lnTo>
                <a:cubicBezTo>
                  <a:pt x="14215" y="1508125"/>
                  <a:pt x="0" y="1493910"/>
                  <a:pt x="0" y="1476375"/>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33" name="Shape 31"/>
          <p:cNvSpPr/>
          <p:nvPr/>
        </p:nvSpPr>
        <p:spPr>
          <a:xfrm>
            <a:off x="6159500" y="3000375"/>
            <a:ext cx="31750" cy="1508125"/>
          </a:xfrm>
          <a:custGeom>
            <a:avLst/>
            <a:gdLst/>
            <a:ahLst/>
            <a:cxnLst/>
            <a:rect l="l" t="t" r="r" b="b"/>
            <a:pathLst>
              <a:path w="31750" h="1508125">
                <a:moveTo>
                  <a:pt x="31750" y="0"/>
                </a:moveTo>
                <a:lnTo>
                  <a:pt x="31750" y="0"/>
                </a:lnTo>
                <a:lnTo>
                  <a:pt x="31750" y="1508125"/>
                </a:lnTo>
                <a:lnTo>
                  <a:pt x="31750" y="1508125"/>
                </a:lnTo>
                <a:cubicBezTo>
                  <a:pt x="14227" y="1508125"/>
                  <a:pt x="0" y="1493898"/>
                  <a:pt x="0" y="1476375"/>
                </a:cubicBezTo>
                <a:lnTo>
                  <a:pt x="0" y="31750"/>
                </a:lnTo>
                <a:cubicBezTo>
                  <a:pt x="0" y="14227"/>
                  <a:pt x="14227" y="0"/>
                  <a:pt x="31750" y="0"/>
                </a:cubicBezTo>
                <a:close/>
              </a:path>
            </a:pathLst>
          </a:custGeom>
          <a:solidFill>
            <a:srgbClr val="1A535C"/>
          </a:solidFill>
          <a:ln/>
        </p:spPr>
      </p:sp>
      <p:sp>
        <p:nvSpPr>
          <p:cNvPr id="34" name="Shape 32"/>
          <p:cNvSpPr/>
          <p:nvPr/>
        </p:nvSpPr>
        <p:spPr>
          <a:xfrm>
            <a:off x="6270625" y="3159125"/>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1A535C"/>
          </a:solidFill>
          <a:ln/>
        </p:spPr>
      </p:sp>
      <p:sp>
        <p:nvSpPr>
          <p:cNvPr id="35" name="Text 33"/>
          <p:cNvSpPr/>
          <p:nvPr/>
        </p:nvSpPr>
        <p:spPr>
          <a:xfrm>
            <a:off x="6238875" y="3159125"/>
            <a:ext cx="317500" cy="2540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4</a:t>
            </a:r>
            <a:endParaRPr lang="en-US" sz="1600" dirty="0"/>
          </a:p>
        </p:txBody>
      </p:sp>
      <p:sp>
        <p:nvSpPr>
          <p:cNvPr id="36" name="Text 34"/>
          <p:cNvSpPr/>
          <p:nvPr/>
        </p:nvSpPr>
        <p:spPr>
          <a:xfrm>
            <a:off x="6588125" y="3095625"/>
            <a:ext cx="1492250"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WhatsApp-First Interface</a:t>
            </a:r>
            <a:endParaRPr lang="en-US" sz="1600" dirty="0"/>
          </a:p>
        </p:txBody>
      </p:sp>
      <p:sp>
        <p:nvSpPr>
          <p:cNvPr id="37" name="Text 35"/>
          <p:cNvSpPr/>
          <p:nvPr/>
        </p:nvSpPr>
        <p:spPr>
          <a:xfrm>
            <a:off x="6588125" y="3286125"/>
            <a:ext cx="1492250" cy="190500"/>
          </a:xfrm>
          <a:prstGeom prst="rect">
            <a:avLst/>
          </a:prstGeom>
          <a:noFill/>
          <a:ln/>
        </p:spPr>
        <p:txBody>
          <a:bodyPr wrap="square" lIns="0" tIns="0" rIns="0" bIns="0" rtlCol="0" anchor="ctr"/>
          <a:lstStyle/>
          <a:p>
            <a:pPr>
              <a:lnSpc>
                <a:spcPct val="130000"/>
              </a:lnSpc>
            </a:pPr>
            <a:r>
              <a:rPr lang="en-US" sz="1000" b="1" dirty="0">
                <a:solidFill>
                  <a:srgbClr val="4A7C59"/>
                </a:solidFill>
                <a:latin typeface="Quattrocento Sans" pitchFamily="34" charset="0"/>
                <a:ea typeface="Quattrocento Sans" pitchFamily="34" charset="-122"/>
                <a:cs typeface="Quattrocento Sans" pitchFamily="34" charset="-120"/>
              </a:rPr>
              <a:t>Elderly Accessibility</a:t>
            </a:r>
            <a:endParaRPr lang="en-US" sz="1600" dirty="0"/>
          </a:p>
        </p:txBody>
      </p:sp>
      <p:sp>
        <p:nvSpPr>
          <p:cNvPr id="38" name="Text 36"/>
          <p:cNvSpPr/>
          <p:nvPr/>
        </p:nvSpPr>
        <p:spPr>
          <a:xfrm>
            <a:off x="6270625" y="3508375"/>
            <a:ext cx="5572125" cy="52387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Teachers manage key actions via WhatsApp: accept/decline bookings with single reply, receive daily schedules, session reminders with join links, message students—all without opening the website.</a:t>
            </a:r>
            <a:endParaRPr lang="en-US" sz="1600" dirty="0"/>
          </a:p>
        </p:txBody>
      </p:sp>
      <p:sp>
        <p:nvSpPr>
          <p:cNvPr id="39" name="Shape 37"/>
          <p:cNvSpPr/>
          <p:nvPr/>
        </p:nvSpPr>
        <p:spPr>
          <a:xfrm>
            <a:off x="6270625" y="4095750"/>
            <a:ext cx="5508625" cy="317500"/>
          </a:xfrm>
          <a:custGeom>
            <a:avLst/>
            <a:gdLst/>
            <a:ahLst/>
            <a:cxnLst/>
            <a:rect l="l" t="t" r="r" b="b"/>
            <a:pathLst>
              <a:path w="5508625" h="317500">
                <a:moveTo>
                  <a:pt x="63500" y="0"/>
                </a:moveTo>
                <a:lnTo>
                  <a:pt x="5445125" y="0"/>
                </a:lnTo>
                <a:cubicBezTo>
                  <a:pt x="5480172" y="0"/>
                  <a:pt x="5508625" y="28453"/>
                  <a:pt x="5508625" y="63500"/>
                </a:cubicBezTo>
                <a:lnTo>
                  <a:pt x="5508625" y="254000"/>
                </a:lnTo>
                <a:cubicBezTo>
                  <a:pt x="5508625" y="289047"/>
                  <a:pt x="5480172" y="317500"/>
                  <a:pt x="5445125" y="317500"/>
                </a:cubicBezTo>
                <a:lnTo>
                  <a:pt x="63500" y="317500"/>
                </a:lnTo>
                <a:cubicBezTo>
                  <a:pt x="28453" y="317500"/>
                  <a:pt x="0" y="289047"/>
                  <a:pt x="0" y="254000"/>
                </a:cubicBezTo>
                <a:lnTo>
                  <a:pt x="0" y="63500"/>
                </a:lnTo>
                <a:cubicBezTo>
                  <a:pt x="0" y="28453"/>
                  <a:pt x="28453" y="0"/>
                  <a:pt x="63500" y="0"/>
                </a:cubicBezTo>
                <a:close/>
              </a:path>
            </a:pathLst>
          </a:custGeom>
          <a:solidFill>
            <a:srgbClr val="1A535C">
              <a:alpha val="10196"/>
            </a:srgbClr>
          </a:solidFill>
          <a:ln/>
        </p:spPr>
      </p:sp>
      <p:sp>
        <p:nvSpPr>
          <p:cNvPr id="40" name="Text 38"/>
          <p:cNvSpPr/>
          <p:nvPr/>
        </p:nvSpPr>
        <p:spPr>
          <a:xfrm>
            <a:off x="6334125" y="4159250"/>
            <a:ext cx="5445125"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Quattrocento Sans" pitchFamily="34" charset="0"/>
                <a:ea typeface="Quattrocento Sans" pitchFamily="34" charset="-122"/>
                <a:cs typeface="Quattrocento Sans" pitchFamily="34" charset="-120"/>
              </a:rPr>
              <a:t>PHP:</a:t>
            </a:r>
            <a:pPr>
              <a:lnSpc>
                <a:spcPct val="130000"/>
              </a:lnSpc>
            </a:pPr>
            <a:r>
              <a:rPr lang="en-US" sz="1000" dirty="0">
                <a:solidFill>
                  <a:srgbClr val="1A535C"/>
                </a:solidFill>
                <a:latin typeface="Quattrocento Sans" pitchFamily="34" charset="0"/>
                <a:ea typeface="Quattrocento Sans" pitchFamily="34" charset="-122"/>
                <a:cs typeface="Quattrocento Sans" pitchFamily="34" charset="-120"/>
              </a:rPr>
              <a:t> Laravel webhook controller + Meta WhatsApp Business Cloud API via Guzzle.</a:t>
            </a:r>
            <a:endParaRPr lang="en-US" sz="1600" dirty="0"/>
          </a:p>
        </p:txBody>
      </p:sp>
      <p:sp>
        <p:nvSpPr>
          <p:cNvPr id="41" name="Shape 39"/>
          <p:cNvSpPr/>
          <p:nvPr/>
        </p:nvSpPr>
        <p:spPr>
          <a:xfrm>
            <a:off x="333375" y="4603750"/>
            <a:ext cx="5715000" cy="1508125"/>
          </a:xfrm>
          <a:custGeom>
            <a:avLst/>
            <a:gdLst/>
            <a:ahLst/>
            <a:cxnLst/>
            <a:rect l="l" t="t" r="r" b="b"/>
            <a:pathLst>
              <a:path w="5715000" h="1508125">
                <a:moveTo>
                  <a:pt x="31750" y="0"/>
                </a:moveTo>
                <a:lnTo>
                  <a:pt x="5651493" y="0"/>
                </a:lnTo>
                <a:cubicBezTo>
                  <a:pt x="5686567" y="0"/>
                  <a:pt x="5715000" y="28433"/>
                  <a:pt x="5715000" y="63507"/>
                </a:cubicBezTo>
                <a:lnTo>
                  <a:pt x="5715000" y="1444618"/>
                </a:lnTo>
                <a:cubicBezTo>
                  <a:pt x="5715000" y="1479692"/>
                  <a:pt x="5686567" y="1508125"/>
                  <a:pt x="5651493" y="1508125"/>
                </a:cubicBezTo>
                <a:lnTo>
                  <a:pt x="31750" y="1508125"/>
                </a:lnTo>
                <a:cubicBezTo>
                  <a:pt x="14215" y="1508125"/>
                  <a:pt x="0" y="1493910"/>
                  <a:pt x="0" y="1476375"/>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42" name="Shape 40"/>
          <p:cNvSpPr/>
          <p:nvPr/>
        </p:nvSpPr>
        <p:spPr>
          <a:xfrm>
            <a:off x="333375" y="4603750"/>
            <a:ext cx="31750" cy="1508125"/>
          </a:xfrm>
          <a:custGeom>
            <a:avLst/>
            <a:gdLst/>
            <a:ahLst/>
            <a:cxnLst/>
            <a:rect l="l" t="t" r="r" b="b"/>
            <a:pathLst>
              <a:path w="31750" h="1508125">
                <a:moveTo>
                  <a:pt x="31750" y="0"/>
                </a:moveTo>
                <a:lnTo>
                  <a:pt x="31750" y="0"/>
                </a:lnTo>
                <a:lnTo>
                  <a:pt x="31750" y="1508125"/>
                </a:lnTo>
                <a:lnTo>
                  <a:pt x="31750" y="1508125"/>
                </a:lnTo>
                <a:cubicBezTo>
                  <a:pt x="14227" y="1508125"/>
                  <a:pt x="0" y="1493898"/>
                  <a:pt x="0" y="1476375"/>
                </a:cubicBezTo>
                <a:lnTo>
                  <a:pt x="0" y="31750"/>
                </a:lnTo>
                <a:cubicBezTo>
                  <a:pt x="0" y="14227"/>
                  <a:pt x="14227" y="0"/>
                  <a:pt x="31750" y="0"/>
                </a:cubicBezTo>
                <a:close/>
              </a:path>
            </a:pathLst>
          </a:custGeom>
          <a:solidFill>
            <a:srgbClr val="4A7C59"/>
          </a:solidFill>
          <a:ln/>
        </p:spPr>
      </p:sp>
      <p:sp>
        <p:nvSpPr>
          <p:cNvPr id="43" name="Shape 41"/>
          <p:cNvSpPr/>
          <p:nvPr/>
        </p:nvSpPr>
        <p:spPr>
          <a:xfrm>
            <a:off x="444500" y="4762500"/>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4A7C59"/>
          </a:solidFill>
          <a:ln/>
        </p:spPr>
      </p:sp>
      <p:sp>
        <p:nvSpPr>
          <p:cNvPr id="44" name="Text 42"/>
          <p:cNvSpPr/>
          <p:nvPr/>
        </p:nvSpPr>
        <p:spPr>
          <a:xfrm>
            <a:off x="412750" y="4762500"/>
            <a:ext cx="317500" cy="2540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5</a:t>
            </a:r>
            <a:endParaRPr lang="en-US" sz="1600" dirty="0"/>
          </a:p>
        </p:txBody>
      </p:sp>
      <p:sp>
        <p:nvSpPr>
          <p:cNvPr id="45" name="Text 43"/>
          <p:cNvSpPr/>
          <p:nvPr/>
        </p:nvSpPr>
        <p:spPr>
          <a:xfrm>
            <a:off x="762000" y="4699000"/>
            <a:ext cx="1103313"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Guru Dakshina</a:t>
            </a:r>
            <a:endParaRPr lang="en-US" sz="1600" dirty="0"/>
          </a:p>
        </p:txBody>
      </p:sp>
      <p:sp>
        <p:nvSpPr>
          <p:cNvPr id="46" name="Text 44"/>
          <p:cNvSpPr/>
          <p:nvPr/>
        </p:nvSpPr>
        <p:spPr>
          <a:xfrm>
            <a:off x="762000" y="4889500"/>
            <a:ext cx="1103313" cy="190500"/>
          </a:xfrm>
          <a:prstGeom prst="rect">
            <a:avLst/>
          </a:prstGeom>
          <a:noFill/>
          <a:ln/>
        </p:spPr>
        <p:txBody>
          <a:bodyPr wrap="square" lIns="0" tIns="0" rIns="0" bIns="0" rtlCol="0" anchor="ctr"/>
          <a:lstStyle/>
          <a:p>
            <a:pPr>
              <a:lnSpc>
                <a:spcPct val="130000"/>
              </a:lnSpc>
            </a:pPr>
            <a:r>
              <a:rPr lang="en-US" sz="1000" b="1" dirty="0">
                <a:solidFill>
                  <a:srgbClr val="4A7C59"/>
                </a:solidFill>
                <a:latin typeface="Quattrocento Sans" pitchFamily="34" charset="0"/>
                <a:ea typeface="Quattrocento Sans" pitchFamily="34" charset="-122"/>
                <a:cs typeface="Quattrocento Sans" pitchFamily="34" charset="-120"/>
              </a:rPr>
              <a:t>Cultural Innovation</a:t>
            </a:r>
            <a:endParaRPr lang="en-US" sz="1600" dirty="0"/>
          </a:p>
        </p:txBody>
      </p:sp>
      <p:sp>
        <p:nvSpPr>
          <p:cNvPr id="47" name="Text 45"/>
          <p:cNvSpPr/>
          <p:nvPr/>
        </p:nvSpPr>
        <p:spPr>
          <a:xfrm>
            <a:off x="444500" y="5111750"/>
            <a:ext cx="5572125" cy="52387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After free/volunteer sessions, students receive prompt: "Your teacher gave their time freely. Would you like to send a Guru Dakshina?" Options: ₹10, ₹50, ₹100, ₹500, or Skip. 100% goes to teacher—zero platform commission.</a:t>
            </a:r>
            <a:endParaRPr lang="en-US" sz="1600" dirty="0"/>
          </a:p>
        </p:txBody>
      </p:sp>
      <p:sp>
        <p:nvSpPr>
          <p:cNvPr id="48" name="Shape 46"/>
          <p:cNvSpPr/>
          <p:nvPr/>
        </p:nvSpPr>
        <p:spPr>
          <a:xfrm>
            <a:off x="444500" y="5699125"/>
            <a:ext cx="5508625" cy="317500"/>
          </a:xfrm>
          <a:custGeom>
            <a:avLst/>
            <a:gdLst/>
            <a:ahLst/>
            <a:cxnLst/>
            <a:rect l="l" t="t" r="r" b="b"/>
            <a:pathLst>
              <a:path w="5508625" h="317500">
                <a:moveTo>
                  <a:pt x="63500" y="0"/>
                </a:moveTo>
                <a:lnTo>
                  <a:pt x="5445125" y="0"/>
                </a:lnTo>
                <a:cubicBezTo>
                  <a:pt x="5480172" y="0"/>
                  <a:pt x="5508625" y="28453"/>
                  <a:pt x="5508625" y="63500"/>
                </a:cubicBezTo>
                <a:lnTo>
                  <a:pt x="5508625" y="254000"/>
                </a:lnTo>
                <a:cubicBezTo>
                  <a:pt x="5508625" y="289047"/>
                  <a:pt x="5480172" y="317500"/>
                  <a:pt x="5445125" y="317500"/>
                </a:cubicBezTo>
                <a:lnTo>
                  <a:pt x="63500" y="317500"/>
                </a:lnTo>
                <a:cubicBezTo>
                  <a:pt x="28453" y="317500"/>
                  <a:pt x="0" y="289047"/>
                  <a:pt x="0" y="254000"/>
                </a:cubicBezTo>
                <a:lnTo>
                  <a:pt x="0" y="63500"/>
                </a:lnTo>
                <a:cubicBezTo>
                  <a:pt x="0" y="28453"/>
                  <a:pt x="28453" y="0"/>
                  <a:pt x="63500" y="0"/>
                </a:cubicBezTo>
                <a:close/>
              </a:path>
            </a:pathLst>
          </a:custGeom>
          <a:solidFill>
            <a:srgbClr val="4A7C59">
              <a:alpha val="10196"/>
            </a:srgbClr>
          </a:solidFill>
          <a:ln/>
        </p:spPr>
      </p:sp>
      <p:sp>
        <p:nvSpPr>
          <p:cNvPr id="49" name="Text 47"/>
          <p:cNvSpPr/>
          <p:nvPr/>
        </p:nvSpPr>
        <p:spPr>
          <a:xfrm>
            <a:off x="508000" y="5762625"/>
            <a:ext cx="5445125" cy="190500"/>
          </a:xfrm>
          <a:prstGeom prst="rect">
            <a:avLst/>
          </a:prstGeom>
          <a:noFill/>
          <a:ln/>
        </p:spPr>
        <p:txBody>
          <a:bodyPr wrap="square" lIns="0" tIns="0" rIns="0" bIns="0" rtlCol="0" anchor="ctr"/>
          <a:lstStyle/>
          <a:p>
            <a:pPr>
              <a:lnSpc>
                <a:spcPct val="130000"/>
              </a:lnSpc>
            </a:pPr>
            <a:r>
              <a:rPr lang="en-US" sz="1000" b="1" dirty="0">
                <a:solidFill>
                  <a:srgbClr val="4A7C59"/>
                </a:solidFill>
                <a:latin typeface="Quattrocento Sans" pitchFamily="34" charset="0"/>
                <a:ea typeface="Quattrocento Sans" pitchFamily="34" charset="-122"/>
                <a:cs typeface="Quattrocento Sans" pitchFamily="34" charset="-120"/>
              </a:rPr>
              <a:t>PHP:</a:t>
            </a:r>
            <a:pPr>
              <a:lnSpc>
                <a:spcPct val="130000"/>
              </a:lnSpc>
            </a:pPr>
            <a:r>
              <a:rPr lang="en-US" sz="1000" dirty="0">
                <a:solidFill>
                  <a:srgbClr val="4A7C59"/>
                </a:solidFill>
                <a:latin typeface="Quattrocento Sans" pitchFamily="34" charset="0"/>
                <a:ea typeface="Quattrocento Sans" pitchFamily="34" charset="-122"/>
                <a:cs typeface="Quattrocento Sans" pitchFamily="34" charset="-120"/>
              </a:rPr>
              <a:t> Post-session webhook triggers Razorpay payment link with zero-commission flag.</a:t>
            </a:r>
            <a:endParaRPr lang="en-US" sz="1600" dirty="0"/>
          </a:p>
        </p:txBody>
      </p:sp>
      <p:sp>
        <p:nvSpPr>
          <p:cNvPr id="50" name="Shape 48"/>
          <p:cNvSpPr/>
          <p:nvPr/>
        </p:nvSpPr>
        <p:spPr>
          <a:xfrm>
            <a:off x="6159500" y="4603750"/>
            <a:ext cx="5715000" cy="1508125"/>
          </a:xfrm>
          <a:custGeom>
            <a:avLst/>
            <a:gdLst/>
            <a:ahLst/>
            <a:cxnLst/>
            <a:rect l="l" t="t" r="r" b="b"/>
            <a:pathLst>
              <a:path w="5715000" h="1508125">
                <a:moveTo>
                  <a:pt x="31750" y="0"/>
                </a:moveTo>
                <a:lnTo>
                  <a:pt x="5651493" y="0"/>
                </a:lnTo>
                <a:cubicBezTo>
                  <a:pt x="5686567" y="0"/>
                  <a:pt x="5715000" y="28433"/>
                  <a:pt x="5715000" y="63507"/>
                </a:cubicBezTo>
                <a:lnTo>
                  <a:pt x="5715000" y="1444618"/>
                </a:lnTo>
                <a:cubicBezTo>
                  <a:pt x="5715000" y="1479692"/>
                  <a:pt x="5686567" y="1508125"/>
                  <a:pt x="5651493" y="1508125"/>
                </a:cubicBezTo>
                <a:lnTo>
                  <a:pt x="31750" y="1508125"/>
                </a:lnTo>
                <a:cubicBezTo>
                  <a:pt x="14215" y="1508125"/>
                  <a:pt x="0" y="1493910"/>
                  <a:pt x="0" y="1476375"/>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51" name="Shape 49"/>
          <p:cNvSpPr/>
          <p:nvPr/>
        </p:nvSpPr>
        <p:spPr>
          <a:xfrm>
            <a:off x="6159500" y="4603750"/>
            <a:ext cx="31750" cy="1508125"/>
          </a:xfrm>
          <a:custGeom>
            <a:avLst/>
            <a:gdLst/>
            <a:ahLst/>
            <a:cxnLst/>
            <a:rect l="l" t="t" r="r" b="b"/>
            <a:pathLst>
              <a:path w="31750" h="1508125">
                <a:moveTo>
                  <a:pt x="31750" y="0"/>
                </a:moveTo>
                <a:lnTo>
                  <a:pt x="31750" y="0"/>
                </a:lnTo>
                <a:lnTo>
                  <a:pt x="31750" y="1508125"/>
                </a:lnTo>
                <a:lnTo>
                  <a:pt x="31750" y="1508125"/>
                </a:lnTo>
                <a:cubicBezTo>
                  <a:pt x="14227" y="1508125"/>
                  <a:pt x="0" y="1493898"/>
                  <a:pt x="0" y="1476375"/>
                </a:cubicBezTo>
                <a:lnTo>
                  <a:pt x="0" y="31750"/>
                </a:lnTo>
                <a:cubicBezTo>
                  <a:pt x="0" y="14227"/>
                  <a:pt x="14227" y="0"/>
                  <a:pt x="31750" y="0"/>
                </a:cubicBezTo>
                <a:close/>
              </a:path>
            </a:pathLst>
          </a:custGeom>
          <a:solidFill>
            <a:srgbClr val="F7B538"/>
          </a:solidFill>
          <a:ln/>
        </p:spPr>
      </p:sp>
      <p:sp>
        <p:nvSpPr>
          <p:cNvPr id="52" name="Shape 50"/>
          <p:cNvSpPr/>
          <p:nvPr/>
        </p:nvSpPr>
        <p:spPr>
          <a:xfrm>
            <a:off x="6270625" y="4762500"/>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F7B538"/>
          </a:solidFill>
          <a:ln/>
        </p:spPr>
      </p:sp>
      <p:sp>
        <p:nvSpPr>
          <p:cNvPr id="53" name="Text 51"/>
          <p:cNvSpPr/>
          <p:nvPr/>
        </p:nvSpPr>
        <p:spPr>
          <a:xfrm>
            <a:off x="6238875" y="4762500"/>
            <a:ext cx="317500" cy="254000"/>
          </a:xfrm>
          <a:prstGeom prst="rect">
            <a:avLst/>
          </a:prstGeom>
          <a:noFill/>
          <a:ln/>
        </p:spPr>
        <p:txBody>
          <a:bodyPr wrap="square" lIns="0" tIns="0" rIns="0" bIns="0" rtlCol="0" anchor="ctr"/>
          <a:lstStyle/>
          <a:p>
            <a:pPr algn="ctr">
              <a:lnSpc>
                <a:spcPct val="130000"/>
              </a:lnSpc>
            </a:pPr>
            <a:r>
              <a:rPr lang="en-US" sz="1000" b="1" dirty="0">
                <a:solidFill>
                  <a:srgbClr val="1A535C"/>
                </a:solidFill>
                <a:latin typeface="Quattrocento Sans" pitchFamily="34" charset="0"/>
                <a:ea typeface="Quattrocento Sans" pitchFamily="34" charset="-122"/>
                <a:cs typeface="Quattrocento Sans" pitchFamily="34" charset="-120"/>
              </a:rPr>
              <a:t>6</a:t>
            </a:r>
            <a:endParaRPr lang="en-US" sz="1600" dirty="0"/>
          </a:p>
        </p:txBody>
      </p:sp>
      <p:sp>
        <p:nvSpPr>
          <p:cNvPr id="54" name="Text 52"/>
          <p:cNvSpPr/>
          <p:nvPr/>
        </p:nvSpPr>
        <p:spPr>
          <a:xfrm>
            <a:off x="6588125" y="4699000"/>
            <a:ext cx="1214438"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Teacher Daily Status</a:t>
            </a:r>
            <a:endParaRPr lang="en-US" sz="1600" dirty="0"/>
          </a:p>
        </p:txBody>
      </p:sp>
      <p:sp>
        <p:nvSpPr>
          <p:cNvPr id="55" name="Text 53"/>
          <p:cNvSpPr/>
          <p:nvPr/>
        </p:nvSpPr>
        <p:spPr>
          <a:xfrm>
            <a:off x="6588125" y="4889500"/>
            <a:ext cx="1214438" cy="190500"/>
          </a:xfrm>
          <a:prstGeom prst="rect">
            <a:avLst/>
          </a:prstGeom>
          <a:noFill/>
          <a:ln/>
        </p:spPr>
        <p:txBody>
          <a:bodyPr wrap="square" lIns="0" tIns="0" rIns="0" bIns="0" rtlCol="0" anchor="ctr"/>
          <a:lstStyle/>
          <a:p>
            <a:pPr>
              <a:lnSpc>
                <a:spcPct val="130000"/>
              </a:lnSpc>
            </a:pPr>
            <a:r>
              <a:rPr lang="en-US" sz="1000" b="1" dirty="0">
                <a:solidFill>
                  <a:srgbClr val="4A7C59"/>
                </a:solidFill>
                <a:latin typeface="Quattrocento Sans" pitchFamily="34" charset="0"/>
                <a:ea typeface="Quattrocento Sans" pitchFamily="34" charset="-122"/>
                <a:cs typeface="Quattrocento Sans" pitchFamily="34" charset="-120"/>
              </a:rPr>
              <a:t>Real-Time Discovery</a:t>
            </a:r>
            <a:endParaRPr lang="en-US" sz="1600" dirty="0"/>
          </a:p>
        </p:txBody>
      </p:sp>
      <p:sp>
        <p:nvSpPr>
          <p:cNvPr id="56" name="Text 54"/>
          <p:cNvSpPr/>
          <p:nvPr/>
        </p:nvSpPr>
        <p:spPr>
          <a:xfrm>
            <a:off x="6270625" y="5111750"/>
            <a:ext cx="5572125" cy="52387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Teachers post 24-hour status updates like WhatsApp Stories: "Available tonight 6-8 PM for Class 10 Math." Students who follow get instant notifications. Status auto-disappears after 24 hours.</a:t>
            </a:r>
            <a:endParaRPr lang="en-US" sz="1600" dirty="0"/>
          </a:p>
        </p:txBody>
      </p:sp>
      <p:sp>
        <p:nvSpPr>
          <p:cNvPr id="57" name="Shape 55"/>
          <p:cNvSpPr/>
          <p:nvPr/>
        </p:nvSpPr>
        <p:spPr>
          <a:xfrm>
            <a:off x="6270625" y="5699125"/>
            <a:ext cx="5508625" cy="317500"/>
          </a:xfrm>
          <a:custGeom>
            <a:avLst/>
            <a:gdLst/>
            <a:ahLst/>
            <a:cxnLst/>
            <a:rect l="l" t="t" r="r" b="b"/>
            <a:pathLst>
              <a:path w="5508625" h="317500">
                <a:moveTo>
                  <a:pt x="63500" y="0"/>
                </a:moveTo>
                <a:lnTo>
                  <a:pt x="5445125" y="0"/>
                </a:lnTo>
                <a:cubicBezTo>
                  <a:pt x="5480172" y="0"/>
                  <a:pt x="5508625" y="28453"/>
                  <a:pt x="5508625" y="63500"/>
                </a:cubicBezTo>
                <a:lnTo>
                  <a:pt x="5508625" y="254000"/>
                </a:lnTo>
                <a:cubicBezTo>
                  <a:pt x="5508625" y="289047"/>
                  <a:pt x="5480172" y="317500"/>
                  <a:pt x="5445125" y="317500"/>
                </a:cubicBezTo>
                <a:lnTo>
                  <a:pt x="63500" y="317500"/>
                </a:lnTo>
                <a:cubicBezTo>
                  <a:pt x="28453" y="317500"/>
                  <a:pt x="0" y="289047"/>
                  <a:pt x="0" y="254000"/>
                </a:cubicBezTo>
                <a:lnTo>
                  <a:pt x="0" y="63500"/>
                </a:lnTo>
                <a:cubicBezTo>
                  <a:pt x="0" y="28453"/>
                  <a:pt x="28453" y="0"/>
                  <a:pt x="63500" y="0"/>
                </a:cubicBezTo>
                <a:close/>
              </a:path>
            </a:pathLst>
          </a:custGeom>
          <a:solidFill>
            <a:srgbClr val="F7B538">
              <a:alpha val="20000"/>
            </a:srgbClr>
          </a:solidFill>
          <a:ln/>
        </p:spPr>
      </p:sp>
      <p:sp>
        <p:nvSpPr>
          <p:cNvPr id="58" name="Text 56"/>
          <p:cNvSpPr/>
          <p:nvPr/>
        </p:nvSpPr>
        <p:spPr>
          <a:xfrm>
            <a:off x="6334125" y="5762625"/>
            <a:ext cx="5445125" cy="190500"/>
          </a:xfrm>
          <a:prstGeom prst="rect">
            <a:avLst/>
          </a:prstGeom>
          <a:noFill/>
          <a:ln/>
        </p:spPr>
        <p:txBody>
          <a:bodyPr wrap="square" lIns="0" tIns="0" rIns="0" bIns="0" rtlCol="0" anchor="ctr"/>
          <a:lstStyle/>
          <a:p>
            <a:pPr>
              <a:lnSpc>
                <a:spcPct val="130000"/>
              </a:lnSpc>
            </a:pPr>
            <a:r>
              <a:rPr lang="en-US" sz="1000" b="1" dirty="0">
                <a:solidFill>
                  <a:srgbClr val="F7B538"/>
                </a:solidFill>
                <a:latin typeface="Quattrocento Sans" pitchFamily="34" charset="0"/>
                <a:ea typeface="Quattrocento Sans" pitchFamily="34" charset="-122"/>
                <a:cs typeface="Quattrocento Sans" pitchFamily="34" charset="-120"/>
              </a:rPr>
              <a:t>PHP:</a:t>
            </a:r>
            <a:pPr>
              <a:lnSpc>
                <a:spcPct val="130000"/>
              </a:lnSpc>
            </a:pPr>
            <a:r>
              <a:rPr lang="en-US" sz="1000" dirty="0">
                <a:solidFill>
                  <a:srgbClr val="F7B538"/>
                </a:solidFill>
                <a:latin typeface="Quattrocento Sans" pitchFamily="34" charset="0"/>
                <a:ea typeface="Quattrocento Sans" pitchFamily="34" charset="-122"/>
                <a:cs typeface="Quattrocento Sans" pitchFamily="34" charset="-120"/>
              </a:rPr>
              <a:t> Laravel Scheduler purges expired statuses; Echo broadcasts to followers.</a:t>
            </a:r>
            <a:endParaRPr lang="en-US" sz="1600" dirty="0"/>
          </a:p>
        </p:txBody>
      </p:sp>
      <p:sp>
        <p:nvSpPr>
          <p:cNvPr id="59" name="Shape 57"/>
          <p:cNvSpPr/>
          <p:nvPr/>
        </p:nvSpPr>
        <p:spPr>
          <a:xfrm>
            <a:off x="333375" y="6207125"/>
            <a:ext cx="5715000" cy="1508125"/>
          </a:xfrm>
          <a:custGeom>
            <a:avLst/>
            <a:gdLst/>
            <a:ahLst/>
            <a:cxnLst/>
            <a:rect l="l" t="t" r="r" b="b"/>
            <a:pathLst>
              <a:path w="5715000" h="1508125">
                <a:moveTo>
                  <a:pt x="31750" y="0"/>
                </a:moveTo>
                <a:lnTo>
                  <a:pt x="5651493" y="0"/>
                </a:lnTo>
                <a:cubicBezTo>
                  <a:pt x="5686567" y="0"/>
                  <a:pt x="5715000" y="28433"/>
                  <a:pt x="5715000" y="63507"/>
                </a:cubicBezTo>
                <a:lnTo>
                  <a:pt x="5715000" y="1444618"/>
                </a:lnTo>
                <a:cubicBezTo>
                  <a:pt x="5715000" y="1479692"/>
                  <a:pt x="5686567" y="1508125"/>
                  <a:pt x="5651493" y="1508125"/>
                </a:cubicBezTo>
                <a:lnTo>
                  <a:pt x="31750" y="1508125"/>
                </a:lnTo>
                <a:cubicBezTo>
                  <a:pt x="14215" y="1508125"/>
                  <a:pt x="0" y="1493910"/>
                  <a:pt x="0" y="1476375"/>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60" name="Shape 58"/>
          <p:cNvSpPr/>
          <p:nvPr/>
        </p:nvSpPr>
        <p:spPr>
          <a:xfrm>
            <a:off x="333375" y="6207125"/>
            <a:ext cx="31750" cy="1508125"/>
          </a:xfrm>
          <a:custGeom>
            <a:avLst/>
            <a:gdLst/>
            <a:ahLst/>
            <a:cxnLst/>
            <a:rect l="l" t="t" r="r" b="b"/>
            <a:pathLst>
              <a:path w="31750" h="1508125">
                <a:moveTo>
                  <a:pt x="31750" y="0"/>
                </a:moveTo>
                <a:lnTo>
                  <a:pt x="31750" y="0"/>
                </a:lnTo>
                <a:lnTo>
                  <a:pt x="31750" y="1508125"/>
                </a:lnTo>
                <a:lnTo>
                  <a:pt x="31750" y="1508125"/>
                </a:lnTo>
                <a:cubicBezTo>
                  <a:pt x="14227" y="1508125"/>
                  <a:pt x="0" y="1493898"/>
                  <a:pt x="0" y="1476375"/>
                </a:cubicBezTo>
                <a:lnTo>
                  <a:pt x="0" y="31750"/>
                </a:lnTo>
                <a:cubicBezTo>
                  <a:pt x="0" y="14227"/>
                  <a:pt x="14227" y="0"/>
                  <a:pt x="31750" y="0"/>
                </a:cubicBezTo>
                <a:close/>
              </a:path>
            </a:pathLst>
          </a:custGeom>
          <a:solidFill>
            <a:srgbClr val="1A535C"/>
          </a:solidFill>
          <a:ln/>
        </p:spPr>
      </p:sp>
      <p:sp>
        <p:nvSpPr>
          <p:cNvPr id="61" name="Shape 59"/>
          <p:cNvSpPr/>
          <p:nvPr/>
        </p:nvSpPr>
        <p:spPr>
          <a:xfrm>
            <a:off x="444500" y="6365875"/>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1A535C"/>
          </a:solidFill>
          <a:ln/>
        </p:spPr>
      </p:sp>
      <p:sp>
        <p:nvSpPr>
          <p:cNvPr id="62" name="Text 60"/>
          <p:cNvSpPr/>
          <p:nvPr/>
        </p:nvSpPr>
        <p:spPr>
          <a:xfrm>
            <a:off x="412750" y="6365875"/>
            <a:ext cx="317500" cy="2540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7</a:t>
            </a:r>
            <a:endParaRPr lang="en-US" sz="1600" dirty="0"/>
          </a:p>
        </p:txBody>
      </p:sp>
      <p:sp>
        <p:nvSpPr>
          <p:cNvPr id="63" name="Text 61"/>
          <p:cNvSpPr/>
          <p:nvPr/>
        </p:nvSpPr>
        <p:spPr>
          <a:xfrm>
            <a:off x="762000" y="6302375"/>
            <a:ext cx="1309688"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Teach Me Like I Am 10</a:t>
            </a:r>
            <a:endParaRPr lang="en-US" sz="1600" dirty="0"/>
          </a:p>
        </p:txBody>
      </p:sp>
      <p:sp>
        <p:nvSpPr>
          <p:cNvPr id="64" name="Text 62"/>
          <p:cNvSpPr/>
          <p:nvPr/>
        </p:nvSpPr>
        <p:spPr>
          <a:xfrm>
            <a:off x="762000" y="6492875"/>
            <a:ext cx="1309688" cy="190500"/>
          </a:xfrm>
          <a:prstGeom prst="rect">
            <a:avLst/>
          </a:prstGeom>
          <a:noFill/>
          <a:ln/>
        </p:spPr>
        <p:txBody>
          <a:bodyPr wrap="square" lIns="0" tIns="0" rIns="0" bIns="0" rtlCol="0" anchor="ctr"/>
          <a:lstStyle/>
          <a:p>
            <a:pPr>
              <a:lnSpc>
                <a:spcPct val="130000"/>
              </a:lnSpc>
            </a:pPr>
            <a:r>
              <a:rPr lang="en-US" sz="1000" b="1" dirty="0">
                <a:solidFill>
                  <a:srgbClr val="4A7C59"/>
                </a:solidFill>
                <a:latin typeface="Quattrocento Sans" pitchFamily="34" charset="0"/>
                <a:ea typeface="Quattrocento Sans" pitchFamily="34" charset="-122"/>
                <a:cs typeface="Quattrocento Sans" pitchFamily="34" charset="-120"/>
              </a:rPr>
              <a:t>Session Efficiency</a:t>
            </a:r>
            <a:endParaRPr lang="en-US" sz="1600" dirty="0"/>
          </a:p>
        </p:txBody>
      </p:sp>
      <p:sp>
        <p:nvSpPr>
          <p:cNvPr id="65" name="Text 63"/>
          <p:cNvSpPr/>
          <p:nvPr/>
        </p:nvSpPr>
        <p:spPr>
          <a:xfrm>
            <a:off x="444500" y="6715125"/>
            <a:ext cx="5572125" cy="52387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Before booking, student selects understanding level: Complete Beginner / Somewhat Confused / Almost There / Need Practice. Teacher sees this prominently during session—no time wasted calibrating.</a:t>
            </a:r>
            <a:endParaRPr lang="en-US" sz="1600" dirty="0"/>
          </a:p>
        </p:txBody>
      </p:sp>
      <p:sp>
        <p:nvSpPr>
          <p:cNvPr id="66" name="Shape 64"/>
          <p:cNvSpPr/>
          <p:nvPr/>
        </p:nvSpPr>
        <p:spPr>
          <a:xfrm>
            <a:off x="444500" y="7302500"/>
            <a:ext cx="5508625" cy="317500"/>
          </a:xfrm>
          <a:custGeom>
            <a:avLst/>
            <a:gdLst/>
            <a:ahLst/>
            <a:cxnLst/>
            <a:rect l="l" t="t" r="r" b="b"/>
            <a:pathLst>
              <a:path w="5508625" h="317500">
                <a:moveTo>
                  <a:pt x="63500" y="0"/>
                </a:moveTo>
                <a:lnTo>
                  <a:pt x="5445125" y="0"/>
                </a:lnTo>
                <a:cubicBezTo>
                  <a:pt x="5480172" y="0"/>
                  <a:pt x="5508625" y="28453"/>
                  <a:pt x="5508625" y="63500"/>
                </a:cubicBezTo>
                <a:lnTo>
                  <a:pt x="5508625" y="254000"/>
                </a:lnTo>
                <a:cubicBezTo>
                  <a:pt x="5508625" y="289047"/>
                  <a:pt x="5480172" y="317500"/>
                  <a:pt x="5445125" y="317500"/>
                </a:cubicBezTo>
                <a:lnTo>
                  <a:pt x="63500" y="317500"/>
                </a:lnTo>
                <a:cubicBezTo>
                  <a:pt x="28453" y="317500"/>
                  <a:pt x="0" y="289047"/>
                  <a:pt x="0" y="254000"/>
                </a:cubicBezTo>
                <a:lnTo>
                  <a:pt x="0" y="63500"/>
                </a:lnTo>
                <a:cubicBezTo>
                  <a:pt x="0" y="28453"/>
                  <a:pt x="28453" y="0"/>
                  <a:pt x="63500" y="0"/>
                </a:cubicBezTo>
                <a:close/>
              </a:path>
            </a:pathLst>
          </a:custGeom>
          <a:solidFill>
            <a:srgbClr val="1A535C">
              <a:alpha val="10196"/>
            </a:srgbClr>
          </a:solidFill>
          <a:ln/>
        </p:spPr>
      </p:sp>
      <p:sp>
        <p:nvSpPr>
          <p:cNvPr id="67" name="Text 65"/>
          <p:cNvSpPr/>
          <p:nvPr/>
        </p:nvSpPr>
        <p:spPr>
          <a:xfrm>
            <a:off x="508000" y="7366000"/>
            <a:ext cx="5445125"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Quattrocento Sans" pitchFamily="34" charset="0"/>
                <a:ea typeface="Quattrocento Sans" pitchFamily="34" charset="-122"/>
                <a:cs typeface="Quattrocento Sans" pitchFamily="34" charset="-120"/>
              </a:rPr>
              <a:t>PHP:</a:t>
            </a:r>
            <a:pPr>
              <a:lnSpc>
                <a:spcPct val="130000"/>
              </a:lnSpc>
            </a:pPr>
            <a:r>
              <a:rPr lang="en-US" sz="1000" dirty="0">
                <a:solidFill>
                  <a:srgbClr val="1A535C"/>
                </a:solidFill>
                <a:latin typeface="Quattrocento Sans" pitchFamily="34" charset="0"/>
                <a:ea typeface="Quattrocento Sans" pitchFamily="34" charset="-122"/>
                <a:cs typeface="Quattrocento Sans" pitchFamily="34" charset="-120"/>
              </a:rPr>
              <a:t> understanding_level enum in bookings table; displayed on teacher dashboard.</a:t>
            </a:r>
            <a:endParaRPr lang="en-US" sz="1600" dirty="0"/>
          </a:p>
        </p:txBody>
      </p:sp>
      <p:sp>
        <p:nvSpPr>
          <p:cNvPr id="68" name="Shape 66"/>
          <p:cNvSpPr/>
          <p:nvPr/>
        </p:nvSpPr>
        <p:spPr>
          <a:xfrm>
            <a:off x="6159500" y="6207125"/>
            <a:ext cx="5715000" cy="1508125"/>
          </a:xfrm>
          <a:custGeom>
            <a:avLst/>
            <a:gdLst/>
            <a:ahLst/>
            <a:cxnLst/>
            <a:rect l="l" t="t" r="r" b="b"/>
            <a:pathLst>
              <a:path w="5715000" h="1508125">
                <a:moveTo>
                  <a:pt x="31750" y="0"/>
                </a:moveTo>
                <a:lnTo>
                  <a:pt x="5651493" y="0"/>
                </a:lnTo>
                <a:cubicBezTo>
                  <a:pt x="5686567" y="0"/>
                  <a:pt x="5715000" y="28433"/>
                  <a:pt x="5715000" y="63507"/>
                </a:cubicBezTo>
                <a:lnTo>
                  <a:pt x="5715000" y="1444618"/>
                </a:lnTo>
                <a:cubicBezTo>
                  <a:pt x="5715000" y="1479692"/>
                  <a:pt x="5686567" y="1508125"/>
                  <a:pt x="5651493" y="1508125"/>
                </a:cubicBezTo>
                <a:lnTo>
                  <a:pt x="31750" y="1508125"/>
                </a:lnTo>
                <a:cubicBezTo>
                  <a:pt x="14215" y="1508125"/>
                  <a:pt x="0" y="1493910"/>
                  <a:pt x="0" y="1476375"/>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69" name="Shape 67"/>
          <p:cNvSpPr/>
          <p:nvPr/>
        </p:nvSpPr>
        <p:spPr>
          <a:xfrm>
            <a:off x="6159500" y="6207125"/>
            <a:ext cx="31750" cy="1508125"/>
          </a:xfrm>
          <a:custGeom>
            <a:avLst/>
            <a:gdLst/>
            <a:ahLst/>
            <a:cxnLst/>
            <a:rect l="l" t="t" r="r" b="b"/>
            <a:pathLst>
              <a:path w="31750" h="1508125">
                <a:moveTo>
                  <a:pt x="31750" y="0"/>
                </a:moveTo>
                <a:lnTo>
                  <a:pt x="31750" y="0"/>
                </a:lnTo>
                <a:lnTo>
                  <a:pt x="31750" y="1508125"/>
                </a:lnTo>
                <a:lnTo>
                  <a:pt x="31750" y="1508125"/>
                </a:lnTo>
                <a:cubicBezTo>
                  <a:pt x="14227" y="1508125"/>
                  <a:pt x="0" y="1493898"/>
                  <a:pt x="0" y="1476375"/>
                </a:cubicBezTo>
                <a:lnTo>
                  <a:pt x="0" y="31750"/>
                </a:lnTo>
                <a:cubicBezTo>
                  <a:pt x="0" y="14227"/>
                  <a:pt x="14227" y="0"/>
                  <a:pt x="31750" y="0"/>
                </a:cubicBezTo>
                <a:close/>
              </a:path>
            </a:pathLst>
          </a:custGeom>
          <a:solidFill>
            <a:srgbClr val="4A7C59"/>
          </a:solidFill>
          <a:ln/>
        </p:spPr>
      </p:sp>
      <p:sp>
        <p:nvSpPr>
          <p:cNvPr id="70" name="Shape 68"/>
          <p:cNvSpPr/>
          <p:nvPr/>
        </p:nvSpPr>
        <p:spPr>
          <a:xfrm>
            <a:off x="6270625" y="6365875"/>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4A7C59"/>
          </a:solidFill>
          <a:ln/>
        </p:spPr>
      </p:sp>
      <p:sp>
        <p:nvSpPr>
          <p:cNvPr id="71" name="Text 69"/>
          <p:cNvSpPr/>
          <p:nvPr/>
        </p:nvSpPr>
        <p:spPr>
          <a:xfrm>
            <a:off x="6238875" y="6365875"/>
            <a:ext cx="317500" cy="2540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8</a:t>
            </a:r>
            <a:endParaRPr lang="en-US" sz="1600" dirty="0"/>
          </a:p>
        </p:txBody>
      </p:sp>
      <p:sp>
        <p:nvSpPr>
          <p:cNvPr id="72" name="Text 70"/>
          <p:cNvSpPr/>
          <p:nvPr/>
        </p:nvSpPr>
        <p:spPr>
          <a:xfrm>
            <a:off x="6588125" y="6302375"/>
            <a:ext cx="1603375"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Emergency Doubt Sessions</a:t>
            </a:r>
            <a:endParaRPr lang="en-US" sz="1600" dirty="0"/>
          </a:p>
        </p:txBody>
      </p:sp>
      <p:sp>
        <p:nvSpPr>
          <p:cNvPr id="73" name="Text 71"/>
          <p:cNvSpPr/>
          <p:nvPr/>
        </p:nvSpPr>
        <p:spPr>
          <a:xfrm>
            <a:off x="6588125" y="6492875"/>
            <a:ext cx="1603375" cy="190500"/>
          </a:xfrm>
          <a:prstGeom prst="rect">
            <a:avLst/>
          </a:prstGeom>
          <a:noFill/>
          <a:ln/>
        </p:spPr>
        <p:txBody>
          <a:bodyPr wrap="square" lIns="0" tIns="0" rIns="0" bIns="0" rtlCol="0" anchor="ctr"/>
          <a:lstStyle/>
          <a:p>
            <a:pPr>
              <a:lnSpc>
                <a:spcPct val="130000"/>
              </a:lnSpc>
            </a:pPr>
            <a:r>
              <a:rPr lang="en-US" sz="1000" b="1" dirty="0">
                <a:solidFill>
                  <a:srgbClr val="4A7C59"/>
                </a:solidFill>
                <a:latin typeface="Quattrocento Sans" pitchFamily="34" charset="0"/>
                <a:ea typeface="Quattrocento Sans" pitchFamily="34" charset="-122"/>
                <a:cs typeface="Quattrocento Sans" pitchFamily="34" charset="-120"/>
              </a:rPr>
              <a:t>Instant Matching</a:t>
            </a:r>
            <a:endParaRPr lang="en-US" sz="1600" dirty="0"/>
          </a:p>
        </p:txBody>
      </p:sp>
      <p:sp>
        <p:nvSpPr>
          <p:cNvPr id="74" name="Text 72"/>
          <p:cNvSpPr/>
          <p:nvPr/>
        </p:nvSpPr>
        <p:spPr>
          <a:xfrm>
            <a:off x="6270625" y="6715125"/>
            <a:ext cx="5572125" cy="52387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Student posts Emergency Doubt → System instantly notifies online teachers via Pusher → First to accept opens immediate 15-minute video session. No scheduling, no wait. Uber model for academic doubt solving.</a:t>
            </a:r>
            <a:endParaRPr lang="en-US" sz="1600" dirty="0"/>
          </a:p>
        </p:txBody>
      </p:sp>
      <p:sp>
        <p:nvSpPr>
          <p:cNvPr id="75" name="Shape 73"/>
          <p:cNvSpPr/>
          <p:nvPr/>
        </p:nvSpPr>
        <p:spPr>
          <a:xfrm>
            <a:off x="6270625" y="7302500"/>
            <a:ext cx="5508625" cy="317500"/>
          </a:xfrm>
          <a:custGeom>
            <a:avLst/>
            <a:gdLst/>
            <a:ahLst/>
            <a:cxnLst/>
            <a:rect l="l" t="t" r="r" b="b"/>
            <a:pathLst>
              <a:path w="5508625" h="317500">
                <a:moveTo>
                  <a:pt x="63500" y="0"/>
                </a:moveTo>
                <a:lnTo>
                  <a:pt x="5445125" y="0"/>
                </a:lnTo>
                <a:cubicBezTo>
                  <a:pt x="5480172" y="0"/>
                  <a:pt x="5508625" y="28453"/>
                  <a:pt x="5508625" y="63500"/>
                </a:cubicBezTo>
                <a:lnTo>
                  <a:pt x="5508625" y="254000"/>
                </a:lnTo>
                <a:cubicBezTo>
                  <a:pt x="5508625" y="289047"/>
                  <a:pt x="5480172" y="317500"/>
                  <a:pt x="5445125" y="317500"/>
                </a:cubicBezTo>
                <a:lnTo>
                  <a:pt x="63500" y="317500"/>
                </a:lnTo>
                <a:cubicBezTo>
                  <a:pt x="28453" y="317500"/>
                  <a:pt x="0" y="289047"/>
                  <a:pt x="0" y="254000"/>
                </a:cubicBezTo>
                <a:lnTo>
                  <a:pt x="0" y="63500"/>
                </a:lnTo>
                <a:cubicBezTo>
                  <a:pt x="0" y="28453"/>
                  <a:pt x="28453" y="0"/>
                  <a:pt x="63500" y="0"/>
                </a:cubicBezTo>
                <a:close/>
              </a:path>
            </a:pathLst>
          </a:custGeom>
          <a:solidFill>
            <a:srgbClr val="4A7C59">
              <a:alpha val="10196"/>
            </a:srgbClr>
          </a:solidFill>
          <a:ln/>
        </p:spPr>
      </p:sp>
      <p:sp>
        <p:nvSpPr>
          <p:cNvPr id="76" name="Text 74"/>
          <p:cNvSpPr/>
          <p:nvPr/>
        </p:nvSpPr>
        <p:spPr>
          <a:xfrm>
            <a:off x="6334125" y="7366000"/>
            <a:ext cx="5445125" cy="190500"/>
          </a:xfrm>
          <a:prstGeom prst="rect">
            <a:avLst/>
          </a:prstGeom>
          <a:noFill/>
          <a:ln/>
        </p:spPr>
        <p:txBody>
          <a:bodyPr wrap="square" lIns="0" tIns="0" rIns="0" bIns="0" rtlCol="0" anchor="ctr"/>
          <a:lstStyle/>
          <a:p>
            <a:pPr>
              <a:lnSpc>
                <a:spcPct val="130000"/>
              </a:lnSpc>
            </a:pPr>
            <a:r>
              <a:rPr lang="en-US" sz="1000" b="1" dirty="0">
                <a:solidFill>
                  <a:srgbClr val="4A7C59"/>
                </a:solidFill>
                <a:latin typeface="Quattrocento Sans" pitchFamily="34" charset="0"/>
                <a:ea typeface="Quattrocento Sans" pitchFamily="34" charset="-122"/>
                <a:cs typeface="Quattrocento Sans" pitchFamily="34" charset="-120"/>
              </a:rPr>
              <a:t>PHP:</a:t>
            </a:r>
            <a:pPr>
              <a:lnSpc>
                <a:spcPct val="130000"/>
              </a:lnSpc>
            </a:pPr>
            <a:r>
              <a:rPr lang="en-US" sz="1000" dirty="0">
                <a:solidFill>
                  <a:srgbClr val="4A7C59"/>
                </a:solidFill>
                <a:latin typeface="Quattrocento Sans" pitchFamily="34" charset="0"/>
                <a:ea typeface="Quattrocento Sans" pitchFamily="34" charset="-122"/>
                <a:cs typeface="Quattrocento Sans" pitchFamily="34" charset="-120"/>
              </a:rPr>
              <a:t> DB transaction prevents double-acceptance; Twilio room auto-created.</a:t>
            </a:r>
            <a:endParaRPr lang="en-US" sz="16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spc="50" kern="0" dirty="0">
                <a:solidFill>
                  <a:srgbClr val="4A7C59"/>
                </a:solidFill>
                <a:latin typeface="Quattrocento Sans" pitchFamily="34" charset="0"/>
                <a:ea typeface="Quattrocento Sans" pitchFamily="34" charset="-122"/>
                <a:cs typeface="Quattrocento Sans" pitchFamily="34" charset="-120"/>
              </a:rPr>
              <a:t>UNIQUE DIFFERENTIATING FEATURES — PART B</a:t>
            </a:r>
            <a:endParaRPr lang="en-US" sz="1600" dirty="0"/>
          </a:p>
        </p:txBody>
      </p:sp>
      <p:sp>
        <p:nvSpPr>
          <p:cNvPr id="3" name="Text 1"/>
          <p:cNvSpPr/>
          <p:nvPr/>
        </p:nvSpPr>
        <p:spPr>
          <a:xfrm>
            <a:off x="317500" y="539750"/>
            <a:ext cx="11676063" cy="285750"/>
          </a:xfrm>
          <a:prstGeom prst="rect">
            <a:avLst/>
          </a:prstGeom>
          <a:noFill/>
          <a:ln/>
        </p:spPr>
        <p:txBody>
          <a:bodyPr wrap="square" lIns="0" tIns="0" rIns="0" bIns="0" rtlCol="0" anchor="ctr"/>
          <a:lstStyle/>
          <a:p>
            <a:pPr>
              <a:lnSpc>
                <a:spcPct val="100000"/>
              </a:lnSpc>
            </a:pPr>
            <a:r>
              <a:rPr lang="en-US" sz="1875" b="1" dirty="0">
                <a:solidFill>
                  <a:srgbClr val="1A535C"/>
                </a:solidFill>
                <a:latin typeface="Liter" pitchFamily="34" charset="0"/>
                <a:ea typeface="Liter" pitchFamily="34" charset="-122"/>
                <a:cs typeface="Liter" pitchFamily="34" charset="-120"/>
              </a:rPr>
              <a:t>10 Additional Features Proposed by Team</a:t>
            </a:r>
            <a:endParaRPr lang="en-US" sz="1600" dirty="0"/>
          </a:p>
        </p:txBody>
      </p:sp>
      <p:sp>
        <p:nvSpPr>
          <p:cNvPr id="4" name="Text 2"/>
          <p:cNvSpPr/>
          <p:nvPr/>
        </p:nvSpPr>
        <p:spPr>
          <a:xfrm>
            <a:off x="317500" y="857250"/>
            <a:ext cx="11620500" cy="190500"/>
          </a:xfrm>
          <a:prstGeom prst="rect">
            <a:avLst/>
          </a:prstGeom>
          <a:noFill/>
          <a:ln/>
        </p:spPr>
        <p:txBody>
          <a:bodyPr wrap="square" lIns="0" tIns="0" rIns="0" bIns="0" rtlCol="0" anchor="ctr"/>
          <a:lstStyle/>
          <a:p>
            <a:pPr>
              <a:lnSpc>
                <a:spcPct val="130000"/>
              </a:lnSpc>
            </a:pPr>
            <a:r>
              <a:rPr lang="en-US" sz="1000" dirty="0">
                <a:solidFill>
                  <a:srgbClr val="212529">
                    <a:alpha val="70000"/>
                  </a:srgbClr>
                </a:solidFill>
                <a:latin typeface="Quattrocento Sans" pitchFamily="34" charset="0"/>
                <a:ea typeface="Quattrocento Sans" pitchFamily="34" charset="-122"/>
                <a:cs typeface="Quattrocento Sans" pitchFamily="34" charset="-120"/>
              </a:rPr>
              <a:t>Further strengthening differentiation, accessibility, and community impact</a:t>
            </a:r>
            <a:endParaRPr lang="en-US" sz="1600" dirty="0"/>
          </a:p>
        </p:txBody>
      </p:sp>
      <p:sp>
        <p:nvSpPr>
          <p:cNvPr id="5" name="Shape 3"/>
          <p:cNvSpPr/>
          <p:nvPr/>
        </p:nvSpPr>
        <p:spPr>
          <a:xfrm>
            <a:off x="317500" y="1111250"/>
            <a:ext cx="762000" cy="31750"/>
          </a:xfrm>
          <a:custGeom>
            <a:avLst/>
            <a:gdLst/>
            <a:ahLst/>
            <a:cxnLst/>
            <a:rect l="l" t="t" r="r" b="b"/>
            <a:pathLst>
              <a:path w="762000" h="31750">
                <a:moveTo>
                  <a:pt x="0" y="0"/>
                </a:moveTo>
                <a:lnTo>
                  <a:pt x="762000" y="0"/>
                </a:lnTo>
                <a:lnTo>
                  <a:pt x="762000" y="31750"/>
                </a:lnTo>
                <a:lnTo>
                  <a:pt x="0" y="31750"/>
                </a:lnTo>
                <a:lnTo>
                  <a:pt x="0" y="0"/>
                </a:lnTo>
                <a:close/>
              </a:path>
            </a:pathLst>
          </a:custGeom>
          <a:solidFill>
            <a:srgbClr val="F7B538"/>
          </a:solidFill>
          <a:ln/>
        </p:spPr>
      </p:sp>
      <p:sp>
        <p:nvSpPr>
          <p:cNvPr id="6" name="Shape 4"/>
          <p:cNvSpPr/>
          <p:nvPr/>
        </p:nvSpPr>
        <p:spPr>
          <a:xfrm>
            <a:off x="333375" y="1206500"/>
            <a:ext cx="5715000" cy="1238250"/>
          </a:xfrm>
          <a:custGeom>
            <a:avLst/>
            <a:gdLst/>
            <a:ahLst/>
            <a:cxnLst/>
            <a:rect l="l" t="t" r="r" b="b"/>
            <a:pathLst>
              <a:path w="5715000" h="1238250">
                <a:moveTo>
                  <a:pt x="31750" y="0"/>
                </a:moveTo>
                <a:lnTo>
                  <a:pt x="5651503" y="0"/>
                </a:lnTo>
                <a:cubicBezTo>
                  <a:pt x="5686571" y="0"/>
                  <a:pt x="5715000" y="28429"/>
                  <a:pt x="5715000" y="63497"/>
                </a:cubicBezTo>
                <a:lnTo>
                  <a:pt x="5715000" y="1174753"/>
                </a:lnTo>
                <a:cubicBezTo>
                  <a:pt x="5715000" y="1209821"/>
                  <a:pt x="5686571" y="1238250"/>
                  <a:pt x="5651503" y="1238250"/>
                </a:cubicBezTo>
                <a:lnTo>
                  <a:pt x="31750" y="1238250"/>
                </a:lnTo>
                <a:cubicBezTo>
                  <a:pt x="14227" y="1238250"/>
                  <a:pt x="0" y="1224023"/>
                  <a:pt x="0" y="1206500"/>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7" name="Shape 5"/>
          <p:cNvSpPr/>
          <p:nvPr/>
        </p:nvSpPr>
        <p:spPr>
          <a:xfrm>
            <a:off x="333375" y="1206500"/>
            <a:ext cx="31750" cy="1238250"/>
          </a:xfrm>
          <a:custGeom>
            <a:avLst/>
            <a:gdLst/>
            <a:ahLst/>
            <a:cxnLst/>
            <a:rect l="l" t="t" r="r" b="b"/>
            <a:pathLst>
              <a:path w="31750" h="1238250">
                <a:moveTo>
                  <a:pt x="31750" y="0"/>
                </a:moveTo>
                <a:lnTo>
                  <a:pt x="31750" y="0"/>
                </a:lnTo>
                <a:lnTo>
                  <a:pt x="31750" y="1238250"/>
                </a:lnTo>
                <a:lnTo>
                  <a:pt x="31750" y="1238250"/>
                </a:lnTo>
                <a:cubicBezTo>
                  <a:pt x="14227" y="1238250"/>
                  <a:pt x="0" y="1224023"/>
                  <a:pt x="0" y="1206500"/>
                </a:cubicBezTo>
                <a:lnTo>
                  <a:pt x="0" y="31750"/>
                </a:lnTo>
                <a:cubicBezTo>
                  <a:pt x="0" y="14227"/>
                  <a:pt x="14227" y="0"/>
                  <a:pt x="31750" y="0"/>
                </a:cubicBezTo>
                <a:close/>
              </a:path>
            </a:pathLst>
          </a:custGeom>
          <a:solidFill>
            <a:srgbClr val="1A535C"/>
          </a:solidFill>
          <a:ln/>
        </p:spPr>
      </p:sp>
      <p:sp>
        <p:nvSpPr>
          <p:cNvPr id="8" name="Shape 6"/>
          <p:cNvSpPr/>
          <p:nvPr/>
        </p:nvSpPr>
        <p:spPr>
          <a:xfrm>
            <a:off x="444500" y="1365250"/>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1A535C"/>
          </a:solidFill>
          <a:ln/>
        </p:spPr>
      </p:sp>
      <p:sp>
        <p:nvSpPr>
          <p:cNvPr id="9" name="Text 7"/>
          <p:cNvSpPr/>
          <p:nvPr/>
        </p:nvSpPr>
        <p:spPr>
          <a:xfrm>
            <a:off x="412750" y="1365250"/>
            <a:ext cx="317500" cy="2540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9</a:t>
            </a:r>
            <a:endParaRPr lang="en-US" sz="1600" dirty="0"/>
          </a:p>
        </p:txBody>
      </p:sp>
      <p:sp>
        <p:nvSpPr>
          <p:cNvPr id="10" name="Text 8"/>
          <p:cNvSpPr/>
          <p:nvPr/>
        </p:nvSpPr>
        <p:spPr>
          <a:xfrm>
            <a:off x="762000" y="1301750"/>
            <a:ext cx="1230313"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AI Wisdom Matching</a:t>
            </a:r>
            <a:endParaRPr lang="en-US" sz="1600" dirty="0"/>
          </a:p>
        </p:txBody>
      </p:sp>
      <p:sp>
        <p:nvSpPr>
          <p:cNvPr id="11" name="Text 9"/>
          <p:cNvSpPr/>
          <p:nvPr/>
        </p:nvSpPr>
        <p:spPr>
          <a:xfrm>
            <a:off x="762000" y="1492250"/>
            <a:ext cx="1230313" cy="190500"/>
          </a:xfrm>
          <a:prstGeom prst="rect">
            <a:avLst/>
          </a:prstGeom>
          <a:noFill/>
          <a:ln/>
        </p:spPr>
        <p:txBody>
          <a:bodyPr wrap="square" lIns="0" tIns="0" rIns="0" bIns="0" rtlCol="0" anchor="ctr"/>
          <a:lstStyle/>
          <a:p>
            <a:pPr>
              <a:lnSpc>
                <a:spcPct val="130000"/>
              </a:lnSpc>
            </a:pPr>
            <a:r>
              <a:rPr lang="en-US" sz="1000" b="1" dirty="0">
                <a:solidFill>
                  <a:srgbClr val="4A7C59"/>
                </a:solidFill>
                <a:latin typeface="Quattrocento Sans" pitchFamily="34" charset="0"/>
                <a:ea typeface="Quattrocento Sans" pitchFamily="34" charset="-122"/>
                <a:cs typeface="Quattrocento Sans" pitchFamily="34" charset="-120"/>
              </a:rPr>
              <a:t>AI &amp; Personalization</a:t>
            </a:r>
            <a:endParaRPr lang="en-US" sz="1600" dirty="0"/>
          </a:p>
        </p:txBody>
      </p:sp>
      <p:sp>
        <p:nvSpPr>
          <p:cNvPr id="12" name="Text 10"/>
          <p:cNvSpPr/>
          <p:nvPr/>
        </p:nvSpPr>
        <p:spPr>
          <a:xfrm>
            <a:off x="444500" y="1714500"/>
            <a:ext cx="5572125" cy="349250"/>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AI matches students with teachers based on teaching style, personality alignment, past success patterns, and learning pace. Shows "Best Match Score" beside each teacher—not just subject filter.</a:t>
            </a:r>
            <a:endParaRPr lang="en-US" sz="1600" dirty="0"/>
          </a:p>
        </p:txBody>
      </p:sp>
      <p:sp>
        <p:nvSpPr>
          <p:cNvPr id="13" name="Shape 11"/>
          <p:cNvSpPr/>
          <p:nvPr/>
        </p:nvSpPr>
        <p:spPr>
          <a:xfrm>
            <a:off x="444500" y="2127250"/>
            <a:ext cx="1254125" cy="222250"/>
          </a:xfrm>
          <a:custGeom>
            <a:avLst/>
            <a:gdLst/>
            <a:ahLst/>
            <a:cxnLst/>
            <a:rect l="l" t="t" r="r" b="b"/>
            <a:pathLst>
              <a:path w="1254125" h="222250">
                <a:moveTo>
                  <a:pt x="31751" y="0"/>
                </a:moveTo>
                <a:lnTo>
                  <a:pt x="1222374" y="0"/>
                </a:lnTo>
                <a:cubicBezTo>
                  <a:pt x="1239910" y="0"/>
                  <a:pt x="1254125" y="14215"/>
                  <a:pt x="1254125" y="31751"/>
                </a:cubicBezTo>
                <a:lnTo>
                  <a:pt x="1254125" y="190499"/>
                </a:lnTo>
                <a:cubicBezTo>
                  <a:pt x="1254125" y="208035"/>
                  <a:pt x="1239910" y="222250"/>
                  <a:pt x="1222374" y="222250"/>
                </a:cubicBezTo>
                <a:lnTo>
                  <a:pt x="31751" y="222250"/>
                </a:lnTo>
                <a:cubicBezTo>
                  <a:pt x="14227" y="222250"/>
                  <a:pt x="0" y="208023"/>
                  <a:pt x="0" y="190499"/>
                </a:cubicBezTo>
                <a:lnTo>
                  <a:pt x="0" y="31751"/>
                </a:lnTo>
                <a:cubicBezTo>
                  <a:pt x="0" y="14227"/>
                  <a:pt x="14227" y="0"/>
                  <a:pt x="31751" y="0"/>
                </a:cubicBezTo>
                <a:close/>
              </a:path>
            </a:pathLst>
          </a:custGeom>
          <a:solidFill>
            <a:srgbClr val="1A535C">
              <a:alpha val="10196"/>
            </a:srgbClr>
          </a:solidFill>
          <a:ln/>
        </p:spPr>
      </p:sp>
      <p:sp>
        <p:nvSpPr>
          <p:cNvPr id="14" name="Text 12"/>
          <p:cNvSpPr/>
          <p:nvPr/>
        </p:nvSpPr>
        <p:spPr>
          <a:xfrm>
            <a:off x="444500" y="2127250"/>
            <a:ext cx="1317625" cy="222250"/>
          </a:xfrm>
          <a:prstGeom prst="rect">
            <a:avLst/>
          </a:prstGeom>
          <a:noFill/>
          <a:ln/>
        </p:spPr>
        <p:txBody>
          <a:bodyPr wrap="square" lIns="63500" tIns="15875" rIns="63500" bIns="15875" rtlCol="0" anchor="ctr"/>
          <a:lstStyle/>
          <a:p>
            <a:pPr>
              <a:lnSpc>
                <a:spcPct val="130000"/>
              </a:lnSpc>
            </a:pPr>
            <a:r>
              <a:rPr lang="en-US" sz="1000" dirty="0">
                <a:solidFill>
                  <a:srgbClr val="1A535C"/>
                </a:solidFill>
                <a:latin typeface="Quattrocento Sans" pitchFamily="34" charset="0"/>
                <a:ea typeface="Quattrocento Sans" pitchFamily="34" charset="-122"/>
                <a:cs typeface="Quattrocento Sans" pitchFamily="34" charset="-120"/>
              </a:rPr>
              <a:t>OpenAI Embeddings</a:t>
            </a:r>
            <a:endParaRPr lang="en-US" sz="1600" dirty="0"/>
          </a:p>
        </p:txBody>
      </p:sp>
      <p:sp>
        <p:nvSpPr>
          <p:cNvPr id="15" name="Shape 13"/>
          <p:cNvSpPr/>
          <p:nvPr/>
        </p:nvSpPr>
        <p:spPr>
          <a:xfrm>
            <a:off x="1733054" y="2127250"/>
            <a:ext cx="738188" cy="222250"/>
          </a:xfrm>
          <a:custGeom>
            <a:avLst/>
            <a:gdLst/>
            <a:ahLst/>
            <a:cxnLst/>
            <a:rect l="l" t="t" r="r" b="b"/>
            <a:pathLst>
              <a:path w="738188" h="222250">
                <a:moveTo>
                  <a:pt x="31751" y="0"/>
                </a:moveTo>
                <a:lnTo>
                  <a:pt x="706437" y="0"/>
                </a:lnTo>
                <a:cubicBezTo>
                  <a:pt x="723972" y="0"/>
                  <a:pt x="738188" y="14215"/>
                  <a:pt x="738188" y="31751"/>
                </a:cubicBezTo>
                <a:lnTo>
                  <a:pt x="738188" y="190499"/>
                </a:lnTo>
                <a:cubicBezTo>
                  <a:pt x="738188" y="208035"/>
                  <a:pt x="723972" y="222250"/>
                  <a:pt x="706437" y="222250"/>
                </a:cubicBezTo>
                <a:lnTo>
                  <a:pt x="31751" y="222250"/>
                </a:lnTo>
                <a:cubicBezTo>
                  <a:pt x="14227" y="222250"/>
                  <a:pt x="0" y="208023"/>
                  <a:pt x="0" y="190499"/>
                </a:cubicBezTo>
                <a:lnTo>
                  <a:pt x="0" y="31751"/>
                </a:lnTo>
                <a:cubicBezTo>
                  <a:pt x="0" y="14227"/>
                  <a:pt x="14227" y="0"/>
                  <a:pt x="31751" y="0"/>
                </a:cubicBezTo>
                <a:close/>
              </a:path>
            </a:pathLst>
          </a:custGeom>
          <a:solidFill>
            <a:srgbClr val="1A535C">
              <a:alpha val="10196"/>
            </a:srgbClr>
          </a:solidFill>
          <a:ln/>
        </p:spPr>
      </p:sp>
      <p:sp>
        <p:nvSpPr>
          <p:cNvPr id="16" name="Text 14"/>
          <p:cNvSpPr/>
          <p:nvPr/>
        </p:nvSpPr>
        <p:spPr>
          <a:xfrm>
            <a:off x="1733054" y="2127250"/>
            <a:ext cx="801688" cy="222250"/>
          </a:xfrm>
          <a:prstGeom prst="rect">
            <a:avLst/>
          </a:prstGeom>
          <a:noFill/>
          <a:ln/>
        </p:spPr>
        <p:txBody>
          <a:bodyPr wrap="square" lIns="63500" tIns="15875" rIns="63500" bIns="15875" rtlCol="0" anchor="ctr"/>
          <a:lstStyle/>
          <a:p>
            <a:pPr>
              <a:lnSpc>
                <a:spcPct val="130000"/>
              </a:lnSpc>
            </a:pPr>
            <a:r>
              <a:rPr lang="en-US" sz="1000" dirty="0">
                <a:solidFill>
                  <a:srgbClr val="1A535C"/>
                </a:solidFill>
                <a:latin typeface="Quattrocento Sans" pitchFamily="34" charset="0"/>
                <a:ea typeface="Quattrocento Sans" pitchFamily="34" charset="-122"/>
                <a:cs typeface="Quattrocento Sans" pitchFamily="34" charset="-120"/>
              </a:rPr>
              <a:t>PHP Guzzle</a:t>
            </a:r>
            <a:endParaRPr lang="en-US" sz="1600" dirty="0"/>
          </a:p>
        </p:txBody>
      </p:sp>
      <p:sp>
        <p:nvSpPr>
          <p:cNvPr id="17" name="Shape 15"/>
          <p:cNvSpPr/>
          <p:nvPr/>
        </p:nvSpPr>
        <p:spPr>
          <a:xfrm>
            <a:off x="6159500" y="1206500"/>
            <a:ext cx="5715000" cy="1238250"/>
          </a:xfrm>
          <a:custGeom>
            <a:avLst/>
            <a:gdLst/>
            <a:ahLst/>
            <a:cxnLst/>
            <a:rect l="l" t="t" r="r" b="b"/>
            <a:pathLst>
              <a:path w="5715000" h="1238250">
                <a:moveTo>
                  <a:pt x="31750" y="0"/>
                </a:moveTo>
                <a:lnTo>
                  <a:pt x="5651503" y="0"/>
                </a:lnTo>
                <a:cubicBezTo>
                  <a:pt x="5686571" y="0"/>
                  <a:pt x="5715000" y="28429"/>
                  <a:pt x="5715000" y="63497"/>
                </a:cubicBezTo>
                <a:lnTo>
                  <a:pt x="5715000" y="1174753"/>
                </a:lnTo>
                <a:cubicBezTo>
                  <a:pt x="5715000" y="1209821"/>
                  <a:pt x="5686571" y="1238250"/>
                  <a:pt x="5651503" y="1238250"/>
                </a:cubicBezTo>
                <a:lnTo>
                  <a:pt x="31750" y="1238250"/>
                </a:lnTo>
                <a:cubicBezTo>
                  <a:pt x="14227" y="1238250"/>
                  <a:pt x="0" y="1224023"/>
                  <a:pt x="0" y="1206500"/>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18" name="Shape 16"/>
          <p:cNvSpPr/>
          <p:nvPr/>
        </p:nvSpPr>
        <p:spPr>
          <a:xfrm>
            <a:off x="6159500" y="1206500"/>
            <a:ext cx="31750" cy="1238250"/>
          </a:xfrm>
          <a:custGeom>
            <a:avLst/>
            <a:gdLst/>
            <a:ahLst/>
            <a:cxnLst/>
            <a:rect l="l" t="t" r="r" b="b"/>
            <a:pathLst>
              <a:path w="31750" h="1238250">
                <a:moveTo>
                  <a:pt x="31750" y="0"/>
                </a:moveTo>
                <a:lnTo>
                  <a:pt x="31750" y="0"/>
                </a:lnTo>
                <a:lnTo>
                  <a:pt x="31750" y="1238250"/>
                </a:lnTo>
                <a:lnTo>
                  <a:pt x="31750" y="1238250"/>
                </a:lnTo>
                <a:cubicBezTo>
                  <a:pt x="14227" y="1238250"/>
                  <a:pt x="0" y="1224023"/>
                  <a:pt x="0" y="1206500"/>
                </a:cubicBezTo>
                <a:lnTo>
                  <a:pt x="0" y="31750"/>
                </a:lnTo>
                <a:cubicBezTo>
                  <a:pt x="0" y="14227"/>
                  <a:pt x="14227" y="0"/>
                  <a:pt x="31750" y="0"/>
                </a:cubicBezTo>
                <a:close/>
              </a:path>
            </a:pathLst>
          </a:custGeom>
          <a:solidFill>
            <a:srgbClr val="4A7C59"/>
          </a:solidFill>
          <a:ln/>
        </p:spPr>
      </p:sp>
      <p:sp>
        <p:nvSpPr>
          <p:cNvPr id="19" name="Shape 17"/>
          <p:cNvSpPr/>
          <p:nvPr/>
        </p:nvSpPr>
        <p:spPr>
          <a:xfrm>
            <a:off x="6270625" y="1365250"/>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4A7C59"/>
          </a:solidFill>
          <a:ln/>
        </p:spPr>
      </p:sp>
      <p:sp>
        <p:nvSpPr>
          <p:cNvPr id="20" name="Text 18"/>
          <p:cNvSpPr/>
          <p:nvPr/>
        </p:nvSpPr>
        <p:spPr>
          <a:xfrm>
            <a:off x="6238875" y="1365250"/>
            <a:ext cx="317500" cy="2540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10</a:t>
            </a:r>
            <a:endParaRPr lang="en-US" sz="1600" dirty="0"/>
          </a:p>
        </p:txBody>
      </p:sp>
      <p:sp>
        <p:nvSpPr>
          <p:cNvPr id="21" name="Text 19"/>
          <p:cNvSpPr/>
          <p:nvPr/>
        </p:nvSpPr>
        <p:spPr>
          <a:xfrm>
            <a:off x="6588125" y="1301750"/>
            <a:ext cx="1492250"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Guru-Shishya Mentorship</a:t>
            </a:r>
            <a:endParaRPr lang="en-US" sz="1600" dirty="0"/>
          </a:p>
        </p:txBody>
      </p:sp>
      <p:sp>
        <p:nvSpPr>
          <p:cNvPr id="22" name="Text 20"/>
          <p:cNvSpPr/>
          <p:nvPr/>
        </p:nvSpPr>
        <p:spPr>
          <a:xfrm>
            <a:off x="6588125" y="1492250"/>
            <a:ext cx="1492250" cy="190500"/>
          </a:xfrm>
          <a:prstGeom prst="rect">
            <a:avLst/>
          </a:prstGeom>
          <a:noFill/>
          <a:ln/>
        </p:spPr>
        <p:txBody>
          <a:bodyPr wrap="square" lIns="0" tIns="0" rIns="0" bIns="0" rtlCol="0" anchor="ctr"/>
          <a:lstStyle/>
          <a:p>
            <a:pPr>
              <a:lnSpc>
                <a:spcPct val="130000"/>
              </a:lnSpc>
            </a:pPr>
            <a:r>
              <a:rPr lang="en-US" sz="1000" b="1" dirty="0">
                <a:solidFill>
                  <a:srgbClr val="4A7C59"/>
                </a:solidFill>
                <a:latin typeface="Quattrocento Sans" pitchFamily="34" charset="0"/>
                <a:ea typeface="Quattrocento Sans" pitchFamily="34" charset="-122"/>
                <a:cs typeface="Quattrocento Sans" pitchFamily="34" charset="-120"/>
              </a:rPr>
              <a:t>Holistic Mentorship</a:t>
            </a:r>
            <a:endParaRPr lang="en-US" sz="1600" dirty="0"/>
          </a:p>
        </p:txBody>
      </p:sp>
      <p:sp>
        <p:nvSpPr>
          <p:cNvPr id="23" name="Text 21"/>
          <p:cNvSpPr/>
          <p:nvPr/>
        </p:nvSpPr>
        <p:spPr>
          <a:xfrm>
            <a:off x="6270625" y="1714500"/>
            <a:ext cx="5572125" cy="349250"/>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Beyond academics: life guidance, career advice, value-based education, storytelling, goal setting, emotional support. These sessions are always free—heart of intergenerational mission.</a:t>
            </a:r>
            <a:endParaRPr lang="en-US" sz="1600" dirty="0"/>
          </a:p>
        </p:txBody>
      </p:sp>
      <p:sp>
        <p:nvSpPr>
          <p:cNvPr id="24" name="Shape 22"/>
          <p:cNvSpPr/>
          <p:nvPr/>
        </p:nvSpPr>
        <p:spPr>
          <a:xfrm>
            <a:off x="6270625" y="2127250"/>
            <a:ext cx="865188" cy="222250"/>
          </a:xfrm>
          <a:custGeom>
            <a:avLst/>
            <a:gdLst/>
            <a:ahLst/>
            <a:cxnLst/>
            <a:rect l="l" t="t" r="r" b="b"/>
            <a:pathLst>
              <a:path w="865188" h="222250">
                <a:moveTo>
                  <a:pt x="31751" y="0"/>
                </a:moveTo>
                <a:lnTo>
                  <a:pt x="833437" y="0"/>
                </a:lnTo>
                <a:cubicBezTo>
                  <a:pt x="850972" y="0"/>
                  <a:pt x="865188" y="14215"/>
                  <a:pt x="865188" y="31751"/>
                </a:cubicBezTo>
                <a:lnTo>
                  <a:pt x="865188" y="190499"/>
                </a:lnTo>
                <a:cubicBezTo>
                  <a:pt x="865188" y="208035"/>
                  <a:pt x="850972" y="222250"/>
                  <a:pt x="833437" y="222250"/>
                </a:cubicBezTo>
                <a:lnTo>
                  <a:pt x="31751" y="222250"/>
                </a:lnTo>
                <a:cubicBezTo>
                  <a:pt x="14227" y="222250"/>
                  <a:pt x="0" y="208023"/>
                  <a:pt x="0" y="190499"/>
                </a:cubicBezTo>
                <a:lnTo>
                  <a:pt x="0" y="31751"/>
                </a:lnTo>
                <a:cubicBezTo>
                  <a:pt x="0" y="14227"/>
                  <a:pt x="14227" y="0"/>
                  <a:pt x="31751" y="0"/>
                </a:cubicBezTo>
                <a:close/>
              </a:path>
            </a:pathLst>
          </a:custGeom>
          <a:solidFill>
            <a:srgbClr val="4A7C59">
              <a:alpha val="10196"/>
            </a:srgbClr>
          </a:solidFill>
          <a:ln/>
        </p:spPr>
      </p:sp>
      <p:sp>
        <p:nvSpPr>
          <p:cNvPr id="25" name="Text 23"/>
          <p:cNvSpPr/>
          <p:nvPr/>
        </p:nvSpPr>
        <p:spPr>
          <a:xfrm>
            <a:off x="6270625" y="2127250"/>
            <a:ext cx="928688" cy="222250"/>
          </a:xfrm>
          <a:prstGeom prst="rect">
            <a:avLst/>
          </a:prstGeom>
          <a:noFill/>
          <a:ln/>
        </p:spPr>
        <p:txBody>
          <a:bodyPr wrap="square" lIns="63500" tIns="15875" rIns="63500" bIns="15875" rtlCol="0" anchor="ctr"/>
          <a:lstStyle/>
          <a:p>
            <a:pPr>
              <a:lnSpc>
                <a:spcPct val="130000"/>
              </a:lnSpc>
            </a:pPr>
            <a:r>
              <a:rPr lang="en-US" sz="1000" dirty="0">
                <a:solidFill>
                  <a:srgbClr val="4A7C59"/>
                </a:solidFill>
                <a:latin typeface="Quattrocento Sans" pitchFamily="34" charset="0"/>
                <a:ea typeface="Quattrocento Sans" pitchFamily="34" charset="-122"/>
                <a:cs typeface="Quattrocento Sans" pitchFamily="34" charset="-120"/>
              </a:rPr>
              <a:t>Free Sessions</a:t>
            </a:r>
            <a:endParaRPr lang="en-US" sz="1600" dirty="0"/>
          </a:p>
        </p:txBody>
      </p:sp>
      <p:sp>
        <p:nvSpPr>
          <p:cNvPr id="26" name="Shape 24"/>
          <p:cNvSpPr/>
          <p:nvPr/>
        </p:nvSpPr>
        <p:spPr>
          <a:xfrm>
            <a:off x="7170936" y="2127250"/>
            <a:ext cx="627063" cy="222250"/>
          </a:xfrm>
          <a:custGeom>
            <a:avLst/>
            <a:gdLst/>
            <a:ahLst/>
            <a:cxnLst/>
            <a:rect l="l" t="t" r="r" b="b"/>
            <a:pathLst>
              <a:path w="627063" h="222250">
                <a:moveTo>
                  <a:pt x="31751" y="0"/>
                </a:moveTo>
                <a:lnTo>
                  <a:pt x="595312" y="0"/>
                </a:lnTo>
                <a:cubicBezTo>
                  <a:pt x="612847" y="0"/>
                  <a:pt x="627063" y="14215"/>
                  <a:pt x="627063" y="31751"/>
                </a:cubicBezTo>
                <a:lnTo>
                  <a:pt x="627063" y="190499"/>
                </a:lnTo>
                <a:cubicBezTo>
                  <a:pt x="627063" y="208035"/>
                  <a:pt x="612847" y="222250"/>
                  <a:pt x="595312" y="222250"/>
                </a:cubicBezTo>
                <a:lnTo>
                  <a:pt x="31751" y="222250"/>
                </a:lnTo>
                <a:cubicBezTo>
                  <a:pt x="14227" y="222250"/>
                  <a:pt x="0" y="208023"/>
                  <a:pt x="0" y="190499"/>
                </a:cubicBezTo>
                <a:lnTo>
                  <a:pt x="0" y="31751"/>
                </a:lnTo>
                <a:cubicBezTo>
                  <a:pt x="0" y="14227"/>
                  <a:pt x="14227" y="0"/>
                  <a:pt x="31751" y="0"/>
                </a:cubicBezTo>
                <a:close/>
              </a:path>
            </a:pathLst>
          </a:custGeom>
          <a:solidFill>
            <a:srgbClr val="4A7C59">
              <a:alpha val="10196"/>
            </a:srgbClr>
          </a:solidFill>
          <a:ln/>
        </p:spPr>
      </p:sp>
      <p:sp>
        <p:nvSpPr>
          <p:cNvPr id="27" name="Text 25"/>
          <p:cNvSpPr/>
          <p:nvPr/>
        </p:nvSpPr>
        <p:spPr>
          <a:xfrm>
            <a:off x="7170936" y="2127250"/>
            <a:ext cx="690563" cy="222250"/>
          </a:xfrm>
          <a:prstGeom prst="rect">
            <a:avLst/>
          </a:prstGeom>
          <a:noFill/>
          <a:ln/>
        </p:spPr>
        <p:txBody>
          <a:bodyPr wrap="square" lIns="63500" tIns="15875" rIns="63500" bIns="15875" rtlCol="0" anchor="ctr"/>
          <a:lstStyle/>
          <a:p>
            <a:pPr>
              <a:lnSpc>
                <a:spcPct val="130000"/>
              </a:lnSpc>
            </a:pPr>
            <a:r>
              <a:rPr lang="en-US" sz="1000" dirty="0">
                <a:solidFill>
                  <a:srgbClr val="4A7C59"/>
                </a:solidFill>
                <a:latin typeface="Quattrocento Sans" pitchFamily="34" charset="0"/>
                <a:ea typeface="Quattrocento Sans" pitchFamily="34" charset="-122"/>
                <a:cs typeface="Quattrocento Sans" pitchFamily="34" charset="-120"/>
              </a:rPr>
              <a:t>Life Skills</a:t>
            </a:r>
            <a:endParaRPr lang="en-US" sz="1600" dirty="0"/>
          </a:p>
        </p:txBody>
      </p:sp>
      <p:sp>
        <p:nvSpPr>
          <p:cNvPr id="28" name="Shape 26"/>
          <p:cNvSpPr/>
          <p:nvPr/>
        </p:nvSpPr>
        <p:spPr>
          <a:xfrm>
            <a:off x="333375" y="2540000"/>
            <a:ext cx="5715000" cy="1412875"/>
          </a:xfrm>
          <a:custGeom>
            <a:avLst/>
            <a:gdLst/>
            <a:ahLst/>
            <a:cxnLst/>
            <a:rect l="l" t="t" r="r" b="b"/>
            <a:pathLst>
              <a:path w="5715000" h="1412875">
                <a:moveTo>
                  <a:pt x="31750" y="0"/>
                </a:moveTo>
                <a:lnTo>
                  <a:pt x="5651505" y="0"/>
                </a:lnTo>
                <a:cubicBezTo>
                  <a:pt x="5686572" y="0"/>
                  <a:pt x="5715000" y="28428"/>
                  <a:pt x="5715000" y="63495"/>
                </a:cubicBezTo>
                <a:lnTo>
                  <a:pt x="5715000" y="1349380"/>
                </a:lnTo>
                <a:cubicBezTo>
                  <a:pt x="5715000" y="1384447"/>
                  <a:pt x="5686572" y="1412875"/>
                  <a:pt x="5651505" y="1412875"/>
                </a:cubicBezTo>
                <a:lnTo>
                  <a:pt x="31750" y="1412875"/>
                </a:lnTo>
                <a:cubicBezTo>
                  <a:pt x="14227" y="1412875"/>
                  <a:pt x="0" y="1398648"/>
                  <a:pt x="0" y="1381125"/>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29" name="Shape 27"/>
          <p:cNvSpPr/>
          <p:nvPr/>
        </p:nvSpPr>
        <p:spPr>
          <a:xfrm>
            <a:off x="333375" y="2540000"/>
            <a:ext cx="31750" cy="1412875"/>
          </a:xfrm>
          <a:custGeom>
            <a:avLst/>
            <a:gdLst/>
            <a:ahLst/>
            <a:cxnLst/>
            <a:rect l="l" t="t" r="r" b="b"/>
            <a:pathLst>
              <a:path w="31750" h="1412875">
                <a:moveTo>
                  <a:pt x="31750" y="0"/>
                </a:moveTo>
                <a:lnTo>
                  <a:pt x="31750" y="0"/>
                </a:lnTo>
                <a:lnTo>
                  <a:pt x="31750" y="1412875"/>
                </a:lnTo>
                <a:lnTo>
                  <a:pt x="31750" y="1412875"/>
                </a:lnTo>
                <a:cubicBezTo>
                  <a:pt x="14227" y="1412875"/>
                  <a:pt x="0" y="1398648"/>
                  <a:pt x="0" y="1381125"/>
                </a:cubicBezTo>
                <a:lnTo>
                  <a:pt x="0" y="31750"/>
                </a:lnTo>
                <a:cubicBezTo>
                  <a:pt x="0" y="14227"/>
                  <a:pt x="14227" y="0"/>
                  <a:pt x="31750" y="0"/>
                </a:cubicBezTo>
                <a:close/>
              </a:path>
            </a:pathLst>
          </a:custGeom>
          <a:solidFill>
            <a:srgbClr val="F7B538"/>
          </a:solidFill>
          <a:ln/>
        </p:spPr>
      </p:sp>
      <p:sp>
        <p:nvSpPr>
          <p:cNvPr id="30" name="Shape 28"/>
          <p:cNvSpPr/>
          <p:nvPr/>
        </p:nvSpPr>
        <p:spPr>
          <a:xfrm>
            <a:off x="444500" y="2698750"/>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F7B538"/>
          </a:solidFill>
          <a:ln/>
        </p:spPr>
      </p:sp>
      <p:sp>
        <p:nvSpPr>
          <p:cNvPr id="31" name="Text 29"/>
          <p:cNvSpPr/>
          <p:nvPr/>
        </p:nvSpPr>
        <p:spPr>
          <a:xfrm>
            <a:off x="412750" y="2698750"/>
            <a:ext cx="317500" cy="254000"/>
          </a:xfrm>
          <a:prstGeom prst="rect">
            <a:avLst/>
          </a:prstGeom>
          <a:noFill/>
          <a:ln/>
        </p:spPr>
        <p:txBody>
          <a:bodyPr wrap="square" lIns="0" tIns="0" rIns="0" bIns="0" rtlCol="0" anchor="ctr"/>
          <a:lstStyle/>
          <a:p>
            <a:pPr algn="ctr">
              <a:lnSpc>
                <a:spcPct val="130000"/>
              </a:lnSpc>
            </a:pPr>
            <a:r>
              <a:rPr lang="en-US" sz="1000" b="1" dirty="0">
                <a:solidFill>
                  <a:srgbClr val="1A535C"/>
                </a:solidFill>
                <a:latin typeface="Quattrocento Sans" pitchFamily="34" charset="0"/>
                <a:ea typeface="Quattrocento Sans" pitchFamily="34" charset="-122"/>
                <a:cs typeface="Quattrocento Sans" pitchFamily="34" charset="-120"/>
              </a:rPr>
              <a:t>11</a:t>
            </a:r>
            <a:endParaRPr lang="en-US" sz="1600" dirty="0"/>
          </a:p>
        </p:txBody>
      </p:sp>
      <p:sp>
        <p:nvSpPr>
          <p:cNvPr id="32" name="Text 30"/>
          <p:cNvSpPr/>
          <p:nvPr/>
        </p:nvSpPr>
        <p:spPr>
          <a:xfrm>
            <a:off x="762000" y="2635250"/>
            <a:ext cx="1516063"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Micro-Learning Pods</a:t>
            </a:r>
            <a:endParaRPr lang="en-US" sz="1600" dirty="0"/>
          </a:p>
        </p:txBody>
      </p:sp>
      <p:sp>
        <p:nvSpPr>
          <p:cNvPr id="33" name="Text 31"/>
          <p:cNvSpPr/>
          <p:nvPr/>
        </p:nvSpPr>
        <p:spPr>
          <a:xfrm>
            <a:off x="762000" y="2825750"/>
            <a:ext cx="1516063" cy="190500"/>
          </a:xfrm>
          <a:prstGeom prst="rect">
            <a:avLst/>
          </a:prstGeom>
          <a:noFill/>
          <a:ln/>
        </p:spPr>
        <p:txBody>
          <a:bodyPr wrap="square" lIns="0" tIns="0" rIns="0" bIns="0" rtlCol="0" anchor="ctr"/>
          <a:lstStyle/>
          <a:p>
            <a:pPr>
              <a:lnSpc>
                <a:spcPct val="130000"/>
              </a:lnSpc>
            </a:pPr>
            <a:r>
              <a:rPr lang="en-US" sz="1000" b="1" dirty="0">
                <a:solidFill>
                  <a:srgbClr val="4A7C59"/>
                </a:solidFill>
                <a:latin typeface="Quattrocento Sans" pitchFamily="34" charset="0"/>
                <a:ea typeface="Quattrocento Sans" pitchFamily="34" charset="-122"/>
                <a:cs typeface="Quattrocento Sans" pitchFamily="34" charset="-120"/>
              </a:rPr>
              <a:t>Affordable Group Learning</a:t>
            </a:r>
            <a:endParaRPr lang="en-US" sz="1600" dirty="0"/>
          </a:p>
        </p:txBody>
      </p:sp>
      <p:sp>
        <p:nvSpPr>
          <p:cNvPr id="34" name="Text 32"/>
          <p:cNvSpPr/>
          <p:nvPr/>
        </p:nvSpPr>
        <p:spPr>
          <a:xfrm>
            <a:off x="444500" y="3048000"/>
            <a:ext cx="5572125" cy="52387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Small groups of 3-5 students studying same topic split the cost. Teachers earn more per hour while students pay less per head. Mirrors traditional Indian "tuition group" culture.</a:t>
            </a:r>
            <a:endParaRPr lang="en-US" sz="1600" dirty="0"/>
          </a:p>
        </p:txBody>
      </p:sp>
      <p:sp>
        <p:nvSpPr>
          <p:cNvPr id="35" name="Shape 33"/>
          <p:cNvSpPr/>
          <p:nvPr/>
        </p:nvSpPr>
        <p:spPr>
          <a:xfrm>
            <a:off x="444500" y="3635375"/>
            <a:ext cx="849313" cy="222250"/>
          </a:xfrm>
          <a:custGeom>
            <a:avLst/>
            <a:gdLst/>
            <a:ahLst/>
            <a:cxnLst/>
            <a:rect l="l" t="t" r="r" b="b"/>
            <a:pathLst>
              <a:path w="849313" h="222250">
                <a:moveTo>
                  <a:pt x="31751" y="0"/>
                </a:moveTo>
                <a:lnTo>
                  <a:pt x="817562" y="0"/>
                </a:lnTo>
                <a:cubicBezTo>
                  <a:pt x="835097" y="0"/>
                  <a:pt x="849313" y="14215"/>
                  <a:pt x="849313" y="31751"/>
                </a:cubicBezTo>
                <a:lnTo>
                  <a:pt x="849313" y="190499"/>
                </a:lnTo>
                <a:cubicBezTo>
                  <a:pt x="849313" y="208035"/>
                  <a:pt x="835097" y="222250"/>
                  <a:pt x="817562" y="222250"/>
                </a:cubicBezTo>
                <a:lnTo>
                  <a:pt x="31751" y="222250"/>
                </a:lnTo>
                <a:cubicBezTo>
                  <a:pt x="14227" y="222250"/>
                  <a:pt x="0" y="208023"/>
                  <a:pt x="0" y="190499"/>
                </a:cubicBezTo>
                <a:lnTo>
                  <a:pt x="0" y="31751"/>
                </a:lnTo>
                <a:cubicBezTo>
                  <a:pt x="0" y="14227"/>
                  <a:pt x="14227" y="0"/>
                  <a:pt x="31751" y="0"/>
                </a:cubicBezTo>
                <a:close/>
              </a:path>
            </a:pathLst>
          </a:custGeom>
          <a:solidFill>
            <a:srgbClr val="F7B538">
              <a:alpha val="20000"/>
            </a:srgbClr>
          </a:solidFill>
          <a:ln/>
        </p:spPr>
      </p:sp>
      <p:sp>
        <p:nvSpPr>
          <p:cNvPr id="36" name="Text 34"/>
          <p:cNvSpPr/>
          <p:nvPr/>
        </p:nvSpPr>
        <p:spPr>
          <a:xfrm>
            <a:off x="444500" y="3635375"/>
            <a:ext cx="912813" cy="222250"/>
          </a:xfrm>
          <a:prstGeom prst="rect">
            <a:avLst/>
          </a:prstGeom>
          <a:noFill/>
          <a:ln/>
        </p:spPr>
        <p:txBody>
          <a:bodyPr wrap="square" lIns="63500" tIns="15875" rIns="63500" bIns="15875" rtlCol="0" anchor="ctr"/>
          <a:lstStyle/>
          <a:p>
            <a:pPr>
              <a:lnSpc>
                <a:spcPct val="130000"/>
              </a:lnSpc>
            </a:pPr>
            <a:r>
              <a:rPr lang="en-US" sz="1000" dirty="0">
                <a:solidFill>
                  <a:srgbClr val="F7B538"/>
                </a:solidFill>
                <a:latin typeface="Quattrocento Sans" pitchFamily="34" charset="0"/>
                <a:ea typeface="Quattrocento Sans" pitchFamily="34" charset="-122"/>
                <a:cs typeface="Quattrocento Sans" pitchFamily="34" charset="-120"/>
              </a:rPr>
              <a:t>Cost Splitting</a:t>
            </a:r>
            <a:endParaRPr lang="en-US" sz="1600" dirty="0"/>
          </a:p>
        </p:txBody>
      </p:sp>
      <p:sp>
        <p:nvSpPr>
          <p:cNvPr id="37" name="Shape 35"/>
          <p:cNvSpPr/>
          <p:nvPr/>
        </p:nvSpPr>
        <p:spPr>
          <a:xfrm>
            <a:off x="1326852" y="3635375"/>
            <a:ext cx="825500" cy="222250"/>
          </a:xfrm>
          <a:custGeom>
            <a:avLst/>
            <a:gdLst/>
            <a:ahLst/>
            <a:cxnLst/>
            <a:rect l="l" t="t" r="r" b="b"/>
            <a:pathLst>
              <a:path w="825500" h="222250">
                <a:moveTo>
                  <a:pt x="31751" y="0"/>
                </a:moveTo>
                <a:lnTo>
                  <a:pt x="793749" y="0"/>
                </a:lnTo>
                <a:cubicBezTo>
                  <a:pt x="811285" y="0"/>
                  <a:pt x="825500" y="14215"/>
                  <a:pt x="825500" y="31751"/>
                </a:cubicBezTo>
                <a:lnTo>
                  <a:pt x="825500" y="190499"/>
                </a:lnTo>
                <a:cubicBezTo>
                  <a:pt x="825500" y="208035"/>
                  <a:pt x="811285" y="222250"/>
                  <a:pt x="793749" y="222250"/>
                </a:cubicBezTo>
                <a:lnTo>
                  <a:pt x="31751" y="222250"/>
                </a:lnTo>
                <a:cubicBezTo>
                  <a:pt x="14227" y="222250"/>
                  <a:pt x="0" y="208023"/>
                  <a:pt x="0" y="190499"/>
                </a:cubicBezTo>
                <a:lnTo>
                  <a:pt x="0" y="31751"/>
                </a:lnTo>
                <a:cubicBezTo>
                  <a:pt x="0" y="14227"/>
                  <a:pt x="14227" y="0"/>
                  <a:pt x="31751" y="0"/>
                </a:cubicBezTo>
                <a:close/>
              </a:path>
            </a:pathLst>
          </a:custGeom>
          <a:solidFill>
            <a:srgbClr val="F7B538">
              <a:alpha val="20000"/>
            </a:srgbClr>
          </a:solidFill>
          <a:ln/>
        </p:spPr>
      </p:sp>
      <p:sp>
        <p:nvSpPr>
          <p:cNvPr id="38" name="Text 36"/>
          <p:cNvSpPr/>
          <p:nvPr/>
        </p:nvSpPr>
        <p:spPr>
          <a:xfrm>
            <a:off x="1326852" y="3635375"/>
            <a:ext cx="889000" cy="222250"/>
          </a:xfrm>
          <a:prstGeom prst="rect">
            <a:avLst/>
          </a:prstGeom>
          <a:noFill/>
          <a:ln/>
        </p:spPr>
        <p:txBody>
          <a:bodyPr wrap="square" lIns="63500" tIns="15875" rIns="63500" bIns="15875" rtlCol="0" anchor="ctr"/>
          <a:lstStyle/>
          <a:p>
            <a:pPr>
              <a:lnSpc>
                <a:spcPct val="130000"/>
              </a:lnSpc>
            </a:pPr>
            <a:r>
              <a:rPr lang="en-US" sz="1000" dirty="0">
                <a:solidFill>
                  <a:srgbClr val="F7B538"/>
                </a:solidFill>
                <a:latin typeface="Quattrocento Sans" pitchFamily="34" charset="0"/>
                <a:ea typeface="Quattrocento Sans" pitchFamily="34" charset="-122"/>
                <a:cs typeface="Quattrocento Sans" pitchFamily="34" charset="-120"/>
              </a:rPr>
              <a:t>Group Video</a:t>
            </a:r>
            <a:endParaRPr lang="en-US" sz="1600" dirty="0"/>
          </a:p>
        </p:txBody>
      </p:sp>
      <p:sp>
        <p:nvSpPr>
          <p:cNvPr id="39" name="Shape 37"/>
          <p:cNvSpPr/>
          <p:nvPr/>
        </p:nvSpPr>
        <p:spPr>
          <a:xfrm>
            <a:off x="6159500" y="2540000"/>
            <a:ext cx="5715000" cy="1412875"/>
          </a:xfrm>
          <a:custGeom>
            <a:avLst/>
            <a:gdLst/>
            <a:ahLst/>
            <a:cxnLst/>
            <a:rect l="l" t="t" r="r" b="b"/>
            <a:pathLst>
              <a:path w="5715000" h="1412875">
                <a:moveTo>
                  <a:pt x="31750" y="0"/>
                </a:moveTo>
                <a:lnTo>
                  <a:pt x="5651505" y="0"/>
                </a:lnTo>
                <a:cubicBezTo>
                  <a:pt x="5686572" y="0"/>
                  <a:pt x="5715000" y="28428"/>
                  <a:pt x="5715000" y="63495"/>
                </a:cubicBezTo>
                <a:lnTo>
                  <a:pt x="5715000" y="1349380"/>
                </a:lnTo>
                <a:cubicBezTo>
                  <a:pt x="5715000" y="1384447"/>
                  <a:pt x="5686572" y="1412875"/>
                  <a:pt x="5651505" y="1412875"/>
                </a:cubicBezTo>
                <a:lnTo>
                  <a:pt x="31750" y="1412875"/>
                </a:lnTo>
                <a:cubicBezTo>
                  <a:pt x="14227" y="1412875"/>
                  <a:pt x="0" y="1398648"/>
                  <a:pt x="0" y="1381125"/>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40" name="Shape 38"/>
          <p:cNvSpPr/>
          <p:nvPr/>
        </p:nvSpPr>
        <p:spPr>
          <a:xfrm>
            <a:off x="6159500" y="2540000"/>
            <a:ext cx="31750" cy="1412875"/>
          </a:xfrm>
          <a:custGeom>
            <a:avLst/>
            <a:gdLst/>
            <a:ahLst/>
            <a:cxnLst/>
            <a:rect l="l" t="t" r="r" b="b"/>
            <a:pathLst>
              <a:path w="31750" h="1412875">
                <a:moveTo>
                  <a:pt x="31750" y="0"/>
                </a:moveTo>
                <a:lnTo>
                  <a:pt x="31750" y="0"/>
                </a:lnTo>
                <a:lnTo>
                  <a:pt x="31750" y="1412875"/>
                </a:lnTo>
                <a:lnTo>
                  <a:pt x="31750" y="1412875"/>
                </a:lnTo>
                <a:cubicBezTo>
                  <a:pt x="14227" y="1412875"/>
                  <a:pt x="0" y="1398648"/>
                  <a:pt x="0" y="1381125"/>
                </a:cubicBezTo>
                <a:lnTo>
                  <a:pt x="0" y="31750"/>
                </a:lnTo>
                <a:cubicBezTo>
                  <a:pt x="0" y="14227"/>
                  <a:pt x="14227" y="0"/>
                  <a:pt x="31750" y="0"/>
                </a:cubicBezTo>
                <a:close/>
              </a:path>
            </a:pathLst>
          </a:custGeom>
          <a:solidFill>
            <a:srgbClr val="1A535C"/>
          </a:solidFill>
          <a:ln/>
        </p:spPr>
      </p:sp>
      <p:sp>
        <p:nvSpPr>
          <p:cNvPr id="41" name="Shape 39"/>
          <p:cNvSpPr/>
          <p:nvPr/>
        </p:nvSpPr>
        <p:spPr>
          <a:xfrm>
            <a:off x="6270625" y="2698750"/>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1A535C"/>
          </a:solidFill>
          <a:ln/>
        </p:spPr>
      </p:sp>
      <p:sp>
        <p:nvSpPr>
          <p:cNvPr id="42" name="Text 40"/>
          <p:cNvSpPr/>
          <p:nvPr/>
        </p:nvSpPr>
        <p:spPr>
          <a:xfrm>
            <a:off x="6238875" y="2698750"/>
            <a:ext cx="317500" cy="2540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12</a:t>
            </a:r>
            <a:endParaRPr lang="en-US" sz="1600" dirty="0"/>
          </a:p>
        </p:txBody>
      </p:sp>
      <p:sp>
        <p:nvSpPr>
          <p:cNvPr id="43" name="Text 41"/>
          <p:cNvSpPr/>
          <p:nvPr/>
        </p:nvSpPr>
        <p:spPr>
          <a:xfrm>
            <a:off x="6588125" y="2635250"/>
            <a:ext cx="1214438"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Voice-First Interface</a:t>
            </a:r>
            <a:endParaRPr lang="en-US" sz="1600" dirty="0"/>
          </a:p>
        </p:txBody>
      </p:sp>
      <p:sp>
        <p:nvSpPr>
          <p:cNvPr id="44" name="Text 42"/>
          <p:cNvSpPr/>
          <p:nvPr/>
        </p:nvSpPr>
        <p:spPr>
          <a:xfrm>
            <a:off x="6588125" y="2825750"/>
            <a:ext cx="1214438" cy="190500"/>
          </a:xfrm>
          <a:prstGeom prst="rect">
            <a:avLst/>
          </a:prstGeom>
          <a:noFill/>
          <a:ln/>
        </p:spPr>
        <p:txBody>
          <a:bodyPr wrap="square" lIns="0" tIns="0" rIns="0" bIns="0" rtlCol="0" anchor="ctr"/>
          <a:lstStyle/>
          <a:p>
            <a:pPr>
              <a:lnSpc>
                <a:spcPct val="130000"/>
              </a:lnSpc>
            </a:pPr>
            <a:r>
              <a:rPr lang="en-US" sz="1000" b="1" dirty="0">
                <a:solidFill>
                  <a:srgbClr val="4A7C59"/>
                </a:solidFill>
                <a:latin typeface="Quattrocento Sans" pitchFamily="34" charset="0"/>
                <a:ea typeface="Quattrocento Sans" pitchFamily="34" charset="-122"/>
                <a:cs typeface="Quattrocento Sans" pitchFamily="34" charset="-120"/>
              </a:rPr>
              <a:t>Elderly Accessibility</a:t>
            </a:r>
            <a:endParaRPr lang="en-US" sz="1600" dirty="0"/>
          </a:p>
        </p:txBody>
      </p:sp>
      <p:sp>
        <p:nvSpPr>
          <p:cNvPr id="45" name="Text 43"/>
          <p:cNvSpPr/>
          <p:nvPr/>
        </p:nvSpPr>
        <p:spPr>
          <a:xfrm>
            <a:off x="6270625" y="3048000"/>
            <a:ext cx="5572125" cy="52387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Voice commands on website: "Show my schedule", "Accept this booking", "Send message to Rahul". Combined with large fonts, high-contrast mode, simplified navigation. Most accessible platform for seniors.</a:t>
            </a:r>
            <a:endParaRPr lang="en-US" sz="1600" dirty="0"/>
          </a:p>
        </p:txBody>
      </p:sp>
      <p:sp>
        <p:nvSpPr>
          <p:cNvPr id="46" name="Shape 44"/>
          <p:cNvSpPr/>
          <p:nvPr/>
        </p:nvSpPr>
        <p:spPr>
          <a:xfrm>
            <a:off x="6270625" y="3635375"/>
            <a:ext cx="1055688" cy="222250"/>
          </a:xfrm>
          <a:custGeom>
            <a:avLst/>
            <a:gdLst/>
            <a:ahLst/>
            <a:cxnLst/>
            <a:rect l="l" t="t" r="r" b="b"/>
            <a:pathLst>
              <a:path w="1055688" h="222250">
                <a:moveTo>
                  <a:pt x="31751" y="0"/>
                </a:moveTo>
                <a:lnTo>
                  <a:pt x="1023937" y="0"/>
                </a:lnTo>
                <a:cubicBezTo>
                  <a:pt x="1041472" y="0"/>
                  <a:pt x="1055688" y="14215"/>
                  <a:pt x="1055688" y="31751"/>
                </a:cubicBezTo>
                <a:lnTo>
                  <a:pt x="1055688" y="190499"/>
                </a:lnTo>
                <a:cubicBezTo>
                  <a:pt x="1055688" y="208035"/>
                  <a:pt x="1041472" y="222250"/>
                  <a:pt x="1023937" y="222250"/>
                </a:cubicBezTo>
                <a:lnTo>
                  <a:pt x="31751" y="222250"/>
                </a:lnTo>
                <a:cubicBezTo>
                  <a:pt x="14227" y="222250"/>
                  <a:pt x="0" y="208023"/>
                  <a:pt x="0" y="190499"/>
                </a:cubicBezTo>
                <a:lnTo>
                  <a:pt x="0" y="31751"/>
                </a:lnTo>
                <a:cubicBezTo>
                  <a:pt x="0" y="14227"/>
                  <a:pt x="14227" y="0"/>
                  <a:pt x="31751" y="0"/>
                </a:cubicBezTo>
                <a:close/>
              </a:path>
            </a:pathLst>
          </a:custGeom>
          <a:solidFill>
            <a:srgbClr val="1A535C">
              <a:alpha val="10196"/>
            </a:srgbClr>
          </a:solidFill>
          <a:ln/>
        </p:spPr>
      </p:sp>
      <p:sp>
        <p:nvSpPr>
          <p:cNvPr id="47" name="Text 45"/>
          <p:cNvSpPr/>
          <p:nvPr/>
        </p:nvSpPr>
        <p:spPr>
          <a:xfrm>
            <a:off x="6270625" y="3635375"/>
            <a:ext cx="1119188" cy="222250"/>
          </a:xfrm>
          <a:prstGeom prst="rect">
            <a:avLst/>
          </a:prstGeom>
          <a:noFill/>
          <a:ln/>
        </p:spPr>
        <p:txBody>
          <a:bodyPr wrap="square" lIns="63500" tIns="15875" rIns="63500" bIns="15875" rtlCol="0" anchor="ctr"/>
          <a:lstStyle/>
          <a:p>
            <a:pPr>
              <a:lnSpc>
                <a:spcPct val="130000"/>
              </a:lnSpc>
            </a:pPr>
            <a:r>
              <a:rPr lang="en-US" sz="1000" dirty="0">
                <a:solidFill>
                  <a:srgbClr val="1A535C"/>
                </a:solidFill>
                <a:latin typeface="Quattrocento Sans" pitchFamily="34" charset="0"/>
                <a:ea typeface="Quattrocento Sans" pitchFamily="34" charset="-122"/>
                <a:cs typeface="Quattrocento Sans" pitchFamily="34" charset="-120"/>
              </a:rPr>
              <a:t>Web Speech API</a:t>
            </a:r>
            <a:endParaRPr lang="en-US" sz="1600" dirty="0"/>
          </a:p>
        </p:txBody>
      </p:sp>
      <p:sp>
        <p:nvSpPr>
          <p:cNvPr id="48" name="Shape 46"/>
          <p:cNvSpPr/>
          <p:nvPr/>
        </p:nvSpPr>
        <p:spPr>
          <a:xfrm>
            <a:off x="7358063" y="3635375"/>
            <a:ext cx="333375" cy="222250"/>
          </a:xfrm>
          <a:custGeom>
            <a:avLst/>
            <a:gdLst/>
            <a:ahLst/>
            <a:cxnLst/>
            <a:rect l="l" t="t" r="r" b="b"/>
            <a:pathLst>
              <a:path w="333375" h="222250">
                <a:moveTo>
                  <a:pt x="31751" y="0"/>
                </a:moveTo>
                <a:lnTo>
                  <a:pt x="301624" y="0"/>
                </a:lnTo>
                <a:cubicBezTo>
                  <a:pt x="319160" y="0"/>
                  <a:pt x="333375" y="14215"/>
                  <a:pt x="333375" y="31751"/>
                </a:cubicBezTo>
                <a:lnTo>
                  <a:pt x="333375" y="190499"/>
                </a:lnTo>
                <a:cubicBezTo>
                  <a:pt x="333375" y="208035"/>
                  <a:pt x="319160" y="222250"/>
                  <a:pt x="301624" y="222250"/>
                </a:cubicBezTo>
                <a:lnTo>
                  <a:pt x="31751" y="222250"/>
                </a:lnTo>
                <a:cubicBezTo>
                  <a:pt x="14227" y="222250"/>
                  <a:pt x="0" y="208023"/>
                  <a:pt x="0" y="190499"/>
                </a:cubicBezTo>
                <a:lnTo>
                  <a:pt x="0" y="31751"/>
                </a:lnTo>
                <a:cubicBezTo>
                  <a:pt x="0" y="14227"/>
                  <a:pt x="14227" y="0"/>
                  <a:pt x="31751" y="0"/>
                </a:cubicBezTo>
                <a:close/>
              </a:path>
            </a:pathLst>
          </a:custGeom>
          <a:solidFill>
            <a:srgbClr val="1A535C">
              <a:alpha val="10196"/>
            </a:srgbClr>
          </a:solidFill>
          <a:ln/>
        </p:spPr>
      </p:sp>
      <p:sp>
        <p:nvSpPr>
          <p:cNvPr id="49" name="Text 47"/>
          <p:cNvSpPr/>
          <p:nvPr/>
        </p:nvSpPr>
        <p:spPr>
          <a:xfrm>
            <a:off x="7358063" y="3635375"/>
            <a:ext cx="396875" cy="222250"/>
          </a:xfrm>
          <a:prstGeom prst="rect">
            <a:avLst/>
          </a:prstGeom>
          <a:noFill/>
          <a:ln/>
        </p:spPr>
        <p:txBody>
          <a:bodyPr wrap="square" lIns="63500" tIns="15875" rIns="63500" bIns="15875" rtlCol="0" anchor="ctr"/>
          <a:lstStyle/>
          <a:p>
            <a:pPr>
              <a:lnSpc>
                <a:spcPct val="130000"/>
              </a:lnSpc>
            </a:pPr>
            <a:r>
              <a:rPr lang="en-US" sz="1000" dirty="0">
                <a:solidFill>
                  <a:srgbClr val="1A535C"/>
                </a:solidFill>
                <a:latin typeface="Quattrocento Sans" pitchFamily="34" charset="0"/>
                <a:ea typeface="Quattrocento Sans" pitchFamily="34" charset="-122"/>
                <a:cs typeface="Quattrocento Sans" pitchFamily="34" charset="-120"/>
              </a:rPr>
              <a:t>TTS</a:t>
            </a:r>
            <a:endParaRPr lang="en-US" sz="1600" dirty="0"/>
          </a:p>
        </p:txBody>
      </p:sp>
      <p:sp>
        <p:nvSpPr>
          <p:cNvPr id="50" name="Shape 48"/>
          <p:cNvSpPr/>
          <p:nvPr/>
        </p:nvSpPr>
        <p:spPr>
          <a:xfrm>
            <a:off x="333375" y="4048125"/>
            <a:ext cx="5715000" cy="1412875"/>
          </a:xfrm>
          <a:custGeom>
            <a:avLst/>
            <a:gdLst/>
            <a:ahLst/>
            <a:cxnLst/>
            <a:rect l="l" t="t" r="r" b="b"/>
            <a:pathLst>
              <a:path w="5715000" h="1412875">
                <a:moveTo>
                  <a:pt x="31750" y="0"/>
                </a:moveTo>
                <a:lnTo>
                  <a:pt x="5651505" y="0"/>
                </a:lnTo>
                <a:cubicBezTo>
                  <a:pt x="5686572" y="0"/>
                  <a:pt x="5715000" y="28428"/>
                  <a:pt x="5715000" y="63495"/>
                </a:cubicBezTo>
                <a:lnTo>
                  <a:pt x="5715000" y="1349380"/>
                </a:lnTo>
                <a:cubicBezTo>
                  <a:pt x="5715000" y="1384447"/>
                  <a:pt x="5686572" y="1412875"/>
                  <a:pt x="5651505" y="1412875"/>
                </a:cubicBezTo>
                <a:lnTo>
                  <a:pt x="31750" y="1412875"/>
                </a:lnTo>
                <a:cubicBezTo>
                  <a:pt x="14227" y="1412875"/>
                  <a:pt x="0" y="1398648"/>
                  <a:pt x="0" y="1381125"/>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51" name="Shape 49"/>
          <p:cNvSpPr/>
          <p:nvPr/>
        </p:nvSpPr>
        <p:spPr>
          <a:xfrm>
            <a:off x="333375" y="4048125"/>
            <a:ext cx="31750" cy="1412875"/>
          </a:xfrm>
          <a:custGeom>
            <a:avLst/>
            <a:gdLst/>
            <a:ahLst/>
            <a:cxnLst/>
            <a:rect l="l" t="t" r="r" b="b"/>
            <a:pathLst>
              <a:path w="31750" h="1412875">
                <a:moveTo>
                  <a:pt x="31750" y="0"/>
                </a:moveTo>
                <a:lnTo>
                  <a:pt x="31750" y="0"/>
                </a:lnTo>
                <a:lnTo>
                  <a:pt x="31750" y="1412875"/>
                </a:lnTo>
                <a:lnTo>
                  <a:pt x="31750" y="1412875"/>
                </a:lnTo>
                <a:cubicBezTo>
                  <a:pt x="14227" y="1412875"/>
                  <a:pt x="0" y="1398648"/>
                  <a:pt x="0" y="1381125"/>
                </a:cubicBezTo>
                <a:lnTo>
                  <a:pt x="0" y="31750"/>
                </a:lnTo>
                <a:cubicBezTo>
                  <a:pt x="0" y="14227"/>
                  <a:pt x="14227" y="0"/>
                  <a:pt x="31750" y="0"/>
                </a:cubicBezTo>
                <a:close/>
              </a:path>
            </a:pathLst>
          </a:custGeom>
          <a:solidFill>
            <a:srgbClr val="4A7C59"/>
          </a:solidFill>
          <a:ln/>
        </p:spPr>
      </p:sp>
      <p:sp>
        <p:nvSpPr>
          <p:cNvPr id="52" name="Shape 50"/>
          <p:cNvSpPr/>
          <p:nvPr/>
        </p:nvSpPr>
        <p:spPr>
          <a:xfrm>
            <a:off x="444500" y="4206875"/>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4A7C59"/>
          </a:solidFill>
          <a:ln/>
        </p:spPr>
      </p:sp>
      <p:sp>
        <p:nvSpPr>
          <p:cNvPr id="53" name="Text 51"/>
          <p:cNvSpPr/>
          <p:nvPr/>
        </p:nvSpPr>
        <p:spPr>
          <a:xfrm>
            <a:off x="412750" y="4206875"/>
            <a:ext cx="317500" cy="2540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13</a:t>
            </a:r>
            <a:endParaRPr lang="en-US" sz="1600" dirty="0"/>
          </a:p>
        </p:txBody>
      </p:sp>
      <p:sp>
        <p:nvSpPr>
          <p:cNvPr id="54" name="Text 52"/>
          <p:cNvSpPr/>
          <p:nvPr/>
        </p:nvSpPr>
        <p:spPr>
          <a:xfrm>
            <a:off x="762000" y="4143375"/>
            <a:ext cx="1754188"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Knowledge Legacy Repository</a:t>
            </a:r>
            <a:endParaRPr lang="en-US" sz="1600" dirty="0"/>
          </a:p>
        </p:txBody>
      </p:sp>
      <p:sp>
        <p:nvSpPr>
          <p:cNvPr id="55" name="Text 53"/>
          <p:cNvSpPr/>
          <p:nvPr/>
        </p:nvSpPr>
        <p:spPr>
          <a:xfrm>
            <a:off x="762000" y="4333875"/>
            <a:ext cx="1754188" cy="190500"/>
          </a:xfrm>
          <a:prstGeom prst="rect">
            <a:avLst/>
          </a:prstGeom>
          <a:noFill/>
          <a:ln/>
        </p:spPr>
        <p:txBody>
          <a:bodyPr wrap="square" lIns="0" tIns="0" rIns="0" bIns="0" rtlCol="0" anchor="ctr"/>
          <a:lstStyle/>
          <a:p>
            <a:pPr>
              <a:lnSpc>
                <a:spcPct val="130000"/>
              </a:lnSpc>
            </a:pPr>
            <a:r>
              <a:rPr lang="en-US" sz="1000" b="1" dirty="0">
                <a:solidFill>
                  <a:srgbClr val="4A7C59"/>
                </a:solidFill>
                <a:latin typeface="Quattrocento Sans" pitchFamily="34" charset="0"/>
                <a:ea typeface="Quattrocento Sans" pitchFamily="34" charset="-122"/>
                <a:cs typeface="Quattrocento Sans" pitchFamily="34" charset="-120"/>
              </a:rPr>
              <a:t>Passive Income &amp; Legacy</a:t>
            </a:r>
            <a:endParaRPr lang="en-US" sz="1600" dirty="0"/>
          </a:p>
        </p:txBody>
      </p:sp>
      <p:sp>
        <p:nvSpPr>
          <p:cNvPr id="56" name="Text 54"/>
          <p:cNvSpPr/>
          <p:nvPr/>
        </p:nvSpPr>
        <p:spPr>
          <a:xfrm>
            <a:off x="444500" y="4556125"/>
            <a:ext cx="5572125" cy="52387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Teachers upload lifetime of teaching materials—handwritten notes, worksheets, diagrams, formula sheets. Students download for ₹10-₹50. Teacher earns passive income even when not actively teaching.</a:t>
            </a:r>
            <a:endParaRPr lang="en-US" sz="1600" dirty="0"/>
          </a:p>
        </p:txBody>
      </p:sp>
      <p:sp>
        <p:nvSpPr>
          <p:cNvPr id="57" name="Shape 55"/>
          <p:cNvSpPr/>
          <p:nvPr/>
        </p:nvSpPr>
        <p:spPr>
          <a:xfrm>
            <a:off x="444500" y="5143500"/>
            <a:ext cx="587375" cy="222250"/>
          </a:xfrm>
          <a:custGeom>
            <a:avLst/>
            <a:gdLst/>
            <a:ahLst/>
            <a:cxnLst/>
            <a:rect l="l" t="t" r="r" b="b"/>
            <a:pathLst>
              <a:path w="587375" h="222250">
                <a:moveTo>
                  <a:pt x="31751" y="0"/>
                </a:moveTo>
                <a:lnTo>
                  <a:pt x="555624" y="0"/>
                </a:lnTo>
                <a:cubicBezTo>
                  <a:pt x="573160" y="0"/>
                  <a:pt x="587375" y="14215"/>
                  <a:pt x="587375" y="31751"/>
                </a:cubicBezTo>
                <a:lnTo>
                  <a:pt x="587375" y="190499"/>
                </a:lnTo>
                <a:cubicBezTo>
                  <a:pt x="587375" y="208035"/>
                  <a:pt x="573160" y="222250"/>
                  <a:pt x="555624" y="222250"/>
                </a:cubicBezTo>
                <a:lnTo>
                  <a:pt x="31751" y="222250"/>
                </a:lnTo>
                <a:cubicBezTo>
                  <a:pt x="14227" y="222250"/>
                  <a:pt x="0" y="208023"/>
                  <a:pt x="0" y="190499"/>
                </a:cubicBezTo>
                <a:lnTo>
                  <a:pt x="0" y="31751"/>
                </a:lnTo>
                <a:cubicBezTo>
                  <a:pt x="0" y="14227"/>
                  <a:pt x="14227" y="0"/>
                  <a:pt x="31751" y="0"/>
                </a:cubicBezTo>
                <a:close/>
              </a:path>
            </a:pathLst>
          </a:custGeom>
          <a:solidFill>
            <a:srgbClr val="4A7C59">
              <a:alpha val="10196"/>
            </a:srgbClr>
          </a:solidFill>
          <a:ln/>
        </p:spPr>
      </p:sp>
      <p:sp>
        <p:nvSpPr>
          <p:cNvPr id="58" name="Text 56"/>
          <p:cNvSpPr/>
          <p:nvPr/>
        </p:nvSpPr>
        <p:spPr>
          <a:xfrm>
            <a:off x="444500" y="5143500"/>
            <a:ext cx="650875" cy="222250"/>
          </a:xfrm>
          <a:prstGeom prst="rect">
            <a:avLst/>
          </a:prstGeom>
          <a:noFill/>
          <a:ln/>
        </p:spPr>
        <p:txBody>
          <a:bodyPr wrap="square" lIns="63500" tIns="15875" rIns="63500" bIns="15875" rtlCol="0" anchor="ctr"/>
          <a:lstStyle/>
          <a:p>
            <a:pPr>
              <a:lnSpc>
                <a:spcPct val="130000"/>
              </a:lnSpc>
            </a:pPr>
            <a:r>
              <a:rPr lang="en-US" sz="1000" dirty="0">
                <a:solidFill>
                  <a:srgbClr val="4A7C59"/>
                </a:solidFill>
                <a:latin typeface="Quattrocento Sans" pitchFamily="34" charset="0"/>
                <a:ea typeface="Quattrocento Sans" pitchFamily="34" charset="-122"/>
                <a:cs typeface="Quattrocento Sans" pitchFamily="34" charset="-120"/>
              </a:rPr>
              <a:t>AWS S3</a:t>
            </a:r>
            <a:endParaRPr lang="en-US" sz="1600" dirty="0"/>
          </a:p>
        </p:txBody>
      </p:sp>
      <p:sp>
        <p:nvSpPr>
          <p:cNvPr id="59" name="Shape 57"/>
          <p:cNvSpPr/>
          <p:nvPr/>
        </p:nvSpPr>
        <p:spPr>
          <a:xfrm>
            <a:off x="1061145" y="5143500"/>
            <a:ext cx="571500" cy="222250"/>
          </a:xfrm>
          <a:custGeom>
            <a:avLst/>
            <a:gdLst/>
            <a:ahLst/>
            <a:cxnLst/>
            <a:rect l="l" t="t" r="r" b="b"/>
            <a:pathLst>
              <a:path w="571500" h="222250">
                <a:moveTo>
                  <a:pt x="31751" y="0"/>
                </a:moveTo>
                <a:lnTo>
                  <a:pt x="539749" y="0"/>
                </a:lnTo>
                <a:cubicBezTo>
                  <a:pt x="557285" y="0"/>
                  <a:pt x="571500" y="14215"/>
                  <a:pt x="571500" y="31751"/>
                </a:cubicBezTo>
                <a:lnTo>
                  <a:pt x="571500" y="190499"/>
                </a:lnTo>
                <a:cubicBezTo>
                  <a:pt x="571500" y="208035"/>
                  <a:pt x="557285" y="222250"/>
                  <a:pt x="539749" y="222250"/>
                </a:cubicBezTo>
                <a:lnTo>
                  <a:pt x="31751" y="222250"/>
                </a:lnTo>
                <a:cubicBezTo>
                  <a:pt x="14227" y="222250"/>
                  <a:pt x="0" y="208023"/>
                  <a:pt x="0" y="190499"/>
                </a:cubicBezTo>
                <a:lnTo>
                  <a:pt x="0" y="31751"/>
                </a:lnTo>
                <a:cubicBezTo>
                  <a:pt x="0" y="14227"/>
                  <a:pt x="14227" y="0"/>
                  <a:pt x="31751" y="0"/>
                </a:cubicBezTo>
                <a:close/>
              </a:path>
            </a:pathLst>
          </a:custGeom>
          <a:solidFill>
            <a:srgbClr val="4A7C59">
              <a:alpha val="10196"/>
            </a:srgbClr>
          </a:solidFill>
          <a:ln/>
        </p:spPr>
      </p:sp>
      <p:sp>
        <p:nvSpPr>
          <p:cNvPr id="60" name="Text 58"/>
          <p:cNvSpPr/>
          <p:nvPr/>
        </p:nvSpPr>
        <p:spPr>
          <a:xfrm>
            <a:off x="1061145" y="5143500"/>
            <a:ext cx="635000" cy="222250"/>
          </a:xfrm>
          <a:prstGeom prst="rect">
            <a:avLst/>
          </a:prstGeom>
          <a:noFill/>
          <a:ln/>
        </p:spPr>
        <p:txBody>
          <a:bodyPr wrap="square" lIns="63500" tIns="15875" rIns="63500" bIns="15875" rtlCol="0" anchor="ctr"/>
          <a:lstStyle/>
          <a:p>
            <a:pPr>
              <a:lnSpc>
                <a:spcPct val="130000"/>
              </a:lnSpc>
            </a:pPr>
            <a:r>
              <a:rPr lang="en-US" sz="1000" dirty="0">
                <a:solidFill>
                  <a:srgbClr val="4A7C59"/>
                </a:solidFill>
                <a:latin typeface="Quattrocento Sans" pitchFamily="34" charset="0"/>
                <a:ea typeface="Quattrocento Sans" pitchFamily="34" charset="-122"/>
                <a:cs typeface="Quattrocento Sans" pitchFamily="34" charset="-120"/>
              </a:rPr>
              <a:t>ClamAV</a:t>
            </a:r>
            <a:endParaRPr lang="en-US" sz="1600" dirty="0"/>
          </a:p>
        </p:txBody>
      </p:sp>
      <p:sp>
        <p:nvSpPr>
          <p:cNvPr id="61" name="Shape 59"/>
          <p:cNvSpPr/>
          <p:nvPr/>
        </p:nvSpPr>
        <p:spPr>
          <a:xfrm>
            <a:off x="6159500" y="4048125"/>
            <a:ext cx="5715000" cy="1412875"/>
          </a:xfrm>
          <a:custGeom>
            <a:avLst/>
            <a:gdLst/>
            <a:ahLst/>
            <a:cxnLst/>
            <a:rect l="l" t="t" r="r" b="b"/>
            <a:pathLst>
              <a:path w="5715000" h="1412875">
                <a:moveTo>
                  <a:pt x="31750" y="0"/>
                </a:moveTo>
                <a:lnTo>
                  <a:pt x="5651505" y="0"/>
                </a:lnTo>
                <a:cubicBezTo>
                  <a:pt x="5686572" y="0"/>
                  <a:pt x="5715000" y="28428"/>
                  <a:pt x="5715000" y="63495"/>
                </a:cubicBezTo>
                <a:lnTo>
                  <a:pt x="5715000" y="1349380"/>
                </a:lnTo>
                <a:cubicBezTo>
                  <a:pt x="5715000" y="1384447"/>
                  <a:pt x="5686572" y="1412875"/>
                  <a:pt x="5651505" y="1412875"/>
                </a:cubicBezTo>
                <a:lnTo>
                  <a:pt x="31750" y="1412875"/>
                </a:lnTo>
                <a:cubicBezTo>
                  <a:pt x="14227" y="1412875"/>
                  <a:pt x="0" y="1398648"/>
                  <a:pt x="0" y="1381125"/>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62" name="Shape 60"/>
          <p:cNvSpPr/>
          <p:nvPr/>
        </p:nvSpPr>
        <p:spPr>
          <a:xfrm>
            <a:off x="6159500" y="4048125"/>
            <a:ext cx="31750" cy="1412875"/>
          </a:xfrm>
          <a:custGeom>
            <a:avLst/>
            <a:gdLst/>
            <a:ahLst/>
            <a:cxnLst/>
            <a:rect l="l" t="t" r="r" b="b"/>
            <a:pathLst>
              <a:path w="31750" h="1412875">
                <a:moveTo>
                  <a:pt x="31750" y="0"/>
                </a:moveTo>
                <a:lnTo>
                  <a:pt x="31750" y="0"/>
                </a:lnTo>
                <a:lnTo>
                  <a:pt x="31750" y="1412875"/>
                </a:lnTo>
                <a:lnTo>
                  <a:pt x="31750" y="1412875"/>
                </a:lnTo>
                <a:cubicBezTo>
                  <a:pt x="14227" y="1412875"/>
                  <a:pt x="0" y="1398648"/>
                  <a:pt x="0" y="1381125"/>
                </a:cubicBezTo>
                <a:lnTo>
                  <a:pt x="0" y="31750"/>
                </a:lnTo>
                <a:cubicBezTo>
                  <a:pt x="0" y="14227"/>
                  <a:pt x="14227" y="0"/>
                  <a:pt x="31750" y="0"/>
                </a:cubicBezTo>
                <a:close/>
              </a:path>
            </a:pathLst>
          </a:custGeom>
          <a:solidFill>
            <a:srgbClr val="F7B538"/>
          </a:solidFill>
          <a:ln/>
        </p:spPr>
      </p:sp>
      <p:sp>
        <p:nvSpPr>
          <p:cNvPr id="63" name="Shape 61"/>
          <p:cNvSpPr/>
          <p:nvPr/>
        </p:nvSpPr>
        <p:spPr>
          <a:xfrm>
            <a:off x="6270625" y="4206875"/>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F7B538"/>
          </a:solidFill>
          <a:ln/>
        </p:spPr>
      </p:sp>
      <p:sp>
        <p:nvSpPr>
          <p:cNvPr id="64" name="Text 62"/>
          <p:cNvSpPr/>
          <p:nvPr/>
        </p:nvSpPr>
        <p:spPr>
          <a:xfrm>
            <a:off x="6238875" y="4206875"/>
            <a:ext cx="317500" cy="254000"/>
          </a:xfrm>
          <a:prstGeom prst="rect">
            <a:avLst/>
          </a:prstGeom>
          <a:noFill/>
          <a:ln/>
        </p:spPr>
        <p:txBody>
          <a:bodyPr wrap="square" lIns="0" tIns="0" rIns="0" bIns="0" rtlCol="0" anchor="ctr"/>
          <a:lstStyle/>
          <a:p>
            <a:pPr algn="ctr">
              <a:lnSpc>
                <a:spcPct val="130000"/>
              </a:lnSpc>
            </a:pPr>
            <a:r>
              <a:rPr lang="en-US" sz="1000" b="1" dirty="0">
                <a:solidFill>
                  <a:srgbClr val="1A535C"/>
                </a:solidFill>
                <a:latin typeface="Quattrocento Sans" pitchFamily="34" charset="0"/>
                <a:ea typeface="Quattrocento Sans" pitchFamily="34" charset="-122"/>
                <a:cs typeface="Quattrocento Sans" pitchFamily="34" charset="-120"/>
              </a:rPr>
              <a:t>14</a:t>
            </a:r>
            <a:endParaRPr lang="en-US" sz="1600" dirty="0"/>
          </a:p>
        </p:txBody>
      </p:sp>
      <p:sp>
        <p:nvSpPr>
          <p:cNvPr id="65" name="Text 63"/>
          <p:cNvSpPr/>
          <p:nvPr/>
        </p:nvSpPr>
        <p:spPr>
          <a:xfrm>
            <a:off x="6588125" y="4143375"/>
            <a:ext cx="1912938"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Parent-Teacher-Student Triangle</a:t>
            </a:r>
            <a:endParaRPr lang="en-US" sz="1600" dirty="0"/>
          </a:p>
        </p:txBody>
      </p:sp>
      <p:sp>
        <p:nvSpPr>
          <p:cNvPr id="66" name="Text 64"/>
          <p:cNvSpPr/>
          <p:nvPr/>
        </p:nvSpPr>
        <p:spPr>
          <a:xfrm>
            <a:off x="6588125" y="4333875"/>
            <a:ext cx="1912938" cy="190500"/>
          </a:xfrm>
          <a:prstGeom prst="rect">
            <a:avLst/>
          </a:prstGeom>
          <a:noFill/>
          <a:ln/>
        </p:spPr>
        <p:txBody>
          <a:bodyPr wrap="square" lIns="0" tIns="0" rIns="0" bIns="0" rtlCol="0" anchor="ctr"/>
          <a:lstStyle/>
          <a:p>
            <a:pPr>
              <a:lnSpc>
                <a:spcPct val="130000"/>
              </a:lnSpc>
            </a:pPr>
            <a:r>
              <a:rPr lang="en-US" sz="1000" b="1" dirty="0">
                <a:solidFill>
                  <a:srgbClr val="4A7C59"/>
                </a:solidFill>
                <a:latin typeface="Quattrocento Sans" pitchFamily="34" charset="0"/>
                <a:ea typeface="Quattrocento Sans" pitchFamily="34" charset="-122"/>
                <a:cs typeface="Quattrocento Sans" pitchFamily="34" charset="-120"/>
              </a:rPr>
              <a:t>Parent Involvement</a:t>
            </a:r>
            <a:endParaRPr lang="en-US" sz="1600" dirty="0"/>
          </a:p>
        </p:txBody>
      </p:sp>
      <p:sp>
        <p:nvSpPr>
          <p:cNvPr id="67" name="Text 65"/>
          <p:cNvSpPr/>
          <p:nvPr/>
        </p:nvSpPr>
        <p:spPr>
          <a:xfrm>
            <a:off x="6270625" y="4556125"/>
            <a:ext cx="5572125" cy="52387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Dedicated Parent account with three-way visibility: session history, teacher feedback notes, topics covered, homework assigned, weekly automated progress report PDF.</a:t>
            </a:r>
            <a:endParaRPr lang="en-US" sz="1600" dirty="0"/>
          </a:p>
        </p:txBody>
      </p:sp>
      <p:sp>
        <p:nvSpPr>
          <p:cNvPr id="68" name="Shape 66"/>
          <p:cNvSpPr/>
          <p:nvPr/>
        </p:nvSpPr>
        <p:spPr>
          <a:xfrm>
            <a:off x="6270625" y="5143500"/>
            <a:ext cx="563563" cy="222250"/>
          </a:xfrm>
          <a:custGeom>
            <a:avLst/>
            <a:gdLst/>
            <a:ahLst/>
            <a:cxnLst/>
            <a:rect l="l" t="t" r="r" b="b"/>
            <a:pathLst>
              <a:path w="563563" h="222250">
                <a:moveTo>
                  <a:pt x="31751" y="0"/>
                </a:moveTo>
                <a:lnTo>
                  <a:pt x="531812" y="0"/>
                </a:lnTo>
                <a:cubicBezTo>
                  <a:pt x="549347" y="0"/>
                  <a:pt x="563563" y="14215"/>
                  <a:pt x="563563" y="31751"/>
                </a:cubicBezTo>
                <a:lnTo>
                  <a:pt x="563563" y="190499"/>
                </a:lnTo>
                <a:cubicBezTo>
                  <a:pt x="563563" y="208035"/>
                  <a:pt x="549347" y="222250"/>
                  <a:pt x="531812" y="222250"/>
                </a:cubicBezTo>
                <a:lnTo>
                  <a:pt x="31751" y="222250"/>
                </a:lnTo>
                <a:cubicBezTo>
                  <a:pt x="14227" y="222250"/>
                  <a:pt x="0" y="208023"/>
                  <a:pt x="0" y="190499"/>
                </a:cubicBezTo>
                <a:lnTo>
                  <a:pt x="0" y="31751"/>
                </a:lnTo>
                <a:cubicBezTo>
                  <a:pt x="0" y="14227"/>
                  <a:pt x="14227" y="0"/>
                  <a:pt x="31751" y="0"/>
                </a:cubicBezTo>
                <a:close/>
              </a:path>
            </a:pathLst>
          </a:custGeom>
          <a:solidFill>
            <a:srgbClr val="F7B538">
              <a:alpha val="20000"/>
            </a:srgbClr>
          </a:solidFill>
          <a:ln/>
        </p:spPr>
      </p:sp>
      <p:sp>
        <p:nvSpPr>
          <p:cNvPr id="69" name="Text 67"/>
          <p:cNvSpPr/>
          <p:nvPr/>
        </p:nvSpPr>
        <p:spPr>
          <a:xfrm>
            <a:off x="6270625" y="5143500"/>
            <a:ext cx="627063" cy="222250"/>
          </a:xfrm>
          <a:prstGeom prst="rect">
            <a:avLst/>
          </a:prstGeom>
          <a:noFill/>
          <a:ln/>
        </p:spPr>
        <p:txBody>
          <a:bodyPr wrap="square" lIns="63500" tIns="15875" rIns="63500" bIns="15875" rtlCol="0" anchor="ctr"/>
          <a:lstStyle/>
          <a:p>
            <a:pPr>
              <a:lnSpc>
                <a:spcPct val="130000"/>
              </a:lnSpc>
            </a:pPr>
            <a:r>
              <a:rPr lang="en-US" sz="1000" dirty="0">
                <a:solidFill>
                  <a:srgbClr val="F7B538"/>
                </a:solidFill>
                <a:latin typeface="Quattrocento Sans" pitchFamily="34" charset="0"/>
                <a:ea typeface="Quattrocento Sans" pitchFamily="34" charset="-122"/>
                <a:cs typeface="Quattrocento Sans" pitchFamily="34" charset="-120"/>
              </a:rPr>
              <a:t>dompdf</a:t>
            </a:r>
            <a:endParaRPr lang="en-US" sz="1600" dirty="0"/>
          </a:p>
        </p:txBody>
      </p:sp>
      <p:sp>
        <p:nvSpPr>
          <p:cNvPr id="70" name="Shape 68"/>
          <p:cNvSpPr/>
          <p:nvPr/>
        </p:nvSpPr>
        <p:spPr>
          <a:xfrm>
            <a:off x="6866732" y="5143500"/>
            <a:ext cx="555625" cy="222250"/>
          </a:xfrm>
          <a:custGeom>
            <a:avLst/>
            <a:gdLst/>
            <a:ahLst/>
            <a:cxnLst/>
            <a:rect l="l" t="t" r="r" b="b"/>
            <a:pathLst>
              <a:path w="555625" h="222250">
                <a:moveTo>
                  <a:pt x="31751" y="0"/>
                </a:moveTo>
                <a:lnTo>
                  <a:pt x="523874" y="0"/>
                </a:lnTo>
                <a:cubicBezTo>
                  <a:pt x="541410" y="0"/>
                  <a:pt x="555625" y="14215"/>
                  <a:pt x="555625" y="31751"/>
                </a:cubicBezTo>
                <a:lnTo>
                  <a:pt x="555625" y="190499"/>
                </a:lnTo>
                <a:cubicBezTo>
                  <a:pt x="555625" y="208035"/>
                  <a:pt x="541410" y="222250"/>
                  <a:pt x="523874" y="222250"/>
                </a:cubicBezTo>
                <a:lnTo>
                  <a:pt x="31751" y="222250"/>
                </a:lnTo>
                <a:cubicBezTo>
                  <a:pt x="14227" y="222250"/>
                  <a:pt x="0" y="208023"/>
                  <a:pt x="0" y="190499"/>
                </a:cubicBezTo>
                <a:lnTo>
                  <a:pt x="0" y="31751"/>
                </a:lnTo>
                <a:cubicBezTo>
                  <a:pt x="0" y="14227"/>
                  <a:pt x="14227" y="0"/>
                  <a:pt x="31751" y="0"/>
                </a:cubicBezTo>
                <a:close/>
              </a:path>
            </a:pathLst>
          </a:custGeom>
          <a:solidFill>
            <a:srgbClr val="F7B538">
              <a:alpha val="20000"/>
            </a:srgbClr>
          </a:solidFill>
          <a:ln/>
        </p:spPr>
      </p:sp>
      <p:sp>
        <p:nvSpPr>
          <p:cNvPr id="71" name="Text 69"/>
          <p:cNvSpPr/>
          <p:nvPr/>
        </p:nvSpPr>
        <p:spPr>
          <a:xfrm>
            <a:off x="6866732" y="5143500"/>
            <a:ext cx="619125" cy="222250"/>
          </a:xfrm>
          <a:prstGeom prst="rect">
            <a:avLst/>
          </a:prstGeom>
          <a:noFill/>
          <a:ln/>
        </p:spPr>
        <p:txBody>
          <a:bodyPr wrap="square" lIns="63500" tIns="15875" rIns="63500" bIns="15875" rtlCol="0" anchor="ctr"/>
          <a:lstStyle/>
          <a:p>
            <a:pPr>
              <a:lnSpc>
                <a:spcPct val="130000"/>
              </a:lnSpc>
            </a:pPr>
            <a:r>
              <a:rPr lang="en-US" sz="1000" dirty="0">
                <a:solidFill>
                  <a:srgbClr val="F7B538"/>
                </a:solidFill>
                <a:latin typeface="Quattrocento Sans" pitchFamily="34" charset="0"/>
                <a:ea typeface="Quattrocento Sans" pitchFamily="34" charset="-122"/>
                <a:cs typeface="Quattrocento Sans" pitchFamily="34" charset="-120"/>
              </a:rPr>
              <a:t>Mailgun</a:t>
            </a:r>
            <a:endParaRPr lang="en-US" sz="1600" dirty="0"/>
          </a:p>
        </p:txBody>
      </p:sp>
      <p:sp>
        <p:nvSpPr>
          <p:cNvPr id="72" name="Shape 70"/>
          <p:cNvSpPr/>
          <p:nvPr/>
        </p:nvSpPr>
        <p:spPr>
          <a:xfrm>
            <a:off x="333375" y="5556250"/>
            <a:ext cx="5715000" cy="1412875"/>
          </a:xfrm>
          <a:custGeom>
            <a:avLst/>
            <a:gdLst/>
            <a:ahLst/>
            <a:cxnLst/>
            <a:rect l="l" t="t" r="r" b="b"/>
            <a:pathLst>
              <a:path w="5715000" h="1412875">
                <a:moveTo>
                  <a:pt x="31750" y="0"/>
                </a:moveTo>
                <a:lnTo>
                  <a:pt x="5651505" y="0"/>
                </a:lnTo>
                <a:cubicBezTo>
                  <a:pt x="5686572" y="0"/>
                  <a:pt x="5715000" y="28428"/>
                  <a:pt x="5715000" y="63495"/>
                </a:cubicBezTo>
                <a:lnTo>
                  <a:pt x="5715000" y="1349380"/>
                </a:lnTo>
                <a:cubicBezTo>
                  <a:pt x="5715000" y="1384447"/>
                  <a:pt x="5686572" y="1412875"/>
                  <a:pt x="5651505" y="1412875"/>
                </a:cubicBezTo>
                <a:lnTo>
                  <a:pt x="31750" y="1412875"/>
                </a:lnTo>
                <a:cubicBezTo>
                  <a:pt x="14227" y="1412875"/>
                  <a:pt x="0" y="1398648"/>
                  <a:pt x="0" y="1381125"/>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73" name="Shape 71"/>
          <p:cNvSpPr/>
          <p:nvPr/>
        </p:nvSpPr>
        <p:spPr>
          <a:xfrm>
            <a:off x="333375" y="5556250"/>
            <a:ext cx="31750" cy="1412875"/>
          </a:xfrm>
          <a:custGeom>
            <a:avLst/>
            <a:gdLst/>
            <a:ahLst/>
            <a:cxnLst/>
            <a:rect l="l" t="t" r="r" b="b"/>
            <a:pathLst>
              <a:path w="31750" h="1412875">
                <a:moveTo>
                  <a:pt x="31750" y="0"/>
                </a:moveTo>
                <a:lnTo>
                  <a:pt x="31750" y="0"/>
                </a:lnTo>
                <a:lnTo>
                  <a:pt x="31750" y="1412875"/>
                </a:lnTo>
                <a:lnTo>
                  <a:pt x="31750" y="1412875"/>
                </a:lnTo>
                <a:cubicBezTo>
                  <a:pt x="14227" y="1412875"/>
                  <a:pt x="0" y="1398648"/>
                  <a:pt x="0" y="1381125"/>
                </a:cubicBezTo>
                <a:lnTo>
                  <a:pt x="0" y="31750"/>
                </a:lnTo>
                <a:cubicBezTo>
                  <a:pt x="0" y="14227"/>
                  <a:pt x="14227" y="0"/>
                  <a:pt x="31750" y="0"/>
                </a:cubicBezTo>
                <a:close/>
              </a:path>
            </a:pathLst>
          </a:custGeom>
          <a:solidFill>
            <a:srgbClr val="1A535C"/>
          </a:solidFill>
          <a:ln/>
        </p:spPr>
      </p:sp>
      <p:sp>
        <p:nvSpPr>
          <p:cNvPr id="74" name="Shape 72"/>
          <p:cNvSpPr/>
          <p:nvPr/>
        </p:nvSpPr>
        <p:spPr>
          <a:xfrm>
            <a:off x="444500" y="5715000"/>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1A535C"/>
          </a:solidFill>
          <a:ln/>
        </p:spPr>
      </p:sp>
      <p:sp>
        <p:nvSpPr>
          <p:cNvPr id="75" name="Text 73"/>
          <p:cNvSpPr/>
          <p:nvPr/>
        </p:nvSpPr>
        <p:spPr>
          <a:xfrm>
            <a:off x="412750" y="5715000"/>
            <a:ext cx="317500" cy="2540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15</a:t>
            </a:r>
            <a:endParaRPr lang="en-US" sz="1600" dirty="0"/>
          </a:p>
        </p:txBody>
      </p:sp>
      <p:sp>
        <p:nvSpPr>
          <p:cNvPr id="76" name="Text 74"/>
          <p:cNvSpPr/>
          <p:nvPr/>
        </p:nvSpPr>
        <p:spPr>
          <a:xfrm>
            <a:off x="762000" y="5651500"/>
            <a:ext cx="1698625"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Community Learning Centers</a:t>
            </a:r>
            <a:endParaRPr lang="en-US" sz="1600" dirty="0"/>
          </a:p>
        </p:txBody>
      </p:sp>
      <p:sp>
        <p:nvSpPr>
          <p:cNvPr id="77" name="Text 75"/>
          <p:cNvSpPr/>
          <p:nvPr/>
        </p:nvSpPr>
        <p:spPr>
          <a:xfrm>
            <a:off x="762000" y="5842000"/>
            <a:ext cx="1698625" cy="190500"/>
          </a:xfrm>
          <a:prstGeom prst="rect">
            <a:avLst/>
          </a:prstGeom>
          <a:noFill/>
          <a:ln/>
        </p:spPr>
        <p:txBody>
          <a:bodyPr wrap="square" lIns="0" tIns="0" rIns="0" bIns="0" rtlCol="0" anchor="ctr"/>
          <a:lstStyle/>
          <a:p>
            <a:pPr>
              <a:lnSpc>
                <a:spcPct val="130000"/>
              </a:lnSpc>
            </a:pPr>
            <a:r>
              <a:rPr lang="en-US" sz="1000" b="1" dirty="0">
                <a:solidFill>
                  <a:srgbClr val="4A7C59"/>
                </a:solidFill>
                <a:latin typeface="Quattrocento Sans" pitchFamily="34" charset="0"/>
                <a:ea typeface="Quattrocento Sans" pitchFamily="34" charset="-122"/>
                <a:cs typeface="Quattrocento Sans" pitchFamily="34" charset="-120"/>
              </a:rPr>
              <a:t>Digital Divide Solution</a:t>
            </a:r>
            <a:endParaRPr lang="en-US" sz="1600" dirty="0"/>
          </a:p>
        </p:txBody>
      </p:sp>
      <p:sp>
        <p:nvSpPr>
          <p:cNvPr id="78" name="Text 76"/>
          <p:cNvSpPr/>
          <p:nvPr/>
        </p:nvSpPr>
        <p:spPr>
          <a:xfrm>
            <a:off x="444500" y="6064250"/>
            <a:ext cx="5572125" cy="52387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Partnerships with local community centers, panchayat libraries, NGO hubs. Students without devices/internet visit nearby center to use shared devices. Local teachers hold in-person group sessions.</a:t>
            </a:r>
            <a:endParaRPr lang="en-US" sz="1600" dirty="0"/>
          </a:p>
        </p:txBody>
      </p:sp>
      <p:sp>
        <p:nvSpPr>
          <p:cNvPr id="79" name="Shape 77"/>
          <p:cNvSpPr/>
          <p:nvPr/>
        </p:nvSpPr>
        <p:spPr>
          <a:xfrm>
            <a:off x="444500" y="6651625"/>
            <a:ext cx="1063625" cy="222250"/>
          </a:xfrm>
          <a:custGeom>
            <a:avLst/>
            <a:gdLst/>
            <a:ahLst/>
            <a:cxnLst/>
            <a:rect l="l" t="t" r="r" b="b"/>
            <a:pathLst>
              <a:path w="1063625" h="222250">
                <a:moveTo>
                  <a:pt x="31751" y="0"/>
                </a:moveTo>
                <a:lnTo>
                  <a:pt x="1031874" y="0"/>
                </a:lnTo>
                <a:cubicBezTo>
                  <a:pt x="1049410" y="0"/>
                  <a:pt x="1063625" y="14215"/>
                  <a:pt x="1063625" y="31751"/>
                </a:cubicBezTo>
                <a:lnTo>
                  <a:pt x="1063625" y="190499"/>
                </a:lnTo>
                <a:cubicBezTo>
                  <a:pt x="1063625" y="208035"/>
                  <a:pt x="1049410" y="222250"/>
                  <a:pt x="1031874" y="222250"/>
                </a:cubicBezTo>
                <a:lnTo>
                  <a:pt x="31751" y="222250"/>
                </a:lnTo>
                <a:cubicBezTo>
                  <a:pt x="14227" y="222250"/>
                  <a:pt x="0" y="208023"/>
                  <a:pt x="0" y="190499"/>
                </a:cubicBezTo>
                <a:lnTo>
                  <a:pt x="0" y="31751"/>
                </a:lnTo>
                <a:cubicBezTo>
                  <a:pt x="0" y="14227"/>
                  <a:pt x="14227" y="0"/>
                  <a:pt x="31751" y="0"/>
                </a:cubicBezTo>
                <a:close/>
              </a:path>
            </a:pathLst>
          </a:custGeom>
          <a:solidFill>
            <a:srgbClr val="1A535C">
              <a:alpha val="10196"/>
            </a:srgbClr>
          </a:solidFill>
          <a:ln/>
        </p:spPr>
      </p:sp>
      <p:sp>
        <p:nvSpPr>
          <p:cNvPr id="80" name="Text 78"/>
          <p:cNvSpPr/>
          <p:nvPr/>
        </p:nvSpPr>
        <p:spPr>
          <a:xfrm>
            <a:off x="444500" y="6651625"/>
            <a:ext cx="1127125" cy="222250"/>
          </a:xfrm>
          <a:prstGeom prst="rect">
            <a:avLst/>
          </a:prstGeom>
          <a:noFill/>
          <a:ln/>
        </p:spPr>
        <p:txBody>
          <a:bodyPr wrap="square" lIns="63500" tIns="15875" rIns="63500" bIns="15875" rtlCol="0" anchor="ctr"/>
          <a:lstStyle/>
          <a:p>
            <a:pPr>
              <a:lnSpc>
                <a:spcPct val="130000"/>
              </a:lnSpc>
            </a:pPr>
            <a:r>
              <a:rPr lang="en-US" sz="1000" dirty="0">
                <a:solidFill>
                  <a:srgbClr val="1A535C"/>
                </a:solidFill>
                <a:latin typeface="Quattrocento Sans" pitchFamily="34" charset="0"/>
                <a:ea typeface="Quattrocento Sans" pitchFamily="34" charset="-122"/>
                <a:cs typeface="Quattrocento Sans" pitchFamily="34" charset="-120"/>
              </a:rPr>
              <a:t>Google Maps API</a:t>
            </a:r>
            <a:endParaRPr lang="en-US" sz="1600" dirty="0"/>
          </a:p>
        </p:txBody>
      </p:sp>
      <p:sp>
        <p:nvSpPr>
          <p:cNvPr id="81" name="Shape 79"/>
          <p:cNvSpPr/>
          <p:nvPr/>
        </p:nvSpPr>
        <p:spPr>
          <a:xfrm>
            <a:off x="1536502" y="6651625"/>
            <a:ext cx="881063" cy="222250"/>
          </a:xfrm>
          <a:custGeom>
            <a:avLst/>
            <a:gdLst/>
            <a:ahLst/>
            <a:cxnLst/>
            <a:rect l="l" t="t" r="r" b="b"/>
            <a:pathLst>
              <a:path w="881063" h="222250">
                <a:moveTo>
                  <a:pt x="31751" y="0"/>
                </a:moveTo>
                <a:lnTo>
                  <a:pt x="849312" y="0"/>
                </a:lnTo>
                <a:cubicBezTo>
                  <a:pt x="866847" y="0"/>
                  <a:pt x="881063" y="14215"/>
                  <a:pt x="881063" y="31751"/>
                </a:cubicBezTo>
                <a:lnTo>
                  <a:pt x="881063" y="190499"/>
                </a:lnTo>
                <a:cubicBezTo>
                  <a:pt x="881063" y="208035"/>
                  <a:pt x="866847" y="222250"/>
                  <a:pt x="849312" y="222250"/>
                </a:cubicBezTo>
                <a:lnTo>
                  <a:pt x="31751" y="222250"/>
                </a:lnTo>
                <a:cubicBezTo>
                  <a:pt x="14227" y="222250"/>
                  <a:pt x="0" y="208023"/>
                  <a:pt x="0" y="190499"/>
                </a:cubicBezTo>
                <a:lnTo>
                  <a:pt x="0" y="31751"/>
                </a:lnTo>
                <a:cubicBezTo>
                  <a:pt x="0" y="14227"/>
                  <a:pt x="14227" y="0"/>
                  <a:pt x="31751" y="0"/>
                </a:cubicBezTo>
                <a:close/>
              </a:path>
            </a:pathLst>
          </a:custGeom>
          <a:solidFill>
            <a:srgbClr val="1A535C">
              <a:alpha val="10196"/>
            </a:srgbClr>
          </a:solidFill>
          <a:ln/>
        </p:spPr>
      </p:sp>
      <p:sp>
        <p:nvSpPr>
          <p:cNvPr id="82" name="Text 80"/>
          <p:cNvSpPr/>
          <p:nvPr/>
        </p:nvSpPr>
        <p:spPr>
          <a:xfrm>
            <a:off x="1536502" y="6651625"/>
            <a:ext cx="944563" cy="222250"/>
          </a:xfrm>
          <a:prstGeom prst="rect">
            <a:avLst/>
          </a:prstGeom>
          <a:noFill/>
          <a:ln/>
        </p:spPr>
        <p:txBody>
          <a:bodyPr wrap="square" lIns="63500" tIns="15875" rIns="63500" bIns="15875" rtlCol="0" anchor="ctr"/>
          <a:lstStyle/>
          <a:p>
            <a:pPr>
              <a:lnSpc>
                <a:spcPct val="130000"/>
              </a:lnSpc>
            </a:pPr>
            <a:r>
              <a:rPr lang="en-US" sz="1000" dirty="0">
                <a:solidFill>
                  <a:srgbClr val="1A535C"/>
                </a:solidFill>
                <a:latin typeface="Quattrocento Sans" pitchFamily="34" charset="0"/>
                <a:ea typeface="Quattrocento Sans" pitchFamily="34" charset="-122"/>
                <a:cs typeface="Quattrocento Sans" pitchFamily="34" charset="-120"/>
              </a:rPr>
              <a:t>Hybrid Model</a:t>
            </a:r>
            <a:endParaRPr lang="en-US" sz="1600" dirty="0"/>
          </a:p>
        </p:txBody>
      </p:sp>
      <p:sp>
        <p:nvSpPr>
          <p:cNvPr id="83" name="Shape 81"/>
          <p:cNvSpPr/>
          <p:nvPr/>
        </p:nvSpPr>
        <p:spPr>
          <a:xfrm>
            <a:off x="6159500" y="5556250"/>
            <a:ext cx="5715000" cy="1412875"/>
          </a:xfrm>
          <a:custGeom>
            <a:avLst/>
            <a:gdLst/>
            <a:ahLst/>
            <a:cxnLst/>
            <a:rect l="l" t="t" r="r" b="b"/>
            <a:pathLst>
              <a:path w="5715000" h="1412875">
                <a:moveTo>
                  <a:pt x="31750" y="0"/>
                </a:moveTo>
                <a:lnTo>
                  <a:pt x="5651505" y="0"/>
                </a:lnTo>
                <a:cubicBezTo>
                  <a:pt x="5686572" y="0"/>
                  <a:pt x="5715000" y="28428"/>
                  <a:pt x="5715000" y="63495"/>
                </a:cubicBezTo>
                <a:lnTo>
                  <a:pt x="5715000" y="1349380"/>
                </a:lnTo>
                <a:cubicBezTo>
                  <a:pt x="5715000" y="1384447"/>
                  <a:pt x="5686572" y="1412875"/>
                  <a:pt x="5651505" y="1412875"/>
                </a:cubicBezTo>
                <a:lnTo>
                  <a:pt x="31750" y="1412875"/>
                </a:lnTo>
                <a:cubicBezTo>
                  <a:pt x="14227" y="1412875"/>
                  <a:pt x="0" y="1398648"/>
                  <a:pt x="0" y="1381125"/>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84" name="Shape 82"/>
          <p:cNvSpPr/>
          <p:nvPr/>
        </p:nvSpPr>
        <p:spPr>
          <a:xfrm>
            <a:off x="6159500" y="5556250"/>
            <a:ext cx="31750" cy="1412875"/>
          </a:xfrm>
          <a:custGeom>
            <a:avLst/>
            <a:gdLst/>
            <a:ahLst/>
            <a:cxnLst/>
            <a:rect l="l" t="t" r="r" b="b"/>
            <a:pathLst>
              <a:path w="31750" h="1412875">
                <a:moveTo>
                  <a:pt x="31750" y="0"/>
                </a:moveTo>
                <a:lnTo>
                  <a:pt x="31750" y="0"/>
                </a:lnTo>
                <a:lnTo>
                  <a:pt x="31750" y="1412875"/>
                </a:lnTo>
                <a:lnTo>
                  <a:pt x="31750" y="1412875"/>
                </a:lnTo>
                <a:cubicBezTo>
                  <a:pt x="14227" y="1412875"/>
                  <a:pt x="0" y="1398648"/>
                  <a:pt x="0" y="1381125"/>
                </a:cubicBezTo>
                <a:lnTo>
                  <a:pt x="0" y="31750"/>
                </a:lnTo>
                <a:cubicBezTo>
                  <a:pt x="0" y="14227"/>
                  <a:pt x="14227" y="0"/>
                  <a:pt x="31750" y="0"/>
                </a:cubicBezTo>
                <a:close/>
              </a:path>
            </a:pathLst>
          </a:custGeom>
          <a:solidFill>
            <a:srgbClr val="4A7C59"/>
          </a:solidFill>
          <a:ln/>
        </p:spPr>
      </p:sp>
      <p:sp>
        <p:nvSpPr>
          <p:cNvPr id="85" name="Shape 83"/>
          <p:cNvSpPr/>
          <p:nvPr/>
        </p:nvSpPr>
        <p:spPr>
          <a:xfrm>
            <a:off x="6270625" y="5715000"/>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4A7C59"/>
          </a:solidFill>
          <a:ln/>
        </p:spPr>
      </p:sp>
      <p:sp>
        <p:nvSpPr>
          <p:cNvPr id="86" name="Text 84"/>
          <p:cNvSpPr/>
          <p:nvPr/>
        </p:nvSpPr>
        <p:spPr>
          <a:xfrm>
            <a:off x="6238875" y="5715000"/>
            <a:ext cx="317500" cy="2540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16</a:t>
            </a:r>
            <a:endParaRPr lang="en-US" sz="1600" dirty="0"/>
          </a:p>
        </p:txBody>
      </p:sp>
      <p:sp>
        <p:nvSpPr>
          <p:cNvPr id="87" name="Text 85"/>
          <p:cNvSpPr/>
          <p:nvPr/>
        </p:nvSpPr>
        <p:spPr>
          <a:xfrm>
            <a:off x="6588125" y="5651500"/>
            <a:ext cx="1801813"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Government School Integration</a:t>
            </a:r>
            <a:endParaRPr lang="en-US" sz="1600" dirty="0"/>
          </a:p>
        </p:txBody>
      </p:sp>
      <p:sp>
        <p:nvSpPr>
          <p:cNvPr id="88" name="Text 86"/>
          <p:cNvSpPr/>
          <p:nvPr/>
        </p:nvSpPr>
        <p:spPr>
          <a:xfrm>
            <a:off x="6588125" y="5842000"/>
            <a:ext cx="1801813" cy="190500"/>
          </a:xfrm>
          <a:prstGeom prst="rect">
            <a:avLst/>
          </a:prstGeom>
          <a:noFill/>
          <a:ln/>
        </p:spPr>
        <p:txBody>
          <a:bodyPr wrap="square" lIns="0" tIns="0" rIns="0" bIns="0" rtlCol="0" anchor="ctr"/>
          <a:lstStyle/>
          <a:p>
            <a:pPr>
              <a:lnSpc>
                <a:spcPct val="130000"/>
              </a:lnSpc>
            </a:pPr>
            <a:r>
              <a:rPr lang="en-US" sz="1000" b="1" dirty="0">
                <a:solidFill>
                  <a:srgbClr val="4A7C59"/>
                </a:solidFill>
                <a:latin typeface="Quattrocento Sans" pitchFamily="34" charset="0"/>
                <a:ea typeface="Quattrocento Sans" pitchFamily="34" charset="-122"/>
                <a:cs typeface="Quattrocento Sans" pitchFamily="34" charset="-120"/>
              </a:rPr>
              <a:t>Institutional Reach</a:t>
            </a:r>
            <a:endParaRPr lang="en-US" sz="1600" dirty="0"/>
          </a:p>
        </p:txBody>
      </p:sp>
      <p:sp>
        <p:nvSpPr>
          <p:cNvPr id="89" name="Text 87"/>
          <p:cNvSpPr/>
          <p:nvPr/>
        </p:nvSpPr>
        <p:spPr>
          <a:xfrm>
            <a:off x="6270625" y="6064250"/>
            <a:ext cx="5572125" cy="52387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Auto-verify retired government teachers via pension account number. Government school students get free-session quota funded through CSR partnerships. Direct pipeline to largest teacher supply and student population.</a:t>
            </a:r>
            <a:endParaRPr lang="en-US" sz="1600" dirty="0"/>
          </a:p>
        </p:txBody>
      </p:sp>
      <p:sp>
        <p:nvSpPr>
          <p:cNvPr id="90" name="Shape 88"/>
          <p:cNvSpPr/>
          <p:nvPr/>
        </p:nvSpPr>
        <p:spPr>
          <a:xfrm>
            <a:off x="6270625" y="6651625"/>
            <a:ext cx="603250" cy="222250"/>
          </a:xfrm>
          <a:custGeom>
            <a:avLst/>
            <a:gdLst/>
            <a:ahLst/>
            <a:cxnLst/>
            <a:rect l="l" t="t" r="r" b="b"/>
            <a:pathLst>
              <a:path w="603250" h="222250">
                <a:moveTo>
                  <a:pt x="31751" y="0"/>
                </a:moveTo>
                <a:lnTo>
                  <a:pt x="571499" y="0"/>
                </a:lnTo>
                <a:cubicBezTo>
                  <a:pt x="589035" y="0"/>
                  <a:pt x="603250" y="14215"/>
                  <a:pt x="603250" y="31751"/>
                </a:cubicBezTo>
                <a:lnTo>
                  <a:pt x="603250" y="190499"/>
                </a:lnTo>
                <a:cubicBezTo>
                  <a:pt x="603250" y="208035"/>
                  <a:pt x="589035" y="222250"/>
                  <a:pt x="571499" y="222250"/>
                </a:cubicBezTo>
                <a:lnTo>
                  <a:pt x="31751" y="222250"/>
                </a:lnTo>
                <a:cubicBezTo>
                  <a:pt x="14227" y="222250"/>
                  <a:pt x="0" y="208023"/>
                  <a:pt x="0" y="190499"/>
                </a:cubicBezTo>
                <a:lnTo>
                  <a:pt x="0" y="31751"/>
                </a:lnTo>
                <a:cubicBezTo>
                  <a:pt x="0" y="14227"/>
                  <a:pt x="14227" y="0"/>
                  <a:pt x="31751" y="0"/>
                </a:cubicBezTo>
                <a:close/>
              </a:path>
            </a:pathLst>
          </a:custGeom>
          <a:solidFill>
            <a:srgbClr val="4A7C59">
              <a:alpha val="10196"/>
            </a:srgbClr>
          </a:solidFill>
          <a:ln/>
        </p:spPr>
      </p:sp>
      <p:sp>
        <p:nvSpPr>
          <p:cNvPr id="91" name="Text 89"/>
          <p:cNvSpPr/>
          <p:nvPr/>
        </p:nvSpPr>
        <p:spPr>
          <a:xfrm>
            <a:off x="6270625" y="6651625"/>
            <a:ext cx="666750" cy="222250"/>
          </a:xfrm>
          <a:prstGeom prst="rect">
            <a:avLst/>
          </a:prstGeom>
          <a:noFill/>
          <a:ln/>
        </p:spPr>
        <p:txBody>
          <a:bodyPr wrap="square" lIns="63500" tIns="15875" rIns="63500" bIns="15875" rtlCol="0" anchor="ctr"/>
          <a:lstStyle/>
          <a:p>
            <a:pPr>
              <a:lnSpc>
                <a:spcPct val="130000"/>
              </a:lnSpc>
            </a:pPr>
            <a:r>
              <a:rPr lang="en-US" sz="1000" dirty="0">
                <a:solidFill>
                  <a:srgbClr val="4A7C59"/>
                </a:solidFill>
                <a:latin typeface="Quattrocento Sans" pitchFamily="34" charset="0"/>
                <a:ea typeface="Quattrocento Sans" pitchFamily="34" charset="-122"/>
                <a:cs typeface="Quattrocento Sans" pitchFamily="34" charset="-120"/>
              </a:rPr>
              <a:t>Govt API</a:t>
            </a:r>
            <a:endParaRPr lang="en-US" sz="1600" dirty="0"/>
          </a:p>
        </p:txBody>
      </p:sp>
      <p:sp>
        <p:nvSpPr>
          <p:cNvPr id="92" name="Shape 90"/>
          <p:cNvSpPr/>
          <p:nvPr/>
        </p:nvSpPr>
        <p:spPr>
          <a:xfrm>
            <a:off x="6906419" y="6651625"/>
            <a:ext cx="793750" cy="222250"/>
          </a:xfrm>
          <a:custGeom>
            <a:avLst/>
            <a:gdLst/>
            <a:ahLst/>
            <a:cxnLst/>
            <a:rect l="l" t="t" r="r" b="b"/>
            <a:pathLst>
              <a:path w="793750" h="222250">
                <a:moveTo>
                  <a:pt x="31751" y="0"/>
                </a:moveTo>
                <a:lnTo>
                  <a:pt x="761999" y="0"/>
                </a:lnTo>
                <a:cubicBezTo>
                  <a:pt x="779535" y="0"/>
                  <a:pt x="793750" y="14215"/>
                  <a:pt x="793750" y="31751"/>
                </a:cubicBezTo>
                <a:lnTo>
                  <a:pt x="793750" y="190499"/>
                </a:lnTo>
                <a:cubicBezTo>
                  <a:pt x="793750" y="208035"/>
                  <a:pt x="779535" y="222250"/>
                  <a:pt x="761999" y="222250"/>
                </a:cubicBezTo>
                <a:lnTo>
                  <a:pt x="31751" y="222250"/>
                </a:lnTo>
                <a:cubicBezTo>
                  <a:pt x="14227" y="222250"/>
                  <a:pt x="0" y="208023"/>
                  <a:pt x="0" y="190499"/>
                </a:cubicBezTo>
                <a:lnTo>
                  <a:pt x="0" y="31751"/>
                </a:lnTo>
                <a:cubicBezTo>
                  <a:pt x="0" y="14227"/>
                  <a:pt x="14227" y="0"/>
                  <a:pt x="31751" y="0"/>
                </a:cubicBezTo>
                <a:close/>
              </a:path>
            </a:pathLst>
          </a:custGeom>
          <a:solidFill>
            <a:srgbClr val="4A7C59">
              <a:alpha val="10196"/>
            </a:srgbClr>
          </a:solidFill>
          <a:ln/>
        </p:spPr>
      </p:sp>
      <p:sp>
        <p:nvSpPr>
          <p:cNvPr id="93" name="Text 91"/>
          <p:cNvSpPr/>
          <p:nvPr/>
        </p:nvSpPr>
        <p:spPr>
          <a:xfrm>
            <a:off x="6906419" y="6651625"/>
            <a:ext cx="857250" cy="222250"/>
          </a:xfrm>
          <a:prstGeom prst="rect">
            <a:avLst/>
          </a:prstGeom>
          <a:noFill/>
          <a:ln/>
        </p:spPr>
        <p:txBody>
          <a:bodyPr wrap="square" lIns="63500" tIns="15875" rIns="63500" bIns="15875" rtlCol="0" anchor="ctr"/>
          <a:lstStyle/>
          <a:p>
            <a:pPr>
              <a:lnSpc>
                <a:spcPct val="130000"/>
              </a:lnSpc>
            </a:pPr>
            <a:r>
              <a:rPr lang="en-US" sz="1000" dirty="0">
                <a:solidFill>
                  <a:srgbClr val="4A7C59"/>
                </a:solidFill>
                <a:latin typeface="Quattrocento Sans" pitchFamily="34" charset="0"/>
                <a:ea typeface="Quattrocento Sans" pitchFamily="34" charset="-122"/>
                <a:cs typeface="Quattrocento Sans" pitchFamily="34" charset="-120"/>
              </a:rPr>
              <a:t>CSR Funded</a:t>
            </a:r>
            <a:endParaRPr lang="en-US" sz="1600" dirty="0"/>
          </a:p>
        </p:txBody>
      </p:sp>
      <p:sp>
        <p:nvSpPr>
          <p:cNvPr id="94" name="Shape 92"/>
          <p:cNvSpPr/>
          <p:nvPr/>
        </p:nvSpPr>
        <p:spPr>
          <a:xfrm>
            <a:off x="333375" y="7064375"/>
            <a:ext cx="5715000" cy="1412875"/>
          </a:xfrm>
          <a:custGeom>
            <a:avLst/>
            <a:gdLst/>
            <a:ahLst/>
            <a:cxnLst/>
            <a:rect l="l" t="t" r="r" b="b"/>
            <a:pathLst>
              <a:path w="5715000" h="1412875">
                <a:moveTo>
                  <a:pt x="31750" y="0"/>
                </a:moveTo>
                <a:lnTo>
                  <a:pt x="5651505" y="0"/>
                </a:lnTo>
                <a:cubicBezTo>
                  <a:pt x="5686572" y="0"/>
                  <a:pt x="5715000" y="28428"/>
                  <a:pt x="5715000" y="63495"/>
                </a:cubicBezTo>
                <a:lnTo>
                  <a:pt x="5715000" y="1349380"/>
                </a:lnTo>
                <a:cubicBezTo>
                  <a:pt x="5715000" y="1384447"/>
                  <a:pt x="5686572" y="1412875"/>
                  <a:pt x="5651505" y="1412875"/>
                </a:cubicBezTo>
                <a:lnTo>
                  <a:pt x="31750" y="1412875"/>
                </a:lnTo>
                <a:cubicBezTo>
                  <a:pt x="14227" y="1412875"/>
                  <a:pt x="0" y="1398648"/>
                  <a:pt x="0" y="1381125"/>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95" name="Shape 93"/>
          <p:cNvSpPr/>
          <p:nvPr/>
        </p:nvSpPr>
        <p:spPr>
          <a:xfrm>
            <a:off x="333375" y="7064375"/>
            <a:ext cx="31750" cy="1412875"/>
          </a:xfrm>
          <a:custGeom>
            <a:avLst/>
            <a:gdLst/>
            <a:ahLst/>
            <a:cxnLst/>
            <a:rect l="l" t="t" r="r" b="b"/>
            <a:pathLst>
              <a:path w="31750" h="1412875">
                <a:moveTo>
                  <a:pt x="31750" y="0"/>
                </a:moveTo>
                <a:lnTo>
                  <a:pt x="31750" y="0"/>
                </a:lnTo>
                <a:lnTo>
                  <a:pt x="31750" y="1412875"/>
                </a:lnTo>
                <a:lnTo>
                  <a:pt x="31750" y="1412875"/>
                </a:lnTo>
                <a:cubicBezTo>
                  <a:pt x="14227" y="1412875"/>
                  <a:pt x="0" y="1398648"/>
                  <a:pt x="0" y="1381125"/>
                </a:cubicBezTo>
                <a:lnTo>
                  <a:pt x="0" y="31750"/>
                </a:lnTo>
                <a:cubicBezTo>
                  <a:pt x="0" y="14227"/>
                  <a:pt x="14227" y="0"/>
                  <a:pt x="31750" y="0"/>
                </a:cubicBezTo>
                <a:close/>
              </a:path>
            </a:pathLst>
          </a:custGeom>
          <a:solidFill>
            <a:srgbClr val="F7B538"/>
          </a:solidFill>
          <a:ln/>
        </p:spPr>
      </p:sp>
      <p:sp>
        <p:nvSpPr>
          <p:cNvPr id="96" name="Shape 94"/>
          <p:cNvSpPr/>
          <p:nvPr/>
        </p:nvSpPr>
        <p:spPr>
          <a:xfrm>
            <a:off x="444500" y="7223125"/>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F7B538"/>
          </a:solidFill>
          <a:ln/>
        </p:spPr>
      </p:sp>
      <p:sp>
        <p:nvSpPr>
          <p:cNvPr id="97" name="Text 95"/>
          <p:cNvSpPr/>
          <p:nvPr/>
        </p:nvSpPr>
        <p:spPr>
          <a:xfrm>
            <a:off x="412750" y="7223125"/>
            <a:ext cx="317500" cy="254000"/>
          </a:xfrm>
          <a:prstGeom prst="rect">
            <a:avLst/>
          </a:prstGeom>
          <a:noFill/>
          <a:ln/>
        </p:spPr>
        <p:txBody>
          <a:bodyPr wrap="square" lIns="0" tIns="0" rIns="0" bIns="0" rtlCol="0" anchor="ctr"/>
          <a:lstStyle/>
          <a:p>
            <a:pPr algn="ctr">
              <a:lnSpc>
                <a:spcPct val="130000"/>
              </a:lnSpc>
            </a:pPr>
            <a:r>
              <a:rPr lang="en-US" sz="1000" b="1" dirty="0">
                <a:solidFill>
                  <a:srgbClr val="1A535C"/>
                </a:solidFill>
                <a:latin typeface="Quattrocento Sans" pitchFamily="34" charset="0"/>
                <a:ea typeface="Quattrocento Sans" pitchFamily="34" charset="-122"/>
                <a:cs typeface="Quattrocento Sans" pitchFamily="34" charset="-120"/>
              </a:rPr>
              <a:t>17</a:t>
            </a:r>
            <a:endParaRPr lang="en-US" sz="1600" dirty="0"/>
          </a:p>
        </p:txBody>
      </p:sp>
      <p:sp>
        <p:nvSpPr>
          <p:cNvPr id="98" name="Text 96"/>
          <p:cNvSpPr/>
          <p:nvPr/>
        </p:nvSpPr>
        <p:spPr>
          <a:xfrm>
            <a:off x="762000" y="7159625"/>
            <a:ext cx="1603375"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Silver Educator Recognition</a:t>
            </a:r>
            <a:endParaRPr lang="en-US" sz="1600" dirty="0"/>
          </a:p>
        </p:txBody>
      </p:sp>
      <p:sp>
        <p:nvSpPr>
          <p:cNvPr id="99" name="Text 97"/>
          <p:cNvSpPr/>
          <p:nvPr/>
        </p:nvSpPr>
        <p:spPr>
          <a:xfrm>
            <a:off x="762000" y="7350125"/>
            <a:ext cx="1603375" cy="190500"/>
          </a:xfrm>
          <a:prstGeom prst="rect">
            <a:avLst/>
          </a:prstGeom>
          <a:noFill/>
          <a:ln/>
        </p:spPr>
        <p:txBody>
          <a:bodyPr wrap="square" lIns="0" tIns="0" rIns="0" bIns="0" rtlCol="0" anchor="ctr"/>
          <a:lstStyle/>
          <a:p>
            <a:pPr>
              <a:lnSpc>
                <a:spcPct val="130000"/>
              </a:lnSpc>
            </a:pPr>
            <a:r>
              <a:rPr lang="en-US" sz="1000" b="1" dirty="0">
                <a:solidFill>
                  <a:srgbClr val="4A7C59"/>
                </a:solidFill>
                <a:latin typeface="Quattrocento Sans" pitchFamily="34" charset="0"/>
                <a:ea typeface="Quattrocento Sans" pitchFamily="34" charset="-122"/>
                <a:cs typeface="Quattrocento Sans" pitchFamily="34" charset="-120"/>
              </a:rPr>
              <a:t>Gamification &amp; Motivation</a:t>
            </a:r>
            <a:endParaRPr lang="en-US" sz="1600" dirty="0"/>
          </a:p>
        </p:txBody>
      </p:sp>
      <p:sp>
        <p:nvSpPr>
          <p:cNvPr id="100" name="Text 98"/>
          <p:cNvSpPr/>
          <p:nvPr/>
        </p:nvSpPr>
        <p:spPr>
          <a:xfrm>
            <a:off x="444500" y="7572375"/>
            <a:ext cx="5572125" cy="52387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Meaningful milestones: "50 Students Helped", "100 Hours Taught", "1000 Lives Touched", "Volunteer Champion". Monthly "Teacher of the Month" featured on homepage. Annual virtual awards ceremony.</a:t>
            </a:r>
            <a:endParaRPr lang="en-US" sz="1600" dirty="0"/>
          </a:p>
        </p:txBody>
      </p:sp>
      <p:sp>
        <p:nvSpPr>
          <p:cNvPr id="101" name="Shape 99"/>
          <p:cNvSpPr/>
          <p:nvPr/>
        </p:nvSpPr>
        <p:spPr>
          <a:xfrm>
            <a:off x="444500" y="8159750"/>
            <a:ext cx="714375" cy="222250"/>
          </a:xfrm>
          <a:custGeom>
            <a:avLst/>
            <a:gdLst/>
            <a:ahLst/>
            <a:cxnLst/>
            <a:rect l="l" t="t" r="r" b="b"/>
            <a:pathLst>
              <a:path w="714375" h="222250">
                <a:moveTo>
                  <a:pt x="31751" y="0"/>
                </a:moveTo>
                <a:lnTo>
                  <a:pt x="682624" y="0"/>
                </a:lnTo>
                <a:cubicBezTo>
                  <a:pt x="700160" y="0"/>
                  <a:pt x="714375" y="14215"/>
                  <a:pt x="714375" y="31751"/>
                </a:cubicBezTo>
                <a:lnTo>
                  <a:pt x="714375" y="190499"/>
                </a:lnTo>
                <a:cubicBezTo>
                  <a:pt x="714375" y="208035"/>
                  <a:pt x="700160" y="222250"/>
                  <a:pt x="682624" y="222250"/>
                </a:cubicBezTo>
                <a:lnTo>
                  <a:pt x="31751" y="222250"/>
                </a:lnTo>
                <a:cubicBezTo>
                  <a:pt x="14227" y="222250"/>
                  <a:pt x="0" y="208023"/>
                  <a:pt x="0" y="190499"/>
                </a:cubicBezTo>
                <a:lnTo>
                  <a:pt x="0" y="31751"/>
                </a:lnTo>
                <a:cubicBezTo>
                  <a:pt x="0" y="14227"/>
                  <a:pt x="14227" y="0"/>
                  <a:pt x="31751" y="0"/>
                </a:cubicBezTo>
                <a:close/>
              </a:path>
            </a:pathLst>
          </a:custGeom>
          <a:solidFill>
            <a:srgbClr val="F7B538">
              <a:alpha val="20000"/>
            </a:srgbClr>
          </a:solidFill>
          <a:ln/>
        </p:spPr>
      </p:sp>
      <p:sp>
        <p:nvSpPr>
          <p:cNvPr id="102" name="Text 100"/>
          <p:cNvSpPr/>
          <p:nvPr/>
        </p:nvSpPr>
        <p:spPr>
          <a:xfrm>
            <a:off x="444500" y="8159750"/>
            <a:ext cx="777875" cy="222250"/>
          </a:xfrm>
          <a:prstGeom prst="rect">
            <a:avLst/>
          </a:prstGeom>
          <a:noFill/>
          <a:ln/>
        </p:spPr>
        <p:txBody>
          <a:bodyPr wrap="square" lIns="63500" tIns="15875" rIns="63500" bIns="15875" rtlCol="0" anchor="ctr"/>
          <a:lstStyle/>
          <a:p>
            <a:pPr>
              <a:lnSpc>
                <a:spcPct val="130000"/>
              </a:lnSpc>
            </a:pPr>
            <a:r>
              <a:rPr lang="en-US" sz="1000" dirty="0">
                <a:solidFill>
                  <a:srgbClr val="F7B538"/>
                </a:solidFill>
                <a:latin typeface="Quattrocento Sans" pitchFamily="34" charset="0"/>
                <a:ea typeface="Quattrocento Sans" pitchFamily="34" charset="-122"/>
                <a:cs typeface="Quattrocento Sans" pitchFamily="34" charset="-120"/>
              </a:rPr>
              <a:t>Milestones</a:t>
            </a:r>
            <a:endParaRPr lang="en-US" sz="1600" dirty="0"/>
          </a:p>
        </p:txBody>
      </p:sp>
      <p:sp>
        <p:nvSpPr>
          <p:cNvPr id="103" name="Shape 101"/>
          <p:cNvSpPr/>
          <p:nvPr/>
        </p:nvSpPr>
        <p:spPr>
          <a:xfrm>
            <a:off x="1192808" y="8159750"/>
            <a:ext cx="746125" cy="222250"/>
          </a:xfrm>
          <a:custGeom>
            <a:avLst/>
            <a:gdLst/>
            <a:ahLst/>
            <a:cxnLst/>
            <a:rect l="l" t="t" r="r" b="b"/>
            <a:pathLst>
              <a:path w="746125" h="222250">
                <a:moveTo>
                  <a:pt x="31751" y="0"/>
                </a:moveTo>
                <a:lnTo>
                  <a:pt x="714374" y="0"/>
                </a:lnTo>
                <a:cubicBezTo>
                  <a:pt x="731910" y="0"/>
                  <a:pt x="746125" y="14215"/>
                  <a:pt x="746125" y="31751"/>
                </a:cubicBezTo>
                <a:lnTo>
                  <a:pt x="746125" y="190499"/>
                </a:lnTo>
                <a:cubicBezTo>
                  <a:pt x="746125" y="208035"/>
                  <a:pt x="731910" y="222250"/>
                  <a:pt x="714374" y="222250"/>
                </a:cubicBezTo>
                <a:lnTo>
                  <a:pt x="31751" y="222250"/>
                </a:lnTo>
                <a:cubicBezTo>
                  <a:pt x="14227" y="222250"/>
                  <a:pt x="0" y="208023"/>
                  <a:pt x="0" y="190499"/>
                </a:cubicBezTo>
                <a:lnTo>
                  <a:pt x="0" y="31751"/>
                </a:lnTo>
                <a:cubicBezTo>
                  <a:pt x="0" y="14227"/>
                  <a:pt x="14227" y="0"/>
                  <a:pt x="31751" y="0"/>
                </a:cubicBezTo>
                <a:close/>
              </a:path>
            </a:pathLst>
          </a:custGeom>
          <a:solidFill>
            <a:srgbClr val="F7B538">
              <a:alpha val="20000"/>
            </a:srgbClr>
          </a:solidFill>
          <a:ln/>
        </p:spPr>
      </p:sp>
      <p:sp>
        <p:nvSpPr>
          <p:cNvPr id="104" name="Text 102"/>
          <p:cNvSpPr/>
          <p:nvPr/>
        </p:nvSpPr>
        <p:spPr>
          <a:xfrm>
            <a:off x="1192808" y="8159750"/>
            <a:ext cx="809625" cy="222250"/>
          </a:xfrm>
          <a:prstGeom prst="rect">
            <a:avLst/>
          </a:prstGeom>
          <a:noFill/>
          <a:ln/>
        </p:spPr>
        <p:txBody>
          <a:bodyPr wrap="square" lIns="63500" tIns="15875" rIns="63500" bIns="15875" rtlCol="0" anchor="ctr"/>
          <a:lstStyle/>
          <a:p>
            <a:pPr>
              <a:lnSpc>
                <a:spcPct val="130000"/>
              </a:lnSpc>
            </a:pPr>
            <a:r>
              <a:rPr lang="en-US" sz="1000" dirty="0">
                <a:solidFill>
                  <a:srgbClr val="F7B538"/>
                </a:solidFill>
                <a:latin typeface="Quattrocento Sans" pitchFamily="34" charset="0"/>
                <a:ea typeface="Quattrocento Sans" pitchFamily="34" charset="-122"/>
                <a:cs typeface="Quattrocento Sans" pitchFamily="34" charset="-120"/>
              </a:rPr>
              <a:t>Certificates</a:t>
            </a:r>
            <a:endParaRPr lang="en-US" sz="1600" dirty="0"/>
          </a:p>
        </p:txBody>
      </p:sp>
      <p:sp>
        <p:nvSpPr>
          <p:cNvPr id="105" name="Shape 103"/>
          <p:cNvSpPr/>
          <p:nvPr/>
        </p:nvSpPr>
        <p:spPr>
          <a:xfrm>
            <a:off x="6159500" y="7064375"/>
            <a:ext cx="5715000" cy="1412875"/>
          </a:xfrm>
          <a:custGeom>
            <a:avLst/>
            <a:gdLst/>
            <a:ahLst/>
            <a:cxnLst/>
            <a:rect l="l" t="t" r="r" b="b"/>
            <a:pathLst>
              <a:path w="5715000" h="1412875">
                <a:moveTo>
                  <a:pt x="31750" y="0"/>
                </a:moveTo>
                <a:lnTo>
                  <a:pt x="5651505" y="0"/>
                </a:lnTo>
                <a:cubicBezTo>
                  <a:pt x="5686572" y="0"/>
                  <a:pt x="5715000" y="28428"/>
                  <a:pt x="5715000" y="63495"/>
                </a:cubicBezTo>
                <a:lnTo>
                  <a:pt x="5715000" y="1349380"/>
                </a:lnTo>
                <a:cubicBezTo>
                  <a:pt x="5715000" y="1384447"/>
                  <a:pt x="5686572" y="1412875"/>
                  <a:pt x="5651505" y="1412875"/>
                </a:cubicBezTo>
                <a:lnTo>
                  <a:pt x="31750" y="1412875"/>
                </a:lnTo>
                <a:cubicBezTo>
                  <a:pt x="14227" y="1412875"/>
                  <a:pt x="0" y="1398648"/>
                  <a:pt x="0" y="1381125"/>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106" name="Shape 104"/>
          <p:cNvSpPr/>
          <p:nvPr/>
        </p:nvSpPr>
        <p:spPr>
          <a:xfrm>
            <a:off x="6159500" y="7064375"/>
            <a:ext cx="31750" cy="1412875"/>
          </a:xfrm>
          <a:custGeom>
            <a:avLst/>
            <a:gdLst/>
            <a:ahLst/>
            <a:cxnLst/>
            <a:rect l="l" t="t" r="r" b="b"/>
            <a:pathLst>
              <a:path w="31750" h="1412875">
                <a:moveTo>
                  <a:pt x="31750" y="0"/>
                </a:moveTo>
                <a:lnTo>
                  <a:pt x="31750" y="0"/>
                </a:lnTo>
                <a:lnTo>
                  <a:pt x="31750" y="1412875"/>
                </a:lnTo>
                <a:lnTo>
                  <a:pt x="31750" y="1412875"/>
                </a:lnTo>
                <a:cubicBezTo>
                  <a:pt x="14227" y="1412875"/>
                  <a:pt x="0" y="1398648"/>
                  <a:pt x="0" y="1381125"/>
                </a:cubicBezTo>
                <a:lnTo>
                  <a:pt x="0" y="31750"/>
                </a:lnTo>
                <a:cubicBezTo>
                  <a:pt x="0" y="14227"/>
                  <a:pt x="14227" y="0"/>
                  <a:pt x="31750" y="0"/>
                </a:cubicBezTo>
                <a:close/>
              </a:path>
            </a:pathLst>
          </a:custGeom>
          <a:solidFill>
            <a:srgbClr val="1A535C"/>
          </a:solidFill>
          <a:ln/>
        </p:spPr>
      </p:sp>
      <p:sp>
        <p:nvSpPr>
          <p:cNvPr id="107" name="Shape 105"/>
          <p:cNvSpPr/>
          <p:nvPr/>
        </p:nvSpPr>
        <p:spPr>
          <a:xfrm>
            <a:off x="6270625" y="7223125"/>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1A535C"/>
          </a:solidFill>
          <a:ln/>
        </p:spPr>
      </p:sp>
      <p:sp>
        <p:nvSpPr>
          <p:cNvPr id="108" name="Text 106"/>
          <p:cNvSpPr/>
          <p:nvPr/>
        </p:nvSpPr>
        <p:spPr>
          <a:xfrm>
            <a:off x="6238875" y="7223125"/>
            <a:ext cx="317500" cy="2540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18</a:t>
            </a:r>
            <a:endParaRPr lang="en-US" sz="1600" dirty="0"/>
          </a:p>
        </p:txBody>
      </p:sp>
      <p:sp>
        <p:nvSpPr>
          <p:cNvPr id="109" name="Text 107"/>
          <p:cNvSpPr/>
          <p:nvPr/>
        </p:nvSpPr>
        <p:spPr>
          <a:xfrm>
            <a:off x="6588125" y="7159625"/>
            <a:ext cx="1825625"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Adaptive Low-Bandwidth Mode</a:t>
            </a:r>
            <a:endParaRPr lang="en-US" sz="1600" dirty="0"/>
          </a:p>
        </p:txBody>
      </p:sp>
      <p:sp>
        <p:nvSpPr>
          <p:cNvPr id="110" name="Text 108"/>
          <p:cNvSpPr/>
          <p:nvPr/>
        </p:nvSpPr>
        <p:spPr>
          <a:xfrm>
            <a:off x="6588125" y="7350125"/>
            <a:ext cx="1825625" cy="190500"/>
          </a:xfrm>
          <a:prstGeom prst="rect">
            <a:avLst/>
          </a:prstGeom>
          <a:noFill/>
          <a:ln/>
        </p:spPr>
        <p:txBody>
          <a:bodyPr wrap="square" lIns="0" tIns="0" rIns="0" bIns="0" rtlCol="0" anchor="ctr"/>
          <a:lstStyle/>
          <a:p>
            <a:pPr>
              <a:lnSpc>
                <a:spcPct val="130000"/>
              </a:lnSpc>
            </a:pPr>
            <a:r>
              <a:rPr lang="en-US" sz="1000" b="1" dirty="0">
                <a:solidFill>
                  <a:srgbClr val="4A7C59"/>
                </a:solidFill>
                <a:latin typeface="Quattrocento Sans" pitchFamily="34" charset="0"/>
                <a:ea typeface="Quattrocento Sans" pitchFamily="34" charset="-122"/>
                <a:cs typeface="Quattrocento Sans" pitchFamily="34" charset="-120"/>
              </a:rPr>
              <a:t>Rural Connectivity</a:t>
            </a:r>
            <a:endParaRPr lang="en-US" sz="1600" dirty="0"/>
          </a:p>
        </p:txBody>
      </p:sp>
      <p:sp>
        <p:nvSpPr>
          <p:cNvPr id="111" name="Text 109"/>
          <p:cNvSpPr/>
          <p:nvPr/>
        </p:nvSpPr>
        <p:spPr>
          <a:xfrm>
            <a:off x="6270625" y="7572375"/>
            <a:ext cx="5572125" cy="52387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Auto-detects connection quality and switches to low-bandwidth mode: audio-only sessions, compressed video (works on 2G/3G), offline material downloads, SMS fallback when push fails.</a:t>
            </a:r>
            <a:endParaRPr lang="en-US" sz="1600" dirty="0"/>
          </a:p>
        </p:txBody>
      </p:sp>
      <p:sp>
        <p:nvSpPr>
          <p:cNvPr id="112" name="Shape 110"/>
          <p:cNvSpPr/>
          <p:nvPr/>
        </p:nvSpPr>
        <p:spPr>
          <a:xfrm>
            <a:off x="6270625" y="8159750"/>
            <a:ext cx="817563" cy="222250"/>
          </a:xfrm>
          <a:custGeom>
            <a:avLst/>
            <a:gdLst/>
            <a:ahLst/>
            <a:cxnLst/>
            <a:rect l="l" t="t" r="r" b="b"/>
            <a:pathLst>
              <a:path w="817563" h="222250">
                <a:moveTo>
                  <a:pt x="31751" y="0"/>
                </a:moveTo>
                <a:lnTo>
                  <a:pt x="785812" y="0"/>
                </a:lnTo>
                <a:cubicBezTo>
                  <a:pt x="803347" y="0"/>
                  <a:pt x="817563" y="14215"/>
                  <a:pt x="817563" y="31751"/>
                </a:cubicBezTo>
                <a:lnTo>
                  <a:pt x="817563" y="190499"/>
                </a:lnTo>
                <a:cubicBezTo>
                  <a:pt x="817563" y="208035"/>
                  <a:pt x="803347" y="222250"/>
                  <a:pt x="785812" y="222250"/>
                </a:cubicBezTo>
                <a:lnTo>
                  <a:pt x="31751" y="222250"/>
                </a:lnTo>
                <a:cubicBezTo>
                  <a:pt x="14227" y="222250"/>
                  <a:pt x="0" y="208023"/>
                  <a:pt x="0" y="190499"/>
                </a:cubicBezTo>
                <a:lnTo>
                  <a:pt x="0" y="31751"/>
                </a:lnTo>
                <a:cubicBezTo>
                  <a:pt x="0" y="14227"/>
                  <a:pt x="14227" y="0"/>
                  <a:pt x="31751" y="0"/>
                </a:cubicBezTo>
                <a:close/>
              </a:path>
            </a:pathLst>
          </a:custGeom>
          <a:solidFill>
            <a:srgbClr val="1A535C">
              <a:alpha val="10196"/>
            </a:srgbClr>
          </a:solidFill>
          <a:ln/>
        </p:spPr>
      </p:sp>
      <p:sp>
        <p:nvSpPr>
          <p:cNvPr id="113" name="Text 111"/>
          <p:cNvSpPr/>
          <p:nvPr/>
        </p:nvSpPr>
        <p:spPr>
          <a:xfrm>
            <a:off x="6270625" y="8159750"/>
            <a:ext cx="881063" cy="222250"/>
          </a:xfrm>
          <a:prstGeom prst="rect">
            <a:avLst/>
          </a:prstGeom>
          <a:noFill/>
          <a:ln/>
        </p:spPr>
        <p:txBody>
          <a:bodyPr wrap="square" lIns="63500" tIns="15875" rIns="63500" bIns="15875" rtlCol="0" anchor="ctr"/>
          <a:lstStyle/>
          <a:p>
            <a:pPr>
              <a:lnSpc>
                <a:spcPct val="130000"/>
              </a:lnSpc>
            </a:pPr>
            <a:r>
              <a:rPr lang="en-US" sz="1000" dirty="0">
                <a:solidFill>
                  <a:srgbClr val="1A535C"/>
                </a:solidFill>
                <a:latin typeface="Quattrocento Sans" pitchFamily="34" charset="0"/>
                <a:ea typeface="Quattrocento Sans" pitchFamily="34" charset="-122"/>
                <a:cs typeface="Quattrocento Sans" pitchFamily="34" charset="-120"/>
              </a:rPr>
              <a:t>Network API</a:t>
            </a:r>
            <a:endParaRPr lang="en-US" sz="1600" dirty="0"/>
          </a:p>
        </p:txBody>
      </p:sp>
      <p:sp>
        <p:nvSpPr>
          <p:cNvPr id="114" name="Shape 112"/>
          <p:cNvSpPr/>
          <p:nvPr/>
        </p:nvSpPr>
        <p:spPr>
          <a:xfrm>
            <a:off x="7119938" y="8159750"/>
            <a:ext cx="849313" cy="222250"/>
          </a:xfrm>
          <a:custGeom>
            <a:avLst/>
            <a:gdLst/>
            <a:ahLst/>
            <a:cxnLst/>
            <a:rect l="l" t="t" r="r" b="b"/>
            <a:pathLst>
              <a:path w="849313" h="222250">
                <a:moveTo>
                  <a:pt x="31751" y="0"/>
                </a:moveTo>
                <a:lnTo>
                  <a:pt x="817562" y="0"/>
                </a:lnTo>
                <a:cubicBezTo>
                  <a:pt x="835097" y="0"/>
                  <a:pt x="849313" y="14215"/>
                  <a:pt x="849313" y="31751"/>
                </a:cubicBezTo>
                <a:lnTo>
                  <a:pt x="849313" y="190499"/>
                </a:lnTo>
                <a:cubicBezTo>
                  <a:pt x="849313" y="208035"/>
                  <a:pt x="835097" y="222250"/>
                  <a:pt x="817562" y="222250"/>
                </a:cubicBezTo>
                <a:lnTo>
                  <a:pt x="31751" y="222250"/>
                </a:lnTo>
                <a:cubicBezTo>
                  <a:pt x="14227" y="222250"/>
                  <a:pt x="0" y="208023"/>
                  <a:pt x="0" y="190499"/>
                </a:cubicBezTo>
                <a:lnTo>
                  <a:pt x="0" y="31751"/>
                </a:lnTo>
                <a:cubicBezTo>
                  <a:pt x="0" y="14227"/>
                  <a:pt x="14227" y="0"/>
                  <a:pt x="31751" y="0"/>
                </a:cubicBezTo>
                <a:close/>
              </a:path>
            </a:pathLst>
          </a:custGeom>
          <a:solidFill>
            <a:srgbClr val="1A535C">
              <a:alpha val="10196"/>
            </a:srgbClr>
          </a:solidFill>
          <a:ln/>
        </p:spPr>
      </p:sp>
      <p:sp>
        <p:nvSpPr>
          <p:cNvPr id="115" name="Text 113"/>
          <p:cNvSpPr/>
          <p:nvPr/>
        </p:nvSpPr>
        <p:spPr>
          <a:xfrm>
            <a:off x="7119938" y="8159750"/>
            <a:ext cx="912813" cy="222250"/>
          </a:xfrm>
          <a:prstGeom prst="rect">
            <a:avLst/>
          </a:prstGeom>
          <a:noFill/>
          <a:ln/>
        </p:spPr>
        <p:txBody>
          <a:bodyPr wrap="square" lIns="63500" tIns="15875" rIns="63500" bIns="15875" rtlCol="0" anchor="ctr"/>
          <a:lstStyle/>
          <a:p>
            <a:pPr>
              <a:lnSpc>
                <a:spcPct val="130000"/>
              </a:lnSpc>
            </a:pPr>
            <a:r>
              <a:rPr lang="en-US" sz="1000" dirty="0">
                <a:solidFill>
                  <a:srgbClr val="1A535C"/>
                </a:solidFill>
                <a:latin typeface="Quattrocento Sans" pitchFamily="34" charset="0"/>
                <a:ea typeface="Quattrocento Sans" pitchFamily="34" charset="-122"/>
                <a:cs typeface="Quattrocento Sans" pitchFamily="34" charset="-120"/>
              </a:rPr>
              <a:t>SMS Fallback</a:t>
            </a:r>
            <a:endParaRPr lang="en-US" sz="16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spc="50" kern="0" dirty="0">
                <a:solidFill>
                  <a:srgbClr val="4A7C59"/>
                </a:solidFill>
                <a:latin typeface="Quattrocento Sans" pitchFamily="34" charset="0"/>
                <a:ea typeface="Quattrocento Sans" pitchFamily="34" charset="-122"/>
                <a:cs typeface="Quattrocento Sans" pitchFamily="34" charset="-120"/>
              </a:rPr>
              <a:t>COMPLETE TECHNOLOGY STACK</a:t>
            </a:r>
            <a:endParaRPr lang="en-US" sz="1600" dirty="0"/>
          </a:p>
        </p:txBody>
      </p:sp>
      <p:sp>
        <p:nvSpPr>
          <p:cNvPr id="3" name="Text 1"/>
          <p:cNvSpPr/>
          <p:nvPr/>
        </p:nvSpPr>
        <p:spPr>
          <a:xfrm>
            <a:off x="317500" y="539750"/>
            <a:ext cx="11676063" cy="285750"/>
          </a:xfrm>
          <a:prstGeom prst="rect">
            <a:avLst/>
          </a:prstGeom>
          <a:noFill/>
          <a:ln/>
        </p:spPr>
        <p:txBody>
          <a:bodyPr wrap="square" lIns="0" tIns="0" rIns="0" bIns="0" rtlCol="0" anchor="ctr"/>
          <a:lstStyle/>
          <a:p>
            <a:pPr>
              <a:lnSpc>
                <a:spcPct val="100000"/>
              </a:lnSpc>
            </a:pPr>
            <a:r>
              <a:rPr lang="en-US" sz="1875" b="1" dirty="0">
                <a:solidFill>
                  <a:srgbClr val="1A535C"/>
                </a:solidFill>
                <a:latin typeface="Liter" pitchFamily="34" charset="0"/>
                <a:ea typeface="Liter" pitchFamily="34" charset="-122"/>
                <a:cs typeface="Liter" pitchFamily="34" charset="-120"/>
              </a:rPr>
              <a:t>PHP (Laravel) — The Mandatory Central Technology</a:t>
            </a:r>
            <a:endParaRPr lang="en-US" sz="1600" dirty="0"/>
          </a:p>
        </p:txBody>
      </p:sp>
      <p:sp>
        <p:nvSpPr>
          <p:cNvPr id="4" name="Text 2"/>
          <p:cNvSpPr/>
          <p:nvPr/>
        </p:nvSpPr>
        <p:spPr>
          <a:xfrm>
            <a:off x="317500" y="857250"/>
            <a:ext cx="11620500" cy="190500"/>
          </a:xfrm>
          <a:prstGeom prst="rect">
            <a:avLst/>
          </a:prstGeom>
          <a:noFill/>
          <a:ln/>
        </p:spPr>
        <p:txBody>
          <a:bodyPr wrap="square" lIns="0" tIns="0" rIns="0" bIns="0" rtlCol="0" anchor="ctr"/>
          <a:lstStyle/>
          <a:p>
            <a:pPr>
              <a:lnSpc>
                <a:spcPct val="130000"/>
              </a:lnSpc>
            </a:pPr>
            <a:r>
              <a:rPr lang="en-US" sz="1000" dirty="0">
                <a:solidFill>
                  <a:srgbClr val="212529">
                    <a:alpha val="70000"/>
                  </a:srgbClr>
                </a:solidFill>
                <a:latin typeface="Quattrocento Sans" pitchFamily="34" charset="0"/>
                <a:ea typeface="Quattrocento Sans" pitchFamily="34" charset="-122"/>
                <a:cs typeface="Quattrocento Sans" pitchFamily="34" charset="-120"/>
              </a:rPr>
              <a:t>Every layer runs through PHP or is called from PHP code</a:t>
            </a:r>
            <a:endParaRPr lang="en-US" sz="1600" dirty="0"/>
          </a:p>
        </p:txBody>
      </p:sp>
      <p:sp>
        <p:nvSpPr>
          <p:cNvPr id="5" name="Shape 3"/>
          <p:cNvSpPr/>
          <p:nvPr/>
        </p:nvSpPr>
        <p:spPr>
          <a:xfrm>
            <a:off x="317500" y="1111250"/>
            <a:ext cx="762000" cy="31750"/>
          </a:xfrm>
          <a:custGeom>
            <a:avLst/>
            <a:gdLst/>
            <a:ahLst/>
            <a:cxnLst/>
            <a:rect l="l" t="t" r="r" b="b"/>
            <a:pathLst>
              <a:path w="762000" h="31750">
                <a:moveTo>
                  <a:pt x="0" y="0"/>
                </a:moveTo>
                <a:lnTo>
                  <a:pt x="762000" y="0"/>
                </a:lnTo>
                <a:lnTo>
                  <a:pt x="762000" y="31750"/>
                </a:lnTo>
                <a:lnTo>
                  <a:pt x="0" y="31750"/>
                </a:lnTo>
                <a:lnTo>
                  <a:pt x="0" y="0"/>
                </a:lnTo>
                <a:close/>
              </a:path>
            </a:pathLst>
          </a:custGeom>
          <a:solidFill>
            <a:srgbClr val="F7B538"/>
          </a:solidFill>
          <a:ln/>
        </p:spPr>
      </p:sp>
      <p:sp>
        <p:nvSpPr>
          <p:cNvPr id="6" name="Shape 4"/>
          <p:cNvSpPr/>
          <p:nvPr/>
        </p:nvSpPr>
        <p:spPr>
          <a:xfrm>
            <a:off x="317500" y="1206500"/>
            <a:ext cx="3786188" cy="2667000"/>
          </a:xfrm>
          <a:custGeom>
            <a:avLst/>
            <a:gdLst/>
            <a:ahLst/>
            <a:cxnLst/>
            <a:rect l="l" t="t" r="r" b="b"/>
            <a:pathLst>
              <a:path w="3786188" h="2667000">
                <a:moveTo>
                  <a:pt x="63501" y="0"/>
                </a:moveTo>
                <a:lnTo>
                  <a:pt x="3722686" y="0"/>
                </a:lnTo>
                <a:cubicBezTo>
                  <a:pt x="3757757" y="0"/>
                  <a:pt x="3786188" y="28430"/>
                  <a:pt x="3786188" y="63501"/>
                </a:cubicBezTo>
                <a:lnTo>
                  <a:pt x="3786188" y="2603499"/>
                </a:lnTo>
                <a:cubicBezTo>
                  <a:pt x="3786188" y="2638570"/>
                  <a:pt x="3757757" y="2667000"/>
                  <a:pt x="3722686" y="2667000"/>
                </a:cubicBezTo>
                <a:lnTo>
                  <a:pt x="63501" y="2667000"/>
                </a:lnTo>
                <a:cubicBezTo>
                  <a:pt x="28430" y="2667000"/>
                  <a:pt x="0" y="2638570"/>
                  <a:pt x="0" y="2603499"/>
                </a:cubicBezTo>
                <a:lnTo>
                  <a:pt x="0" y="63501"/>
                </a:lnTo>
                <a:cubicBezTo>
                  <a:pt x="0" y="28454"/>
                  <a:pt x="28454" y="0"/>
                  <a:pt x="63501" y="0"/>
                </a:cubicBezTo>
                <a:close/>
              </a:path>
            </a:pathLst>
          </a:custGeom>
          <a:gradFill rotWithShape="1" flip="none">
            <a:gsLst>
              <a:gs pos="0">
                <a:srgbClr val="1A535C"/>
              </a:gs>
              <a:gs pos="100000">
                <a:srgbClr val="1A535C">
                  <a:alpha val="80000"/>
                </a:srgbClr>
              </a:gs>
            </a:gsLst>
            <a:lin ang="2700000" scaled="1"/>
          </a:gradFill>
          <a:ln/>
          <a:effectLst>
            <a:outerShdw sx="100000" sy="100000" kx="0" ky="0" algn="bl" rotWithShape="0" blurRad="47625" dist="31750" dir="5400000">
              <a:srgbClr val="000000">
                <a:alpha val="10196"/>
              </a:srgbClr>
            </a:outerShdw>
          </a:effectLst>
        </p:spPr>
      </p:sp>
      <p:sp>
        <p:nvSpPr>
          <p:cNvPr id="7" name="Shape 5"/>
          <p:cNvSpPr/>
          <p:nvPr/>
        </p:nvSpPr>
        <p:spPr>
          <a:xfrm>
            <a:off x="442516" y="1333500"/>
            <a:ext cx="138906" cy="158750"/>
          </a:xfrm>
          <a:custGeom>
            <a:avLst/>
            <a:gdLst/>
            <a:ahLst/>
            <a:cxnLst/>
            <a:rect l="l" t="t" r="r" b="b"/>
            <a:pathLst>
              <a:path w="138906" h="158750">
                <a:moveTo>
                  <a:pt x="19844" y="9922"/>
                </a:moveTo>
                <a:cubicBezTo>
                  <a:pt x="8899" y="9922"/>
                  <a:pt x="0" y="18821"/>
                  <a:pt x="0" y="29766"/>
                </a:cubicBezTo>
                <a:lnTo>
                  <a:pt x="0" y="49609"/>
                </a:lnTo>
                <a:cubicBezTo>
                  <a:pt x="0" y="60554"/>
                  <a:pt x="8899" y="69453"/>
                  <a:pt x="19844" y="69453"/>
                </a:cubicBezTo>
                <a:lnTo>
                  <a:pt x="119062" y="69453"/>
                </a:lnTo>
                <a:cubicBezTo>
                  <a:pt x="130008" y="69453"/>
                  <a:pt x="138906" y="60554"/>
                  <a:pt x="138906" y="49609"/>
                </a:cubicBezTo>
                <a:lnTo>
                  <a:pt x="138906" y="29766"/>
                </a:lnTo>
                <a:cubicBezTo>
                  <a:pt x="138906" y="18821"/>
                  <a:pt x="130008" y="9922"/>
                  <a:pt x="119062" y="9922"/>
                </a:cubicBezTo>
                <a:lnTo>
                  <a:pt x="19844" y="9922"/>
                </a:lnTo>
                <a:close/>
                <a:moveTo>
                  <a:pt x="86816" y="32246"/>
                </a:moveTo>
                <a:cubicBezTo>
                  <a:pt x="90923" y="32246"/>
                  <a:pt x="94258" y="35580"/>
                  <a:pt x="94258" y="39688"/>
                </a:cubicBezTo>
                <a:cubicBezTo>
                  <a:pt x="94258" y="43795"/>
                  <a:pt x="90923" y="47129"/>
                  <a:pt x="86816" y="47129"/>
                </a:cubicBezTo>
                <a:cubicBezTo>
                  <a:pt x="82709" y="47129"/>
                  <a:pt x="79375" y="43795"/>
                  <a:pt x="79375" y="39688"/>
                </a:cubicBezTo>
                <a:cubicBezTo>
                  <a:pt x="79375" y="35580"/>
                  <a:pt x="82709" y="32246"/>
                  <a:pt x="86816" y="32246"/>
                </a:cubicBezTo>
                <a:close/>
                <a:moveTo>
                  <a:pt x="104180" y="39688"/>
                </a:moveTo>
                <a:cubicBezTo>
                  <a:pt x="104180" y="35580"/>
                  <a:pt x="107514" y="32246"/>
                  <a:pt x="111621" y="32246"/>
                </a:cubicBezTo>
                <a:cubicBezTo>
                  <a:pt x="115728" y="32246"/>
                  <a:pt x="119062" y="35580"/>
                  <a:pt x="119062" y="39688"/>
                </a:cubicBezTo>
                <a:cubicBezTo>
                  <a:pt x="119062" y="43795"/>
                  <a:pt x="115728" y="47129"/>
                  <a:pt x="111621" y="47129"/>
                </a:cubicBezTo>
                <a:cubicBezTo>
                  <a:pt x="107514" y="47129"/>
                  <a:pt x="104180" y="43795"/>
                  <a:pt x="104180" y="39688"/>
                </a:cubicBezTo>
                <a:close/>
                <a:moveTo>
                  <a:pt x="19844" y="89297"/>
                </a:moveTo>
                <a:cubicBezTo>
                  <a:pt x="8899" y="89297"/>
                  <a:pt x="0" y="98196"/>
                  <a:pt x="0" y="109141"/>
                </a:cubicBezTo>
                <a:lnTo>
                  <a:pt x="0" y="128984"/>
                </a:lnTo>
                <a:cubicBezTo>
                  <a:pt x="0" y="139929"/>
                  <a:pt x="8899" y="148828"/>
                  <a:pt x="19844" y="148828"/>
                </a:cubicBezTo>
                <a:lnTo>
                  <a:pt x="119062" y="148828"/>
                </a:lnTo>
                <a:cubicBezTo>
                  <a:pt x="130008" y="148828"/>
                  <a:pt x="138906" y="139929"/>
                  <a:pt x="138906" y="128984"/>
                </a:cubicBezTo>
                <a:lnTo>
                  <a:pt x="138906" y="109141"/>
                </a:lnTo>
                <a:cubicBezTo>
                  <a:pt x="138906" y="98196"/>
                  <a:pt x="130008" y="89297"/>
                  <a:pt x="119062" y="89297"/>
                </a:cubicBezTo>
                <a:lnTo>
                  <a:pt x="19844" y="89297"/>
                </a:lnTo>
                <a:close/>
                <a:moveTo>
                  <a:pt x="86816" y="111621"/>
                </a:moveTo>
                <a:cubicBezTo>
                  <a:pt x="90923" y="111621"/>
                  <a:pt x="94258" y="114955"/>
                  <a:pt x="94258" y="119062"/>
                </a:cubicBezTo>
                <a:cubicBezTo>
                  <a:pt x="94258" y="123170"/>
                  <a:pt x="90923" y="126504"/>
                  <a:pt x="86816" y="126504"/>
                </a:cubicBezTo>
                <a:cubicBezTo>
                  <a:pt x="82709" y="126504"/>
                  <a:pt x="79375" y="123170"/>
                  <a:pt x="79375" y="119062"/>
                </a:cubicBezTo>
                <a:cubicBezTo>
                  <a:pt x="79375" y="114955"/>
                  <a:pt x="82709" y="111621"/>
                  <a:pt x="86816" y="111621"/>
                </a:cubicBezTo>
                <a:close/>
                <a:moveTo>
                  <a:pt x="104180" y="119062"/>
                </a:moveTo>
                <a:cubicBezTo>
                  <a:pt x="104180" y="114955"/>
                  <a:pt x="107514" y="111621"/>
                  <a:pt x="111621" y="111621"/>
                </a:cubicBezTo>
                <a:cubicBezTo>
                  <a:pt x="115728" y="111621"/>
                  <a:pt x="119062" y="114955"/>
                  <a:pt x="119062" y="119062"/>
                </a:cubicBezTo>
                <a:cubicBezTo>
                  <a:pt x="119062" y="123170"/>
                  <a:pt x="115728" y="126504"/>
                  <a:pt x="111621" y="126504"/>
                </a:cubicBezTo>
                <a:cubicBezTo>
                  <a:pt x="107514" y="126504"/>
                  <a:pt x="104180" y="123170"/>
                  <a:pt x="104180" y="119062"/>
                </a:cubicBezTo>
                <a:close/>
              </a:path>
            </a:pathLst>
          </a:custGeom>
          <a:solidFill>
            <a:srgbClr val="F7B538"/>
          </a:solidFill>
          <a:ln/>
        </p:spPr>
      </p:sp>
      <p:sp>
        <p:nvSpPr>
          <p:cNvPr id="8" name="Text 6"/>
          <p:cNvSpPr/>
          <p:nvPr/>
        </p:nvSpPr>
        <p:spPr>
          <a:xfrm>
            <a:off x="674688" y="1301750"/>
            <a:ext cx="9525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Backend Core</a:t>
            </a:r>
            <a:endParaRPr lang="en-US" sz="1600" dirty="0"/>
          </a:p>
        </p:txBody>
      </p:sp>
      <p:sp>
        <p:nvSpPr>
          <p:cNvPr id="9" name="Shape 7"/>
          <p:cNvSpPr/>
          <p:nvPr/>
        </p:nvSpPr>
        <p:spPr>
          <a:xfrm>
            <a:off x="412750" y="1656259"/>
            <a:ext cx="3595688" cy="666750"/>
          </a:xfrm>
          <a:custGeom>
            <a:avLst/>
            <a:gdLst/>
            <a:ahLst/>
            <a:cxnLst/>
            <a:rect l="l" t="t" r="r" b="b"/>
            <a:pathLst>
              <a:path w="3595688" h="666750">
                <a:moveTo>
                  <a:pt x="63501" y="0"/>
                </a:moveTo>
                <a:lnTo>
                  <a:pt x="3532186" y="0"/>
                </a:lnTo>
                <a:cubicBezTo>
                  <a:pt x="3567257" y="0"/>
                  <a:pt x="3595688" y="28430"/>
                  <a:pt x="3595688" y="63501"/>
                </a:cubicBezTo>
                <a:lnTo>
                  <a:pt x="3595688" y="603249"/>
                </a:lnTo>
                <a:cubicBezTo>
                  <a:pt x="3595688" y="638320"/>
                  <a:pt x="3567257" y="666750"/>
                  <a:pt x="3532186" y="666750"/>
                </a:cubicBezTo>
                <a:lnTo>
                  <a:pt x="63501" y="666750"/>
                </a:lnTo>
                <a:cubicBezTo>
                  <a:pt x="28430" y="666750"/>
                  <a:pt x="0" y="638320"/>
                  <a:pt x="0" y="603249"/>
                </a:cubicBezTo>
                <a:lnTo>
                  <a:pt x="0" y="63501"/>
                </a:lnTo>
                <a:cubicBezTo>
                  <a:pt x="0" y="28454"/>
                  <a:pt x="28454" y="0"/>
                  <a:pt x="63501" y="0"/>
                </a:cubicBezTo>
                <a:close/>
              </a:path>
            </a:pathLst>
          </a:custGeom>
          <a:solidFill>
            <a:srgbClr val="FFFFFF">
              <a:alpha val="10196"/>
            </a:srgbClr>
          </a:solidFill>
          <a:ln/>
        </p:spPr>
      </p:sp>
      <p:sp>
        <p:nvSpPr>
          <p:cNvPr id="10" name="Text 8"/>
          <p:cNvSpPr/>
          <p:nvPr/>
        </p:nvSpPr>
        <p:spPr>
          <a:xfrm>
            <a:off x="476250" y="1719759"/>
            <a:ext cx="3532188"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Laravel 10 (PHP 8.2)</a:t>
            </a:r>
            <a:endParaRPr lang="en-US" sz="1600" dirty="0"/>
          </a:p>
        </p:txBody>
      </p:sp>
      <p:sp>
        <p:nvSpPr>
          <p:cNvPr id="11" name="Text 9"/>
          <p:cNvSpPr/>
          <p:nvPr/>
        </p:nvSpPr>
        <p:spPr>
          <a:xfrm>
            <a:off x="476250" y="1910259"/>
            <a:ext cx="3532188" cy="349250"/>
          </a:xfrm>
          <a:prstGeom prst="rect">
            <a:avLst/>
          </a:prstGeom>
          <a:noFill/>
          <a:ln/>
        </p:spPr>
        <p:txBody>
          <a:bodyPr wrap="square" lIns="0" tIns="0" rIns="0" bIns="0" rtlCol="0" anchor="ctr"/>
          <a:lstStyle/>
          <a:p>
            <a:pPr>
              <a:lnSpc>
                <a:spcPct val="110000"/>
              </a:lnSpc>
            </a:pPr>
            <a:r>
              <a:rPr lang="en-US" sz="1000" dirty="0">
                <a:solidFill>
                  <a:srgbClr val="FFFFFF">
                    <a:alpha val="90000"/>
                  </a:srgbClr>
                </a:solidFill>
                <a:latin typeface="Quattrocento Sans" pitchFamily="34" charset="0"/>
                <a:ea typeface="Quattrocento Sans" pitchFamily="34" charset="-122"/>
                <a:cs typeface="Quattrocento Sans" pitchFamily="34" charset="-120"/>
              </a:rPr>
              <a:t>MVC architecture, Eloquent ORM, Queues, Auth, Task Scheduler</a:t>
            </a:r>
            <a:endParaRPr lang="en-US" sz="1600" dirty="0"/>
          </a:p>
        </p:txBody>
      </p:sp>
      <p:sp>
        <p:nvSpPr>
          <p:cNvPr id="12" name="Shape 10"/>
          <p:cNvSpPr/>
          <p:nvPr/>
        </p:nvSpPr>
        <p:spPr>
          <a:xfrm>
            <a:off x="412750" y="2524125"/>
            <a:ext cx="3595688" cy="492125"/>
          </a:xfrm>
          <a:custGeom>
            <a:avLst/>
            <a:gdLst/>
            <a:ahLst/>
            <a:cxnLst/>
            <a:rect l="l" t="t" r="r" b="b"/>
            <a:pathLst>
              <a:path w="3595688" h="492125">
                <a:moveTo>
                  <a:pt x="63499" y="0"/>
                </a:moveTo>
                <a:lnTo>
                  <a:pt x="3532189" y="0"/>
                </a:lnTo>
                <a:cubicBezTo>
                  <a:pt x="3567258" y="0"/>
                  <a:pt x="3595688" y="28429"/>
                  <a:pt x="3595688" y="63499"/>
                </a:cubicBezTo>
                <a:lnTo>
                  <a:pt x="3595688" y="428626"/>
                </a:lnTo>
                <a:cubicBezTo>
                  <a:pt x="3595688" y="463696"/>
                  <a:pt x="3567258" y="492125"/>
                  <a:pt x="3532189" y="492125"/>
                </a:cubicBezTo>
                <a:lnTo>
                  <a:pt x="63499" y="492125"/>
                </a:lnTo>
                <a:cubicBezTo>
                  <a:pt x="28429" y="492125"/>
                  <a:pt x="0" y="463696"/>
                  <a:pt x="0" y="428626"/>
                </a:cubicBezTo>
                <a:lnTo>
                  <a:pt x="0" y="63499"/>
                </a:lnTo>
                <a:cubicBezTo>
                  <a:pt x="0" y="28453"/>
                  <a:pt x="28453" y="0"/>
                  <a:pt x="63499" y="0"/>
                </a:cubicBezTo>
                <a:close/>
              </a:path>
            </a:pathLst>
          </a:custGeom>
          <a:solidFill>
            <a:srgbClr val="FFFFFF">
              <a:alpha val="10196"/>
            </a:srgbClr>
          </a:solidFill>
          <a:ln/>
        </p:spPr>
      </p:sp>
      <p:sp>
        <p:nvSpPr>
          <p:cNvPr id="13" name="Text 11"/>
          <p:cNvSpPr/>
          <p:nvPr/>
        </p:nvSpPr>
        <p:spPr>
          <a:xfrm>
            <a:off x="476250" y="2587625"/>
            <a:ext cx="3532188"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Authentication</a:t>
            </a:r>
            <a:endParaRPr lang="en-US" sz="1600" dirty="0"/>
          </a:p>
        </p:txBody>
      </p:sp>
      <p:sp>
        <p:nvSpPr>
          <p:cNvPr id="14" name="Text 12"/>
          <p:cNvSpPr/>
          <p:nvPr/>
        </p:nvSpPr>
        <p:spPr>
          <a:xfrm>
            <a:off x="476250" y="2778125"/>
            <a:ext cx="3532188" cy="174625"/>
          </a:xfrm>
          <a:prstGeom prst="rect">
            <a:avLst/>
          </a:prstGeom>
          <a:noFill/>
          <a:ln/>
        </p:spPr>
        <p:txBody>
          <a:bodyPr wrap="square" lIns="0" tIns="0" rIns="0" bIns="0" rtlCol="0" anchor="ctr"/>
          <a:lstStyle/>
          <a:p>
            <a:pPr>
              <a:lnSpc>
                <a:spcPct val="110000"/>
              </a:lnSpc>
            </a:pPr>
            <a:r>
              <a:rPr lang="en-US" sz="1000" dirty="0">
                <a:solidFill>
                  <a:srgbClr val="FFFFFF">
                    <a:alpha val="90000"/>
                  </a:srgbClr>
                </a:solidFill>
                <a:latin typeface="Quattrocento Sans" pitchFamily="34" charset="0"/>
                <a:ea typeface="Quattrocento Sans" pitchFamily="34" charset="-122"/>
                <a:cs typeface="Quattrocento Sans" pitchFamily="34" charset="-120"/>
              </a:rPr>
              <a:t>Laravel Breeze + Spatie Laravel-Permission for RBAC</a:t>
            </a:r>
            <a:endParaRPr lang="en-US" sz="1600" dirty="0"/>
          </a:p>
        </p:txBody>
      </p:sp>
      <p:sp>
        <p:nvSpPr>
          <p:cNvPr id="15" name="Shape 13"/>
          <p:cNvSpPr/>
          <p:nvPr/>
        </p:nvSpPr>
        <p:spPr>
          <a:xfrm>
            <a:off x="412750" y="3217269"/>
            <a:ext cx="3595688" cy="492125"/>
          </a:xfrm>
          <a:custGeom>
            <a:avLst/>
            <a:gdLst/>
            <a:ahLst/>
            <a:cxnLst/>
            <a:rect l="l" t="t" r="r" b="b"/>
            <a:pathLst>
              <a:path w="3595688" h="492125">
                <a:moveTo>
                  <a:pt x="63499" y="0"/>
                </a:moveTo>
                <a:lnTo>
                  <a:pt x="3532189" y="0"/>
                </a:lnTo>
                <a:cubicBezTo>
                  <a:pt x="3567258" y="0"/>
                  <a:pt x="3595688" y="28429"/>
                  <a:pt x="3595688" y="63499"/>
                </a:cubicBezTo>
                <a:lnTo>
                  <a:pt x="3595688" y="428626"/>
                </a:lnTo>
                <a:cubicBezTo>
                  <a:pt x="3595688" y="463696"/>
                  <a:pt x="3567258" y="492125"/>
                  <a:pt x="3532189" y="492125"/>
                </a:cubicBezTo>
                <a:lnTo>
                  <a:pt x="63499" y="492125"/>
                </a:lnTo>
                <a:cubicBezTo>
                  <a:pt x="28429" y="492125"/>
                  <a:pt x="0" y="463696"/>
                  <a:pt x="0" y="428626"/>
                </a:cubicBezTo>
                <a:lnTo>
                  <a:pt x="0" y="63499"/>
                </a:lnTo>
                <a:cubicBezTo>
                  <a:pt x="0" y="28453"/>
                  <a:pt x="28453" y="0"/>
                  <a:pt x="63499" y="0"/>
                </a:cubicBezTo>
                <a:close/>
              </a:path>
            </a:pathLst>
          </a:custGeom>
          <a:solidFill>
            <a:srgbClr val="FFFFFF">
              <a:alpha val="10196"/>
            </a:srgbClr>
          </a:solidFill>
          <a:ln/>
        </p:spPr>
      </p:sp>
      <p:sp>
        <p:nvSpPr>
          <p:cNvPr id="16" name="Text 14"/>
          <p:cNvSpPr/>
          <p:nvPr/>
        </p:nvSpPr>
        <p:spPr>
          <a:xfrm>
            <a:off x="476250" y="3280769"/>
            <a:ext cx="3532188"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Scheduling</a:t>
            </a:r>
            <a:endParaRPr lang="en-US" sz="1600" dirty="0"/>
          </a:p>
        </p:txBody>
      </p:sp>
      <p:sp>
        <p:nvSpPr>
          <p:cNvPr id="17" name="Text 15"/>
          <p:cNvSpPr/>
          <p:nvPr/>
        </p:nvSpPr>
        <p:spPr>
          <a:xfrm>
            <a:off x="476250" y="3471269"/>
            <a:ext cx="3532188" cy="174625"/>
          </a:xfrm>
          <a:prstGeom prst="rect">
            <a:avLst/>
          </a:prstGeom>
          <a:noFill/>
          <a:ln/>
        </p:spPr>
        <p:txBody>
          <a:bodyPr wrap="square" lIns="0" tIns="0" rIns="0" bIns="0" rtlCol="0" anchor="ctr"/>
          <a:lstStyle/>
          <a:p>
            <a:pPr>
              <a:lnSpc>
                <a:spcPct val="110000"/>
              </a:lnSpc>
            </a:pPr>
            <a:r>
              <a:rPr lang="en-US" sz="1000" dirty="0">
                <a:solidFill>
                  <a:srgbClr val="FFFFFF">
                    <a:alpha val="90000"/>
                  </a:srgbClr>
                </a:solidFill>
                <a:latin typeface="Quattrocento Sans" pitchFamily="34" charset="0"/>
                <a:ea typeface="Quattrocento Sans" pitchFamily="34" charset="-122"/>
                <a:cs typeface="Quattrocento Sans" pitchFamily="34" charset="-120"/>
              </a:rPr>
              <a:t>Laravel Zap + Task Scheduler for calendar &amp; cron jobs</a:t>
            </a:r>
            <a:endParaRPr lang="en-US" sz="1600" dirty="0"/>
          </a:p>
        </p:txBody>
      </p:sp>
      <p:sp>
        <p:nvSpPr>
          <p:cNvPr id="18" name="Shape 16"/>
          <p:cNvSpPr/>
          <p:nvPr/>
        </p:nvSpPr>
        <p:spPr>
          <a:xfrm>
            <a:off x="4201517" y="1222375"/>
            <a:ext cx="3786188" cy="1539875"/>
          </a:xfrm>
          <a:custGeom>
            <a:avLst/>
            <a:gdLst/>
            <a:ahLst/>
            <a:cxnLst/>
            <a:rect l="l" t="t" r="r" b="b"/>
            <a:pathLst>
              <a:path w="3786188" h="1539875">
                <a:moveTo>
                  <a:pt x="31750" y="0"/>
                </a:moveTo>
                <a:lnTo>
                  <a:pt x="3754438" y="0"/>
                </a:lnTo>
                <a:cubicBezTo>
                  <a:pt x="3771973" y="0"/>
                  <a:pt x="3786188" y="14215"/>
                  <a:pt x="3786188" y="31750"/>
                </a:cubicBezTo>
                <a:lnTo>
                  <a:pt x="3786188" y="1476371"/>
                </a:lnTo>
                <a:cubicBezTo>
                  <a:pt x="3786188" y="1511443"/>
                  <a:pt x="3757756" y="1539875"/>
                  <a:pt x="3722683" y="1539875"/>
                </a:cubicBezTo>
                <a:lnTo>
                  <a:pt x="63504" y="1539875"/>
                </a:lnTo>
                <a:cubicBezTo>
                  <a:pt x="28432" y="1539875"/>
                  <a:pt x="0" y="1511443"/>
                  <a:pt x="0" y="1476371"/>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19" name="Shape 17"/>
          <p:cNvSpPr/>
          <p:nvPr/>
        </p:nvSpPr>
        <p:spPr>
          <a:xfrm>
            <a:off x="4201517" y="1222375"/>
            <a:ext cx="3786188" cy="31750"/>
          </a:xfrm>
          <a:custGeom>
            <a:avLst/>
            <a:gdLst/>
            <a:ahLst/>
            <a:cxnLst/>
            <a:rect l="l" t="t" r="r" b="b"/>
            <a:pathLst>
              <a:path w="3786188" h="31750">
                <a:moveTo>
                  <a:pt x="31750" y="0"/>
                </a:moveTo>
                <a:lnTo>
                  <a:pt x="3754438" y="0"/>
                </a:lnTo>
                <a:cubicBezTo>
                  <a:pt x="3771961" y="0"/>
                  <a:pt x="3786188" y="14227"/>
                  <a:pt x="3786188" y="31750"/>
                </a:cubicBezTo>
                <a:lnTo>
                  <a:pt x="3786188" y="31750"/>
                </a:lnTo>
                <a:lnTo>
                  <a:pt x="0" y="31750"/>
                </a:lnTo>
                <a:lnTo>
                  <a:pt x="0" y="31750"/>
                </a:lnTo>
                <a:cubicBezTo>
                  <a:pt x="0" y="14227"/>
                  <a:pt x="14227" y="0"/>
                  <a:pt x="31750" y="0"/>
                </a:cubicBezTo>
                <a:close/>
              </a:path>
            </a:pathLst>
          </a:custGeom>
          <a:solidFill>
            <a:srgbClr val="4A7C59"/>
          </a:solidFill>
          <a:ln/>
        </p:spPr>
      </p:sp>
      <p:sp>
        <p:nvSpPr>
          <p:cNvPr id="20" name="Shape 18"/>
          <p:cNvSpPr/>
          <p:nvPr/>
        </p:nvSpPr>
        <p:spPr>
          <a:xfrm>
            <a:off x="4316611" y="1365250"/>
            <a:ext cx="158750" cy="158750"/>
          </a:xfrm>
          <a:custGeom>
            <a:avLst/>
            <a:gdLst/>
            <a:ahLst/>
            <a:cxnLst/>
            <a:rect l="l" t="t" r="r" b="b"/>
            <a:pathLst>
              <a:path w="158750" h="158750">
                <a:moveTo>
                  <a:pt x="19844" y="9922"/>
                </a:moveTo>
                <a:cubicBezTo>
                  <a:pt x="8899" y="9922"/>
                  <a:pt x="0" y="18821"/>
                  <a:pt x="0" y="29766"/>
                </a:cubicBezTo>
                <a:lnTo>
                  <a:pt x="0" y="109141"/>
                </a:lnTo>
                <a:cubicBezTo>
                  <a:pt x="0" y="120086"/>
                  <a:pt x="8899" y="128984"/>
                  <a:pt x="19844" y="128984"/>
                </a:cubicBezTo>
                <a:lnTo>
                  <a:pt x="64492" y="128984"/>
                </a:lnTo>
                <a:lnTo>
                  <a:pt x="59531" y="143867"/>
                </a:lnTo>
                <a:lnTo>
                  <a:pt x="37207" y="143867"/>
                </a:lnTo>
                <a:cubicBezTo>
                  <a:pt x="33083" y="143867"/>
                  <a:pt x="29766" y="147185"/>
                  <a:pt x="29766" y="151309"/>
                </a:cubicBezTo>
                <a:cubicBezTo>
                  <a:pt x="29766" y="155432"/>
                  <a:pt x="33083" y="158750"/>
                  <a:pt x="37207" y="158750"/>
                </a:cubicBezTo>
                <a:lnTo>
                  <a:pt x="121543" y="158750"/>
                </a:lnTo>
                <a:cubicBezTo>
                  <a:pt x="125667" y="158750"/>
                  <a:pt x="128984" y="155432"/>
                  <a:pt x="128984" y="151309"/>
                </a:cubicBezTo>
                <a:cubicBezTo>
                  <a:pt x="128984" y="147185"/>
                  <a:pt x="125667" y="143867"/>
                  <a:pt x="121543" y="143867"/>
                </a:cubicBezTo>
                <a:lnTo>
                  <a:pt x="99219" y="143867"/>
                </a:lnTo>
                <a:lnTo>
                  <a:pt x="94258" y="128984"/>
                </a:lnTo>
                <a:lnTo>
                  <a:pt x="138906" y="128984"/>
                </a:lnTo>
                <a:cubicBezTo>
                  <a:pt x="149851" y="128984"/>
                  <a:pt x="158750" y="120086"/>
                  <a:pt x="158750" y="109141"/>
                </a:cubicBezTo>
                <a:lnTo>
                  <a:pt x="158750" y="29766"/>
                </a:lnTo>
                <a:cubicBezTo>
                  <a:pt x="158750" y="18821"/>
                  <a:pt x="149851" y="9922"/>
                  <a:pt x="138906" y="9922"/>
                </a:cubicBezTo>
                <a:lnTo>
                  <a:pt x="19844" y="9922"/>
                </a:lnTo>
                <a:close/>
                <a:moveTo>
                  <a:pt x="29766" y="29766"/>
                </a:moveTo>
                <a:lnTo>
                  <a:pt x="128984" y="29766"/>
                </a:lnTo>
                <a:cubicBezTo>
                  <a:pt x="134472" y="29766"/>
                  <a:pt x="138906" y="34199"/>
                  <a:pt x="138906" y="39688"/>
                </a:cubicBezTo>
                <a:lnTo>
                  <a:pt x="138906" y="89297"/>
                </a:lnTo>
                <a:cubicBezTo>
                  <a:pt x="138906" y="94785"/>
                  <a:pt x="134472" y="99219"/>
                  <a:pt x="128984" y="99219"/>
                </a:cubicBezTo>
                <a:lnTo>
                  <a:pt x="29766" y="99219"/>
                </a:lnTo>
                <a:cubicBezTo>
                  <a:pt x="24278" y="99219"/>
                  <a:pt x="19844" y="94785"/>
                  <a:pt x="19844" y="89297"/>
                </a:cubicBezTo>
                <a:lnTo>
                  <a:pt x="19844" y="39688"/>
                </a:lnTo>
                <a:cubicBezTo>
                  <a:pt x="19844" y="34199"/>
                  <a:pt x="24278" y="29766"/>
                  <a:pt x="29766" y="29766"/>
                </a:cubicBezTo>
                <a:close/>
              </a:path>
            </a:pathLst>
          </a:custGeom>
          <a:solidFill>
            <a:srgbClr val="4A7C59"/>
          </a:solidFill>
          <a:ln/>
        </p:spPr>
      </p:sp>
      <p:sp>
        <p:nvSpPr>
          <p:cNvPr id="21" name="Text 19"/>
          <p:cNvSpPr/>
          <p:nvPr/>
        </p:nvSpPr>
        <p:spPr>
          <a:xfrm>
            <a:off x="4558705" y="1333500"/>
            <a:ext cx="642938" cy="222250"/>
          </a:xfrm>
          <a:prstGeom prst="rect">
            <a:avLst/>
          </a:prstGeom>
          <a:noFill/>
          <a:ln/>
        </p:spPr>
        <p:txBody>
          <a:bodyPr wrap="square" lIns="0" tIns="0" rIns="0" bIns="0" rtlCol="0" anchor="ctr"/>
          <a:lstStyle/>
          <a:p>
            <a:pPr>
              <a:lnSpc>
                <a:spcPct val="130000"/>
              </a:lnSpc>
            </a:pPr>
            <a:r>
              <a:rPr lang="en-US" sz="1125" b="1" dirty="0">
                <a:solidFill>
                  <a:srgbClr val="1A535C"/>
                </a:solidFill>
                <a:latin typeface="Liter" pitchFamily="34" charset="0"/>
                <a:ea typeface="Liter" pitchFamily="34" charset="-122"/>
                <a:cs typeface="Liter" pitchFamily="34" charset="-120"/>
              </a:rPr>
              <a:t>Frontend</a:t>
            </a:r>
            <a:endParaRPr lang="en-US" sz="1600" dirty="0"/>
          </a:p>
        </p:txBody>
      </p:sp>
      <p:sp>
        <p:nvSpPr>
          <p:cNvPr id="22" name="Shape 20"/>
          <p:cNvSpPr/>
          <p:nvPr/>
        </p:nvSpPr>
        <p:spPr>
          <a:xfrm>
            <a:off x="4296767" y="1619250"/>
            <a:ext cx="3595688" cy="492125"/>
          </a:xfrm>
          <a:custGeom>
            <a:avLst/>
            <a:gdLst/>
            <a:ahLst/>
            <a:cxnLst/>
            <a:rect l="l" t="t" r="r" b="b"/>
            <a:pathLst>
              <a:path w="3595688" h="492125">
                <a:moveTo>
                  <a:pt x="63499" y="0"/>
                </a:moveTo>
                <a:lnTo>
                  <a:pt x="3532189" y="0"/>
                </a:lnTo>
                <a:cubicBezTo>
                  <a:pt x="3567258" y="0"/>
                  <a:pt x="3595688" y="28429"/>
                  <a:pt x="3595688" y="63499"/>
                </a:cubicBezTo>
                <a:lnTo>
                  <a:pt x="3595688" y="428626"/>
                </a:lnTo>
                <a:cubicBezTo>
                  <a:pt x="3595688" y="463696"/>
                  <a:pt x="3567258" y="492125"/>
                  <a:pt x="3532189" y="492125"/>
                </a:cubicBezTo>
                <a:lnTo>
                  <a:pt x="63499" y="492125"/>
                </a:lnTo>
                <a:cubicBezTo>
                  <a:pt x="28429" y="492125"/>
                  <a:pt x="0" y="463696"/>
                  <a:pt x="0" y="428626"/>
                </a:cubicBezTo>
                <a:lnTo>
                  <a:pt x="0" y="63499"/>
                </a:lnTo>
                <a:cubicBezTo>
                  <a:pt x="0" y="28453"/>
                  <a:pt x="28453" y="0"/>
                  <a:pt x="63499" y="0"/>
                </a:cubicBezTo>
                <a:close/>
              </a:path>
            </a:pathLst>
          </a:custGeom>
          <a:solidFill>
            <a:srgbClr val="4A7C59">
              <a:alpha val="10196"/>
            </a:srgbClr>
          </a:solidFill>
          <a:ln/>
        </p:spPr>
      </p:sp>
      <p:sp>
        <p:nvSpPr>
          <p:cNvPr id="23" name="Text 21"/>
          <p:cNvSpPr/>
          <p:nvPr/>
        </p:nvSpPr>
        <p:spPr>
          <a:xfrm>
            <a:off x="4360267" y="1682750"/>
            <a:ext cx="3532188" cy="190500"/>
          </a:xfrm>
          <a:prstGeom prst="rect">
            <a:avLst/>
          </a:prstGeom>
          <a:noFill/>
          <a:ln/>
        </p:spPr>
        <p:txBody>
          <a:bodyPr wrap="square" lIns="0" tIns="0" rIns="0" bIns="0" rtlCol="0" anchor="ctr"/>
          <a:lstStyle/>
          <a:p>
            <a:pPr>
              <a:lnSpc>
                <a:spcPct val="130000"/>
              </a:lnSpc>
            </a:pPr>
            <a:r>
              <a:rPr lang="en-US" sz="1000" b="1" dirty="0">
                <a:solidFill>
                  <a:srgbClr val="4A7C59"/>
                </a:solidFill>
                <a:latin typeface="Quattrocento Sans" pitchFamily="34" charset="0"/>
                <a:ea typeface="Quattrocento Sans" pitchFamily="34" charset="-122"/>
                <a:cs typeface="Quattrocento Sans" pitchFamily="34" charset="-120"/>
              </a:rPr>
              <a:t>Vue.js 3 + Blade</a:t>
            </a:r>
            <a:endParaRPr lang="en-US" sz="1600" dirty="0"/>
          </a:p>
        </p:txBody>
      </p:sp>
      <p:sp>
        <p:nvSpPr>
          <p:cNvPr id="24" name="Text 22"/>
          <p:cNvSpPr/>
          <p:nvPr/>
        </p:nvSpPr>
        <p:spPr>
          <a:xfrm>
            <a:off x="4360267" y="1873250"/>
            <a:ext cx="3532188" cy="17462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Reactive UI with server-side rendering in PHP</a:t>
            </a:r>
            <a:endParaRPr lang="en-US" sz="1600" dirty="0"/>
          </a:p>
        </p:txBody>
      </p:sp>
      <p:sp>
        <p:nvSpPr>
          <p:cNvPr id="25" name="Shape 23"/>
          <p:cNvSpPr/>
          <p:nvPr/>
        </p:nvSpPr>
        <p:spPr>
          <a:xfrm>
            <a:off x="4296767" y="2174875"/>
            <a:ext cx="3595688" cy="492125"/>
          </a:xfrm>
          <a:custGeom>
            <a:avLst/>
            <a:gdLst/>
            <a:ahLst/>
            <a:cxnLst/>
            <a:rect l="l" t="t" r="r" b="b"/>
            <a:pathLst>
              <a:path w="3595688" h="492125">
                <a:moveTo>
                  <a:pt x="63499" y="0"/>
                </a:moveTo>
                <a:lnTo>
                  <a:pt x="3532189" y="0"/>
                </a:lnTo>
                <a:cubicBezTo>
                  <a:pt x="3567258" y="0"/>
                  <a:pt x="3595688" y="28429"/>
                  <a:pt x="3595688" y="63499"/>
                </a:cubicBezTo>
                <a:lnTo>
                  <a:pt x="3595688" y="428626"/>
                </a:lnTo>
                <a:cubicBezTo>
                  <a:pt x="3595688" y="463696"/>
                  <a:pt x="3567258" y="492125"/>
                  <a:pt x="3532189" y="492125"/>
                </a:cubicBezTo>
                <a:lnTo>
                  <a:pt x="63499" y="492125"/>
                </a:lnTo>
                <a:cubicBezTo>
                  <a:pt x="28429" y="492125"/>
                  <a:pt x="0" y="463696"/>
                  <a:pt x="0" y="428626"/>
                </a:cubicBezTo>
                <a:lnTo>
                  <a:pt x="0" y="63499"/>
                </a:lnTo>
                <a:cubicBezTo>
                  <a:pt x="0" y="28453"/>
                  <a:pt x="28453" y="0"/>
                  <a:pt x="63499" y="0"/>
                </a:cubicBezTo>
                <a:close/>
              </a:path>
            </a:pathLst>
          </a:custGeom>
          <a:solidFill>
            <a:srgbClr val="4A7C59">
              <a:alpha val="10196"/>
            </a:srgbClr>
          </a:solidFill>
          <a:ln/>
        </p:spPr>
      </p:sp>
      <p:sp>
        <p:nvSpPr>
          <p:cNvPr id="26" name="Text 24"/>
          <p:cNvSpPr/>
          <p:nvPr/>
        </p:nvSpPr>
        <p:spPr>
          <a:xfrm>
            <a:off x="4360267" y="2238375"/>
            <a:ext cx="3532188" cy="190500"/>
          </a:xfrm>
          <a:prstGeom prst="rect">
            <a:avLst/>
          </a:prstGeom>
          <a:noFill/>
          <a:ln/>
        </p:spPr>
        <p:txBody>
          <a:bodyPr wrap="square" lIns="0" tIns="0" rIns="0" bIns="0" rtlCol="0" anchor="ctr"/>
          <a:lstStyle/>
          <a:p>
            <a:pPr>
              <a:lnSpc>
                <a:spcPct val="130000"/>
              </a:lnSpc>
            </a:pPr>
            <a:r>
              <a:rPr lang="en-US" sz="1000" b="1" dirty="0">
                <a:solidFill>
                  <a:srgbClr val="4A7C59"/>
                </a:solidFill>
                <a:latin typeface="Quattrocento Sans" pitchFamily="34" charset="0"/>
                <a:ea typeface="Quattrocento Sans" pitchFamily="34" charset="-122"/>
                <a:cs typeface="Quattrocento Sans" pitchFamily="34" charset="-120"/>
              </a:rPr>
              <a:t>Tailwind CSS</a:t>
            </a:r>
            <a:endParaRPr lang="en-US" sz="1600" dirty="0"/>
          </a:p>
        </p:txBody>
      </p:sp>
      <p:sp>
        <p:nvSpPr>
          <p:cNvPr id="27" name="Text 25"/>
          <p:cNvSpPr/>
          <p:nvPr/>
        </p:nvSpPr>
        <p:spPr>
          <a:xfrm>
            <a:off x="4360267" y="2428875"/>
            <a:ext cx="3532188" cy="17462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Utility-first styling via Vite build system</a:t>
            </a:r>
            <a:endParaRPr lang="en-US" sz="1600" dirty="0"/>
          </a:p>
        </p:txBody>
      </p:sp>
      <p:sp>
        <p:nvSpPr>
          <p:cNvPr id="28" name="Shape 26"/>
          <p:cNvSpPr/>
          <p:nvPr/>
        </p:nvSpPr>
        <p:spPr>
          <a:xfrm>
            <a:off x="4201517" y="2873375"/>
            <a:ext cx="3786188" cy="1000125"/>
          </a:xfrm>
          <a:custGeom>
            <a:avLst/>
            <a:gdLst/>
            <a:ahLst/>
            <a:cxnLst/>
            <a:rect l="l" t="t" r="r" b="b"/>
            <a:pathLst>
              <a:path w="3786188" h="1000125">
                <a:moveTo>
                  <a:pt x="31750" y="0"/>
                </a:moveTo>
                <a:lnTo>
                  <a:pt x="3754438" y="0"/>
                </a:lnTo>
                <a:cubicBezTo>
                  <a:pt x="3771961" y="0"/>
                  <a:pt x="3786188" y="14227"/>
                  <a:pt x="3786188" y="31750"/>
                </a:cubicBezTo>
                <a:lnTo>
                  <a:pt x="3786188" y="936627"/>
                </a:lnTo>
                <a:cubicBezTo>
                  <a:pt x="3786188" y="971696"/>
                  <a:pt x="3757759" y="1000125"/>
                  <a:pt x="3722690" y="1000125"/>
                </a:cubicBezTo>
                <a:lnTo>
                  <a:pt x="63498" y="1000125"/>
                </a:lnTo>
                <a:cubicBezTo>
                  <a:pt x="28429" y="1000125"/>
                  <a:pt x="0" y="971696"/>
                  <a:pt x="0" y="936627"/>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29" name="Shape 27"/>
          <p:cNvSpPr/>
          <p:nvPr/>
        </p:nvSpPr>
        <p:spPr>
          <a:xfrm>
            <a:off x="4201517" y="2873375"/>
            <a:ext cx="3786188" cy="31750"/>
          </a:xfrm>
          <a:custGeom>
            <a:avLst/>
            <a:gdLst/>
            <a:ahLst/>
            <a:cxnLst/>
            <a:rect l="l" t="t" r="r" b="b"/>
            <a:pathLst>
              <a:path w="3786188" h="31750">
                <a:moveTo>
                  <a:pt x="31750" y="0"/>
                </a:moveTo>
                <a:lnTo>
                  <a:pt x="3754438" y="0"/>
                </a:lnTo>
                <a:cubicBezTo>
                  <a:pt x="3771961" y="0"/>
                  <a:pt x="3786188" y="14227"/>
                  <a:pt x="3786188" y="31750"/>
                </a:cubicBezTo>
                <a:lnTo>
                  <a:pt x="3786188" y="31750"/>
                </a:lnTo>
                <a:lnTo>
                  <a:pt x="0" y="31750"/>
                </a:lnTo>
                <a:lnTo>
                  <a:pt x="0" y="31750"/>
                </a:lnTo>
                <a:cubicBezTo>
                  <a:pt x="0" y="14227"/>
                  <a:pt x="14227" y="0"/>
                  <a:pt x="31750" y="0"/>
                </a:cubicBezTo>
                <a:close/>
              </a:path>
            </a:pathLst>
          </a:custGeom>
          <a:solidFill>
            <a:srgbClr val="F7B538"/>
          </a:solidFill>
          <a:ln/>
        </p:spPr>
      </p:sp>
      <p:sp>
        <p:nvSpPr>
          <p:cNvPr id="30" name="Shape 28"/>
          <p:cNvSpPr/>
          <p:nvPr/>
        </p:nvSpPr>
        <p:spPr>
          <a:xfrm>
            <a:off x="4326533" y="3016250"/>
            <a:ext cx="138906" cy="158750"/>
          </a:xfrm>
          <a:custGeom>
            <a:avLst/>
            <a:gdLst/>
            <a:ahLst/>
            <a:cxnLst/>
            <a:rect l="l" t="t" r="r" b="b"/>
            <a:pathLst>
              <a:path w="138906" h="158750">
                <a:moveTo>
                  <a:pt x="105048" y="-3070"/>
                </a:moveTo>
                <a:cubicBezTo>
                  <a:pt x="108738" y="-403"/>
                  <a:pt x="110102" y="4434"/>
                  <a:pt x="108427" y="8651"/>
                </a:cubicBezTo>
                <a:lnTo>
                  <a:pt x="84119" y="69453"/>
                </a:lnTo>
                <a:lnTo>
                  <a:pt x="128984" y="69453"/>
                </a:lnTo>
                <a:cubicBezTo>
                  <a:pt x="133170" y="69453"/>
                  <a:pt x="136891" y="72058"/>
                  <a:pt x="138317" y="75995"/>
                </a:cubicBezTo>
                <a:cubicBezTo>
                  <a:pt x="139743" y="79933"/>
                  <a:pt x="138534" y="84336"/>
                  <a:pt x="135341" y="87002"/>
                </a:cubicBezTo>
                <a:lnTo>
                  <a:pt x="46044" y="161417"/>
                </a:lnTo>
                <a:cubicBezTo>
                  <a:pt x="42540" y="164331"/>
                  <a:pt x="37548" y="164486"/>
                  <a:pt x="33858" y="161820"/>
                </a:cubicBezTo>
                <a:cubicBezTo>
                  <a:pt x="30169" y="159153"/>
                  <a:pt x="28804" y="154316"/>
                  <a:pt x="30479" y="150099"/>
                </a:cubicBezTo>
                <a:lnTo>
                  <a:pt x="54787" y="89297"/>
                </a:lnTo>
                <a:lnTo>
                  <a:pt x="9922" y="89297"/>
                </a:lnTo>
                <a:cubicBezTo>
                  <a:pt x="5736" y="89297"/>
                  <a:pt x="2015" y="86692"/>
                  <a:pt x="589" y="82755"/>
                </a:cubicBezTo>
                <a:cubicBezTo>
                  <a:pt x="-837" y="78817"/>
                  <a:pt x="372" y="74414"/>
                  <a:pt x="3566" y="71748"/>
                </a:cubicBezTo>
                <a:lnTo>
                  <a:pt x="92863" y="-2667"/>
                </a:lnTo>
                <a:cubicBezTo>
                  <a:pt x="96366" y="-5581"/>
                  <a:pt x="101358" y="-5736"/>
                  <a:pt x="105048" y="-3070"/>
                </a:cubicBezTo>
                <a:close/>
              </a:path>
            </a:pathLst>
          </a:custGeom>
          <a:solidFill>
            <a:srgbClr val="F7B538"/>
          </a:solidFill>
          <a:ln/>
        </p:spPr>
      </p:sp>
      <p:sp>
        <p:nvSpPr>
          <p:cNvPr id="31" name="Text 29"/>
          <p:cNvSpPr/>
          <p:nvPr/>
        </p:nvSpPr>
        <p:spPr>
          <a:xfrm>
            <a:off x="4558705" y="2984500"/>
            <a:ext cx="714375" cy="222250"/>
          </a:xfrm>
          <a:prstGeom prst="rect">
            <a:avLst/>
          </a:prstGeom>
          <a:noFill/>
          <a:ln/>
        </p:spPr>
        <p:txBody>
          <a:bodyPr wrap="square" lIns="0" tIns="0" rIns="0" bIns="0" rtlCol="0" anchor="ctr"/>
          <a:lstStyle/>
          <a:p>
            <a:pPr>
              <a:lnSpc>
                <a:spcPct val="130000"/>
              </a:lnSpc>
            </a:pPr>
            <a:r>
              <a:rPr lang="en-US" sz="1125" b="1" dirty="0">
                <a:solidFill>
                  <a:srgbClr val="1A535C"/>
                </a:solidFill>
                <a:latin typeface="Liter" pitchFamily="34" charset="0"/>
                <a:ea typeface="Liter" pitchFamily="34" charset="-122"/>
                <a:cs typeface="Liter" pitchFamily="34" charset="-120"/>
              </a:rPr>
              <a:t>Real-Time</a:t>
            </a:r>
            <a:endParaRPr lang="en-US" sz="1600" dirty="0"/>
          </a:p>
        </p:txBody>
      </p:sp>
      <p:sp>
        <p:nvSpPr>
          <p:cNvPr id="32" name="Shape 30"/>
          <p:cNvSpPr/>
          <p:nvPr/>
        </p:nvSpPr>
        <p:spPr>
          <a:xfrm>
            <a:off x="4296767" y="3278188"/>
            <a:ext cx="3595688" cy="492125"/>
          </a:xfrm>
          <a:custGeom>
            <a:avLst/>
            <a:gdLst/>
            <a:ahLst/>
            <a:cxnLst/>
            <a:rect l="l" t="t" r="r" b="b"/>
            <a:pathLst>
              <a:path w="3595688" h="492125">
                <a:moveTo>
                  <a:pt x="63499" y="0"/>
                </a:moveTo>
                <a:lnTo>
                  <a:pt x="3532189" y="0"/>
                </a:lnTo>
                <a:cubicBezTo>
                  <a:pt x="3567258" y="0"/>
                  <a:pt x="3595688" y="28429"/>
                  <a:pt x="3595688" y="63499"/>
                </a:cubicBezTo>
                <a:lnTo>
                  <a:pt x="3595688" y="428626"/>
                </a:lnTo>
                <a:cubicBezTo>
                  <a:pt x="3595688" y="463696"/>
                  <a:pt x="3567258" y="492125"/>
                  <a:pt x="3532189" y="492125"/>
                </a:cubicBezTo>
                <a:lnTo>
                  <a:pt x="63499" y="492125"/>
                </a:lnTo>
                <a:cubicBezTo>
                  <a:pt x="28429" y="492125"/>
                  <a:pt x="0" y="463696"/>
                  <a:pt x="0" y="428626"/>
                </a:cubicBezTo>
                <a:lnTo>
                  <a:pt x="0" y="63499"/>
                </a:lnTo>
                <a:cubicBezTo>
                  <a:pt x="0" y="28453"/>
                  <a:pt x="28453" y="0"/>
                  <a:pt x="63499" y="0"/>
                </a:cubicBezTo>
                <a:close/>
              </a:path>
            </a:pathLst>
          </a:custGeom>
          <a:solidFill>
            <a:srgbClr val="F7B538">
              <a:alpha val="20000"/>
            </a:srgbClr>
          </a:solidFill>
          <a:ln/>
        </p:spPr>
      </p:sp>
      <p:sp>
        <p:nvSpPr>
          <p:cNvPr id="33" name="Text 31"/>
          <p:cNvSpPr/>
          <p:nvPr/>
        </p:nvSpPr>
        <p:spPr>
          <a:xfrm>
            <a:off x="4360267" y="3341688"/>
            <a:ext cx="3532188" cy="190500"/>
          </a:xfrm>
          <a:prstGeom prst="rect">
            <a:avLst/>
          </a:prstGeom>
          <a:noFill/>
          <a:ln/>
        </p:spPr>
        <p:txBody>
          <a:bodyPr wrap="square" lIns="0" tIns="0" rIns="0" bIns="0" rtlCol="0" anchor="ctr"/>
          <a:lstStyle/>
          <a:p>
            <a:pPr>
              <a:lnSpc>
                <a:spcPct val="130000"/>
              </a:lnSpc>
            </a:pPr>
            <a:r>
              <a:rPr lang="en-US" sz="1000" b="1" dirty="0">
                <a:solidFill>
                  <a:srgbClr val="F7B538"/>
                </a:solidFill>
                <a:latin typeface="Quattrocento Sans" pitchFamily="34" charset="0"/>
                <a:ea typeface="Quattrocento Sans" pitchFamily="34" charset="-122"/>
                <a:cs typeface="Quattrocento Sans" pitchFamily="34" charset="-120"/>
              </a:rPr>
              <a:t>Laravel Echo + Pusher</a:t>
            </a:r>
            <a:endParaRPr lang="en-US" sz="1600" dirty="0"/>
          </a:p>
        </p:txBody>
      </p:sp>
      <p:sp>
        <p:nvSpPr>
          <p:cNvPr id="34" name="Text 32"/>
          <p:cNvSpPr/>
          <p:nvPr/>
        </p:nvSpPr>
        <p:spPr>
          <a:xfrm>
            <a:off x="4360267" y="3532188"/>
            <a:ext cx="3532188" cy="17462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WebSocket broadcasting managed by PHP backend</a:t>
            </a:r>
            <a:endParaRPr lang="en-US" sz="1600" dirty="0"/>
          </a:p>
        </p:txBody>
      </p:sp>
      <p:sp>
        <p:nvSpPr>
          <p:cNvPr id="35" name="Shape 33"/>
          <p:cNvSpPr/>
          <p:nvPr/>
        </p:nvSpPr>
        <p:spPr>
          <a:xfrm>
            <a:off x="8085634" y="1222375"/>
            <a:ext cx="3786188" cy="2651125"/>
          </a:xfrm>
          <a:custGeom>
            <a:avLst/>
            <a:gdLst/>
            <a:ahLst/>
            <a:cxnLst/>
            <a:rect l="l" t="t" r="r" b="b"/>
            <a:pathLst>
              <a:path w="3786188" h="2651125">
                <a:moveTo>
                  <a:pt x="31750" y="0"/>
                </a:moveTo>
                <a:lnTo>
                  <a:pt x="3754438" y="0"/>
                </a:lnTo>
                <a:cubicBezTo>
                  <a:pt x="3771961" y="0"/>
                  <a:pt x="3786188" y="14227"/>
                  <a:pt x="3786188" y="31750"/>
                </a:cubicBezTo>
                <a:lnTo>
                  <a:pt x="3786188" y="2587631"/>
                </a:lnTo>
                <a:cubicBezTo>
                  <a:pt x="3786188" y="2622698"/>
                  <a:pt x="3757760" y="2651125"/>
                  <a:pt x="3722693" y="2651125"/>
                </a:cubicBezTo>
                <a:lnTo>
                  <a:pt x="63494" y="2651125"/>
                </a:lnTo>
                <a:cubicBezTo>
                  <a:pt x="28427" y="2651125"/>
                  <a:pt x="0" y="2622698"/>
                  <a:pt x="0" y="2587631"/>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36" name="Shape 34"/>
          <p:cNvSpPr/>
          <p:nvPr/>
        </p:nvSpPr>
        <p:spPr>
          <a:xfrm>
            <a:off x="8085634" y="1222375"/>
            <a:ext cx="3786188" cy="31750"/>
          </a:xfrm>
          <a:custGeom>
            <a:avLst/>
            <a:gdLst/>
            <a:ahLst/>
            <a:cxnLst/>
            <a:rect l="l" t="t" r="r" b="b"/>
            <a:pathLst>
              <a:path w="3786188" h="31750">
                <a:moveTo>
                  <a:pt x="31750" y="0"/>
                </a:moveTo>
                <a:lnTo>
                  <a:pt x="3754438" y="0"/>
                </a:lnTo>
                <a:cubicBezTo>
                  <a:pt x="3771961" y="0"/>
                  <a:pt x="3786188" y="14227"/>
                  <a:pt x="3786188" y="31750"/>
                </a:cubicBezTo>
                <a:lnTo>
                  <a:pt x="3786188" y="31750"/>
                </a:lnTo>
                <a:lnTo>
                  <a:pt x="0" y="31750"/>
                </a:lnTo>
                <a:lnTo>
                  <a:pt x="0" y="31750"/>
                </a:lnTo>
                <a:cubicBezTo>
                  <a:pt x="0" y="14227"/>
                  <a:pt x="14227" y="0"/>
                  <a:pt x="31750" y="0"/>
                </a:cubicBezTo>
                <a:close/>
              </a:path>
            </a:pathLst>
          </a:custGeom>
          <a:solidFill>
            <a:srgbClr val="1A535C"/>
          </a:solidFill>
          <a:ln/>
        </p:spPr>
      </p:sp>
      <p:sp>
        <p:nvSpPr>
          <p:cNvPr id="37" name="Shape 35"/>
          <p:cNvSpPr/>
          <p:nvPr/>
        </p:nvSpPr>
        <p:spPr>
          <a:xfrm>
            <a:off x="8190805" y="1365250"/>
            <a:ext cx="178594" cy="158750"/>
          </a:xfrm>
          <a:custGeom>
            <a:avLst/>
            <a:gdLst/>
            <a:ahLst/>
            <a:cxnLst/>
            <a:rect l="l" t="t" r="r" b="b"/>
            <a:pathLst>
              <a:path w="178594" h="158750">
                <a:moveTo>
                  <a:pt x="29766" y="19844"/>
                </a:moveTo>
                <a:cubicBezTo>
                  <a:pt x="18821" y="19844"/>
                  <a:pt x="9922" y="28742"/>
                  <a:pt x="9922" y="39688"/>
                </a:cubicBezTo>
                <a:lnTo>
                  <a:pt x="9922" y="119062"/>
                </a:lnTo>
                <a:cubicBezTo>
                  <a:pt x="9922" y="130008"/>
                  <a:pt x="18821" y="138906"/>
                  <a:pt x="29766" y="138906"/>
                </a:cubicBezTo>
                <a:lnTo>
                  <a:pt x="109141" y="138906"/>
                </a:lnTo>
                <a:cubicBezTo>
                  <a:pt x="120086" y="138906"/>
                  <a:pt x="128984" y="130008"/>
                  <a:pt x="128984" y="119062"/>
                </a:cubicBezTo>
                <a:lnTo>
                  <a:pt x="128984" y="39688"/>
                </a:lnTo>
                <a:cubicBezTo>
                  <a:pt x="128984" y="28742"/>
                  <a:pt x="120086" y="19844"/>
                  <a:pt x="109141" y="19844"/>
                </a:cubicBezTo>
                <a:lnTo>
                  <a:pt x="29766" y="19844"/>
                </a:lnTo>
                <a:close/>
                <a:moveTo>
                  <a:pt x="143867" y="104180"/>
                </a:moveTo>
                <a:lnTo>
                  <a:pt x="166656" y="122411"/>
                </a:lnTo>
                <a:cubicBezTo>
                  <a:pt x="167959" y="123465"/>
                  <a:pt x="169571" y="124023"/>
                  <a:pt x="171245" y="124023"/>
                </a:cubicBezTo>
                <a:cubicBezTo>
                  <a:pt x="175307" y="124023"/>
                  <a:pt x="178594" y="120737"/>
                  <a:pt x="178594" y="116675"/>
                </a:cubicBezTo>
                <a:lnTo>
                  <a:pt x="178594" y="42075"/>
                </a:lnTo>
                <a:cubicBezTo>
                  <a:pt x="178594" y="38013"/>
                  <a:pt x="175307" y="34727"/>
                  <a:pt x="171245" y="34727"/>
                </a:cubicBezTo>
                <a:cubicBezTo>
                  <a:pt x="169571" y="34727"/>
                  <a:pt x="167959" y="35285"/>
                  <a:pt x="166656" y="36339"/>
                </a:cubicBezTo>
                <a:lnTo>
                  <a:pt x="143867" y="54570"/>
                </a:lnTo>
                <a:lnTo>
                  <a:pt x="143867" y="104180"/>
                </a:lnTo>
                <a:close/>
              </a:path>
            </a:pathLst>
          </a:custGeom>
          <a:solidFill>
            <a:srgbClr val="1A535C"/>
          </a:solidFill>
          <a:ln/>
        </p:spPr>
      </p:sp>
      <p:sp>
        <p:nvSpPr>
          <p:cNvPr id="38" name="Text 36"/>
          <p:cNvSpPr/>
          <p:nvPr/>
        </p:nvSpPr>
        <p:spPr>
          <a:xfrm>
            <a:off x="8442821" y="1333500"/>
            <a:ext cx="1603375" cy="222250"/>
          </a:xfrm>
          <a:prstGeom prst="rect">
            <a:avLst/>
          </a:prstGeom>
          <a:noFill/>
          <a:ln/>
        </p:spPr>
        <p:txBody>
          <a:bodyPr wrap="square" lIns="0" tIns="0" rIns="0" bIns="0" rtlCol="0" anchor="ctr"/>
          <a:lstStyle/>
          <a:p>
            <a:pPr>
              <a:lnSpc>
                <a:spcPct val="130000"/>
              </a:lnSpc>
            </a:pPr>
            <a:r>
              <a:rPr lang="en-US" sz="1125" b="1" dirty="0">
                <a:solidFill>
                  <a:srgbClr val="1A535C"/>
                </a:solidFill>
                <a:latin typeface="Liter" pitchFamily="34" charset="0"/>
                <a:ea typeface="Liter" pitchFamily="34" charset="-122"/>
                <a:cs typeface="Liter" pitchFamily="34" charset="-120"/>
              </a:rPr>
              <a:t>Video &amp; Communication</a:t>
            </a:r>
            <a:endParaRPr lang="en-US" sz="1600" dirty="0"/>
          </a:p>
        </p:txBody>
      </p:sp>
      <p:sp>
        <p:nvSpPr>
          <p:cNvPr id="39" name="Shape 37"/>
          <p:cNvSpPr/>
          <p:nvPr/>
        </p:nvSpPr>
        <p:spPr>
          <a:xfrm>
            <a:off x="8180883" y="1619250"/>
            <a:ext cx="3595688" cy="492125"/>
          </a:xfrm>
          <a:custGeom>
            <a:avLst/>
            <a:gdLst/>
            <a:ahLst/>
            <a:cxnLst/>
            <a:rect l="l" t="t" r="r" b="b"/>
            <a:pathLst>
              <a:path w="3595688" h="492125">
                <a:moveTo>
                  <a:pt x="63499" y="0"/>
                </a:moveTo>
                <a:lnTo>
                  <a:pt x="3532189" y="0"/>
                </a:lnTo>
                <a:cubicBezTo>
                  <a:pt x="3567258" y="0"/>
                  <a:pt x="3595688" y="28429"/>
                  <a:pt x="3595688" y="63499"/>
                </a:cubicBezTo>
                <a:lnTo>
                  <a:pt x="3595688" y="428626"/>
                </a:lnTo>
                <a:cubicBezTo>
                  <a:pt x="3595688" y="463696"/>
                  <a:pt x="3567258" y="492125"/>
                  <a:pt x="3532189" y="492125"/>
                </a:cubicBezTo>
                <a:lnTo>
                  <a:pt x="63499" y="492125"/>
                </a:lnTo>
                <a:cubicBezTo>
                  <a:pt x="28429" y="492125"/>
                  <a:pt x="0" y="463696"/>
                  <a:pt x="0" y="428626"/>
                </a:cubicBezTo>
                <a:lnTo>
                  <a:pt x="0" y="63499"/>
                </a:lnTo>
                <a:cubicBezTo>
                  <a:pt x="0" y="28453"/>
                  <a:pt x="28453" y="0"/>
                  <a:pt x="63499" y="0"/>
                </a:cubicBezTo>
                <a:close/>
              </a:path>
            </a:pathLst>
          </a:custGeom>
          <a:solidFill>
            <a:srgbClr val="1A535C">
              <a:alpha val="10196"/>
            </a:srgbClr>
          </a:solidFill>
          <a:ln/>
        </p:spPr>
      </p:sp>
      <p:sp>
        <p:nvSpPr>
          <p:cNvPr id="40" name="Text 38"/>
          <p:cNvSpPr/>
          <p:nvPr/>
        </p:nvSpPr>
        <p:spPr>
          <a:xfrm>
            <a:off x="8244383" y="1682750"/>
            <a:ext cx="3532188"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Quattrocento Sans" pitchFamily="34" charset="0"/>
                <a:ea typeface="Quattrocento Sans" pitchFamily="34" charset="-122"/>
                <a:cs typeface="Quattrocento Sans" pitchFamily="34" charset="-120"/>
              </a:rPr>
              <a:t>Twilio Video (PHP SDK)</a:t>
            </a:r>
            <a:endParaRPr lang="en-US" sz="1600" dirty="0"/>
          </a:p>
        </p:txBody>
      </p:sp>
      <p:sp>
        <p:nvSpPr>
          <p:cNvPr id="41" name="Text 39"/>
          <p:cNvSpPr/>
          <p:nvPr/>
        </p:nvSpPr>
        <p:spPr>
          <a:xfrm>
            <a:off x="8244383" y="1873250"/>
            <a:ext cx="3532188" cy="17462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Token generation, room creation, recording—all in PHP</a:t>
            </a:r>
            <a:endParaRPr lang="en-US" sz="1600" dirty="0"/>
          </a:p>
        </p:txBody>
      </p:sp>
      <p:sp>
        <p:nvSpPr>
          <p:cNvPr id="42" name="Shape 40"/>
          <p:cNvSpPr/>
          <p:nvPr/>
        </p:nvSpPr>
        <p:spPr>
          <a:xfrm>
            <a:off x="8180883" y="2174875"/>
            <a:ext cx="3595688" cy="492125"/>
          </a:xfrm>
          <a:custGeom>
            <a:avLst/>
            <a:gdLst/>
            <a:ahLst/>
            <a:cxnLst/>
            <a:rect l="l" t="t" r="r" b="b"/>
            <a:pathLst>
              <a:path w="3595688" h="492125">
                <a:moveTo>
                  <a:pt x="63499" y="0"/>
                </a:moveTo>
                <a:lnTo>
                  <a:pt x="3532189" y="0"/>
                </a:lnTo>
                <a:cubicBezTo>
                  <a:pt x="3567258" y="0"/>
                  <a:pt x="3595688" y="28429"/>
                  <a:pt x="3595688" y="63499"/>
                </a:cubicBezTo>
                <a:lnTo>
                  <a:pt x="3595688" y="428626"/>
                </a:lnTo>
                <a:cubicBezTo>
                  <a:pt x="3595688" y="463696"/>
                  <a:pt x="3567258" y="492125"/>
                  <a:pt x="3532189" y="492125"/>
                </a:cubicBezTo>
                <a:lnTo>
                  <a:pt x="63499" y="492125"/>
                </a:lnTo>
                <a:cubicBezTo>
                  <a:pt x="28429" y="492125"/>
                  <a:pt x="0" y="463696"/>
                  <a:pt x="0" y="428626"/>
                </a:cubicBezTo>
                <a:lnTo>
                  <a:pt x="0" y="63499"/>
                </a:lnTo>
                <a:cubicBezTo>
                  <a:pt x="0" y="28453"/>
                  <a:pt x="28453" y="0"/>
                  <a:pt x="63499" y="0"/>
                </a:cubicBezTo>
                <a:close/>
              </a:path>
            </a:pathLst>
          </a:custGeom>
          <a:solidFill>
            <a:srgbClr val="1A535C">
              <a:alpha val="10196"/>
            </a:srgbClr>
          </a:solidFill>
          <a:ln/>
        </p:spPr>
      </p:sp>
      <p:sp>
        <p:nvSpPr>
          <p:cNvPr id="43" name="Text 41"/>
          <p:cNvSpPr/>
          <p:nvPr/>
        </p:nvSpPr>
        <p:spPr>
          <a:xfrm>
            <a:off x="8244383" y="2238375"/>
            <a:ext cx="3532188"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Quattrocento Sans" pitchFamily="34" charset="0"/>
                <a:ea typeface="Quattrocento Sans" pitchFamily="34" charset="-122"/>
                <a:cs typeface="Quattrocento Sans" pitchFamily="34" charset="-120"/>
              </a:rPr>
              <a:t>Meta WhatsApp API</a:t>
            </a:r>
            <a:endParaRPr lang="en-US" sz="1600" dirty="0"/>
          </a:p>
        </p:txBody>
      </p:sp>
      <p:sp>
        <p:nvSpPr>
          <p:cNvPr id="44" name="Text 42"/>
          <p:cNvSpPr/>
          <p:nvPr/>
        </p:nvSpPr>
        <p:spPr>
          <a:xfrm>
            <a:off x="8244383" y="2428875"/>
            <a:ext cx="3532188" cy="17462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Called from PHP via Guzzle; webhook received by Laravel</a:t>
            </a:r>
            <a:endParaRPr lang="en-US" sz="1600" dirty="0"/>
          </a:p>
        </p:txBody>
      </p:sp>
      <p:sp>
        <p:nvSpPr>
          <p:cNvPr id="45" name="Shape 43"/>
          <p:cNvSpPr/>
          <p:nvPr/>
        </p:nvSpPr>
        <p:spPr>
          <a:xfrm>
            <a:off x="8180883" y="2730500"/>
            <a:ext cx="3595688" cy="492125"/>
          </a:xfrm>
          <a:custGeom>
            <a:avLst/>
            <a:gdLst/>
            <a:ahLst/>
            <a:cxnLst/>
            <a:rect l="l" t="t" r="r" b="b"/>
            <a:pathLst>
              <a:path w="3595688" h="492125">
                <a:moveTo>
                  <a:pt x="63499" y="0"/>
                </a:moveTo>
                <a:lnTo>
                  <a:pt x="3532189" y="0"/>
                </a:lnTo>
                <a:cubicBezTo>
                  <a:pt x="3567258" y="0"/>
                  <a:pt x="3595688" y="28429"/>
                  <a:pt x="3595688" y="63499"/>
                </a:cubicBezTo>
                <a:lnTo>
                  <a:pt x="3595688" y="428626"/>
                </a:lnTo>
                <a:cubicBezTo>
                  <a:pt x="3595688" y="463696"/>
                  <a:pt x="3567258" y="492125"/>
                  <a:pt x="3532189" y="492125"/>
                </a:cubicBezTo>
                <a:lnTo>
                  <a:pt x="63499" y="492125"/>
                </a:lnTo>
                <a:cubicBezTo>
                  <a:pt x="28429" y="492125"/>
                  <a:pt x="0" y="463696"/>
                  <a:pt x="0" y="428626"/>
                </a:cubicBezTo>
                <a:lnTo>
                  <a:pt x="0" y="63499"/>
                </a:lnTo>
                <a:cubicBezTo>
                  <a:pt x="0" y="28453"/>
                  <a:pt x="28453" y="0"/>
                  <a:pt x="63499" y="0"/>
                </a:cubicBezTo>
                <a:close/>
              </a:path>
            </a:pathLst>
          </a:custGeom>
          <a:solidFill>
            <a:srgbClr val="1A535C">
              <a:alpha val="10196"/>
            </a:srgbClr>
          </a:solidFill>
          <a:ln/>
        </p:spPr>
      </p:sp>
      <p:sp>
        <p:nvSpPr>
          <p:cNvPr id="46" name="Text 44"/>
          <p:cNvSpPr/>
          <p:nvPr/>
        </p:nvSpPr>
        <p:spPr>
          <a:xfrm>
            <a:off x="8244383" y="2794000"/>
            <a:ext cx="3532188"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Quattrocento Sans" pitchFamily="34" charset="0"/>
                <a:ea typeface="Quattrocento Sans" pitchFamily="34" charset="-122"/>
                <a:cs typeface="Quattrocento Sans" pitchFamily="34" charset="-120"/>
              </a:rPr>
              <a:t>Web Speech API</a:t>
            </a:r>
            <a:endParaRPr lang="en-US" sz="1600" dirty="0"/>
          </a:p>
        </p:txBody>
      </p:sp>
      <p:sp>
        <p:nvSpPr>
          <p:cNvPr id="47" name="Text 45"/>
          <p:cNvSpPr/>
          <p:nvPr/>
        </p:nvSpPr>
        <p:spPr>
          <a:xfrm>
            <a:off x="8244383" y="2984500"/>
            <a:ext cx="3532188" cy="17462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Browser captures voice; Laravel PHP processes commands</a:t>
            </a:r>
            <a:endParaRPr lang="en-US" sz="1600" dirty="0"/>
          </a:p>
        </p:txBody>
      </p:sp>
      <p:sp>
        <p:nvSpPr>
          <p:cNvPr id="48" name="Shape 46"/>
          <p:cNvSpPr/>
          <p:nvPr/>
        </p:nvSpPr>
        <p:spPr>
          <a:xfrm>
            <a:off x="8180883" y="3286125"/>
            <a:ext cx="3595688" cy="492125"/>
          </a:xfrm>
          <a:custGeom>
            <a:avLst/>
            <a:gdLst/>
            <a:ahLst/>
            <a:cxnLst/>
            <a:rect l="l" t="t" r="r" b="b"/>
            <a:pathLst>
              <a:path w="3595688" h="492125">
                <a:moveTo>
                  <a:pt x="63499" y="0"/>
                </a:moveTo>
                <a:lnTo>
                  <a:pt x="3532189" y="0"/>
                </a:lnTo>
                <a:cubicBezTo>
                  <a:pt x="3567258" y="0"/>
                  <a:pt x="3595688" y="28429"/>
                  <a:pt x="3595688" y="63499"/>
                </a:cubicBezTo>
                <a:lnTo>
                  <a:pt x="3595688" y="428626"/>
                </a:lnTo>
                <a:cubicBezTo>
                  <a:pt x="3595688" y="463696"/>
                  <a:pt x="3567258" y="492125"/>
                  <a:pt x="3532189" y="492125"/>
                </a:cubicBezTo>
                <a:lnTo>
                  <a:pt x="63499" y="492125"/>
                </a:lnTo>
                <a:cubicBezTo>
                  <a:pt x="28429" y="492125"/>
                  <a:pt x="0" y="463696"/>
                  <a:pt x="0" y="428626"/>
                </a:cubicBezTo>
                <a:lnTo>
                  <a:pt x="0" y="63499"/>
                </a:lnTo>
                <a:cubicBezTo>
                  <a:pt x="0" y="28453"/>
                  <a:pt x="28453" y="0"/>
                  <a:pt x="63499" y="0"/>
                </a:cubicBezTo>
                <a:close/>
              </a:path>
            </a:pathLst>
          </a:custGeom>
          <a:solidFill>
            <a:srgbClr val="1A535C">
              <a:alpha val="10196"/>
            </a:srgbClr>
          </a:solidFill>
          <a:ln/>
        </p:spPr>
      </p:sp>
      <p:sp>
        <p:nvSpPr>
          <p:cNvPr id="49" name="Text 47"/>
          <p:cNvSpPr/>
          <p:nvPr/>
        </p:nvSpPr>
        <p:spPr>
          <a:xfrm>
            <a:off x="8244383" y="3349625"/>
            <a:ext cx="3532188"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Quattrocento Sans" pitchFamily="34" charset="0"/>
                <a:ea typeface="Quattrocento Sans" pitchFamily="34" charset="-122"/>
                <a:cs typeface="Quattrocento Sans" pitchFamily="34" charset="-120"/>
              </a:rPr>
              <a:t>Laravel Queues + FCM</a:t>
            </a:r>
            <a:endParaRPr lang="en-US" sz="1600" dirty="0"/>
          </a:p>
        </p:txBody>
      </p:sp>
      <p:sp>
        <p:nvSpPr>
          <p:cNvPr id="50" name="Text 48"/>
          <p:cNvSpPr/>
          <p:nvPr/>
        </p:nvSpPr>
        <p:spPr>
          <a:xfrm>
            <a:off x="8244383" y="3540125"/>
            <a:ext cx="3532188" cy="17462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Background jobs for email, push, SMS notifications</a:t>
            </a:r>
            <a:endParaRPr lang="en-US" sz="1600" dirty="0"/>
          </a:p>
        </p:txBody>
      </p:sp>
      <p:sp>
        <p:nvSpPr>
          <p:cNvPr id="51" name="Shape 49"/>
          <p:cNvSpPr/>
          <p:nvPr/>
        </p:nvSpPr>
        <p:spPr>
          <a:xfrm>
            <a:off x="317500" y="3984625"/>
            <a:ext cx="3786188" cy="2651125"/>
          </a:xfrm>
          <a:custGeom>
            <a:avLst/>
            <a:gdLst/>
            <a:ahLst/>
            <a:cxnLst/>
            <a:rect l="l" t="t" r="r" b="b"/>
            <a:pathLst>
              <a:path w="3786188" h="2651125">
                <a:moveTo>
                  <a:pt x="31750" y="0"/>
                </a:moveTo>
                <a:lnTo>
                  <a:pt x="3754438" y="0"/>
                </a:lnTo>
                <a:cubicBezTo>
                  <a:pt x="3771961" y="0"/>
                  <a:pt x="3786188" y="14227"/>
                  <a:pt x="3786188" y="31750"/>
                </a:cubicBezTo>
                <a:lnTo>
                  <a:pt x="3786188" y="2587631"/>
                </a:lnTo>
                <a:cubicBezTo>
                  <a:pt x="3786188" y="2622698"/>
                  <a:pt x="3757760" y="2651125"/>
                  <a:pt x="3722693" y="2651125"/>
                </a:cubicBezTo>
                <a:lnTo>
                  <a:pt x="63494" y="2651125"/>
                </a:lnTo>
                <a:cubicBezTo>
                  <a:pt x="28427" y="2651125"/>
                  <a:pt x="0" y="2622698"/>
                  <a:pt x="0" y="2587631"/>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52" name="Shape 50"/>
          <p:cNvSpPr/>
          <p:nvPr/>
        </p:nvSpPr>
        <p:spPr>
          <a:xfrm>
            <a:off x="317500" y="3984625"/>
            <a:ext cx="3786188" cy="31750"/>
          </a:xfrm>
          <a:custGeom>
            <a:avLst/>
            <a:gdLst/>
            <a:ahLst/>
            <a:cxnLst/>
            <a:rect l="l" t="t" r="r" b="b"/>
            <a:pathLst>
              <a:path w="3786188" h="31750">
                <a:moveTo>
                  <a:pt x="31750" y="0"/>
                </a:moveTo>
                <a:lnTo>
                  <a:pt x="3754438" y="0"/>
                </a:lnTo>
                <a:cubicBezTo>
                  <a:pt x="3771961" y="0"/>
                  <a:pt x="3786188" y="14227"/>
                  <a:pt x="3786188" y="31750"/>
                </a:cubicBezTo>
                <a:lnTo>
                  <a:pt x="3786188" y="31750"/>
                </a:lnTo>
                <a:lnTo>
                  <a:pt x="0" y="31750"/>
                </a:lnTo>
                <a:lnTo>
                  <a:pt x="0" y="31750"/>
                </a:lnTo>
                <a:cubicBezTo>
                  <a:pt x="0" y="14227"/>
                  <a:pt x="14227" y="0"/>
                  <a:pt x="31750" y="0"/>
                </a:cubicBezTo>
                <a:close/>
              </a:path>
            </a:pathLst>
          </a:custGeom>
          <a:solidFill>
            <a:srgbClr val="4A7C59"/>
          </a:solidFill>
          <a:ln/>
        </p:spPr>
      </p:sp>
      <p:sp>
        <p:nvSpPr>
          <p:cNvPr id="53" name="Shape 51"/>
          <p:cNvSpPr/>
          <p:nvPr/>
        </p:nvSpPr>
        <p:spPr>
          <a:xfrm>
            <a:off x="442516" y="4127500"/>
            <a:ext cx="138906" cy="158750"/>
          </a:xfrm>
          <a:custGeom>
            <a:avLst/>
            <a:gdLst/>
            <a:ahLst/>
            <a:cxnLst/>
            <a:rect l="l" t="t" r="r" b="b"/>
            <a:pathLst>
              <a:path w="138906" h="158750">
                <a:moveTo>
                  <a:pt x="138906" y="63810"/>
                </a:moveTo>
                <a:cubicBezTo>
                  <a:pt x="134317" y="66849"/>
                  <a:pt x="129046" y="69298"/>
                  <a:pt x="123558" y="71251"/>
                </a:cubicBezTo>
                <a:cubicBezTo>
                  <a:pt x="108986" y="76460"/>
                  <a:pt x="89855" y="79375"/>
                  <a:pt x="69453" y="79375"/>
                </a:cubicBezTo>
                <a:cubicBezTo>
                  <a:pt x="49051" y="79375"/>
                  <a:pt x="29890" y="76429"/>
                  <a:pt x="15348" y="71251"/>
                </a:cubicBezTo>
                <a:cubicBezTo>
                  <a:pt x="9891" y="69298"/>
                  <a:pt x="4589" y="66849"/>
                  <a:pt x="0" y="63810"/>
                </a:cubicBezTo>
                <a:lnTo>
                  <a:pt x="0" y="89297"/>
                </a:lnTo>
                <a:cubicBezTo>
                  <a:pt x="0" y="103001"/>
                  <a:pt x="31099" y="114102"/>
                  <a:pt x="69453" y="114102"/>
                </a:cubicBezTo>
                <a:cubicBezTo>
                  <a:pt x="107807" y="114102"/>
                  <a:pt x="138906" y="103001"/>
                  <a:pt x="138906" y="89297"/>
                </a:cubicBezTo>
                <a:lnTo>
                  <a:pt x="138906" y="63810"/>
                </a:lnTo>
                <a:close/>
                <a:moveTo>
                  <a:pt x="138906" y="39688"/>
                </a:moveTo>
                <a:lnTo>
                  <a:pt x="138906" y="24805"/>
                </a:lnTo>
                <a:cubicBezTo>
                  <a:pt x="138906" y="11100"/>
                  <a:pt x="107807" y="0"/>
                  <a:pt x="69453" y="0"/>
                </a:cubicBezTo>
                <a:cubicBezTo>
                  <a:pt x="31099" y="0"/>
                  <a:pt x="0" y="11100"/>
                  <a:pt x="0" y="24805"/>
                </a:cubicBezTo>
                <a:lnTo>
                  <a:pt x="0" y="39688"/>
                </a:lnTo>
                <a:cubicBezTo>
                  <a:pt x="0" y="53392"/>
                  <a:pt x="31099" y="64492"/>
                  <a:pt x="69453" y="64492"/>
                </a:cubicBezTo>
                <a:cubicBezTo>
                  <a:pt x="107807" y="64492"/>
                  <a:pt x="138906" y="53392"/>
                  <a:pt x="138906" y="39688"/>
                </a:cubicBezTo>
                <a:close/>
                <a:moveTo>
                  <a:pt x="123558" y="120861"/>
                </a:moveTo>
                <a:cubicBezTo>
                  <a:pt x="109017" y="126039"/>
                  <a:pt x="89886" y="128984"/>
                  <a:pt x="69453" y="128984"/>
                </a:cubicBezTo>
                <a:cubicBezTo>
                  <a:pt x="49020" y="128984"/>
                  <a:pt x="29890" y="126039"/>
                  <a:pt x="15348" y="120861"/>
                </a:cubicBezTo>
                <a:cubicBezTo>
                  <a:pt x="9891" y="118907"/>
                  <a:pt x="4589" y="116458"/>
                  <a:pt x="0" y="113419"/>
                </a:cubicBezTo>
                <a:lnTo>
                  <a:pt x="0" y="133945"/>
                </a:lnTo>
                <a:cubicBezTo>
                  <a:pt x="0" y="147650"/>
                  <a:pt x="31099" y="158750"/>
                  <a:pt x="69453" y="158750"/>
                </a:cubicBezTo>
                <a:cubicBezTo>
                  <a:pt x="107807" y="158750"/>
                  <a:pt x="138906" y="147650"/>
                  <a:pt x="138906" y="133945"/>
                </a:cubicBezTo>
                <a:lnTo>
                  <a:pt x="138906" y="113419"/>
                </a:lnTo>
                <a:cubicBezTo>
                  <a:pt x="134317" y="116458"/>
                  <a:pt x="129046" y="118907"/>
                  <a:pt x="123558" y="120861"/>
                </a:cubicBezTo>
                <a:close/>
              </a:path>
            </a:pathLst>
          </a:custGeom>
          <a:solidFill>
            <a:srgbClr val="4A7C59"/>
          </a:solidFill>
          <a:ln/>
        </p:spPr>
      </p:sp>
      <p:sp>
        <p:nvSpPr>
          <p:cNvPr id="54" name="Text 52"/>
          <p:cNvSpPr/>
          <p:nvPr/>
        </p:nvSpPr>
        <p:spPr>
          <a:xfrm>
            <a:off x="674688" y="4095750"/>
            <a:ext cx="1325563" cy="222250"/>
          </a:xfrm>
          <a:prstGeom prst="rect">
            <a:avLst/>
          </a:prstGeom>
          <a:noFill/>
          <a:ln/>
        </p:spPr>
        <p:txBody>
          <a:bodyPr wrap="square" lIns="0" tIns="0" rIns="0" bIns="0" rtlCol="0" anchor="ctr"/>
          <a:lstStyle/>
          <a:p>
            <a:pPr>
              <a:lnSpc>
                <a:spcPct val="130000"/>
              </a:lnSpc>
            </a:pPr>
            <a:r>
              <a:rPr lang="en-US" sz="1125" b="1" dirty="0">
                <a:solidFill>
                  <a:srgbClr val="1A535C"/>
                </a:solidFill>
                <a:latin typeface="Liter" pitchFamily="34" charset="0"/>
                <a:ea typeface="Liter" pitchFamily="34" charset="-122"/>
                <a:cs typeface="Liter" pitchFamily="34" charset="-120"/>
              </a:rPr>
              <a:t>Database &amp; Storage</a:t>
            </a:r>
            <a:endParaRPr lang="en-US" sz="1600" dirty="0"/>
          </a:p>
        </p:txBody>
      </p:sp>
      <p:sp>
        <p:nvSpPr>
          <p:cNvPr id="55" name="Shape 53"/>
          <p:cNvSpPr/>
          <p:nvPr/>
        </p:nvSpPr>
        <p:spPr>
          <a:xfrm>
            <a:off x="412750" y="4474072"/>
            <a:ext cx="3595688" cy="492125"/>
          </a:xfrm>
          <a:custGeom>
            <a:avLst/>
            <a:gdLst/>
            <a:ahLst/>
            <a:cxnLst/>
            <a:rect l="l" t="t" r="r" b="b"/>
            <a:pathLst>
              <a:path w="3595688" h="492125">
                <a:moveTo>
                  <a:pt x="63499" y="0"/>
                </a:moveTo>
                <a:lnTo>
                  <a:pt x="3532189" y="0"/>
                </a:lnTo>
                <a:cubicBezTo>
                  <a:pt x="3567258" y="0"/>
                  <a:pt x="3595688" y="28429"/>
                  <a:pt x="3595688" y="63499"/>
                </a:cubicBezTo>
                <a:lnTo>
                  <a:pt x="3595688" y="428626"/>
                </a:lnTo>
                <a:cubicBezTo>
                  <a:pt x="3595688" y="463696"/>
                  <a:pt x="3567258" y="492125"/>
                  <a:pt x="3532189" y="492125"/>
                </a:cubicBezTo>
                <a:lnTo>
                  <a:pt x="63499" y="492125"/>
                </a:lnTo>
                <a:cubicBezTo>
                  <a:pt x="28429" y="492125"/>
                  <a:pt x="0" y="463696"/>
                  <a:pt x="0" y="428626"/>
                </a:cubicBezTo>
                <a:lnTo>
                  <a:pt x="0" y="63499"/>
                </a:lnTo>
                <a:cubicBezTo>
                  <a:pt x="0" y="28453"/>
                  <a:pt x="28453" y="0"/>
                  <a:pt x="63499" y="0"/>
                </a:cubicBezTo>
                <a:close/>
              </a:path>
            </a:pathLst>
          </a:custGeom>
          <a:solidFill>
            <a:srgbClr val="4A7C59">
              <a:alpha val="10196"/>
            </a:srgbClr>
          </a:solidFill>
          <a:ln/>
        </p:spPr>
      </p:sp>
      <p:sp>
        <p:nvSpPr>
          <p:cNvPr id="56" name="Text 54"/>
          <p:cNvSpPr/>
          <p:nvPr/>
        </p:nvSpPr>
        <p:spPr>
          <a:xfrm>
            <a:off x="476250" y="4537572"/>
            <a:ext cx="3532188" cy="190500"/>
          </a:xfrm>
          <a:prstGeom prst="rect">
            <a:avLst/>
          </a:prstGeom>
          <a:noFill/>
          <a:ln/>
        </p:spPr>
        <p:txBody>
          <a:bodyPr wrap="square" lIns="0" tIns="0" rIns="0" bIns="0" rtlCol="0" anchor="ctr"/>
          <a:lstStyle/>
          <a:p>
            <a:pPr>
              <a:lnSpc>
                <a:spcPct val="130000"/>
              </a:lnSpc>
            </a:pPr>
            <a:r>
              <a:rPr lang="en-US" sz="1000" b="1" dirty="0">
                <a:solidFill>
                  <a:srgbClr val="4A7C59"/>
                </a:solidFill>
                <a:latin typeface="Quattrocento Sans" pitchFamily="34" charset="0"/>
                <a:ea typeface="Quattrocento Sans" pitchFamily="34" charset="-122"/>
                <a:cs typeface="Quattrocento Sans" pitchFamily="34" charset="-120"/>
              </a:rPr>
              <a:t>MySQL 8 + Redis</a:t>
            </a:r>
            <a:endParaRPr lang="en-US" sz="1600" dirty="0"/>
          </a:p>
        </p:txBody>
      </p:sp>
      <p:sp>
        <p:nvSpPr>
          <p:cNvPr id="57" name="Text 55"/>
          <p:cNvSpPr/>
          <p:nvPr/>
        </p:nvSpPr>
        <p:spPr>
          <a:xfrm>
            <a:off x="476250" y="4728072"/>
            <a:ext cx="3532188" cy="17462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Relational data + fast caching for sessions &amp; queues</a:t>
            </a:r>
            <a:endParaRPr lang="en-US" sz="1600" dirty="0"/>
          </a:p>
        </p:txBody>
      </p:sp>
      <p:sp>
        <p:nvSpPr>
          <p:cNvPr id="58" name="Shape 56"/>
          <p:cNvSpPr/>
          <p:nvPr/>
        </p:nvSpPr>
        <p:spPr>
          <a:xfrm>
            <a:off x="412750" y="5214938"/>
            <a:ext cx="3595688" cy="492125"/>
          </a:xfrm>
          <a:custGeom>
            <a:avLst/>
            <a:gdLst/>
            <a:ahLst/>
            <a:cxnLst/>
            <a:rect l="l" t="t" r="r" b="b"/>
            <a:pathLst>
              <a:path w="3595688" h="492125">
                <a:moveTo>
                  <a:pt x="63499" y="0"/>
                </a:moveTo>
                <a:lnTo>
                  <a:pt x="3532189" y="0"/>
                </a:lnTo>
                <a:cubicBezTo>
                  <a:pt x="3567258" y="0"/>
                  <a:pt x="3595688" y="28429"/>
                  <a:pt x="3595688" y="63499"/>
                </a:cubicBezTo>
                <a:lnTo>
                  <a:pt x="3595688" y="428626"/>
                </a:lnTo>
                <a:cubicBezTo>
                  <a:pt x="3595688" y="463696"/>
                  <a:pt x="3567258" y="492125"/>
                  <a:pt x="3532189" y="492125"/>
                </a:cubicBezTo>
                <a:lnTo>
                  <a:pt x="63499" y="492125"/>
                </a:lnTo>
                <a:cubicBezTo>
                  <a:pt x="28429" y="492125"/>
                  <a:pt x="0" y="463696"/>
                  <a:pt x="0" y="428626"/>
                </a:cubicBezTo>
                <a:lnTo>
                  <a:pt x="0" y="63499"/>
                </a:lnTo>
                <a:cubicBezTo>
                  <a:pt x="0" y="28453"/>
                  <a:pt x="28453" y="0"/>
                  <a:pt x="63499" y="0"/>
                </a:cubicBezTo>
                <a:close/>
              </a:path>
            </a:pathLst>
          </a:custGeom>
          <a:solidFill>
            <a:srgbClr val="4A7C59">
              <a:alpha val="10196"/>
            </a:srgbClr>
          </a:solidFill>
          <a:ln/>
        </p:spPr>
      </p:sp>
      <p:sp>
        <p:nvSpPr>
          <p:cNvPr id="59" name="Text 57"/>
          <p:cNvSpPr/>
          <p:nvPr/>
        </p:nvSpPr>
        <p:spPr>
          <a:xfrm>
            <a:off x="476250" y="5278438"/>
            <a:ext cx="3532188" cy="190500"/>
          </a:xfrm>
          <a:prstGeom prst="rect">
            <a:avLst/>
          </a:prstGeom>
          <a:noFill/>
          <a:ln/>
        </p:spPr>
        <p:txBody>
          <a:bodyPr wrap="square" lIns="0" tIns="0" rIns="0" bIns="0" rtlCol="0" anchor="ctr"/>
          <a:lstStyle/>
          <a:p>
            <a:pPr>
              <a:lnSpc>
                <a:spcPct val="130000"/>
              </a:lnSpc>
            </a:pPr>
            <a:r>
              <a:rPr lang="en-US" sz="1000" b="1" dirty="0">
                <a:solidFill>
                  <a:srgbClr val="4A7C59"/>
                </a:solidFill>
                <a:latin typeface="Quattrocento Sans" pitchFamily="34" charset="0"/>
                <a:ea typeface="Quattrocento Sans" pitchFamily="34" charset="-122"/>
                <a:cs typeface="Quattrocento Sans" pitchFamily="34" charset="-120"/>
              </a:rPr>
              <a:t>AWS S3</a:t>
            </a:r>
            <a:endParaRPr lang="en-US" sz="1600" dirty="0"/>
          </a:p>
        </p:txBody>
      </p:sp>
      <p:sp>
        <p:nvSpPr>
          <p:cNvPr id="60" name="Text 58"/>
          <p:cNvSpPr/>
          <p:nvPr/>
        </p:nvSpPr>
        <p:spPr>
          <a:xfrm>
            <a:off x="476250" y="5468938"/>
            <a:ext cx="3532188" cy="17462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Laravel Filesystem PHP adapter for all file operations</a:t>
            </a:r>
            <a:endParaRPr lang="en-US" sz="1600" dirty="0"/>
          </a:p>
        </p:txBody>
      </p:sp>
      <p:sp>
        <p:nvSpPr>
          <p:cNvPr id="61" name="Shape 59"/>
          <p:cNvSpPr/>
          <p:nvPr/>
        </p:nvSpPr>
        <p:spPr>
          <a:xfrm>
            <a:off x="412750" y="5955706"/>
            <a:ext cx="3595688" cy="492125"/>
          </a:xfrm>
          <a:custGeom>
            <a:avLst/>
            <a:gdLst/>
            <a:ahLst/>
            <a:cxnLst/>
            <a:rect l="l" t="t" r="r" b="b"/>
            <a:pathLst>
              <a:path w="3595688" h="492125">
                <a:moveTo>
                  <a:pt x="63499" y="0"/>
                </a:moveTo>
                <a:lnTo>
                  <a:pt x="3532189" y="0"/>
                </a:lnTo>
                <a:cubicBezTo>
                  <a:pt x="3567258" y="0"/>
                  <a:pt x="3595688" y="28429"/>
                  <a:pt x="3595688" y="63499"/>
                </a:cubicBezTo>
                <a:lnTo>
                  <a:pt x="3595688" y="428626"/>
                </a:lnTo>
                <a:cubicBezTo>
                  <a:pt x="3595688" y="463696"/>
                  <a:pt x="3567258" y="492125"/>
                  <a:pt x="3532189" y="492125"/>
                </a:cubicBezTo>
                <a:lnTo>
                  <a:pt x="63499" y="492125"/>
                </a:lnTo>
                <a:cubicBezTo>
                  <a:pt x="28429" y="492125"/>
                  <a:pt x="0" y="463696"/>
                  <a:pt x="0" y="428626"/>
                </a:cubicBezTo>
                <a:lnTo>
                  <a:pt x="0" y="63499"/>
                </a:lnTo>
                <a:cubicBezTo>
                  <a:pt x="0" y="28453"/>
                  <a:pt x="28453" y="0"/>
                  <a:pt x="63499" y="0"/>
                </a:cubicBezTo>
                <a:close/>
              </a:path>
            </a:pathLst>
          </a:custGeom>
          <a:solidFill>
            <a:srgbClr val="4A7C59">
              <a:alpha val="10196"/>
            </a:srgbClr>
          </a:solidFill>
          <a:ln/>
        </p:spPr>
      </p:sp>
      <p:sp>
        <p:nvSpPr>
          <p:cNvPr id="62" name="Text 60"/>
          <p:cNvSpPr/>
          <p:nvPr/>
        </p:nvSpPr>
        <p:spPr>
          <a:xfrm>
            <a:off x="476250" y="6019206"/>
            <a:ext cx="3532188" cy="190500"/>
          </a:xfrm>
          <a:prstGeom prst="rect">
            <a:avLst/>
          </a:prstGeom>
          <a:noFill/>
          <a:ln/>
        </p:spPr>
        <p:txBody>
          <a:bodyPr wrap="square" lIns="0" tIns="0" rIns="0" bIns="0" rtlCol="0" anchor="ctr"/>
          <a:lstStyle/>
          <a:p>
            <a:pPr>
              <a:lnSpc>
                <a:spcPct val="130000"/>
              </a:lnSpc>
            </a:pPr>
            <a:r>
              <a:rPr lang="en-US" sz="1000" b="1" dirty="0">
                <a:solidFill>
                  <a:srgbClr val="4A7C59"/>
                </a:solidFill>
                <a:latin typeface="Quattrocento Sans" pitchFamily="34" charset="0"/>
                <a:ea typeface="Quattrocento Sans" pitchFamily="34" charset="-122"/>
                <a:cs typeface="Quattrocento Sans" pitchFamily="34" charset="-120"/>
              </a:rPr>
              <a:t>Laravel Scout + MeiliSearch</a:t>
            </a:r>
            <a:endParaRPr lang="en-US" sz="1600" dirty="0"/>
          </a:p>
        </p:txBody>
      </p:sp>
      <p:sp>
        <p:nvSpPr>
          <p:cNvPr id="63" name="Text 61"/>
          <p:cNvSpPr/>
          <p:nvPr/>
        </p:nvSpPr>
        <p:spPr>
          <a:xfrm>
            <a:off x="476250" y="6209706"/>
            <a:ext cx="3532188" cy="17462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Full-text search configured &amp; queried through PHP</a:t>
            </a:r>
            <a:endParaRPr lang="en-US" sz="1600" dirty="0"/>
          </a:p>
        </p:txBody>
      </p:sp>
      <p:sp>
        <p:nvSpPr>
          <p:cNvPr id="64" name="Shape 62"/>
          <p:cNvSpPr/>
          <p:nvPr/>
        </p:nvSpPr>
        <p:spPr>
          <a:xfrm>
            <a:off x="4201517" y="3984625"/>
            <a:ext cx="3786188" cy="2651125"/>
          </a:xfrm>
          <a:custGeom>
            <a:avLst/>
            <a:gdLst/>
            <a:ahLst/>
            <a:cxnLst/>
            <a:rect l="l" t="t" r="r" b="b"/>
            <a:pathLst>
              <a:path w="3786188" h="2651125">
                <a:moveTo>
                  <a:pt x="31750" y="0"/>
                </a:moveTo>
                <a:lnTo>
                  <a:pt x="3754438" y="0"/>
                </a:lnTo>
                <a:cubicBezTo>
                  <a:pt x="3771961" y="0"/>
                  <a:pt x="3786188" y="14227"/>
                  <a:pt x="3786188" y="31750"/>
                </a:cubicBezTo>
                <a:lnTo>
                  <a:pt x="3786188" y="2587631"/>
                </a:lnTo>
                <a:cubicBezTo>
                  <a:pt x="3786188" y="2622698"/>
                  <a:pt x="3757760" y="2651125"/>
                  <a:pt x="3722693" y="2651125"/>
                </a:cubicBezTo>
                <a:lnTo>
                  <a:pt x="63494" y="2651125"/>
                </a:lnTo>
                <a:cubicBezTo>
                  <a:pt x="28427" y="2651125"/>
                  <a:pt x="0" y="2622698"/>
                  <a:pt x="0" y="2587631"/>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65" name="Shape 63"/>
          <p:cNvSpPr/>
          <p:nvPr/>
        </p:nvSpPr>
        <p:spPr>
          <a:xfrm>
            <a:off x="4201517" y="3984625"/>
            <a:ext cx="3786188" cy="31750"/>
          </a:xfrm>
          <a:custGeom>
            <a:avLst/>
            <a:gdLst/>
            <a:ahLst/>
            <a:cxnLst/>
            <a:rect l="l" t="t" r="r" b="b"/>
            <a:pathLst>
              <a:path w="3786188" h="31750">
                <a:moveTo>
                  <a:pt x="31750" y="0"/>
                </a:moveTo>
                <a:lnTo>
                  <a:pt x="3754438" y="0"/>
                </a:lnTo>
                <a:cubicBezTo>
                  <a:pt x="3771961" y="0"/>
                  <a:pt x="3786188" y="14227"/>
                  <a:pt x="3786188" y="31750"/>
                </a:cubicBezTo>
                <a:lnTo>
                  <a:pt x="3786188" y="31750"/>
                </a:lnTo>
                <a:lnTo>
                  <a:pt x="0" y="31750"/>
                </a:lnTo>
                <a:lnTo>
                  <a:pt x="0" y="31750"/>
                </a:lnTo>
                <a:cubicBezTo>
                  <a:pt x="0" y="14227"/>
                  <a:pt x="14227" y="0"/>
                  <a:pt x="31750" y="0"/>
                </a:cubicBezTo>
                <a:close/>
              </a:path>
            </a:pathLst>
          </a:custGeom>
          <a:solidFill>
            <a:srgbClr val="F7B538"/>
          </a:solidFill>
          <a:ln/>
        </p:spPr>
      </p:sp>
      <p:sp>
        <p:nvSpPr>
          <p:cNvPr id="66" name="Shape 64"/>
          <p:cNvSpPr/>
          <p:nvPr/>
        </p:nvSpPr>
        <p:spPr>
          <a:xfrm>
            <a:off x="4316611" y="4127500"/>
            <a:ext cx="158750" cy="158750"/>
          </a:xfrm>
          <a:custGeom>
            <a:avLst/>
            <a:gdLst/>
            <a:ahLst/>
            <a:cxnLst/>
            <a:rect l="l" t="t" r="r" b="b"/>
            <a:pathLst>
              <a:path w="158750" h="158750">
                <a:moveTo>
                  <a:pt x="37207" y="17363"/>
                </a:moveTo>
                <a:cubicBezTo>
                  <a:pt x="37207" y="7782"/>
                  <a:pt x="44990" y="0"/>
                  <a:pt x="54570" y="0"/>
                </a:cubicBezTo>
                <a:lnTo>
                  <a:pt x="62012" y="0"/>
                </a:lnTo>
                <a:cubicBezTo>
                  <a:pt x="67500" y="0"/>
                  <a:pt x="71934" y="4434"/>
                  <a:pt x="71934" y="9922"/>
                </a:cubicBezTo>
                <a:lnTo>
                  <a:pt x="71934" y="148828"/>
                </a:lnTo>
                <a:cubicBezTo>
                  <a:pt x="71934" y="154316"/>
                  <a:pt x="67500" y="158750"/>
                  <a:pt x="62012" y="158750"/>
                </a:cubicBezTo>
                <a:lnTo>
                  <a:pt x="52090" y="158750"/>
                </a:lnTo>
                <a:cubicBezTo>
                  <a:pt x="42850" y="158750"/>
                  <a:pt x="35068" y="152425"/>
                  <a:pt x="32866" y="143867"/>
                </a:cubicBezTo>
                <a:cubicBezTo>
                  <a:pt x="32649" y="143867"/>
                  <a:pt x="32463" y="143867"/>
                  <a:pt x="32246" y="143867"/>
                </a:cubicBezTo>
                <a:cubicBezTo>
                  <a:pt x="18542" y="143867"/>
                  <a:pt x="7441" y="132767"/>
                  <a:pt x="7441" y="119062"/>
                </a:cubicBezTo>
                <a:cubicBezTo>
                  <a:pt x="7441" y="113481"/>
                  <a:pt x="9302" y="108334"/>
                  <a:pt x="12402" y="104180"/>
                </a:cubicBezTo>
                <a:cubicBezTo>
                  <a:pt x="6387" y="99653"/>
                  <a:pt x="2480" y="92459"/>
                  <a:pt x="2480" y="84336"/>
                </a:cubicBezTo>
                <a:cubicBezTo>
                  <a:pt x="2480" y="74755"/>
                  <a:pt x="7938" y="66415"/>
                  <a:pt x="15875" y="62291"/>
                </a:cubicBezTo>
                <a:cubicBezTo>
                  <a:pt x="13674" y="58570"/>
                  <a:pt x="12402" y="54229"/>
                  <a:pt x="12402" y="49609"/>
                </a:cubicBezTo>
                <a:cubicBezTo>
                  <a:pt x="12402" y="35905"/>
                  <a:pt x="23502" y="24805"/>
                  <a:pt x="37207" y="24805"/>
                </a:cubicBezTo>
                <a:lnTo>
                  <a:pt x="37207" y="17363"/>
                </a:lnTo>
                <a:close/>
                <a:moveTo>
                  <a:pt x="121543" y="17363"/>
                </a:moveTo>
                <a:lnTo>
                  <a:pt x="121543" y="24805"/>
                </a:lnTo>
                <a:cubicBezTo>
                  <a:pt x="135248" y="24805"/>
                  <a:pt x="146348" y="35905"/>
                  <a:pt x="146348" y="49609"/>
                </a:cubicBezTo>
                <a:cubicBezTo>
                  <a:pt x="146348" y="54260"/>
                  <a:pt x="145076" y="58601"/>
                  <a:pt x="142875" y="62291"/>
                </a:cubicBezTo>
                <a:cubicBezTo>
                  <a:pt x="150844" y="66415"/>
                  <a:pt x="156270" y="74724"/>
                  <a:pt x="156270" y="84336"/>
                </a:cubicBezTo>
                <a:cubicBezTo>
                  <a:pt x="156270" y="92459"/>
                  <a:pt x="152363" y="99653"/>
                  <a:pt x="146348" y="104180"/>
                </a:cubicBezTo>
                <a:cubicBezTo>
                  <a:pt x="149448" y="108334"/>
                  <a:pt x="151309" y="113481"/>
                  <a:pt x="151309" y="119062"/>
                </a:cubicBezTo>
                <a:cubicBezTo>
                  <a:pt x="151309" y="132767"/>
                  <a:pt x="140208" y="143867"/>
                  <a:pt x="126504" y="143867"/>
                </a:cubicBezTo>
                <a:cubicBezTo>
                  <a:pt x="126287" y="143867"/>
                  <a:pt x="126101" y="143867"/>
                  <a:pt x="125884" y="143867"/>
                </a:cubicBezTo>
                <a:cubicBezTo>
                  <a:pt x="123682" y="152425"/>
                  <a:pt x="115900" y="158750"/>
                  <a:pt x="106660" y="158750"/>
                </a:cubicBezTo>
                <a:lnTo>
                  <a:pt x="96738" y="158750"/>
                </a:lnTo>
                <a:cubicBezTo>
                  <a:pt x="91250" y="158750"/>
                  <a:pt x="86816" y="154316"/>
                  <a:pt x="86816" y="148828"/>
                </a:cubicBezTo>
                <a:lnTo>
                  <a:pt x="86816" y="9922"/>
                </a:lnTo>
                <a:cubicBezTo>
                  <a:pt x="86816" y="4434"/>
                  <a:pt x="91250" y="0"/>
                  <a:pt x="96738" y="0"/>
                </a:cubicBezTo>
                <a:lnTo>
                  <a:pt x="104180" y="0"/>
                </a:lnTo>
                <a:cubicBezTo>
                  <a:pt x="113760" y="0"/>
                  <a:pt x="121543" y="7782"/>
                  <a:pt x="121543" y="17363"/>
                </a:cubicBezTo>
                <a:close/>
              </a:path>
            </a:pathLst>
          </a:custGeom>
          <a:solidFill>
            <a:srgbClr val="F7B538"/>
          </a:solidFill>
          <a:ln/>
        </p:spPr>
      </p:sp>
      <p:sp>
        <p:nvSpPr>
          <p:cNvPr id="67" name="Text 65"/>
          <p:cNvSpPr/>
          <p:nvPr/>
        </p:nvSpPr>
        <p:spPr>
          <a:xfrm>
            <a:off x="4558705" y="4095750"/>
            <a:ext cx="1198563" cy="222250"/>
          </a:xfrm>
          <a:prstGeom prst="rect">
            <a:avLst/>
          </a:prstGeom>
          <a:noFill/>
          <a:ln/>
        </p:spPr>
        <p:txBody>
          <a:bodyPr wrap="square" lIns="0" tIns="0" rIns="0" bIns="0" rtlCol="0" anchor="ctr"/>
          <a:lstStyle/>
          <a:p>
            <a:pPr>
              <a:lnSpc>
                <a:spcPct val="130000"/>
              </a:lnSpc>
            </a:pPr>
            <a:r>
              <a:rPr lang="en-US" sz="1125" b="1" dirty="0">
                <a:solidFill>
                  <a:srgbClr val="1A535C"/>
                </a:solidFill>
                <a:latin typeface="Liter" pitchFamily="34" charset="0"/>
                <a:ea typeface="Liter" pitchFamily="34" charset="-122"/>
                <a:cs typeface="Liter" pitchFamily="34" charset="-120"/>
              </a:rPr>
              <a:t>AI &amp; External APIs</a:t>
            </a:r>
            <a:endParaRPr lang="en-US" sz="1600" dirty="0"/>
          </a:p>
        </p:txBody>
      </p:sp>
      <p:sp>
        <p:nvSpPr>
          <p:cNvPr id="68" name="Shape 66"/>
          <p:cNvSpPr/>
          <p:nvPr/>
        </p:nvSpPr>
        <p:spPr>
          <a:xfrm>
            <a:off x="4296767" y="4381500"/>
            <a:ext cx="3595688" cy="492125"/>
          </a:xfrm>
          <a:custGeom>
            <a:avLst/>
            <a:gdLst/>
            <a:ahLst/>
            <a:cxnLst/>
            <a:rect l="l" t="t" r="r" b="b"/>
            <a:pathLst>
              <a:path w="3595688" h="492125">
                <a:moveTo>
                  <a:pt x="63499" y="0"/>
                </a:moveTo>
                <a:lnTo>
                  <a:pt x="3532189" y="0"/>
                </a:lnTo>
                <a:cubicBezTo>
                  <a:pt x="3567258" y="0"/>
                  <a:pt x="3595688" y="28429"/>
                  <a:pt x="3595688" y="63499"/>
                </a:cubicBezTo>
                <a:lnTo>
                  <a:pt x="3595688" y="428626"/>
                </a:lnTo>
                <a:cubicBezTo>
                  <a:pt x="3595688" y="463696"/>
                  <a:pt x="3567258" y="492125"/>
                  <a:pt x="3532189" y="492125"/>
                </a:cubicBezTo>
                <a:lnTo>
                  <a:pt x="63499" y="492125"/>
                </a:lnTo>
                <a:cubicBezTo>
                  <a:pt x="28429" y="492125"/>
                  <a:pt x="0" y="463696"/>
                  <a:pt x="0" y="428626"/>
                </a:cubicBezTo>
                <a:lnTo>
                  <a:pt x="0" y="63499"/>
                </a:lnTo>
                <a:cubicBezTo>
                  <a:pt x="0" y="28453"/>
                  <a:pt x="28453" y="0"/>
                  <a:pt x="63499" y="0"/>
                </a:cubicBezTo>
                <a:close/>
              </a:path>
            </a:pathLst>
          </a:custGeom>
          <a:solidFill>
            <a:srgbClr val="F7B538">
              <a:alpha val="20000"/>
            </a:srgbClr>
          </a:solidFill>
          <a:ln/>
        </p:spPr>
      </p:sp>
      <p:sp>
        <p:nvSpPr>
          <p:cNvPr id="69" name="Text 67"/>
          <p:cNvSpPr/>
          <p:nvPr/>
        </p:nvSpPr>
        <p:spPr>
          <a:xfrm>
            <a:off x="4360267" y="4445000"/>
            <a:ext cx="3532188" cy="190500"/>
          </a:xfrm>
          <a:prstGeom prst="rect">
            <a:avLst/>
          </a:prstGeom>
          <a:noFill/>
          <a:ln/>
        </p:spPr>
        <p:txBody>
          <a:bodyPr wrap="square" lIns="0" tIns="0" rIns="0" bIns="0" rtlCol="0" anchor="ctr"/>
          <a:lstStyle/>
          <a:p>
            <a:pPr>
              <a:lnSpc>
                <a:spcPct val="130000"/>
              </a:lnSpc>
            </a:pPr>
            <a:r>
              <a:rPr lang="en-US" sz="1000" b="1" dirty="0">
                <a:solidFill>
                  <a:srgbClr val="F7B538"/>
                </a:solidFill>
                <a:latin typeface="Quattrocento Sans" pitchFamily="34" charset="0"/>
                <a:ea typeface="Quattrocento Sans" pitchFamily="34" charset="-122"/>
                <a:cs typeface="Quattrocento Sans" pitchFamily="34" charset="-120"/>
              </a:rPr>
              <a:t>OpenAI API (PHP Guzzle)</a:t>
            </a:r>
            <a:endParaRPr lang="en-US" sz="1600" dirty="0"/>
          </a:p>
        </p:txBody>
      </p:sp>
      <p:sp>
        <p:nvSpPr>
          <p:cNvPr id="70" name="Text 68"/>
          <p:cNvSpPr/>
          <p:nvPr/>
        </p:nvSpPr>
        <p:spPr>
          <a:xfrm>
            <a:off x="4360267" y="4635500"/>
            <a:ext cx="3532188" cy="17462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Wisdom matching, sentiment analysis, teaching suggestions</a:t>
            </a:r>
            <a:endParaRPr lang="en-US" sz="1600" dirty="0"/>
          </a:p>
        </p:txBody>
      </p:sp>
      <p:sp>
        <p:nvSpPr>
          <p:cNvPr id="71" name="Shape 69"/>
          <p:cNvSpPr/>
          <p:nvPr/>
        </p:nvSpPr>
        <p:spPr>
          <a:xfrm>
            <a:off x="4296767" y="4937125"/>
            <a:ext cx="3595688" cy="492125"/>
          </a:xfrm>
          <a:custGeom>
            <a:avLst/>
            <a:gdLst/>
            <a:ahLst/>
            <a:cxnLst/>
            <a:rect l="l" t="t" r="r" b="b"/>
            <a:pathLst>
              <a:path w="3595688" h="492125">
                <a:moveTo>
                  <a:pt x="63499" y="0"/>
                </a:moveTo>
                <a:lnTo>
                  <a:pt x="3532189" y="0"/>
                </a:lnTo>
                <a:cubicBezTo>
                  <a:pt x="3567258" y="0"/>
                  <a:pt x="3595688" y="28429"/>
                  <a:pt x="3595688" y="63499"/>
                </a:cubicBezTo>
                <a:lnTo>
                  <a:pt x="3595688" y="428626"/>
                </a:lnTo>
                <a:cubicBezTo>
                  <a:pt x="3595688" y="463696"/>
                  <a:pt x="3567258" y="492125"/>
                  <a:pt x="3532189" y="492125"/>
                </a:cubicBezTo>
                <a:lnTo>
                  <a:pt x="63499" y="492125"/>
                </a:lnTo>
                <a:cubicBezTo>
                  <a:pt x="28429" y="492125"/>
                  <a:pt x="0" y="463696"/>
                  <a:pt x="0" y="428626"/>
                </a:cubicBezTo>
                <a:lnTo>
                  <a:pt x="0" y="63499"/>
                </a:lnTo>
                <a:cubicBezTo>
                  <a:pt x="0" y="28453"/>
                  <a:pt x="28453" y="0"/>
                  <a:pt x="63499" y="0"/>
                </a:cubicBezTo>
                <a:close/>
              </a:path>
            </a:pathLst>
          </a:custGeom>
          <a:solidFill>
            <a:srgbClr val="F7B538">
              <a:alpha val="20000"/>
            </a:srgbClr>
          </a:solidFill>
          <a:ln/>
        </p:spPr>
      </p:sp>
      <p:sp>
        <p:nvSpPr>
          <p:cNvPr id="72" name="Text 70"/>
          <p:cNvSpPr/>
          <p:nvPr/>
        </p:nvSpPr>
        <p:spPr>
          <a:xfrm>
            <a:off x="4360267" y="5000625"/>
            <a:ext cx="3532188" cy="190500"/>
          </a:xfrm>
          <a:prstGeom prst="rect">
            <a:avLst/>
          </a:prstGeom>
          <a:noFill/>
          <a:ln/>
        </p:spPr>
        <p:txBody>
          <a:bodyPr wrap="square" lIns="0" tIns="0" rIns="0" bIns="0" rtlCol="0" anchor="ctr"/>
          <a:lstStyle/>
          <a:p>
            <a:pPr>
              <a:lnSpc>
                <a:spcPct val="130000"/>
              </a:lnSpc>
            </a:pPr>
            <a:r>
              <a:rPr lang="en-US" sz="1000" b="1" dirty="0">
                <a:solidFill>
                  <a:srgbClr val="F7B538"/>
                </a:solidFill>
                <a:latin typeface="Quattrocento Sans" pitchFamily="34" charset="0"/>
                <a:ea typeface="Quattrocento Sans" pitchFamily="34" charset="-122"/>
                <a:cs typeface="Quattrocento Sans" pitchFamily="34" charset="-120"/>
              </a:rPr>
              <a:t>Google Speech-to-Text</a:t>
            </a:r>
            <a:endParaRPr lang="en-US" sz="1600" dirty="0"/>
          </a:p>
        </p:txBody>
      </p:sp>
      <p:sp>
        <p:nvSpPr>
          <p:cNvPr id="73" name="Text 71"/>
          <p:cNvSpPr/>
          <p:nvPr/>
        </p:nvSpPr>
        <p:spPr>
          <a:xfrm>
            <a:off x="4360267" y="5191125"/>
            <a:ext cx="3532188" cy="17462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Real-time subtitle translation during video sessions</a:t>
            </a:r>
            <a:endParaRPr lang="en-US" sz="1600" dirty="0"/>
          </a:p>
        </p:txBody>
      </p:sp>
      <p:sp>
        <p:nvSpPr>
          <p:cNvPr id="74" name="Shape 72"/>
          <p:cNvSpPr/>
          <p:nvPr/>
        </p:nvSpPr>
        <p:spPr>
          <a:xfrm>
            <a:off x="4296767" y="5492750"/>
            <a:ext cx="3595688" cy="492125"/>
          </a:xfrm>
          <a:custGeom>
            <a:avLst/>
            <a:gdLst/>
            <a:ahLst/>
            <a:cxnLst/>
            <a:rect l="l" t="t" r="r" b="b"/>
            <a:pathLst>
              <a:path w="3595688" h="492125">
                <a:moveTo>
                  <a:pt x="63499" y="0"/>
                </a:moveTo>
                <a:lnTo>
                  <a:pt x="3532189" y="0"/>
                </a:lnTo>
                <a:cubicBezTo>
                  <a:pt x="3567258" y="0"/>
                  <a:pt x="3595688" y="28429"/>
                  <a:pt x="3595688" y="63499"/>
                </a:cubicBezTo>
                <a:lnTo>
                  <a:pt x="3595688" y="428626"/>
                </a:lnTo>
                <a:cubicBezTo>
                  <a:pt x="3595688" y="463696"/>
                  <a:pt x="3567258" y="492125"/>
                  <a:pt x="3532189" y="492125"/>
                </a:cubicBezTo>
                <a:lnTo>
                  <a:pt x="63499" y="492125"/>
                </a:lnTo>
                <a:cubicBezTo>
                  <a:pt x="28429" y="492125"/>
                  <a:pt x="0" y="463696"/>
                  <a:pt x="0" y="428626"/>
                </a:cubicBezTo>
                <a:lnTo>
                  <a:pt x="0" y="63499"/>
                </a:lnTo>
                <a:cubicBezTo>
                  <a:pt x="0" y="28453"/>
                  <a:pt x="28453" y="0"/>
                  <a:pt x="63499" y="0"/>
                </a:cubicBezTo>
                <a:close/>
              </a:path>
            </a:pathLst>
          </a:custGeom>
          <a:solidFill>
            <a:srgbClr val="F7B538">
              <a:alpha val="20000"/>
            </a:srgbClr>
          </a:solidFill>
          <a:ln/>
        </p:spPr>
      </p:sp>
      <p:sp>
        <p:nvSpPr>
          <p:cNvPr id="75" name="Text 73"/>
          <p:cNvSpPr/>
          <p:nvPr/>
        </p:nvSpPr>
        <p:spPr>
          <a:xfrm>
            <a:off x="4360267" y="5556250"/>
            <a:ext cx="3532188" cy="190500"/>
          </a:xfrm>
          <a:prstGeom prst="rect">
            <a:avLst/>
          </a:prstGeom>
          <a:noFill/>
          <a:ln/>
        </p:spPr>
        <p:txBody>
          <a:bodyPr wrap="square" lIns="0" tIns="0" rIns="0" bIns="0" rtlCol="0" anchor="ctr"/>
          <a:lstStyle/>
          <a:p>
            <a:pPr>
              <a:lnSpc>
                <a:spcPct val="130000"/>
              </a:lnSpc>
            </a:pPr>
            <a:r>
              <a:rPr lang="en-US" sz="1000" b="1" dirty="0">
                <a:solidFill>
                  <a:srgbClr val="F7B538"/>
                </a:solidFill>
                <a:latin typeface="Quattrocento Sans" pitchFamily="34" charset="0"/>
                <a:ea typeface="Quattrocento Sans" pitchFamily="34" charset="-122"/>
                <a:cs typeface="Quattrocento Sans" pitchFamily="34" charset="-120"/>
              </a:rPr>
              <a:t>Google Maps Geocoding</a:t>
            </a:r>
            <a:endParaRPr lang="en-US" sz="1600" dirty="0"/>
          </a:p>
        </p:txBody>
      </p:sp>
      <p:sp>
        <p:nvSpPr>
          <p:cNvPr id="76" name="Text 74"/>
          <p:cNvSpPr/>
          <p:nvPr/>
        </p:nvSpPr>
        <p:spPr>
          <a:xfrm>
            <a:off x="4360267" y="5746750"/>
            <a:ext cx="3532188" cy="17462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Community Learning Center discovery by location</a:t>
            </a:r>
            <a:endParaRPr lang="en-US" sz="1600" dirty="0"/>
          </a:p>
        </p:txBody>
      </p:sp>
      <p:sp>
        <p:nvSpPr>
          <p:cNvPr id="77" name="Shape 75"/>
          <p:cNvSpPr/>
          <p:nvPr/>
        </p:nvSpPr>
        <p:spPr>
          <a:xfrm>
            <a:off x="4296767" y="6048375"/>
            <a:ext cx="3595688" cy="492125"/>
          </a:xfrm>
          <a:custGeom>
            <a:avLst/>
            <a:gdLst/>
            <a:ahLst/>
            <a:cxnLst/>
            <a:rect l="l" t="t" r="r" b="b"/>
            <a:pathLst>
              <a:path w="3595688" h="492125">
                <a:moveTo>
                  <a:pt x="63499" y="0"/>
                </a:moveTo>
                <a:lnTo>
                  <a:pt x="3532189" y="0"/>
                </a:lnTo>
                <a:cubicBezTo>
                  <a:pt x="3567258" y="0"/>
                  <a:pt x="3595688" y="28429"/>
                  <a:pt x="3595688" y="63499"/>
                </a:cubicBezTo>
                <a:lnTo>
                  <a:pt x="3595688" y="428626"/>
                </a:lnTo>
                <a:cubicBezTo>
                  <a:pt x="3595688" y="463696"/>
                  <a:pt x="3567258" y="492125"/>
                  <a:pt x="3532189" y="492125"/>
                </a:cubicBezTo>
                <a:lnTo>
                  <a:pt x="63499" y="492125"/>
                </a:lnTo>
                <a:cubicBezTo>
                  <a:pt x="28429" y="492125"/>
                  <a:pt x="0" y="463696"/>
                  <a:pt x="0" y="428626"/>
                </a:cubicBezTo>
                <a:lnTo>
                  <a:pt x="0" y="63499"/>
                </a:lnTo>
                <a:cubicBezTo>
                  <a:pt x="0" y="28453"/>
                  <a:pt x="28453" y="0"/>
                  <a:pt x="63499" y="0"/>
                </a:cubicBezTo>
                <a:close/>
              </a:path>
            </a:pathLst>
          </a:custGeom>
          <a:solidFill>
            <a:srgbClr val="F7B538">
              <a:alpha val="20000"/>
            </a:srgbClr>
          </a:solidFill>
          <a:ln/>
        </p:spPr>
      </p:sp>
      <p:sp>
        <p:nvSpPr>
          <p:cNvPr id="78" name="Text 76"/>
          <p:cNvSpPr/>
          <p:nvPr/>
        </p:nvSpPr>
        <p:spPr>
          <a:xfrm>
            <a:off x="4360267" y="6111875"/>
            <a:ext cx="3532188" cy="190500"/>
          </a:xfrm>
          <a:prstGeom prst="rect">
            <a:avLst/>
          </a:prstGeom>
          <a:noFill/>
          <a:ln/>
        </p:spPr>
        <p:txBody>
          <a:bodyPr wrap="square" lIns="0" tIns="0" rIns="0" bIns="0" rtlCol="0" anchor="ctr"/>
          <a:lstStyle/>
          <a:p>
            <a:pPr>
              <a:lnSpc>
                <a:spcPct val="130000"/>
              </a:lnSpc>
            </a:pPr>
            <a:r>
              <a:rPr lang="en-US" sz="1000" b="1" dirty="0">
                <a:solidFill>
                  <a:srgbClr val="F7B538"/>
                </a:solidFill>
                <a:latin typeface="Quattrocento Sans" pitchFamily="34" charset="0"/>
                <a:ea typeface="Quattrocento Sans" pitchFamily="34" charset="-122"/>
                <a:cs typeface="Quattrocento Sans" pitchFamily="34" charset="-120"/>
              </a:rPr>
              <a:t>State Pension API</a:t>
            </a:r>
            <a:endParaRPr lang="en-US" sz="1600" dirty="0"/>
          </a:p>
        </p:txBody>
      </p:sp>
      <p:sp>
        <p:nvSpPr>
          <p:cNvPr id="79" name="Text 77"/>
          <p:cNvSpPr/>
          <p:nvPr/>
        </p:nvSpPr>
        <p:spPr>
          <a:xfrm>
            <a:off x="4360267" y="6302375"/>
            <a:ext cx="3532188" cy="17462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Auto-verify retired government teacher service records</a:t>
            </a:r>
            <a:endParaRPr lang="en-US" sz="1600" dirty="0"/>
          </a:p>
        </p:txBody>
      </p:sp>
      <p:sp>
        <p:nvSpPr>
          <p:cNvPr id="80" name="Shape 78"/>
          <p:cNvSpPr/>
          <p:nvPr/>
        </p:nvSpPr>
        <p:spPr>
          <a:xfrm>
            <a:off x="8085634" y="3984625"/>
            <a:ext cx="3786188" cy="2651125"/>
          </a:xfrm>
          <a:custGeom>
            <a:avLst/>
            <a:gdLst/>
            <a:ahLst/>
            <a:cxnLst/>
            <a:rect l="l" t="t" r="r" b="b"/>
            <a:pathLst>
              <a:path w="3786188" h="2651125">
                <a:moveTo>
                  <a:pt x="31750" y="0"/>
                </a:moveTo>
                <a:lnTo>
                  <a:pt x="3754438" y="0"/>
                </a:lnTo>
                <a:cubicBezTo>
                  <a:pt x="3771961" y="0"/>
                  <a:pt x="3786188" y="14227"/>
                  <a:pt x="3786188" y="31750"/>
                </a:cubicBezTo>
                <a:lnTo>
                  <a:pt x="3786188" y="2587631"/>
                </a:lnTo>
                <a:cubicBezTo>
                  <a:pt x="3786188" y="2622698"/>
                  <a:pt x="3757760" y="2651125"/>
                  <a:pt x="3722693" y="2651125"/>
                </a:cubicBezTo>
                <a:lnTo>
                  <a:pt x="63494" y="2651125"/>
                </a:lnTo>
                <a:cubicBezTo>
                  <a:pt x="28427" y="2651125"/>
                  <a:pt x="0" y="2622698"/>
                  <a:pt x="0" y="2587631"/>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81" name="Shape 79"/>
          <p:cNvSpPr/>
          <p:nvPr/>
        </p:nvSpPr>
        <p:spPr>
          <a:xfrm>
            <a:off x="8085634" y="3984625"/>
            <a:ext cx="3786188" cy="31750"/>
          </a:xfrm>
          <a:custGeom>
            <a:avLst/>
            <a:gdLst/>
            <a:ahLst/>
            <a:cxnLst/>
            <a:rect l="l" t="t" r="r" b="b"/>
            <a:pathLst>
              <a:path w="3786188" h="31750">
                <a:moveTo>
                  <a:pt x="31750" y="0"/>
                </a:moveTo>
                <a:lnTo>
                  <a:pt x="3754438" y="0"/>
                </a:lnTo>
                <a:cubicBezTo>
                  <a:pt x="3771961" y="0"/>
                  <a:pt x="3786188" y="14227"/>
                  <a:pt x="3786188" y="31750"/>
                </a:cubicBezTo>
                <a:lnTo>
                  <a:pt x="3786188" y="31750"/>
                </a:lnTo>
                <a:lnTo>
                  <a:pt x="0" y="31750"/>
                </a:lnTo>
                <a:lnTo>
                  <a:pt x="0" y="31750"/>
                </a:lnTo>
                <a:cubicBezTo>
                  <a:pt x="0" y="14227"/>
                  <a:pt x="14227" y="0"/>
                  <a:pt x="31750" y="0"/>
                </a:cubicBezTo>
                <a:close/>
              </a:path>
            </a:pathLst>
          </a:custGeom>
          <a:solidFill>
            <a:srgbClr val="1A535C"/>
          </a:solidFill>
          <a:ln/>
        </p:spPr>
      </p:sp>
      <p:sp>
        <p:nvSpPr>
          <p:cNvPr id="82" name="Shape 80"/>
          <p:cNvSpPr/>
          <p:nvPr/>
        </p:nvSpPr>
        <p:spPr>
          <a:xfrm>
            <a:off x="8200727" y="4127500"/>
            <a:ext cx="158750" cy="158750"/>
          </a:xfrm>
          <a:custGeom>
            <a:avLst/>
            <a:gdLst/>
            <a:ahLst/>
            <a:cxnLst/>
            <a:rect l="l" t="t" r="r" b="b"/>
            <a:pathLst>
              <a:path w="158750" h="158750">
                <a:moveTo>
                  <a:pt x="0" y="39688"/>
                </a:moveTo>
                <a:lnTo>
                  <a:pt x="0" y="49609"/>
                </a:lnTo>
                <a:lnTo>
                  <a:pt x="158750" y="49609"/>
                </a:lnTo>
                <a:lnTo>
                  <a:pt x="158750" y="39688"/>
                </a:lnTo>
                <a:cubicBezTo>
                  <a:pt x="158750" y="28742"/>
                  <a:pt x="149851" y="19844"/>
                  <a:pt x="138906" y="19844"/>
                </a:cubicBezTo>
                <a:lnTo>
                  <a:pt x="19844" y="19844"/>
                </a:lnTo>
                <a:cubicBezTo>
                  <a:pt x="8899" y="19844"/>
                  <a:pt x="0" y="28742"/>
                  <a:pt x="0" y="39688"/>
                </a:cubicBezTo>
                <a:close/>
                <a:moveTo>
                  <a:pt x="0" y="64492"/>
                </a:moveTo>
                <a:lnTo>
                  <a:pt x="0" y="119062"/>
                </a:lnTo>
                <a:cubicBezTo>
                  <a:pt x="0" y="130008"/>
                  <a:pt x="8899" y="138906"/>
                  <a:pt x="19844" y="138906"/>
                </a:cubicBezTo>
                <a:lnTo>
                  <a:pt x="138906" y="138906"/>
                </a:lnTo>
                <a:cubicBezTo>
                  <a:pt x="149851" y="138906"/>
                  <a:pt x="158750" y="130008"/>
                  <a:pt x="158750" y="119062"/>
                </a:cubicBezTo>
                <a:lnTo>
                  <a:pt x="158750" y="64492"/>
                </a:lnTo>
                <a:lnTo>
                  <a:pt x="0" y="64492"/>
                </a:lnTo>
                <a:close/>
                <a:moveTo>
                  <a:pt x="19844" y="111621"/>
                </a:moveTo>
                <a:cubicBezTo>
                  <a:pt x="19844" y="107497"/>
                  <a:pt x="23161" y="104180"/>
                  <a:pt x="27285" y="104180"/>
                </a:cubicBezTo>
                <a:lnTo>
                  <a:pt x="42168" y="104180"/>
                </a:lnTo>
                <a:cubicBezTo>
                  <a:pt x="46292" y="104180"/>
                  <a:pt x="49609" y="107497"/>
                  <a:pt x="49609" y="111621"/>
                </a:cubicBezTo>
                <a:cubicBezTo>
                  <a:pt x="49609" y="115745"/>
                  <a:pt x="46292" y="119062"/>
                  <a:pt x="42168" y="119062"/>
                </a:cubicBezTo>
                <a:lnTo>
                  <a:pt x="27285" y="119062"/>
                </a:lnTo>
                <a:cubicBezTo>
                  <a:pt x="23161" y="119062"/>
                  <a:pt x="19844" y="115745"/>
                  <a:pt x="19844" y="111621"/>
                </a:cubicBezTo>
                <a:close/>
                <a:moveTo>
                  <a:pt x="64492" y="111621"/>
                </a:moveTo>
                <a:cubicBezTo>
                  <a:pt x="64492" y="107497"/>
                  <a:pt x="67810" y="104180"/>
                  <a:pt x="71934" y="104180"/>
                </a:cubicBezTo>
                <a:lnTo>
                  <a:pt x="91777" y="104180"/>
                </a:lnTo>
                <a:cubicBezTo>
                  <a:pt x="95901" y="104180"/>
                  <a:pt x="99219" y="107497"/>
                  <a:pt x="99219" y="111621"/>
                </a:cubicBezTo>
                <a:cubicBezTo>
                  <a:pt x="99219" y="115745"/>
                  <a:pt x="95901" y="119062"/>
                  <a:pt x="91777" y="119062"/>
                </a:cubicBezTo>
                <a:lnTo>
                  <a:pt x="71934" y="119062"/>
                </a:lnTo>
                <a:cubicBezTo>
                  <a:pt x="67810" y="119062"/>
                  <a:pt x="64492" y="115745"/>
                  <a:pt x="64492" y="111621"/>
                </a:cubicBezTo>
                <a:close/>
              </a:path>
            </a:pathLst>
          </a:custGeom>
          <a:solidFill>
            <a:srgbClr val="1A535C"/>
          </a:solidFill>
          <a:ln/>
        </p:spPr>
      </p:sp>
      <p:sp>
        <p:nvSpPr>
          <p:cNvPr id="83" name="Text 81"/>
          <p:cNvSpPr/>
          <p:nvPr/>
        </p:nvSpPr>
        <p:spPr>
          <a:xfrm>
            <a:off x="8442821" y="4095750"/>
            <a:ext cx="1135063" cy="222250"/>
          </a:xfrm>
          <a:prstGeom prst="rect">
            <a:avLst/>
          </a:prstGeom>
          <a:noFill/>
          <a:ln/>
        </p:spPr>
        <p:txBody>
          <a:bodyPr wrap="square" lIns="0" tIns="0" rIns="0" bIns="0" rtlCol="0" anchor="ctr"/>
          <a:lstStyle/>
          <a:p>
            <a:pPr>
              <a:lnSpc>
                <a:spcPct val="130000"/>
              </a:lnSpc>
            </a:pPr>
            <a:r>
              <a:rPr lang="en-US" sz="1125" b="1" dirty="0">
                <a:solidFill>
                  <a:srgbClr val="1A535C"/>
                </a:solidFill>
                <a:latin typeface="Liter" pitchFamily="34" charset="0"/>
                <a:ea typeface="Liter" pitchFamily="34" charset="-122"/>
                <a:cs typeface="Liter" pitchFamily="34" charset="-120"/>
              </a:rPr>
              <a:t>Payments &amp; PDF</a:t>
            </a:r>
            <a:endParaRPr lang="en-US" sz="1600" dirty="0"/>
          </a:p>
        </p:txBody>
      </p:sp>
      <p:sp>
        <p:nvSpPr>
          <p:cNvPr id="84" name="Shape 82"/>
          <p:cNvSpPr/>
          <p:nvPr/>
        </p:nvSpPr>
        <p:spPr>
          <a:xfrm>
            <a:off x="8180883" y="4474072"/>
            <a:ext cx="3595688" cy="492125"/>
          </a:xfrm>
          <a:custGeom>
            <a:avLst/>
            <a:gdLst/>
            <a:ahLst/>
            <a:cxnLst/>
            <a:rect l="l" t="t" r="r" b="b"/>
            <a:pathLst>
              <a:path w="3595688" h="492125">
                <a:moveTo>
                  <a:pt x="63499" y="0"/>
                </a:moveTo>
                <a:lnTo>
                  <a:pt x="3532189" y="0"/>
                </a:lnTo>
                <a:cubicBezTo>
                  <a:pt x="3567258" y="0"/>
                  <a:pt x="3595688" y="28429"/>
                  <a:pt x="3595688" y="63499"/>
                </a:cubicBezTo>
                <a:lnTo>
                  <a:pt x="3595688" y="428626"/>
                </a:lnTo>
                <a:cubicBezTo>
                  <a:pt x="3595688" y="463696"/>
                  <a:pt x="3567258" y="492125"/>
                  <a:pt x="3532189" y="492125"/>
                </a:cubicBezTo>
                <a:lnTo>
                  <a:pt x="63499" y="492125"/>
                </a:lnTo>
                <a:cubicBezTo>
                  <a:pt x="28429" y="492125"/>
                  <a:pt x="0" y="463696"/>
                  <a:pt x="0" y="428626"/>
                </a:cubicBezTo>
                <a:lnTo>
                  <a:pt x="0" y="63499"/>
                </a:lnTo>
                <a:cubicBezTo>
                  <a:pt x="0" y="28453"/>
                  <a:pt x="28453" y="0"/>
                  <a:pt x="63499" y="0"/>
                </a:cubicBezTo>
                <a:close/>
              </a:path>
            </a:pathLst>
          </a:custGeom>
          <a:solidFill>
            <a:srgbClr val="1A535C">
              <a:alpha val="10196"/>
            </a:srgbClr>
          </a:solidFill>
          <a:ln/>
        </p:spPr>
      </p:sp>
      <p:sp>
        <p:nvSpPr>
          <p:cNvPr id="85" name="Text 83"/>
          <p:cNvSpPr/>
          <p:nvPr/>
        </p:nvSpPr>
        <p:spPr>
          <a:xfrm>
            <a:off x="8244383" y="4537572"/>
            <a:ext cx="3532188"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Quattrocento Sans" pitchFamily="34" charset="0"/>
                <a:ea typeface="Quattrocento Sans" pitchFamily="34" charset="-122"/>
                <a:cs typeface="Quattrocento Sans" pitchFamily="34" charset="-120"/>
              </a:rPr>
              <a:t>Razorpay PHP SDK</a:t>
            </a:r>
            <a:endParaRPr lang="en-US" sz="1600" dirty="0"/>
          </a:p>
        </p:txBody>
      </p:sp>
      <p:sp>
        <p:nvSpPr>
          <p:cNvPr id="86" name="Text 84"/>
          <p:cNvSpPr/>
          <p:nvPr/>
        </p:nvSpPr>
        <p:spPr>
          <a:xfrm>
            <a:off x="8244383" y="4728072"/>
            <a:ext cx="3532188" cy="17462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India-first payment gateway with UPI, cards, net banking</a:t>
            </a:r>
            <a:endParaRPr lang="en-US" sz="1600" dirty="0"/>
          </a:p>
        </p:txBody>
      </p:sp>
      <p:sp>
        <p:nvSpPr>
          <p:cNvPr id="87" name="Shape 85"/>
          <p:cNvSpPr/>
          <p:nvPr/>
        </p:nvSpPr>
        <p:spPr>
          <a:xfrm>
            <a:off x="8180883" y="5214938"/>
            <a:ext cx="3595688" cy="492125"/>
          </a:xfrm>
          <a:custGeom>
            <a:avLst/>
            <a:gdLst/>
            <a:ahLst/>
            <a:cxnLst/>
            <a:rect l="l" t="t" r="r" b="b"/>
            <a:pathLst>
              <a:path w="3595688" h="492125">
                <a:moveTo>
                  <a:pt x="63499" y="0"/>
                </a:moveTo>
                <a:lnTo>
                  <a:pt x="3532189" y="0"/>
                </a:lnTo>
                <a:cubicBezTo>
                  <a:pt x="3567258" y="0"/>
                  <a:pt x="3595688" y="28429"/>
                  <a:pt x="3595688" y="63499"/>
                </a:cubicBezTo>
                <a:lnTo>
                  <a:pt x="3595688" y="428626"/>
                </a:lnTo>
                <a:cubicBezTo>
                  <a:pt x="3595688" y="463696"/>
                  <a:pt x="3567258" y="492125"/>
                  <a:pt x="3532189" y="492125"/>
                </a:cubicBezTo>
                <a:lnTo>
                  <a:pt x="63499" y="492125"/>
                </a:lnTo>
                <a:cubicBezTo>
                  <a:pt x="28429" y="492125"/>
                  <a:pt x="0" y="463696"/>
                  <a:pt x="0" y="428626"/>
                </a:cubicBezTo>
                <a:lnTo>
                  <a:pt x="0" y="63499"/>
                </a:lnTo>
                <a:cubicBezTo>
                  <a:pt x="0" y="28453"/>
                  <a:pt x="28453" y="0"/>
                  <a:pt x="63499" y="0"/>
                </a:cubicBezTo>
                <a:close/>
              </a:path>
            </a:pathLst>
          </a:custGeom>
          <a:solidFill>
            <a:srgbClr val="1A535C">
              <a:alpha val="10196"/>
            </a:srgbClr>
          </a:solidFill>
          <a:ln/>
        </p:spPr>
      </p:sp>
      <p:sp>
        <p:nvSpPr>
          <p:cNvPr id="88" name="Text 86"/>
          <p:cNvSpPr/>
          <p:nvPr/>
        </p:nvSpPr>
        <p:spPr>
          <a:xfrm>
            <a:off x="8244383" y="5278438"/>
            <a:ext cx="3532188"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Quattrocento Sans" pitchFamily="34" charset="0"/>
                <a:ea typeface="Quattrocento Sans" pitchFamily="34" charset="-122"/>
                <a:cs typeface="Quattrocento Sans" pitchFamily="34" charset="-120"/>
              </a:rPr>
              <a:t>barryvdh/laravel-dompdf</a:t>
            </a:r>
            <a:endParaRPr lang="en-US" sz="1600" dirty="0"/>
          </a:p>
        </p:txBody>
      </p:sp>
      <p:sp>
        <p:nvSpPr>
          <p:cNvPr id="89" name="Text 87"/>
          <p:cNvSpPr/>
          <p:nvPr/>
        </p:nvSpPr>
        <p:spPr>
          <a:xfrm>
            <a:off x="8244383" y="5468938"/>
            <a:ext cx="3532188" cy="17462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Learning contracts, certificates, progress reports in PHP</a:t>
            </a:r>
            <a:endParaRPr lang="en-US" sz="1600" dirty="0"/>
          </a:p>
        </p:txBody>
      </p:sp>
      <p:sp>
        <p:nvSpPr>
          <p:cNvPr id="90" name="Shape 88"/>
          <p:cNvSpPr/>
          <p:nvPr/>
        </p:nvSpPr>
        <p:spPr>
          <a:xfrm>
            <a:off x="8180883" y="5955706"/>
            <a:ext cx="3595688" cy="492125"/>
          </a:xfrm>
          <a:custGeom>
            <a:avLst/>
            <a:gdLst/>
            <a:ahLst/>
            <a:cxnLst/>
            <a:rect l="l" t="t" r="r" b="b"/>
            <a:pathLst>
              <a:path w="3595688" h="492125">
                <a:moveTo>
                  <a:pt x="63499" y="0"/>
                </a:moveTo>
                <a:lnTo>
                  <a:pt x="3532189" y="0"/>
                </a:lnTo>
                <a:cubicBezTo>
                  <a:pt x="3567258" y="0"/>
                  <a:pt x="3595688" y="28429"/>
                  <a:pt x="3595688" y="63499"/>
                </a:cubicBezTo>
                <a:lnTo>
                  <a:pt x="3595688" y="428626"/>
                </a:lnTo>
                <a:cubicBezTo>
                  <a:pt x="3595688" y="463696"/>
                  <a:pt x="3567258" y="492125"/>
                  <a:pt x="3532189" y="492125"/>
                </a:cubicBezTo>
                <a:lnTo>
                  <a:pt x="63499" y="492125"/>
                </a:lnTo>
                <a:cubicBezTo>
                  <a:pt x="28429" y="492125"/>
                  <a:pt x="0" y="463696"/>
                  <a:pt x="0" y="428626"/>
                </a:cubicBezTo>
                <a:lnTo>
                  <a:pt x="0" y="63499"/>
                </a:lnTo>
                <a:cubicBezTo>
                  <a:pt x="0" y="28453"/>
                  <a:pt x="28453" y="0"/>
                  <a:pt x="63499" y="0"/>
                </a:cubicBezTo>
                <a:close/>
              </a:path>
            </a:pathLst>
          </a:custGeom>
          <a:solidFill>
            <a:srgbClr val="1A535C">
              <a:alpha val="10196"/>
            </a:srgbClr>
          </a:solidFill>
          <a:ln/>
        </p:spPr>
      </p:sp>
      <p:sp>
        <p:nvSpPr>
          <p:cNvPr id="91" name="Text 89"/>
          <p:cNvSpPr/>
          <p:nvPr/>
        </p:nvSpPr>
        <p:spPr>
          <a:xfrm>
            <a:off x="8244383" y="6019206"/>
            <a:ext cx="3532188"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Quattrocento Sans" pitchFamily="34" charset="0"/>
                <a:ea typeface="Quattrocento Sans" pitchFamily="34" charset="-122"/>
                <a:cs typeface="Quattrocento Sans" pitchFamily="34" charset="-120"/>
              </a:rPr>
              <a:t>Mailgun + Twilio SMS</a:t>
            </a:r>
            <a:endParaRPr lang="en-US" sz="1600" dirty="0"/>
          </a:p>
        </p:txBody>
      </p:sp>
      <p:sp>
        <p:nvSpPr>
          <p:cNvPr id="92" name="Text 90"/>
          <p:cNvSpPr/>
          <p:nvPr/>
        </p:nvSpPr>
        <p:spPr>
          <a:xfrm>
            <a:off x="8244383" y="6209706"/>
            <a:ext cx="3532188" cy="174625"/>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Email and SMS delivery for notifications</a:t>
            </a:r>
            <a:endParaRPr lang="en-US" sz="1600" dirty="0"/>
          </a:p>
        </p:txBody>
      </p:sp>
      <p:sp>
        <p:nvSpPr>
          <p:cNvPr id="93" name="Shape 91"/>
          <p:cNvSpPr/>
          <p:nvPr/>
        </p:nvSpPr>
        <p:spPr>
          <a:xfrm>
            <a:off x="317500" y="6223000"/>
            <a:ext cx="11557000" cy="317500"/>
          </a:xfrm>
          <a:custGeom>
            <a:avLst/>
            <a:gdLst/>
            <a:ahLst/>
            <a:cxnLst/>
            <a:rect l="l" t="t" r="r" b="b"/>
            <a:pathLst>
              <a:path w="11557000" h="317500">
                <a:moveTo>
                  <a:pt x="63500" y="0"/>
                </a:moveTo>
                <a:lnTo>
                  <a:pt x="11493500" y="0"/>
                </a:lnTo>
                <a:cubicBezTo>
                  <a:pt x="11528547" y="0"/>
                  <a:pt x="11557000" y="28453"/>
                  <a:pt x="11557000" y="63500"/>
                </a:cubicBezTo>
                <a:lnTo>
                  <a:pt x="11557000" y="254000"/>
                </a:lnTo>
                <a:cubicBezTo>
                  <a:pt x="11557000" y="289047"/>
                  <a:pt x="11528547" y="317500"/>
                  <a:pt x="11493500" y="317500"/>
                </a:cubicBezTo>
                <a:lnTo>
                  <a:pt x="63500" y="317500"/>
                </a:lnTo>
                <a:cubicBezTo>
                  <a:pt x="28453" y="317500"/>
                  <a:pt x="0" y="289047"/>
                  <a:pt x="0" y="254000"/>
                </a:cubicBezTo>
                <a:lnTo>
                  <a:pt x="0" y="63500"/>
                </a:lnTo>
                <a:cubicBezTo>
                  <a:pt x="0" y="28453"/>
                  <a:pt x="28453" y="0"/>
                  <a:pt x="63500" y="0"/>
                </a:cubicBezTo>
                <a:close/>
              </a:path>
            </a:pathLst>
          </a:custGeom>
          <a:gradFill rotWithShape="1" flip="none">
            <a:gsLst>
              <a:gs pos="0">
                <a:srgbClr val="1A535C"/>
              </a:gs>
              <a:gs pos="100000">
                <a:srgbClr val="4A7C59"/>
              </a:gs>
            </a:gsLst>
            <a:lin ang="0" scaled="1"/>
          </a:gradFill>
          <a:ln/>
        </p:spPr>
      </p:sp>
      <p:sp>
        <p:nvSpPr>
          <p:cNvPr id="94" name="Shape 92"/>
          <p:cNvSpPr/>
          <p:nvPr/>
        </p:nvSpPr>
        <p:spPr>
          <a:xfrm>
            <a:off x="3099594" y="6311902"/>
            <a:ext cx="142875" cy="127000"/>
          </a:xfrm>
          <a:custGeom>
            <a:avLst/>
            <a:gdLst/>
            <a:ahLst/>
            <a:cxnLst/>
            <a:rect l="l" t="t" r="r" b="b"/>
            <a:pathLst>
              <a:path w="142875" h="127000">
                <a:moveTo>
                  <a:pt x="89495" y="298"/>
                </a:moveTo>
                <a:cubicBezTo>
                  <a:pt x="85279" y="-918"/>
                  <a:pt x="80888" y="1538"/>
                  <a:pt x="79673" y="5755"/>
                </a:cubicBezTo>
                <a:lnTo>
                  <a:pt x="47923" y="116880"/>
                </a:lnTo>
                <a:cubicBezTo>
                  <a:pt x="46707" y="121096"/>
                  <a:pt x="49163" y="125487"/>
                  <a:pt x="53380" y="126702"/>
                </a:cubicBezTo>
                <a:cubicBezTo>
                  <a:pt x="57596" y="127918"/>
                  <a:pt x="61987" y="125462"/>
                  <a:pt x="63202" y="121245"/>
                </a:cubicBezTo>
                <a:lnTo>
                  <a:pt x="94952" y="10120"/>
                </a:lnTo>
                <a:cubicBezTo>
                  <a:pt x="96168" y="5904"/>
                  <a:pt x="93712" y="1513"/>
                  <a:pt x="89495" y="298"/>
                </a:cubicBezTo>
                <a:close/>
                <a:moveTo>
                  <a:pt x="105519" y="34057"/>
                </a:moveTo>
                <a:cubicBezTo>
                  <a:pt x="102419" y="37157"/>
                  <a:pt x="102419" y="42193"/>
                  <a:pt x="105519" y="45293"/>
                </a:cubicBezTo>
                <a:lnTo>
                  <a:pt x="123726" y="63500"/>
                </a:lnTo>
                <a:lnTo>
                  <a:pt x="105519" y="81707"/>
                </a:lnTo>
                <a:cubicBezTo>
                  <a:pt x="102419" y="84807"/>
                  <a:pt x="102419" y="89843"/>
                  <a:pt x="105519" y="92943"/>
                </a:cubicBezTo>
                <a:cubicBezTo>
                  <a:pt x="108620" y="96044"/>
                  <a:pt x="113655" y="96044"/>
                  <a:pt x="116756" y="92943"/>
                </a:cubicBezTo>
                <a:lnTo>
                  <a:pt x="140568" y="69131"/>
                </a:lnTo>
                <a:cubicBezTo>
                  <a:pt x="143669" y="66030"/>
                  <a:pt x="143669" y="60995"/>
                  <a:pt x="140568" y="57894"/>
                </a:cubicBezTo>
                <a:lnTo>
                  <a:pt x="116756" y="34082"/>
                </a:lnTo>
                <a:cubicBezTo>
                  <a:pt x="113655" y="30981"/>
                  <a:pt x="108620" y="30981"/>
                  <a:pt x="105519" y="34082"/>
                </a:cubicBezTo>
                <a:close/>
                <a:moveTo>
                  <a:pt x="37381" y="34057"/>
                </a:moveTo>
                <a:cubicBezTo>
                  <a:pt x="34280" y="30956"/>
                  <a:pt x="29245" y="30956"/>
                  <a:pt x="26144" y="34057"/>
                </a:cubicBezTo>
                <a:lnTo>
                  <a:pt x="2332" y="57869"/>
                </a:lnTo>
                <a:cubicBezTo>
                  <a:pt x="-769" y="60970"/>
                  <a:pt x="-769" y="66005"/>
                  <a:pt x="2332" y="69106"/>
                </a:cubicBezTo>
                <a:lnTo>
                  <a:pt x="26144" y="92918"/>
                </a:lnTo>
                <a:cubicBezTo>
                  <a:pt x="29245" y="96019"/>
                  <a:pt x="34280" y="96019"/>
                  <a:pt x="37381" y="92918"/>
                </a:cubicBezTo>
                <a:cubicBezTo>
                  <a:pt x="40481" y="89818"/>
                  <a:pt x="40481" y="84782"/>
                  <a:pt x="37381" y="81682"/>
                </a:cubicBezTo>
                <a:lnTo>
                  <a:pt x="19174" y="63500"/>
                </a:lnTo>
                <a:lnTo>
                  <a:pt x="37356" y="45293"/>
                </a:lnTo>
                <a:cubicBezTo>
                  <a:pt x="40456" y="42193"/>
                  <a:pt x="40456" y="37157"/>
                  <a:pt x="37356" y="34057"/>
                </a:cubicBezTo>
                <a:close/>
              </a:path>
            </a:pathLst>
          </a:custGeom>
          <a:solidFill>
            <a:srgbClr val="F7B538"/>
          </a:solidFill>
          <a:ln/>
        </p:spPr>
      </p:sp>
      <p:sp>
        <p:nvSpPr>
          <p:cNvPr id="95" name="Text 93"/>
          <p:cNvSpPr/>
          <p:nvPr/>
        </p:nvSpPr>
        <p:spPr>
          <a:xfrm>
            <a:off x="547688" y="6286500"/>
            <a:ext cx="11295063" cy="190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Deployment: Docker + AWS EC2 / DigitalOcean | Containerized PHP-FPM + Nginx | Auto-scaling on cloud</a:t>
            </a:r>
            <a:endParaRPr lang="en-US" sz="16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339610" y="339610"/>
            <a:ext cx="11580702" cy="203766"/>
          </a:xfrm>
          <a:prstGeom prst="rect">
            <a:avLst/>
          </a:prstGeom>
          <a:noFill/>
          <a:ln/>
        </p:spPr>
        <p:txBody>
          <a:bodyPr wrap="square" lIns="0" tIns="0" rIns="0" bIns="0" rtlCol="0" anchor="ctr"/>
          <a:lstStyle/>
          <a:p>
            <a:pPr>
              <a:lnSpc>
                <a:spcPct val="130000"/>
              </a:lnSpc>
            </a:pPr>
            <a:r>
              <a:rPr lang="en-US" sz="1070" b="1" spc="53" kern="0" dirty="0">
                <a:solidFill>
                  <a:srgbClr val="4A7C59"/>
                </a:solidFill>
                <a:latin typeface="Quattrocento Sans" pitchFamily="34" charset="0"/>
                <a:ea typeface="Quattrocento Sans" pitchFamily="34" charset="-122"/>
                <a:cs typeface="Quattrocento Sans" pitchFamily="34" charset="-120"/>
              </a:rPr>
              <a:t>DATABASE ARCHITECTURE &amp; SCHEMA DESIGN</a:t>
            </a:r>
            <a:endParaRPr lang="en-US" sz="1600" dirty="0"/>
          </a:p>
        </p:txBody>
      </p:sp>
      <p:sp>
        <p:nvSpPr>
          <p:cNvPr id="3" name="Text 1"/>
          <p:cNvSpPr/>
          <p:nvPr/>
        </p:nvSpPr>
        <p:spPr>
          <a:xfrm>
            <a:off x="339610" y="577337"/>
            <a:ext cx="11614663" cy="271688"/>
          </a:xfrm>
          <a:prstGeom prst="rect">
            <a:avLst/>
          </a:prstGeom>
          <a:noFill/>
          <a:ln/>
        </p:spPr>
        <p:txBody>
          <a:bodyPr wrap="square" lIns="0" tIns="0" rIns="0" bIns="0" rtlCol="0" anchor="ctr"/>
          <a:lstStyle/>
          <a:p>
            <a:pPr>
              <a:lnSpc>
                <a:spcPct val="110000"/>
              </a:lnSpc>
            </a:pPr>
            <a:r>
              <a:rPr lang="en-US" sz="1604" b="1" dirty="0">
                <a:solidFill>
                  <a:srgbClr val="1A535C"/>
                </a:solidFill>
                <a:latin typeface="Liter" pitchFamily="34" charset="0"/>
                <a:ea typeface="Liter" pitchFamily="34" charset="-122"/>
                <a:cs typeface="Liter" pitchFamily="34" charset="-120"/>
              </a:rPr>
              <a:t>25+ MySQL Tables Managed Through Laravel Eloquent ORM</a:t>
            </a:r>
            <a:endParaRPr lang="en-US" sz="1600" dirty="0"/>
          </a:p>
        </p:txBody>
      </p:sp>
      <p:sp>
        <p:nvSpPr>
          <p:cNvPr id="4" name="Text 2"/>
          <p:cNvSpPr/>
          <p:nvPr/>
        </p:nvSpPr>
        <p:spPr>
          <a:xfrm>
            <a:off x="339610" y="882882"/>
            <a:ext cx="11580702" cy="203766"/>
          </a:xfrm>
          <a:prstGeom prst="rect">
            <a:avLst/>
          </a:prstGeom>
          <a:noFill/>
          <a:ln/>
        </p:spPr>
        <p:txBody>
          <a:bodyPr wrap="square" lIns="0" tIns="0" rIns="0" bIns="0" rtlCol="0" anchor="ctr"/>
          <a:lstStyle/>
          <a:p>
            <a:pPr>
              <a:lnSpc>
                <a:spcPct val="130000"/>
              </a:lnSpc>
            </a:pPr>
            <a:r>
              <a:rPr lang="en-US" sz="1070" dirty="0">
                <a:solidFill>
                  <a:srgbClr val="212529">
                    <a:alpha val="70000"/>
                  </a:srgbClr>
                </a:solidFill>
                <a:latin typeface="Quattrocento Sans" pitchFamily="34" charset="0"/>
                <a:ea typeface="Quattrocento Sans" pitchFamily="34" charset="-122"/>
                <a:cs typeface="Quattrocento Sans" pitchFamily="34" charset="-120"/>
              </a:rPr>
              <a:t>All migrations, seeders, and queries written in PHP</a:t>
            </a:r>
            <a:endParaRPr lang="en-US" sz="1600" dirty="0"/>
          </a:p>
        </p:txBody>
      </p:sp>
      <p:sp>
        <p:nvSpPr>
          <p:cNvPr id="5" name="Shape 3"/>
          <p:cNvSpPr/>
          <p:nvPr/>
        </p:nvSpPr>
        <p:spPr>
          <a:xfrm>
            <a:off x="339610" y="1154570"/>
            <a:ext cx="815064" cy="33961"/>
          </a:xfrm>
          <a:custGeom>
            <a:avLst/>
            <a:gdLst/>
            <a:ahLst/>
            <a:cxnLst/>
            <a:rect l="l" t="t" r="r" b="b"/>
            <a:pathLst>
              <a:path w="815064" h="33961">
                <a:moveTo>
                  <a:pt x="0" y="0"/>
                </a:moveTo>
                <a:lnTo>
                  <a:pt x="815064" y="0"/>
                </a:lnTo>
                <a:lnTo>
                  <a:pt x="815064" y="33961"/>
                </a:lnTo>
                <a:lnTo>
                  <a:pt x="0" y="33961"/>
                </a:lnTo>
                <a:lnTo>
                  <a:pt x="0" y="0"/>
                </a:lnTo>
                <a:close/>
              </a:path>
            </a:pathLst>
          </a:custGeom>
          <a:solidFill>
            <a:srgbClr val="F7B538"/>
          </a:solidFill>
          <a:ln/>
        </p:spPr>
      </p:sp>
      <p:sp>
        <p:nvSpPr>
          <p:cNvPr id="6" name="Shape 4"/>
          <p:cNvSpPr/>
          <p:nvPr/>
        </p:nvSpPr>
        <p:spPr>
          <a:xfrm>
            <a:off x="356591" y="1222492"/>
            <a:ext cx="3778162" cy="3005549"/>
          </a:xfrm>
          <a:custGeom>
            <a:avLst/>
            <a:gdLst/>
            <a:ahLst/>
            <a:cxnLst/>
            <a:rect l="l" t="t" r="r" b="b"/>
            <a:pathLst>
              <a:path w="3778162" h="3005549">
                <a:moveTo>
                  <a:pt x="33961" y="0"/>
                </a:moveTo>
                <a:lnTo>
                  <a:pt x="3710236" y="0"/>
                </a:lnTo>
                <a:cubicBezTo>
                  <a:pt x="3747750" y="0"/>
                  <a:pt x="3778162" y="30411"/>
                  <a:pt x="3778162" y="67925"/>
                </a:cubicBezTo>
                <a:lnTo>
                  <a:pt x="3778162" y="2937623"/>
                </a:lnTo>
                <a:cubicBezTo>
                  <a:pt x="3778162" y="2975138"/>
                  <a:pt x="3747750" y="3005549"/>
                  <a:pt x="3710236" y="3005549"/>
                </a:cubicBezTo>
                <a:lnTo>
                  <a:pt x="33961" y="3005549"/>
                </a:lnTo>
                <a:cubicBezTo>
                  <a:pt x="15205" y="3005549"/>
                  <a:pt x="0" y="2990344"/>
                  <a:pt x="0" y="2971588"/>
                </a:cubicBezTo>
                <a:lnTo>
                  <a:pt x="0" y="33961"/>
                </a:lnTo>
                <a:cubicBezTo>
                  <a:pt x="0" y="15205"/>
                  <a:pt x="15205" y="0"/>
                  <a:pt x="33961" y="0"/>
                </a:cubicBezTo>
                <a:close/>
              </a:path>
            </a:pathLst>
          </a:custGeom>
          <a:solidFill>
            <a:srgbClr val="FFFFFF"/>
          </a:solidFill>
          <a:ln/>
          <a:effectLst>
            <a:outerShdw sx="100000" sy="100000" kx="0" ky="0" algn="bl" rotWithShape="0" blurRad="50942" dist="33961" dir="5400000">
              <a:srgbClr val="000000">
                <a:alpha val="10196"/>
              </a:srgbClr>
            </a:outerShdw>
          </a:effectLst>
        </p:spPr>
      </p:sp>
      <p:sp>
        <p:nvSpPr>
          <p:cNvPr id="7" name="Shape 5"/>
          <p:cNvSpPr/>
          <p:nvPr/>
        </p:nvSpPr>
        <p:spPr>
          <a:xfrm>
            <a:off x="356591" y="1222492"/>
            <a:ext cx="33961" cy="3005549"/>
          </a:xfrm>
          <a:custGeom>
            <a:avLst/>
            <a:gdLst/>
            <a:ahLst/>
            <a:cxnLst/>
            <a:rect l="l" t="t" r="r" b="b"/>
            <a:pathLst>
              <a:path w="33961" h="3005549">
                <a:moveTo>
                  <a:pt x="33961" y="0"/>
                </a:moveTo>
                <a:lnTo>
                  <a:pt x="33961" y="0"/>
                </a:lnTo>
                <a:lnTo>
                  <a:pt x="33961" y="3005549"/>
                </a:lnTo>
                <a:lnTo>
                  <a:pt x="33961" y="3005549"/>
                </a:lnTo>
                <a:cubicBezTo>
                  <a:pt x="15205" y="3005549"/>
                  <a:pt x="0" y="2990344"/>
                  <a:pt x="0" y="2971588"/>
                </a:cubicBezTo>
                <a:lnTo>
                  <a:pt x="0" y="33961"/>
                </a:lnTo>
                <a:cubicBezTo>
                  <a:pt x="0" y="15205"/>
                  <a:pt x="15205" y="0"/>
                  <a:pt x="33961" y="0"/>
                </a:cubicBezTo>
                <a:close/>
              </a:path>
            </a:pathLst>
          </a:custGeom>
          <a:solidFill>
            <a:srgbClr val="1A535C"/>
          </a:solidFill>
          <a:ln/>
        </p:spPr>
      </p:sp>
      <p:sp>
        <p:nvSpPr>
          <p:cNvPr id="8" name="Shape 6"/>
          <p:cNvSpPr/>
          <p:nvPr/>
        </p:nvSpPr>
        <p:spPr>
          <a:xfrm>
            <a:off x="443616" y="1332866"/>
            <a:ext cx="191031" cy="152825"/>
          </a:xfrm>
          <a:custGeom>
            <a:avLst/>
            <a:gdLst/>
            <a:ahLst/>
            <a:cxnLst/>
            <a:rect l="l" t="t" r="r" b="b"/>
            <a:pathLst>
              <a:path w="191031" h="152825">
                <a:moveTo>
                  <a:pt x="95515" y="4776"/>
                </a:moveTo>
                <a:cubicBezTo>
                  <a:pt x="112648" y="4776"/>
                  <a:pt x="126558" y="18685"/>
                  <a:pt x="126558" y="35818"/>
                </a:cubicBezTo>
                <a:cubicBezTo>
                  <a:pt x="126558" y="52951"/>
                  <a:pt x="112648" y="66861"/>
                  <a:pt x="95515" y="66861"/>
                </a:cubicBezTo>
                <a:cubicBezTo>
                  <a:pt x="78383" y="66861"/>
                  <a:pt x="64473" y="52951"/>
                  <a:pt x="64473" y="35818"/>
                </a:cubicBezTo>
                <a:cubicBezTo>
                  <a:pt x="64473" y="18685"/>
                  <a:pt x="78383" y="4776"/>
                  <a:pt x="95515" y="4776"/>
                </a:cubicBezTo>
                <a:close/>
                <a:moveTo>
                  <a:pt x="28655" y="26267"/>
                </a:moveTo>
                <a:cubicBezTo>
                  <a:pt x="40516" y="26267"/>
                  <a:pt x="50146" y="35896"/>
                  <a:pt x="50146" y="47758"/>
                </a:cubicBezTo>
                <a:cubicBezTo>
                  <a:pt x="50146" y="59619"/>
                  <a:pt x="40516" y="69249"/>
                  <a:pt x="28655" y="69249"/>
                </a:cubicBezTo>
                <a:cubicBezTo>
                  <a:pt x="16793" y="69249"/>
                  <a:pt x="7164" y="59619"/>
                  <a:pt x="7164" y="47758"/>
                </a:cubicBezTo>
                <a:cubicBezTo>
                  <a:pt x="7164" y="35896"/>
                  <a:pt x="16793" y="26267"/>
                  <a:pt x="28655" y="26267"/>
                </a:cubicBezTo>
                <a:close/>
                <a:moveTo>
                  <a:pt x="0" y="124170"/>
                </a:moveTo>
                <a:cubicBezTo>
                  <a:pt x="0" y="103067"/>
                  <a:pt x="17103" y="85964"/>
                  <a:pt x="38206" y="85964"/>
                </a:cubicBezTo>
                <a:cubicBezTo>
                  <a:pt x="42027" y="85964"/>
                  <a:pt x="45728" y="86531"/>
                  <a:pt x="49220" y="87576"/>
                </a:cubicBezTo>
                <a:cubicBezTo>
                  <a:pt x="39400" y="98560"/>
                  <a:pt x="33430" y="113066"/>
                  <a:pt x="33430" y="128946"/>
                </a:cubicBezTo>
                <a:lnTo>
                  <a:pt x="33430" y="133721"/>
                </a:lnTo>
                <a:cubicBezTo>
                  <a:pt x="33430" y="137124"/>
                  <a:pt x="34147" y="140348"/>
                  <a:pt x="35430" y="143273"/>
                </a:cubicBezTo>
                <a:lnTo>
                  <a:pt x="9552" y="143273"/>
                </a:lnTo>
                <a:cubicBezTo>
                  <a:pt x="4268" y="143273"/>
                  <a:pt x="0" y="139005"/>
                  <a:pt x="0" y="133721"/>
                </a:cubicBezTo>
                <a:lnTo>
                  <a:pt x="0" y="124170"/>
                </a:lnTo>
                <a:close/>
                <a:moveTo>
                  <a:pt x="155600" y="143273"/>
                </a:moveTo>
                <a:cubicBezTo>
                  <a:pt x="156884" y="140348"/>
                  <a:pt x="157600" y="137124"/>
                  <a:pt x="157600" y="133721"/>
                </a:cubicBezTo>
                <a:lnTo>
                  <a:pt x="157600" y="128946"/>
                </a:lnTo>
                <a:cubicBezTo>
                  <a:pt x="157600" y="113066"/>
                  <a:pt x="151631" y="98560"/>
                  <a:pt x="141810" y="87576"/>
                </a:cubicBezTo>
                <a:cubicBezTo>
                  <a:pt x="145303" y="86531"/>
                  <a:pt x="149004" y="85964"/>
                  <a:pt x="152825" y="85964"/>
                </a:cubicBezTo>
                <a:cubicBezTo>
                  <a:pt x="173927" y="85964"/>
                  <a:pt x="191031" y="103067"/>
                  <a:pt x="191031" y="124170"/>
                </a:cubicBezTo>
                <a:lnTo>
                  <a:pt x="191031" y="133721"/>
                </a:lnTo>
                <a:cubicBezTo>
                  <a:pt x="191031" y="139005"/>
                  <a:pt x="186762" y="143273"/>
                  <a:pt x="181479" y="143273"/>
                </a:cubicBezTo>
                <a:lnTo>
                  <a:pt x="155600" y="143273"/>
                </a:lnTo>
                <a:close/>
                <a:moveTo>
                  <a:pt x="140885" y="47758"/>
                </a:moveTo>
                <a:cubicBezTo>
                  <a:pt x="140885" y="35896"/>
                  <a:pt x="150515" y="26267"/>
                  <a:pt x="162376" y="26267"/>
                </a:cubicBezTo>
                <a:cubicBezTo>
                  <a:pt x="174237" y="26267"/>
                  <a:pt x="183867" y="35896"/>
                  <a:pt x="183867" y="47758"/>
                </a:cubicBezTo>
                <a:cubicBezTo>
                  <a:pt x="183867" y="59619"/>
                  <a:pt x="174237" y="69249"/>
                  <a:pt x="162376" y="69249"/>
                </a:cubicBezTo>
                <a:cubicBezTo>
                  <a:pt x="150515" y="69249"/>
                  <a:pt x="140885" y="59619"/>
                  <a:pt x="140885" y="47758"/>
                </a:cubicBezTo>
                <a:close/>
                <a:moveTo>
                  <a:pt x="47758" y="128946"/>
                </a:moveTo>
                <a:cubicBezTo>
                  <a:pt x="47758" y="102560"/>
                  <a:pt x="69129" y="81188"/>
                  <a:pt x="95515" y="81188"/>
                </a:cubicBezTo>
                <a:cubicBezTo>
                  <a:pt x="121901" y="81188"/>
                  <a:pt x="143273" y="102560"/>
                  <a:pt x="143273" y="128946"/>
                </a:cubicBezTo>
                <a:lnTo>
                  <a:pt x="143273" y="133721"/>
                </a:lnTo>
                <a:cubicBezTo>
                  <a:pt x="143273" y="139005"/>
                  <a:pt x="139005" y="143273"/>
                  <a:pt x="133721" y="143273"/>
                </a:cubicBezTo>
                <a:lnTo>
                  <a:pt x="57309" y="143273"/>
                </a:lnTo>
                <a:cubicBezTo>
                  <a:pt x="52026" y="143273"/>
                  <a:pt x="47758" y="139005"/>
                  <a:pt x="47758" y="133721"/>
                </a:cubicBezTo>
                <a:lnTo>
                  <a:pt x="47758" y="128946"/>
                </a:lnTo>
                <a:close/>
              </a:path>
            </a:pathLst>
          </a:custGeom>
          <a:solidFill>
            <a:srgbClr val="F7B538"/>
          </a:solidFill>
          <a:ln/>
        </p:spPr>
      </p:sp>
      <p:sp>
        <p:nvSpPr>
          <p:cNvPr id="9" name="Text 7"/>
          <p:cNvSpPr/>
          <p:nvPr/>
        </p:nvSpPr>
        <p:spPr>
          <a:xfrm>
            <a:off x="636769" y="1290414"/>
            <a:ext cx="3506474" cy="237727"/>
          </a:xfrm>
          <a:prstGeom prst="rect">
            <a:avLst/>
          </a:prstGeom>
          <a:noFill/>
          <a:ln/>
        </p:spPr>
        <p:txBody>
          <a:bodyPr wrap="square" lIns="0" tIns="0" rIns="0" bIns="0" rtlCol="0" anchor="ctr"/>
          <a:lstStyle/>
          <a:p>
            <a:pPr>
              <a:lnSpc>
                <a:spcPct val="130000"/>
              </a:lnSpc>
            </a:pPr>
            <a:r>
              <a:rPr lang="en-US" sz="1203" b="1" dirty="0">
                <a:solidFill>
                  <a:srgbClr val="1A535C"/>
                </a:solidFill>
                <a:latin typeface="Liter" pitchFamily="34" charset="0"/>
                <a:ea typeface="Liter" pitchFamily="34" charset="-122"/>
                <a:cs typeface="Liter" pitchFamily="34" charset="-120"/>
              </a:rPr>
              <a:t>User Management</a:t>
            </a:r>
            <a:endParaRPr lang="en-US" sz="1600" dirty="0"/>
          </a:p>
        </p:txBody>
      </p:sp>
      <p:sp>
        <p:nvSpPr>
          <p:cNvPr id="10" name="Shape 8"/>
          <p:cNvSpPr/>
          <p:nvPr/>
        </p:nvSpPr>
        <p:spPr>
          <a:xfrm>
            <a:off x="441493" y="1570593"/>
            <a:ext cx="3625337" cy="577337"/>
          </a:xfrm>
          <a:custGeom>
            <a:avLst/>
            <a:gdLst/>
            <a:ahLst/>
            <a:cxnLst/>
            <a:rect l="l" t="t" r="r" b="b"/>
            <a:pathLst>
              <a:path w="3625337" h="577337">
                <a:moveTo>
                  <a:pt x="33959" y="0"/>
                </a:moveTo>
                <a:lnTo>
                  <a:pt x="3591378" y="0"/>
                </a:lnTo>
                <a:cubicBezTo>
                  <a:pt x="3610121" y="0"/>
                  <a:pt x="3625337" y="15217"/>
                  <a:pt x="3625337" y="33959"/>
                </a:cubicBezTo>
                <a:lnTo>
                  <a:pt x="3625337" y="543378"/>
                </a:lnTo>
                <a:cubicBezTo>
                  <a:pt x="3625337" y="562121"/>
                  <a:pt x="3610121" y="577337"/>
                  <a:pt x="3591378" y="577337"/>
                </a:cubicBezTo>
                <a:lnTo>
                  <a:pt x="33959" y="577337"/>
                </a:lnTo>
                <a:cubicBezTo>
                  <a:pt x="15217" y="577337"/>
                  <a:pt x="0" y="562121"/>
                  <a:pt x="0" y="543378"/>
                </a:cubicBezTo>
                <a:lnTo>
                  <a:pt x="0" y="33959"/>
                </a:lnTo>
                <a:cubicBezTo>
                  <a:pt x="0" y="15217"/>
                  <a:pt x="15217" y="0"/>
                  <a:pt x="33959" y="0"/>
                </a:cubicBezTo>
                <a:close/>
              </a:path>
            </a:pathLst>
          </a:custGeom>
          <a:solidFill>
            <a:srgbClr val="1A535C">
              <a:alpha val="10196"/>
            </a:srgbClr>
          </a:solidFill>
          <a:ln/>
        </p:spPr>
      </p:sp>
      <p:sp>
        <p:nvSpPr>
          <p:cNvPr id="11" name="Text 9"/>
          <p:cNvSpPr/>
          <p:nvPr/>
        </p:nvSpPr>
        <p:spPr>
          <a:xfrm>
            <a:off x="475454" y="1604554"/>
            <a:ext cx="3625337" cy="169805"/>
          </a:xfrm>
          <a:prstGeom prst="rect">
            <a:avLst/>
          </a:prstGeom>
          <a:noFill/>
          <a:ln/>
        </p:spPr>
        <p:txBody>
          <a:bodyPr wrap="square" lIns="0" tIns="0" rIns="0" bIns="0" rtlCol="0" anchor="ctr"/>
          <a:lstStyle/>
          <a:p>
            <a:pPr>
              <a:lnSpc>
                <a:spcPct val="100000"/>
              </a:lnSpc>
            </a:pPr>
            <a:r>
              <a:rPr lang="en-US" sz="1070" b="1" dirty="0">
                <a:solidFill>
                  <a:srgbClr val="1A535C"/>
                </a:solidFill>
                <a:latin typeface="Quattrocento Sans" pitchFamily="34" charset="0"/>
                <a:ea typeface="Quattrocento Sans" pitchFamily="34" charset="-122"/>
                <a:cs typeface="Quattrocento Sans" pitchFamily="34" charset="-120"/>
              </a:rPr>
              <a:t>users</a:t>
            </a:r>
            <a:endParaRPr lang="en-US" sz="1600" dirty="0"/>
          </a:p>
        </p:txBody>
      </p:sp>
      <p:sp>
        <p:nvSpPr>
          <p:cNvPr id="12" name="Text 10"/>
          <p:cNvSpPr/>
          <p:nvPr/>
        </p:nvSpPr>
        <p:spPr>
          <a:xfrm>
            <a:off x="475454" y="1774359"/>
            <a:ext cx="3625337" cy="339610"/>
          </a:xfrm>
          <a:prstGeom prst="rect">
            <a:avLst/>
          </a:prstGeom>
          <a:noFill/>
          <a:ln/>
        </p:spPr>
        <p:txBody>
          <a:bodyPr wrap="square" lIns="0" tIns="0" rIns="0" bIns="0" rtlCol="0" anchor="ctr"/>
          <a:lstStyle/>
          <a:p>
            <a:pPr>
              <a:lnSpc>
                <a:spcPct val="100000"/>
              </a:lnSpc>
            </a:pPr>
            <a:r>
              <a:rPr lang="en-US" sz="1070" dirty="0">
                <a:solidFill>
                  <a:srgbClr val="212529">
                    <a:alpha val="80000"/>
                  </a:srgbClr>
                </a:solidFill>
                <a:latin typeface="Quattrocento Sans" pitchFamily="34" charset="0"/>
                <a:ea typeface="Quattrocento Sans" pitchFamily="34" charset="-122"/>
                <a:cs typeface="Quattrocento Sans" pitchFamily="34" charset="-120"/>
              </a:rPr>
              <a:t>id, name, email, phone, role (student/teacher/parent/admin/center_admin)</a:t>
            </a:r>
            <a:endParaRPr lang="en-US" sz="1600" dirty="0"/>
          </a:p>
        </p:txBody>
      </p:sp>
      <p:sp>
        <p:nvSpPr>
          <p:cNvPr id="13" name="Shape 11"/>
          <p:cNvSpPr/>
          <p:nvPr/>
        </p:nvSpPr>
        <p:spPr>
          <a:xfrm>
            <a:off x="441493" y="2198871"/>
            <a:ext cx="3625337" cy="577337"/>
          </a:xfrm>
          <a:custGeom>
            <a:avLst/>
            <a:gdLst/>
            <a:ahLst/>
            <a:cxnLst/>
            <a:rect l="l" t="t" r="r" b="b"/>
            <a:pathLst>
              <a:path w="3625337" h="577337">
                <a:moveTo>
                  <a:pt x="33959" y="0"/>
                </a:moveTo>
                <a:lnTo>
                  <a:pt x="3591378" y="0"/>
                </a:lnTo>
                <a:cubicBezTo>
                  <a:pt x="3610121" y="0"/>
                  <a:pt x="3625337" y="15217"/>
                  <a:pt x="3625337" y="33959"/>
                </a:cubicBezTo>
                <a:lnTo>
                  <a:pt x="3625337" y="543378"/>
                </a:lnTo>
                <a:cubicBezTo>
                  <a:pt x="3625337" y="562121"/>
                  <a:pt x="3610121" y="577337"/>
                  <a:pt x="3591378" y="577337"/>
                </a:cubicBezTo>
                <a:lnTo>
                  <a:pt x="33959" y="577337"/>
                </a:lnTo>
                <a:cubicBezTo>
                  <a:pt x="15217" y="577337"/>
                  <a:pt x="0" y="562121"/>
                  <a:pt x="0" y="543378"/>
                </a:cubicBezTo>
                <a:lnTo>
                  <a:pt x="0" y="33959"/>
                </a:lnTo>
                <a:cubicBezTo>
                  <a:pt x="0" y="15217"/>
                  <a:pt x="15217" y="0"/>
                  <a:pt x="33959" y="0"/>
                </a:cubicBezTo>
                <a:close/>
              </a:path>
            </a:pathLst>
          </a:custGeom>
          <a:solidFill>
            <a:srgbClr val="1A535C">
              <a:alpha val="10196"/>
            </a:srgbClr>
          </a:solidFill>
          <a:ln/>
        </p:spPr>
      </p:sp>
      <p:sp>
        <p:nvSpPr>
          <p:cNvPr id="14" name="Text 12"/>
          <p:cNvSpPr/>
          <p:nvPr/>
        </p:nvSpPr>
        <p:spPr>
          <a:xfrm>
            <a:off x="475454" y="2232832"/>
            <a:ext cx="3625337" cy="169805"/>
          </a:xfrm>
          <a:prstGeom prst="rect">
            <a:avLst/>
          </a:prstGeom>
          <a:noFill/>
          <a:ln/>
        </p:spPr>
        <p:txBody>
          <a:bodyPr wrap="square" lIns="0" tIns="0" rIns="0" bIns="0" rtlCol="0" anchor="ctr"/>
          <a:lstStyle/>
          <a:p>
            <a:pPr>
              <a:lnSpc>
                <a:spcPct val="100000"/>
              </a:lnSpc>
            </a:pPr>
            <a:r>
              <a:rPr lang="en-US" sz="1070" b="1" dirty="0">
                <a:solidFill>
                  <a:srgbClr val="1A535C"/>
                </a:solidFill>
                <a:latin typeface="Quattrocento Sans" pitchFamily="34" charset="0"/>
                <a:ea typeface="Quattrocento Sans" pitchFamily="34" charset="-122"/>
                <a:cs typeface="Quattrocento Sans" pitchFamily="34" charset="-120"/>
              </a:rPr>
              <a:t>teacher_profiles</a:t>
            </a:r>
            <a:endParaRPr lang="en-US" sz="1600" dirty="0"/>
          </a:p>
        </p:txBody>
      </p:sp>
      <p:sp>
        <p:nvSpPr>
          <p:cNvPr id="15" name="Text 13"/>
          <p:cNvSpPr/>
          <p:nvPr/>
        </p:nvSpPr>
        <p:spPr>
          <a:xfrm>
            <a:off x="475454" y="2402637"/>
            <a:ext cx="3625337" cy="339610"/>
          </a:xfrm>
          <a:prstGeom prst="rect">
            <a:avLst/>
          </a:prstGeom>
          <a:noFill/>
          <a:ln/>
        </p:spPr>
        <p:txBody>
          <a:bodyPr wrap="square" lIns="0" tIns="0" rIns="0" bIns="0" rtlCol="0" anchor="ctr"/>
          <a:lstStyle/>
          <a:p>
            <a:pPr>
              <a:lnSpc>
                <a:spcPct val="100000"/>
              </a:lnSpc>
            </a:pPr>
            <a:r>
              <a:rPr lang="en-US" sz="1070" dirty="0">
                <a:solidFill>
                  <a:srgbClr val="212529">
                    <a:alpha val="80000"/>
                  </a:srgbClr>
                </a:solidFill>
                <a:latin typeface="Quattrocento Sans" pitchFamily="34" charset="0"/>
                <a:ea typeface="Quattrocento Sans" pitchFamily="34" charset="-122"/>
                <a:cs typeface="Quattrocento Sans" pitchFamily="34" charset="-120"/>
              </a:rPr>
              <a:t>impact_score, is_govt_verified, subjects (JSON), languages (JSON)</a:t>
            </a:r>
            <a:endParaRPr lang="en-US" sz="1600" dirty="0"/>
          </a:p>
        </p:txBody>
      </p:sp>
      <p:sp>
        <p:nvSpPr>
          <p:cNvPr id="16" name="Shape 14"/>
          <p:cNvSpPr/>
          <p:nvPr/>
        </p:nvSpPr>
        <p:spPr>
          <a:xfrm>
            <a:off x="441493" y="2827150"/>
            <a:ext cx="3625337" cy="407532"/>
          </a:xfrm>
          <a:custGeom>
            <a:avLst/>
            <a:gdLst/>
            <a:ahLst/>
            <a:cxnLst/>
            <a:rect l="l" t="t" r="r" b="b"/>
            <a:pathLst>
              <a:path w="3625337" h="407532">
                <a:moveTo>
                  <a:pt x="33960" y="0"/>
                </a:moveTo>
                <a:lnTo>
                  <a:pt x="3591377" y="0"/>
                </a:lnTo>
                <a:cubicBezTo>
                  <a:pt x="3610133" y="0"/>
                  <a:pt x="3625337" y="15204"/>
                  <a:pt x="3625337" y="33960"/>
                </a:cubicBezTo>
                <a:lnTo>
                  <a:pt x="3625337" y="373572"/>
                </a:lnTo>
                <a:cubicBezTo>
                  <a:pt x="3625337" y="392328"/>
                  <a:pt x="3610133" y="407532"/>
                  <a:pt x="3591377" y="407532"/>
                </a:cubicBezTo>
                <a:lnTo>
                  <a:pt x="33960" y="407532"/>
                </a:lnTo>
                <a:cubicBezTo>
                  <a:pt x="15204" y="407532"/>
                  <a:pt x="0" y="392328"/>
                  <a:pt x="0" y="373572"/>
                </a:cubicBezTo>
                <a:lnTo>
                  <a:pt x="0" y="33960"/>
                </a:lnTo>
                <a:cubicBezTo>
                  <a:pt x="0" y="15204"/>
                  <a:pt x="15204" y="0"/>
                  <a:pt x="33960" y="0"/>
                </a:cubicBezTo>
                <a:close/>
              </a:path>
            </a:pathLst>
          </a:custGeom>
          <a:solidFill>
            <a:srgbClr val="1A535C">
              <a:alpha val="10196"/>
            </a:srgbClr>
          </a:solidFill>
          <a:ln/>
        </p:spPr>
      </p:sp>
      <p:sp>
        <p:nvSpPr>
          <p:cNvPr id="17" name="Text 15"/>
          <p:cNvSpPr/>
          <p:nvPr/>
        </p:nvSpPr>
        <p:spPr>
          <a:xfrm>
            <a:off x="475454" y="2861111"/>
            <a:ext cx="3625337" cy="169805"/>
          </a:xfrm>
          <a:prstGeom prst="rect">
            <a:avLst/>
          </a:prstGeom>
          <a:noFill/>
          <a:ln/>
        </p:spPr>
        <p:txBody>
          <a:bodyPr wrap="square" lIns="0" tIns="0" rIns="0" bIns="0" rtlCol="0" anchor="ctr"/>
          <a:lstStyle/>
          <a:p>
            <a:pPr>
              <a:lnSpc>
                <a:spcPct val="100000"/>
              </a:lnSpc>
            </a:pPr>
            <a:r>
              <a:rPr lang="en-US" sz="1070" b="1" dirty="0">
                <a:solidFill>
                  <a:srgbClr val="1A535C"/>
                </a:solidFill>
                <a:latin typeface="Quattrocento Sans" pitchFamily="34" charset="0"/>
                <a:ea typeface="Quattrocento Sans" pitchFamily="34" charset="-122"/>
                <a:cs typeface="Quattrocento Sans" pitchFamily="34" charset="-120"/>
              </a:rPr>
              <a:t>student_profiles</a:t>
            </a:r>
            <a:endParaRPr lang="en-US" sz="1600" dirty="0"/>
          </a:p>
        </p:txBody>
      </p:sp>
      <p:sp>
        <p:nvSpPr>
          <p:cNvPr id="18" name="Text 16"/>
          <p:cNvSpPr/>
          <p:nvPr/>
        </p:nvSpPr>
        <p:spPr>
          <a:xfrm>
            <a:off x="475454" y="3030916"/>
            <a:ext cx="3625337" cy="169805"/>
          </a:xfrm>
          <a:prstGeom prst="rect">
            <a:avLst/>
          </a:prstGeom>
          <a:noFill/>
          <a:ln/>
        </p:spPr>
        <p:txBody>
          <a:bodyPr wrap="square" lIns="0" tIns="0" rIns="0" bIns="0" rtlCol="0" anchor="ctr"/>
          <a:lstStyle/>
          <a:p>
            <a:pPr>
              <a:lnSpc>
                <a:spcPct val="100000"/>
              </a:lnSpc>
            </a:pPr>
            <a:r>
              <a:rPr lang="en-US" sz="1070" dirty="0">
                <a:solidFill>
                  <a:srgbClr val="212529">
                    <a:alpha val="80000"/>
                  </a:srgbClr>
                </a:solidFill>
                <a:latin typeface="Quattrocento Sans" pitchFamily="34" charset="0"/>
                <a:ea typeface="Quattrocento Sans" pitchFamily="34" charset="-122"/>
                <a:cs typeface="Quattrocento Sans" pitchFamily="34" charset="-120"/>
              </a:rPr>
              <a:t>govt_school_student, free_session_quota, class_grade</a:t>
            </a:r>
            <a:endParaRPr lang="en-US" sz="1600" dirty="0"/>
          </a:p>
        </p:txBody>
      </p:sp>
      <p:sp>
        <p:nvSpPr>
          <p:cNvPr id="19" name="Shape 17"/>
          <p:cNvSpPr/>
          <p:nvPr/>
        </p:nvSpPr>
        <p:spPr>
          <a:xfrm>
            <a:off x="441493" y="3285623"/>
            <a:ext cx="3625337" cy="407532"/>
          </a:xfrm>
          <a:custGeom>
            <a:avLst/>
            <a:gdLst/>
            <a:ahLst/>
            <a:cxnLst/>
            <a:rect l="l" t="t" r="r" b="b"/>
            <a:pathLst>
              <a:path w="3625337" h="407532">
                <a:moveTo>
                  <a:pt x="33960" y="0"/>
                </a:moveTo>
                <a:lnTo>
                  <a:pt x="3591377" y="0"/>
                </a:lnTo>
                <a:cubicBezTo>
                  <a:pt x="3610133" y="0"/>
                  <a:pt x="3625337" y="15204"/>
                  <a:pt x="3625337" y="33960"/>
                </a:cubicBezTo>
                <a:lnTo>
                  <a:pt x="3625337" y="373572"/>
                </a:lnTo>
                <a:cubicBezTo>
                  <a:pt x="3625337" y="392328"/>
                  <a:pt x="3610133" y="407532"/>
                  <a:pt x="3591377" y="407532"/>
                </a:cubicBezTo>
                <a:lnTo>
                  <a:pt x="33960" y="407532"/>
                </a:lnTo>
                <a:cubicBezTo>
                  <a:pt x="15204" y="407532"/>
                  <a:pt x="0" y="392328"/>
                  <a:pt x="0" y="373572"/>
                </a:cubicBezTo>
                <a:lnTo>
                  <a:pt x="0" y="33960"/>
                </a:lnTo>
                <a:cubicBezTo>
                  <a:pt x="0" y="15204"/>
                  <a:pt x="15204" y="0"/>
                  <a:pt x="33960" y="0"/>
                </a:cubicBezTo>
                <a:close/>
              </a:path>
            </a:pathLst>
          </a:custGeom>
          <a:solidFill>
            <a:srgbClr val="1A535C">
              <a:alpha val="10196"/>
            </a:srgbClr>
          </a:solidFill>
          <a:ln/>
        </p:spPr>
      </p:sp>
      <p:sp>
        <p:nvSpPr>
          <p:cNvPr id="20" name="Text 18"/>
          <p:cNvSpPr/>
          <p:nvPr/>
        </p:nvSpPr>
        <p:spPr>
          <a:xfrm>
            <a:off x="475454" y="3319584"/>
            <a:ext cx="3625337" cy="169805"/>
          </a:xfrm>
          <a:prstGeom prst="rect">
            <a:avLst/>
          </a:prstGeom>
          <a:noFill/>
          <a:ln/>
        </p:spPr>
        <p:txBody>
          <a:bodyPr wrap="square" lIns="0" tIns="0" rIns="0" bIns="0" rtlCol="0" anchor="ctr"/>
          <a:lstStyle/>
          <a:p>
            <a:pPr>
              <a:lnSpc>
                <a:spcPct val="100000"/>
              </a:lnSpc>
            </a:pPr>
            <a:r>
              <a:rPr lang="en-US" sz="1070" b="1" dirty="0">
                <a:solidFill>
                  <a:srgbClr val="1A535C"/>
                </a:solidFill>
                <a:latin typeface="Quattrocento Sans" pitchFamily="34" charset="0"/>
                <a:ea typeface="Quattrocento Sans" pitchFamily="34" charset="-122"/>
                <a:cs typeface="Quattrocento Sans" pitchFamily="34" charset="-120"/>
              </a:rPr>
              <a:t>parent_profiles</a:t>
            </a:r>
            <a:endParaRPr lang="en-US" sz="1600" dirty="0"/>
          </a:p>
        </p:txBody>
      </p:sp>
      <p:sp>
        <p:nvSpPr>
          <p:cNvPr id="21" name="Text 19"/>
          <p:cNvSpPr/>
          <p:nvPr/>
        </p:nvSpPr>
        <p:spPr>
          <a:xfrm>
            <a:off x="475454" y="3489389"/>
            <a:ext cx="3625337" cy="169805"/>
          </a:xfrm>
          <a:prstGeom prst="rect">
            <a:avLst/>
          </a:prstGeom>
          <a:noFill/>
          <a:ln/>
        </p:spPr>
        <p:txBody>
          <a:bodyPr wrap="square" lIns="0" tIns="0" rIns="0" bIns="0" rtlCol="0" anchor="ctr"/>
          <a:lstStyle/>
          <a:p>
            <a:pPr>
              <a:lnSpc>
                <a:spcPct val="100000"/>
              </a:lnSpc>
            </a:pPr>
            <a:r>
              <a:rPr lang="en-US" sz="1070" dirty="0">
                <a:solidFill>
                  <a:srgbClr val="212529">
                    <a:alpha val="80000"/>
                  </a:srgbClr>
                </a:solidFill>
                <a:latin typeface="Quattrocento Sans" pitchFamily="34" charset="0"/>
                <a:ea typeface="Quattrocento Sans" pitchFamily="34" charset="-122"/>
                <a:cs typeface="Quattrocento Sans" pitchFamily="34" charset="-120"/>
              </a:rPr>
              <a:t>preferred_language, notification_pref</a:t>
            </a:r>
            <a:endParaRPr lang="en-US" sz="1600" dirty="0"/>
          </a:p>
        </p:txBody>
      </p:sp>
      <p:sp>
        <p:nvSpPr>
          <p:cNvPr id="22" name="Shape 20"/>
          <p:cNvSpPr/>
          <p:nvPr/>
        </p:nvSpPr>
        <p:spPr>
          <a:xfrm>
            <a:off x="441493" y="3744097"/>
            <a:ext cx="3625337" cy="407532"/>
          </a:xfrm>
          <a:custGeom>
            <a:avLst/>
            <a:gdLst/>
            <a:ahLst/>
            <a:cxnLst/>
            <a:rect l="l" t="t" r="r" b="b"/>
            <a:pathLst>
              <a:path w="3625337" h="407532">
                <a:moveTo>
                  <a:pt x="33960" y="0"/>
                </a:moveTo>
                <a:lnTo>
                  <a:pt x="3591377" y="0"/>
                </a:lnTo>
                <a:cubicBezTo>
                  <a:pt x="3610133" y="0"/>
                  <a:pt x="3625337" y="15204"/>
                  <a:pt x="3625337" y="33960"/>
                </a:cubicBezTo>
                <a:lnTo>
                  <a:pt x="3625337" y="373572"/>
                </a:lnTo>
                <a:cubicBezTo>
                  <a:pt x="3625337" y="392328"/>
                  <a:pt x="3610133" y="407532"/>
                  <a:pt x="3591377" y="407532"/>
                </a:cubicBezTo>
                <a:lnTo>
                  <a:pt x="33960" y="407532"/>
                </a:lnTo>
                <a:cubicBezTo>
                  <a:pt x="15204" y="407532"/>
                  <a:pt x="0" y="392328"/>
                  <a:pt x="0" y="373572"/>
                </a:cubicBezTo>
                <a:lnTo>
                  <a:pt x="0" y="33960"/>
                </a:lnTo>
                <a:cubicBezTo>
                  <a:pt x="0" y="15204"/>
                  <a:pt x="15204" y="0"/>
                  <a:pt x="33960" y="0"/>
                </a:cubicBezTo>
                <a:close/>
              </a:path>
            </a:pathLst>
          </a:custGeom>
          <a:solidFill>
            <a:srgbClr val="1A535C">
              <a:alpha val="10196"/>
            </a:srgbClr>
          </a:solidFill>
          <a:ln/>
        </p:spPr>
      </p:sp>
      <p:sp>
        <p:nvSpPr>
          <p:cNvPr id="23" name="Text 21"/>
          <p:cNvSpPr/>
          <p:nvPr/>
        </p:nvSpPr>
        <p:spPr>
          <a:xfrm>
            <a:off x="475454" y="3778058"/>
            <a:ext cx="3625337" cy="169805"/>
          </a:xfrm>
          <a:prstGeom prst="rect">
            <a:avLst/>
          </a:prstGeom>
          <a:noFill/>
          <a:ln/>
        </p:spPr>
        <p:txBody>
          <a:bodyPr wrap="square" lIns="0" tIns="0" rIns="0" bIns="0" rtlCol="0" anchor="ctr"/>
          <a:lstStyle/>
          <a:p>
            <a:pPr>
              <a:lnSpc>
                <a:spcPct val="100000"/>
              </a:lnSpc>
            </a:pPr>
            <a:r>
              <a:rPr lang="en-US" sz="1070" b="1" dirty="0">
                <a:solidFill>
                  <a:srgbClr val="1A535C"/>
                </a:solidFill>
                <a:latin typeface="Quattrocento Sans" pitchFamily="34" charset="0"/>
                <a:ea typeface="Quattrocento Sans" pitchFamily="34" charset="-122"/>
                <a:cs typeface="Quattrocento Sans" pitchFamily="34" charset="-120"/>
              </a:rPr>
              <a:t>parent_student_links</a:t>
            </a:r>
            <a:endParaRPr lang="en-US" sz="1600" dirty="0"/>
          </a:p>
        </p:txBody>
      </p:sp>
      <p:sp>
        <p:nvSpPr>
          <p:cNvPr id="24" name="Text 22"/>
          <p:cNvSpPr/>
          <p:nvPr/>
        </p:nvSpPr>
        <p:spPr>
          <a:xfrm>
            <a:off x="475454" y="3947863"/>
            <a:ext cx="3625337" cy="169805"/>
          </a:xfrm>
          <a:prstGeom prst="rect">
            <a:avLst/>
          </a:prstGeom>
          <a:noFill/>
          <a:ln/>
        </p:spPr>
        <p:txBody>
          <a:bodyPr wrap="square" lIns="0" tIns="0" rIns="0" bIns="0" rtlCol="0" anchor="ctr"/>
          <a:lstStyle/>
          <a:p>
            <a:pPr>
              <a:lnSpc>
                <a:spcPct val="100000"/>
              </a:lnSpc>
            </a:pPr>
            <a:r>
              <a:rPr lang="en-US" sz="1070" dirty="0">
                <a:solidFill>
                  <a:srgbClr val="212529">
                    <a:alpha val="80000"/>
                  </a:srgbClr>
                </a:solidFill>
                <a:latin typeface="Quattrocento Sans" pitchFamily="34" charset="0"/>
                <a:ea typeface="Quattrocento Sans" pitchFamily="34" charset="-122"/>
                <a:cs typeface="Quattrocento Sans" pitchFamily="34" charset="-120"/>
              </a:rPr>
              <a:t>Pivot table linking parents to children</a:t>
            </a:r>
            <a:endParaRPr lang="en-US" sz="1600" dirty="0"/>
          </a:p>
        </p:txBody>
      </p:sp>
      <p:sp>
        <p:nvSpPr>
          <p:cNvPr id="25" name="Shape 23"/>
          <p:cNvSpPr/>
          <p:nvPr/>
        </p:nvSpPr>
        <p:spPr>
          <a:xfrm>
            <a:off x="4218063" y="1222492"/>
            <a:ext cx="3778162" cy="3005549"/>
          </a:xfrm>
          <a:custGeom>
            <a:avLst/>
            <a:gdLst/>
            <a:ahLst/>
            <a:cxnLst/>
            <a:rect l="l" t="t" r="r" b="b"/>
            <a:pathLst>
              <a:path w="3778162" h="3005549">
                <a:moveTo>
                  <a:pt x="33961" y="0"/>
                </a:moveTo>
                <a:lnTo>
                  <a:pt x="3710236" y="0"/>
                </a:lnTo>
                <a:cubicBezTo>
                  <a:pt x="3747750" y="0"/>
                  <a:pt x="3778162" y="30411"/>
                  <a:pt x="3778162" y="67925"/>
                </a:cubicBezTo>
                <a:lnTo>
                  <a:pt x="3778162" y="2937623"/>
                </a:lnTo>
                <a:cubicBezTo>
                  <a:pt x="3778162" y="2975138"/>
                  <a:pt x="3747750" y="3005549"/>
                  <a:pt x="3710236" y="3005549"/>
                </a:cubicBezTo>
                <a:lnTo>
                  <a:pt x="33961" y="3005549"/>
                </a:lnTo>
                <a:cubicBezTo>
                  <a:pt x="15205" y="3005549"/>
                  <a:pt x="0" y="2990344"/>
                  <a:pt x="0" y="2971588"/>
                </a:cubicBezTo>
                <a:lnTo>
                  <a:pt x="0" y="33961"/>
                </a:lnTo>
                <a:cubicBezTo>
                  <a:pt x="0" y="15205"/>
                  <a:pt x="15205" y="0"/>
                  <a:pt x="33961" y="0"/>
                </a:cubicBezTo>
                <a:close/>
              </a:path>
            </a:pathLst>
          </a:custGeom>
          <a:solidFill>
            <a:srgbClr val="FFFFFF"/>
          </a:solidFill>
          <a:ln/>
          <a:effectLst>
            <a:outerShdw sx="100000" sy="100000" kx="0" ky="0" algn="bl" rotWithShape="0" blurRad="50942" dist="33961" dir="5400000">
              <a:srgbClr val="000000">
                <a:alpha val="10196"/>
              </a:srgbClr>
            </a:outerShdw>
          </a:effectLst>
        </p:spPr>
      </p:sp>
      <p:sp>
        <p:nvSpPr>
          <p:cNvPr id="26" name="Shape 24"/>
          <p:cNvSpPr/>
          <p:nvPr/>
        </p:nvSpPr>
        <p:spPr>
          <a:xfrm>
            <a:off x="4218063" y="1222492"/>
            <a:ext cx="33961" cy="3005549"/>
          </a:xfrm>
          <a:custGeom>
            <a:avLst/>
            <a:gdLst/>
            <a:ahLst/>
            <a:cxnLst/>
            <a:rect l="l" t="t" r="r" b="b"/>
            <a:pathLst>
              <a:path w="33961" h="3005549">
                <a:moveTo>
                  <a:pt x="33961" y="0"/>
                </a:moveTo>
                <a:lnTo>
                  <a:pt x="33961" y="0"/>
                </a:lnTo>
                <a:lnTo>
                  <a:pt x="33961" y="3005549"/>
                </a:lnTo>
                <a:lnTo>
                  <a:pt x="33961" y="3005549"/>
                </a:lnTo>
                <a:cubicBezTo>
                  <a:pt x="15205" y="3005549"/>
                  <a:pt x="0" y="2990344"/>
                  <a:pt x="0" y="2971588"/>
                </a:cubicBezTo>
                <a:lnTo>
                  <a:pt x="0" y="33961"/>
                </a:lnTo>
                <a:cubicBezTo>
                  <a:pt x="0" y="15205"/>
                  <a:pt x="15205" y="0"/>
                  <a:pt x="33961" y="0"/>
                </a:cubicBezTo>
                <a:close/>
              </a:path>
            </a:pathLst>
          </a:custGeom>
          <a:solidFill>
            <a:srgbClr val="4A7C59"/>
          </a:solidFill>
          <a:ln/>
        </p:spPr>
      </p:sp>
      <p:sp>
        <p:nvSpPr>
          <p:cNvPr id="27" name="Shape 25"/>
          <p:cNvSpPr/>
          <p:nvPr/>
        </p:nvSpPr>
        <p:spPr>
          <a:xfrm>
            <a:off x="4305088" y="1332866"/>
            <a:ext cx="191031" cy="152825"/>
          </a:xfrm>
          <a:custGeom>
            <a:avLst/>
            <a:gdLst/>
            <a:ahLst/>
            <a:cxnLst/>
            <a:rect l="l" t="t" r="r" b="b"/>
            <a:pathLst>
              <a:path w="191031" h="152825">
                <a:moveTo>
                  <a:pt x="38206" y="28655"/>
                </a:moveTo>
                <a:cubicBezTo>
                  <a:pt x="38206" y="18118"/>
                  <a:pt x="46773" y="9552"/>
                  <a:pt x="57309" y="9552"/>
                </a:cubicBezTo>
                <a:lnTo>
                  <a:pt x="162376" y="9552"/>
                </a:lnTo>
                <a:cubicBezTo>
                  <a:pt x="172913" y="9552"/>
                  <a:pt x="181479" y="18118"/>
                  <a:pt x="181479" y="28655"/>
                </a:cubicBezTo>
                <a:lnTo>
                  <a:pt x="181479" y="100291"/>
                </a:lnTo>
                <a:lnTo>
                  <a:pt x="152825" y="100291"/>
                </a:lnTo>
                <a:lnTo>
                  <a:pt x="152825" y="95515"/>
                </a:lnTo>
                <a:cubicBezTo>
                  <a:pt x="152825" y="90232"/>
                  <a:pt x="148556" y="85964"/>
                  <a:pt x="143273" y="85964"/>
                </a:cubicBezTo>
                <a:lnTo>
                  <a:pt x="124170" y="85964"/>
                </a:lnTo>
                <a:cubicBezTo>
                  <a:pt x="118887" y="85964"/>
                  <a:pt x="114618" y="90232"/>
                  <a:pt x="114618" y="95515"/>
                </a:cubicBezTo>
                <a:lnTo>
                  <a:pt x="114618" y="100291"/>
                </a:lnTo>
                <a:lnTo>
                  <a:pt x="76084" y="100291"/>
                </a:lnTo>
                <a:cubicBezTo>
                  <a:pt x="79337" y="94680"/>
                  <a:pt x="81188" y="88143"/>
                  <a:pt x="81188" y="81188"/>
                </a:cubicBezTo>
                <a:cubicBezTo>
                  <a:pt x="81188" y="60085"/>
                  <a:pt x="64085" y="42982"/>
                  <a:pt x="42982" y="42982"/>
                </a:cubicBezTo>
                <a:cubicBezTo>
                  <a:pt x="41370" y="42982"/>
                  <a:pt x="39758" y="43071"/>
                  <a:pt x="38206" y="43280"/>
                </a:cubicBezTo>
                <a:lnTo>
                  <a:pt x="38206" y="28655"/>
                </a:lnTo>
                <a:close/>
                <a:moveTo>
                  <a:pt x="99396" y="133721"/>
                </a:moveTo>
                <a:cubicBezTo>
                  <a:pt x="97873" y="126498"/>
                  <a:pt x="94530" y="119961"/>
                  <a:pt x="89814" y="114618"/>
                </a:cubicBezTo>
                <a:lnTo>
                  <a:pt x="181479" y="114618"/>
                </a:lnTo>
                <a:cubicBezTo>
                  <a:pt x="181479" y="125155"/>
                  <a:pt x="172913" y="133721"/>
                  <a:pt x="162376" y="133721"/>
                </a:cubicBezTo>
                <a:lnTo>
                  <a:pt x="99396" y="133721"/>
                </a:lnTo>
                <a:close/>
                <a:moveTo>
                  <a:pt x="19103" y="81188"/>
                </a:moveTo>
                <a:cubicBezTo>
                  <a:pt x="19103" y="68009"/>
                  <a:pt x="29803" y="57309"/>
                  <a:pt x="42982" y="57309"/>
                </a:cubicBezTo>
                <a:cubicBezTo>
                  <a:pt x="56161" y="57309"/>
                  <a:pt x="66861" y="68009"/>
                  <a:pt x="66861" y="81188"/>
                </a:cubicBezTo>
                <a:cubicBezTo>
                  <a:pt x="66861" y="94367"/>
                  <a:pt x="56161" y="105067"/>
                  <a:pt x="42982" y="105067"/>
                </a:cubicBezTo>
                <a:cubicBezTo>
                  <a:pt x="29803" y="105067"/>
                  <a:pt x="19103" y="94367"/>
                  <a:pt x="19103" y="81188"/>
                </a:cubicBezTo>
                <a:close/>
                <a:moveTo>
                  <a:pt x="0" y="143273"/>
                </a:moveTo>
                <a:cubicBezTo>
                  <a:pt x="0" y="127453"/>
                  <a:pt x="12835" y="114618"/>
                  <a:pt x="28655" y="114618"/>
                </a:cubicBezTo>
                <a:lnTo>
                  <a:pt x="57309" y="114618"/>
                </a:lnTo>
                <a:cubicBezTo>
                  <a:pt x="73129" y="114618"/>
                  <a:pt x="85964" y="127453"/>
                  <a:pt x="85964" y="143273"/>
                </a:cubicBezTo>
                <a:cubicBezTo>
                  <a:pt x="85964" y="148556"/>
                  <a:pt x="81695" y="152825"/>
                  <a:pt x="76412" y="152825"/>
                </a:cubicBezTo>
                <a:lnTo>
                  <a:pt x="9552" y="152825"/>
                </a:lnTo>
                <a:cubicBezTo>
                  <a:pt x="4268" y="152825"/>
                  <a:pt x="0" y="148556"/>
                  <a:pt x="0" y="143273"/>
                </a:cubicBezTo>
                <a:close/>
              </a:path>
            </a:pathLst>
          </a:custGeom>
          <a:solidFill>
            <a:srgbClr val="F7B538"/>
          </a:solidFill>
          <a:ln/>
        </p:spPr>
      </p:sp>
      <p:sp>
        <p:nvSpPr>
          <p:cNvPr id="28" name="Text 26"/>
          <p:cNvSpPr/>
          <p:nvPr/>
        </p:nvSpPr>
        <p:spPr>
          <a:xfrm>
            <a:off x="4498241" y="1290414"/>
            <a:ext cx="3506474" cy="237727"/>
          </a:xfrm>
          <a:prstGeom prst="rect">
            <a:avLst/>
          </a:prstGeom>
          <a:noFill/>
          <a:ln/>
        </p:spPr>
        <p:txBody>
          <a:bodyPr wrap="square" lIns="0" tIns="0" rIns="0" bIns="0" rtlCol="0" anchor="ctr"/>
          <a:lstStyle/>
          <a:p>
            <a:pPr>
              <a:lnSpc>
                <a:spcPct val="130000"/>
              </a:lnSpc>
            </a:pPr>
            <a:r>
              <a:rPr lang="en-US" sz="1203" b="1" dirty="0">
                <a:solidFill>
                  <a:srgbClr val="1A535C"/>
                </a:solidFill>
                <a:latin typeface="Liter" pitchFamily="34" charset="0"/>
                <a:ea typeface="Liter" pitchFamily="34" charset="-122"/>
                <a:cs typeface="Liter" pitchFamily="34" charset="-120"/>
              </a:rPr>
              <a:t>Teacher Features</a:t>
            </a:r>
            <a:endParaRPr lang="en-US" sz="1600" dirty="0"/>
          </a:p>
        </p:txBody>
      </p:sp>
      <p:sp>
        <p:nvSpPr>
          <p:cNvPr id="29" name="Shape 27"/>
          <p:cNvSpPr/>
          <p:nvPr/>
        </p:nvSpPr>
        <p:spPr>
          <a:xfrm>
            <a:off x="4302965" y="1570593"/>
            <a:ext cx="3625337" cy="577337"/>
          </a:xfrm>
          <a:custGeom>
            <a:avLst/>
            <a:gdLst/>
            <a:ahLst/>
            <a:cxnLst/>
            <a:rect l="l" t="t" r="r" b="b"/>
            <a:pathLst>
              <a:path w="3625337" h="577337">
                <a:moveTo>
                  <a:pt x="33959" y="0"/>
                </a:moveTo>
                <a:lnTo>
                  <a:pt x="3591378" y="0"/>
                </a:lnTo>
                <a:cubicBezTo>
                  <a:pt x="3610121" y="0"/>
                  <a:pt x="3625337" y="15217"/>
                  <a:pt x="3625337" y="33959"/>
                </a:cubicBezTo>
                <a:lnTo>
                  <a:pt x="3625337" y="543378"/>
                </a:lnTo>
                <a:cubicBezTo>
                  <a:pt x="3625337" y="562121"/>
                  <a:pt x="3610121" y="577337"/>
                  <a:pt x="3591378" y="577337"/>
                </a:cubicBezTo>
                <a:lnTo>
                  <a:pt x="33959" y="577337"/>
                </a:lnTo>
                <a:cubicBezTo>
                  <a:pt x="15217" y="577337"/>
                  <a:pt x="0" y="562121"/>
                  <a:pt x="0" y="543378"/>
                </a:cubicBezTo>
                <a:lnTo>
                  <a:pt x="0" y="33959"/>
                </a:lnTo>
                <a:cubicBezTo>
                  <a:pt x="0" y="15217"/>
                  <a:pt x="15217" y="0"/>
                  <a:pt x="33959" y="0"/>
                </a:cubicBezTo>
                <a:close/>
              </a:path>
            </a:pathLst>
          </a:custGeom>
          <a:solidFill>
            <a:srgbClr val="4A7C59">
              <a:alpha val="10196"/>
            </a:srgbClr>
          </a:solidFill>
          <a:ln/>
        </p:spPr>
      </p:sp>
      <p:sp>
        <p:nvSpPr>
          <p:cNvPr id="30" name="Text 28"/>
          <p:cNvSpPr/>
          <p:nvPr/>
        </p:nvSpPr>
        <p:spPr>
          <a:xfrm>
            <a:off x="4336926" y="1604554"/>
            <a:ext cx="3625337" cy="169805"/>
          </a:xfrm>
          <a:prstGeom prst="rect">
            <a:avLst/>
          </a:prstGeom>
          <a:noFill/>
          <a:ln/>
        </p:spPr>
        <p:txBody>
          <a:bodyPr wrap="square" lIns="0" tIns="0" rIns="0" bIns="0" rtlCol="0" anchor="ctr"/>
          <a:lstStyle/>
          <a:p>
            <a:pPr>
              <a:lnSpc>
                <a:spcPct val="100000"/>
              </a:lnSpc>
            </a:pPr>
            <a:r>
              <a:rPr lang="en-US" sz="1070" b="1" dirty="0">
                <a:solidFill>
                  <a:srgbClr val="4A7C59"/>
                </a:solidFill>
                <a:latin typeface="Quattrocento Sans" pitchFamily="34" charset="0"/>
                <a:ea typeface="Quattrocento Sans" pitchFamily="34" charset="-122"/>
                <a:cs typeface="Quattrocento Sans" pitchFamily="34" charset="-120"/>
              </a:rPr>
              <a:t>teacher_availability</a:t>
            </a:r>
            <a:endParaRPr lang="en-US" sz="1600" dirty="0"/>
          </a:p>
        </p:txBody>
      </p:sp>
      <p:sp>
        <p:nvSpPr>
          <p:cNvPr id="31" name="Text 29"/>
          <p:cNvSpPr/>
          <p:nvPr/>
        </p:nvSpPr>
        <p:spPr>
          <a:xfrm>
            <a:off x="4336926" y="1774359"/>
            <a:ext cx="3625337" cy="339610"/>
          </a:xfrm>
          <a:prstGeom prst="rect">
            <a:avLst/>
          </a:prstGeom>
          <a:noFill/>
          <a:ln/>
        </p:spPr>
        <p:txBody>
          <a:bodyPr wrap="square" lIns="0" tIns="0" rIns="0" bIns="0" rtlCol="0" anchor="ctr"/>
          <a:lstStyle/>
          <a:p>
            <a:pPr>
              <a:lnSpc>
                <a:spcPct val="100000"/>
              </a:lnSpc>
            </a:pPr>
            <a:r>
              <a:rPr lang="en-US" sz="1070" dirty="0">
                <a:solidFill>
                  <a:srgbClr val="212529">
                    <a:alpha val="80000"/>
                  </a:srgbClr>
                </a:solidFill>
                <a:latin typeface="Quattrocento Sans" pitchFamily="34" charset="0"/>
                <a:ea typeface="Quattrocento Sans" pitchFamily="34" charset="-122"/>
                <a:cs typeface="Quattrocento Sans" pitchFamily="34" charset="-120"/>
              </a:rPr>
              <a:t>day_of_week, start_time, end_time, is_recurring, specific_date</a:t>
            </a:r>
            <a:endParaRPr lang="en-US" sz="1600" dirty="0"/>
          </a:p>
        </p:txBody>
      </p:sp>
      <p:sp>
        <p:nvSpPr>
          <p:cNvPr id="32" name="Shape 30"/>
          <p:cNvSpPr/>
          <p:nvPr/>
        </p:nvSpPr>
        <p:spPr>
          <a:xfrm>
            <a:off x="4302965" y="2198871"/>
            <a:ext cx="3625337" cy="407532"/>
          </a:xfrm>
          <a:custGeom>
            <a:avLst/>
            <a:gdLst/>
            <a:ahLst/>
            <a:cxnLst/>
            <a:rect l="l" t="t" r="r" b="b"/>
            <a:pathLst>
              <a:path w="3625337" h="407532">
                <a:moveTo>
                  <a:pt x="33960" y="0"/>
                </a:moveTo>
                <a:lnTo>
                  <a:pt x="3591377" y="0"/>
                </a:lnTo>
                <a:cubicBezTo>
                  <a:pt x="3610133" y="0"/>
                  <a:pt x="3625337" y="15204"/>
                  <a:pt x="3625337" y="33960"/>
                </a:cubicBezTo>
                <a:lnTo>
                  <a:pt x="3625337" y="373572"/>
                </a:lnTo>
                <a:cubicBezTo>
                  <a:pt x="3625337" y="392328"/>
                  <a:pt x="3610133" y="407532"/>
                  <a:pt x="3591377" y="407532"/>
                </a:cubicBezTo>
                <a:lnTo>
                  <a:pt x="33960" y="407532"/>
                </a:lnTo>
                <a:cubicBezTo>
                  <a:pt x="15204" y="407532"/>
                  <a:pt x="0" y="392328"/>
                  <a:pt x="0" y="373572"/>
                </a:cubicBezTo>
                <a:lnTo>
                  <a:pt x="0" y="33960"/>
                </a:lnTo>
                <a:cubicBezTo>
                  <a:pt x="0" y="15204"/>
                  <a:pt x="15204" y="0"/>
                  <a:pt x="33960" y="0"/>
                </a:cubicBezTo>
                <a:close/>
              </a:path>
            </a:pathLst>
          </a:custGeom>
          <a:solidFill>
            <a:srgbClr val="4A7C59">
              <a:alpha val="10196"/>
            </a:srgbClr>
          </a:solidFill>
          <a:ln/>
        </p:spPr>
      </p:sp>
      <p:sp>
        <p:nvSpPr>
          <p:cNvPr id="33" name="Text 31"/>
          <p:cNvSpPr/>
          <p:nvPr/>
        </p:nvSpPr>
        <p:spPr>
          <a:xfrm>
            <a:off x="4336926" y="2232832"/>
            <a:ext cx="3625337" cy="169805"/>
          </a:xfrm>
          <a:prstGeom prst="rect">
            <a:avLst/>
          </a:prstGeom>
          <a:noFill/>
          <a:ln/>
        </p:spPr>
        <p:txBody>
          <a:bodyPr wrap="square" lIns="0" tIns="0" rIns="0" bIns="0" rtlCol="0" anchor="ctr"/>
          <a:lstStyle/>
          <a:p>
            <a:pPr>
              <a:lnSpc>
                <a:spcPct val="100000"/>
              </a:lnSpc>
            </a:pPr>
            <a:r>
              <a:rPr lang="en-US" sz="1070" b="1" dirty="0">
                <a:solidFill>
                  <a:srgbClr val="4A7C59"/>
                </a:solidFill>
                <a:latin typeface="Quattrocento Sans" pitchFamily="34" charset="0"/>
                <a:ea typeface="Quattrocento Sans" pitchFamily="34" charset="-122"/>
                <a:cs typeface="Quattrocento Sans" pitchFamily="34" charset="-120"/>
              </a:rPr>
              <a:t>teacher_statuses</a:t>
            </a:r>
            <a:endParaRPr lang="en-US" sz="1600" dirty="0"/>
          </a:p>
        </p:txBody>
      </p:sp>
      <p:sp>
        <p:nvSpPr>
          <p:cNvPr id="34" name="Text 32"/>
          <p:cNvSpPr/>
          <p:nvPr/>
        </p:nvSpPr>
        <p:spPr>
          <a:xfrm>
            <a:off x="4336926" y="2402637"/>
            <a:ext cx="3625337" cy="169805"/>
          </a:xfrm>
          <a:prstGeom prst="rect">
            <a:avLst/>
          </a:prstGeom>
          <a:noFill/>
          <a:ln/>
        </p:spPr>
        <p:txBody>
          <a:bodyPr wrap="square" lIns="0" tIns="0" rIns="0" bIns="0" rtlCol="0" anchor="ctr"/>
          <a:lstStyle/>
          <a:p>
            <a:pPr>
              <a:lnSpc>
                <a:spcPct val="100000"/>
              </a:lnSpc>
            </a:pPr>
            <a:r>
              <a:rPr lang="en-US" sz="1070" dirty="0">
                <a:solidFill>
                  <a:srgbClr val="212529">
                    <a:alpha val="80000"/>
                  </a:srgbClr>
                </a:solidFill>
                <a:latin typeface="Quattrocento Sans" pitchFamily="34" charset="0"/>
                <a:ea typeface="Quattrocento Sans" pitchFamily="34" charset="-122"/>
                <a:cs typeface="Quattrocento Sans" pitchFamily="34" charset="-120"/>
              </a:rPr>
              <a:t>message, expires_at (24-hour auto-purging)</a:t>
            </a:r>
            <a:endParaRPr lang="en-US" sz="1600" dirty="0"/>
          </a:p>
        </p:txBody>
      </p:sp>
      <p:sp>
        <p:nvSpPr>
          <p:cNvPr id="35" name="Shape 33"/>
          <p:cNvSpPr/>
          <p:nvPr/>
        </p:nvSpPr>
        <p:spPr>
          <a:xfrm>
            <a:off x="4302965" y="2657345"/>
            <a:ext cx="3625337" cy="407532"/>
          </a:xfrm>
          <a:custGeom>
            <a:avLst/>
            <a:gdLst/>
            <a:ahLst/>
            <a:cxnLst/>
            <a:rect l="l" t="t" r="r" b="b"/>
            <a:pathLst>
              <a:path w="3625337" h="407532">
                <a:moveTo>
                  <a:pt x="33960" y="0"/>
                </a:moveTo>
                <a:lnTo>
                  <a:pt x="3591377" y="0"/>
                </a:lnTo>
                <a:cubicBezTo>
                  <a:pt x="3610133" y="0"/>
                  <a:pt x="3625337" y="15204"/>
                  <a:pt x="3625337" y="33960"/>
                </a:cubicBezTo>
                <a:lnTo>
                  <a:pt x="3625337" y="373572"/>
                </a:lnTo>
                <a:cubicBezTo>
                  <a:pt x="3625337" y="392328"/>
                  <a:pt x="3610133" y="407532"/>
                  <a:pt x="3591377" y="407532"/>
                </a:cubicBezTo>
                <a:lnTo>
                  <a:pt x="33960" y="407532"/>
                </a:lnTo>
                <a:cubicBezTo>
                  <a:pt x="15204" y="407532"/>
                  <a:pt x="0" y="392328"/>
                  <a:pt x="0" y="373572"/>
                </a:cubicBezTo>
                <a:lnTo>
                  <a:pt x="0" y="33960"/>
                </a:lnTo>
                <a:cubicBezTo>
                  <a:pt x="0" y="15204"/>
                  <a:pt x="15204" y="0"/>
                  <a:pt x="33960" y="0"/>
                </a:cubicBezTo>
                <a:close/>
              </a:path>
            </a:pathLst>
          </a:custGeom>
          <a:solidFill>
            <a:srgbClr val="4A7C59">
              <a:alpha val="10196"/>
            </a:srgbClr>
          </a:solidFill>
          <a:ln/>
        </p:spPr>
      </p:sp>
      <p:sp>
        <p:nvSpPr>
          <p:cNvPr id="36" name="Text 34"/>
          <p:cNvSpPr/>
          <p:nvPr/>
        </p:nvSpPr>
        <p:spPr>
          <a:xfrm>
            <a:off x="4336926" y="2691306"/>
            <a:ext cx="3625337" cy="169805"/>
          </a:xfrm>
          <a:prstGeom prst="rect">
            <a:avLst/>
          </a:prstGeom>
          <a:noFill/>
          <a:ln/>
        </p:spPr>
        <p:txBody>
          <a:bodyPr wrap="square" lIns="0" tIns="0" rIns="0" bIns="0" rtlCol="0" anchor="ctr"/>
          <a:lstStyle/>
          <a:p>
            <a:pPr>
              <a:lnSpc>
                <a:spcPct val="100000"/>
              </a:lnSpc>
            </a:pPr>
            <a:r>
              <a:rPr lang="en-US" sz="1070" b="1" dirty="0">
                <a:solidFill>
                  <a:srgbClr val="4A7C59"/>
                </a:solidFill>
                <a:latin typeface="Quattrocento Sans" pitchFamily="34" charset="0"/>
                <a:ea typeface="Quattrocento Sans" pitchFamily="34" charset="-122"/>
                <a:cs typeface="Quattrocento Sans" pitchFamily="34" charset="-120"/>
              </a:rPr>
              <a:t>teacher_followers</a:t>
            </a:r>
            <a:endParaRPr lang="en-US" sz="1600" dirty="0"/>
          </a:p>
        </p:txBody>
      </p:sp>
      <p:sp>
        <p:nvSpPr>
          <p:cNvPr id="37" name="Text 35"/>
          <p:cNvSpPr/>
          <p:nvPr/>
        </p:nvSpPr>
        <p:spPr>
          <a:xfrm>
            <a:off x="4336926" y="2861111"/>
            <a:ext cx="3625337" cy="169805"/>
          </a:xfrm>
          <a:prstGeom prst="rect">
            <a:avLst/>
          </a:prstGeom>
          <a:noFill/>
          <a:ln/>
        </p:spPr>
        <p:txBody>
          <a:bodyPr wrap="square" lIns="0" tIns="0" rIns="0" bIns="0" rtlCol="0" anchor="ctr"/>
          <a:lstStyle/>
          <a:p>
            <a:pPr>
              <a:lnSpc>
                <a:spcPct val="100000"/>
              </a:lnSpc>
            </a:pPr>
            <a:r>
              <a:rPr lang="en-US" sz="1070" dirty="0">
                <a:solidFill>
                  <a:srgbClr val="212529">
                    <a:alpha val="80000"/>
                  </a:srgbClr>
                </a:solidFill>
                <a:latin typeface="Quattrocento Sans" pitchFamily="34" charset="0"/>
                <a:ea typeface="Quattrocento Sans" pitchFamily="34" charset="-122"/>
                <a:cs typeface="Quattrocento Sans" pitchFamily="34" charset="-120"/>
              </a:rPr>
              <a:t>Pivot for Daily Status notifications</a:t>
            </a:r>
            <a:endParaRPr lang="en-US" sz="1600" dirty="0"/>
          </a:p>
        </p:txBody>
      </p:sp>
      <p:sp>
        <p:nvSpPr>
          <p:cNvPr id="38" name="Shape 36"/>
          <p:cNvSpPr/>
          <p:nvPr/>
        </p:nvSpPr>
        <p:spPr>
          <a:xfrm>
            <a:off x="4302965" y="3115818"/>
            <a:ext cx="3625337" cy="577337"/>
          </a:xfrm>
          <a:custGeom>
            <a:avLst/>
            <a:gdLst/>
            <a:ahLst/>
            <a:cxnLst/>
            <a:rect l="l" t="t" r="r" b="b"/>
            <a:pathLst>
              <a:path w="3625337" h="577337">
                <a:moveTo>
                  <a:pt x="33959" y="0"/>
                </a:moveTo>
                <a:lnTo>
                  <a:pt x="3591378" y="0"/>
                </a:lnTo>
                <a:cubicBezTo>
                  <a:pt x="3610121" y="0"/>
                  <a:pt x="3625337" y="15217"/>
                  <a:pt x="3625337" y="33959"/>
                </a:cubicBezTo>
                <a:lnTo>
                  <a:pt x="3625337" y="543378"/>
                </a:lnTo>
                <a:cubicBezTo>
                  <a:pt x="3625337" y="562121"/>
                  <a:pt x="3610121" y="577337"/>
                  <a:pt x="3591378" y="577337"/>
                </a:cubicBezTo>
                <a:lnTo>
                  <a:pt x="33959" y="577337"/>
                </a:lnTo>
                <a:cubicBezTo>
                  <a:pt x="15217" y="577337"/>
                  <a:pt x="0" y="562121"/>
                  <a:pt x="0" y="543378"/>
                </a:cubicBezTo>
                <a:lnTo>
                  <a:pt x="0" y="33959"/>
                </a:lnTo>
                <a:cubicBezTo>
                  <a:pt x="0" y="15217"/>
                  <a:pt x="15217" y="0"/>
                  <a:pt x="33959" y="0"/>
                </a:cubicBezTo>
                <a:close/>
              </a:path>
            </a:pathLst>
          </a:custGeom>
          <a:solidFill>
            <a:srgbClr val="4A7C59">
              <a:alpha val="10196"/>
            </a:srgbClr>
          </a:solidFill>
          <a:ln/>
        </p:spPr>
      </p:sp>
      <p:sp>
        <p:nvSpPr>
          <p:cNvPr id="39" name="Text 37"/>
          <p:cNvSpPr/>
          <p:nvPr/>
        </p:nvSpPr>
        <p:spPr>
          <a:xfrm>
            <a:off x="4336926" y="3149779"/>
            <a:ext cx="3625337" cy="169805"/>
          </a:xfrm>
          <a:prstGeom prst="rect">
            <a:avLst/>
          </a:prstGeom>
          <a:noFill/>
          <a:ln/>
        </p:spPr>
        <p:txBody>
          <a:bodyPr wrap="square" lIns="0" tIns="0" rIns="0" bIns="0" rtlCol="0" anchor="ctr"/>
          <a:lstStyle/>
          <a:p>
            <a:pPr>
              <a:lnSpc>
                <a:spcPct val="100000"/>
              </a:lnSpc>
            </a:pPr>
            <a:r>
              <a:rPr lang="en-US" sz="1070" b="1" dirty="0">
                <a:solidFill>
                  <a:srgbClr val="4A7C59"/>
                </a:solidFill>
                <a:latin typeface="Quattrocento Sans" pitchFamily="34" charset="0"/>
                <a:ea typeface="Quattrocento Sans" pitchFamily="34" charset="-122"/>
                <a:cs typeface="Quattrocento Sans" pitchFamily="34" charset="-120"/>
              </a:rPr>
              <a:t>teacher_impact_scores</a:t>
            </a:r>
            <a:endParaRPr lang="en-US" sz="1600" dirty="0"/>
          </a:p>
        </p:txBody>
      </p:sp>
      <p:sp>
        <p:nvSpPr>
          <p:cNvPr id="40" name="Text 38"/>
          <p:cNvSpPr/>
          <p:nvPr/>
        </p:nvSpPr>
        <p:spPr>
          <a:xfrm>
            <a:off x="4336926" y="3319584"/>
            <a:ext cx="3625337" cy="339610"/>
          </a:xfrm>
          <a:prstGeom prst="rect">
            <a:avLst/>
          </a:prstGeom>
          <a:noFill/>
          <a:ln/>
        </p:spPr>
        <p:txBody>
          <a:bodyPr wrap="square" lIns="0" tIns="0" rIns="0" bIns="0" rtlCol="0" anchor="ctr"/>
          <a:lstStyle/>
          <a:p>
            <a:pPr>
              <a:lnSpc>
                <a:spcPct val="100000"/>
              </a:lnSpc>
            </a:pPr>
            <a:r>
              <a:rPr lang="en-US" sz="1070" dirty="0">
                <a:solidFill>
                  <a:srgbClr val="212529">
                    <a:alpha val="80000"/>
                  </a:srgbClr>
                </a:solidFill>
                <a:latin typeface="Quattrocento Sans" pitchFamily="34" charset="0"/>
                <a:ea typeface="Quattrocento Sans" pitchFamily="34" charset="-122"/>
                <a:cs typeface="Quattrocento Sans" pitchFamily="34" charset="-120"/>
              </a:rPr>
              <a:t>score, return_rate, consistency, sentiment_score, calculated_at</a:t>
            </a:r>
            <a:endParaRPr lang="en-US" sz="1600" dirty="0"/>
          </a:p>
        </p:txBody>
      </p:sp>
      <p:sp>
        <p:nvSpPr>
          <p:cNvPr id="41" name="Shape 39"/>
          <p:cNvSpPr/>
          <p:nvPr/>
        </p:nvSpPr>
        <p:spPr>
          <a:xfrm>
            <a:off x="4302965" y="3744097"/>
            <a:ext cx="3625337" cy="407532"/>
          </a:xfrm>
          <a:custGeom>
            <a:avLst/>
            <a:gdLst/>
            <a:ahLst/>
            <a:cxnLst/>
            <a:rect l="l" t="t" r="r" b="b"/>
            <a:pathLst>
              <a:path w="3625337" h="407532">
                <a:moveTo>
                  <a:pt x="33960" y="0"/>
                </a:moveTo>
                <a:lnTo>
                  <a:pt x="3591377" y="0"/>
                </a:lnTo>
                <a:cubicBezTo>
                  <a:pt x="3610133" y="0"/>
                  <a:pt x="3625337" y="15204"/>
                  <a:pt x="3625337" y="33960"/>
                </a:cubicBezTo>
                <a:lnTo>
                  <a:pt x="3625337" y="373572"/>
                </a:lnTo>
                <a:cubicBezTo>
                  <a:pt x="3625337" y="392328"/>
                  <a:pt x="3610133" y="407532"/>
                  <a:pt x="3591377" y="407532"/>
                </a:cubicBezTo>
                <a:lnTo>
                  <a:pt x="33960" y="407532"/>
                </a:lnTo>
                <a:cubicBezTo>
                  <a:pt x="15204" y="407532"/>
                  <a:pt x="0" y="392328"/>
                  <a:pt x="0" y="373572"/>
                </a:cubicBezTo>
                <a:lnTo>
                  <a:pt x="0" y="33960"/>
                </a:lnTo>
                <a:cubicBezTo>
                  <a:pt x="0" y="15204"/>
                  <a:pt x="15204" y="0"/>
                  <a:pt x="33960" y="0"/>
                </a:cubicBezTo>
                <a:close/>
              </a:path>
            </a:pathLst>
          </a:custGeom>
          <a:solidFill>
            <a:srgbClr val="4A7C59">
              <a:alpha val="10196"/>
            </a:srgbClr>
          </a:solidFill>
          <a:ln/>
        </p:spPr>
      </p:sp>
      <p:sp>
        <p:nvSpPr>
          <p:cNvPr id="42" name="Text 40"/>
          <p:cNvSpPr/>
          <p:nvPr/>
        </p:nvSpPr>
        <p:spPr>
          <a:xfrm>
            <a:off x="4336926" y="3778058"/>
            <a:ext cx="3625337" cy="169805"/>
          </a:xfrm>
          <a:prstGeom prst="rect">
            <a:avLst/>
          </a:prstGeom>
          <a:noFill/>
          <a:ln/>
        </p:spPr>
        <p:txBody>
          <a:bodyPr wrap="square" lIns="0" tIns="0" rIns="0" bIns="0" rtlCol="0" anchor="ctr"/>
          <a:lstStyle/>
          <a:p>
            <a:pPr>
              <a:lnSpc>
                <a:spcPct val="100000"/>
              </a:lnSpc>
            </a:pPr>
            <a:r>
              <a:rPr lang="en-US" sz="1070" b="1" dirty="0">
                <a:solidFill>
                  <a:srgbClr val="4A7C59"/>
                </a:solidFill>
                <a:latin typeface="Quattrocento Sans" pitchFamily="34" charset="0"/>
                <a:ea typeface="Quattrocento Sans" pitchFamily="34" charset="-122"/>
                <a:cs typeface="Quattrocento Sans" pitchFamily="34" charset="-120"/>
              </a:rPr>
              <a:t>silver_milestones</a:t>
            </a:r>
            <a:endParaRPr lang="en-US" sz="1600" dirty="0"/>
          </a:p>
        </p:txBody>
      </p:sp>
      <p:sp>
        <p:nvSpPr>
          <p:cNvPr id="43" name="Text 41"/>
          <p:cNvSpPr/>
          <p:nvPr/>
        </p:nvSpPr>
        <p:spPr>
          <a:xfrm>
            <a:off x="4336926" y="3947863"/>
            <a:ext cx="3625337" cy="169805"/>
          </a:xfrm>
          <a:prstGeom prst="rect">
            <a:avLst/>
          </a:prstGeom>
          <a:noFill/>
          <a:ln/>
        </p:spPr>
        <p:txBody>
          <a:bodyPr wrap="square" lIns="0" tIns="0" rIns="0" bIns="0" rtlCol="0" anchor="ctr"/>
          <a:lstStyle/>
          <a:p>
            <a:pPr>
              <a:lnSpc>
                <a:spcPct val="100000"/>
              </a:lnSpc>
            </a:pPr>
            <a:r>
              <a:rPr lang="en-US" sz="1070" dirty="0">
                <a:solidFill>
                  <a:srgbClr val="212529">
                    <a:alpha val="80000"/>
                  </a:srgbClr>
                </a:solidFill>
                <a:latin typeface="Quattrocento Sans" pitchFamily="34" charset="0"/>
                <a:ea typeface="Quattrocento Sans" pitchFamily="34" charset="-122"/>
                <a:cs typeface="Quattrocento Sans" pitchFamily="34" charset="-120"/>
              </a:rPr>
              <a:t>milestone_key, achieved_at (gamification tracking)</a:t>
            </a:r>
            <a:endParaRPr lang="en-US" sz="1600" dirty="0"/>
          </a:p>
        </p:txBody>
      </p:sp>
      <p:sp>
        <p:nvSpPr>
          <p:cNvPr id="44" name="Shape 42"/>
          <p:cNvSpPr/>
          <p:nvPr/>
        </p:nvSpPr>
        <p:spPr>
          <a:xfrm>
            <a:off x="8079535" y="1222492"/>
            <a:ext cx="3778162" cy="3005549"/>
          </a:xfrm>
          <a:custGeom>
            <a:avLst/>
            <a:gdLst/>
            <a:ahLst/>
            <a:cxnLst/>
            <a:rect l="l" t="t" r="r" b="b"/>
            <a:pathLst>
              <a:path w="3778162" h="3005549">
                <a:moveTo>
                  <a:pt x="33961" y="0"/>
                </a:moveTo>
                <a:lnTo>
                  <a:pt x="3710236" y="0"/>
                </a:lnTo>
                <a:cubicBezTo>
                  <a:pt x="3747750" y="0"/>
                  <a:pt x="3778162" y="30411"/>
                  <a:pt x="3778162" y="67925"/>
                </a:cubicBezTo>
                <a:lnTo>
                  <a:pt x="3778162" y="2937623"/>
                </a:lnTo>
                <a:cubicBezTo>
                  <a:pt x="3778162" y="2975138"/>
                  <a:pt x="3747750" y="3005549"/>
                  <a:pt x="3710236" y="3005549"/>
                </a:cubicBezTo>
                <a:lnTo>
                  <a:pt x="33961" y="3005549"/>
                </a:lnTo>
                <a:cubicBezTo>
                  <a:pt x="15205" y="3005549"/>
                  <a:pt x="0" y="2990344"/>
                  <a:pt x="0" y="2971588"/>
                </a:cubicBezTo>
                <a:lnTo>
                  <a:pt x="0" y="33961"/>
                </a:lnTo>
                <a:cubicBezTo>
                  <a:pt x="0" y="15205"/>
                  <a:pt x="15205" y="0"/>
                  <a:pt x="33961" y="0"/>
                </a:cubicBezTo>
                <a:close/>
              </a:path>
            </a:pathLst>
          </a:custGeom>
          <a:solidFill>
            <a:srgbClr val="FFFFFF"/>
          </a:solidFill>
          <a:ln/>
          <a:effectLst>
            <a:outerShdw sx="100000" sy="100000" kx="0" ky="0" algn="bl" rotWithShape="0" blurRad="50942" dist="33961" dir="5400000">
              <a:srgbClr val="000000">
                <a:alpha val="10196"/>
              </a:srgbClr>
            </a:outerShdw>
          </a:effectLst>
        </p:spPr>
      </p:sp>
      <p:sp>
        <p:nvSpPr>
          <p:cNvPr id="45" name="Shape 43"/>
          <p:cNvSpPr/>
          <p:nvPr/>
        </p:nvSpPr>
        <p:spPr>
          <a:xfrm>
            <a:off x="8079535" y="1222492"/>
            <a:ext cx="33961" cy="3005549"/>
          </a:xfrm>
          <a:custGeom>
            <a:avLst/>
            <a:gdLst/>
            <a:ahLst/>
            <a:cxnLst/>
            <a:rect l="l" t="t" r="r" b="b"/>
            <a:pathLst>
              <a:path w="33961" h="3005549">
                <a:moveTo>
                  <a:pt x="33961" y="0"/>
                </a:moveTo>
                <a:lnTo>
                  <a:pt x="33961" y="0"/>
                </a:lnTo>
                <a:lnTo>
                  <a:pt x="33961" y="3005549"/>
                </a:lnTo>
                <a:lnTo>
                  <a:pt x="33961" y="3005549"/>
                </a:lnTo>
                <a:cubicBezTo>
                  <a:pt x="15205" y="3005549"/>
                  <a:pt x="0" y="2990344"/>
                  <a:pt x="0" y="2971588"/>
                </a:cubicBezTo>
                <a:lnTo>
                  <a:pt x="0" y="33961"/>
                </a:lnTo>
                <a:cubicBezTo>
                  <a:pt x="0" y="15205"/>
                  <a:pt x="15205" y="0"/>
                  <a:pt x="33961" y="0"/>
                </a:cubicBezTo>
                <a:close/>
              </a:path>
            </a:pathLst>
          </a:custGeom>
          <a:solidFill>
            <a:srgbClr val="F7B538"/>
          </a:solidFill>
          <a:ln/>
        </p:spPr>
      </p:sp>
      <p:sp>
        <p:nvSpPr>
          <p:cNvPr id="46" name="Shape 44"/>
          <p:cNvSpPr/>
          <p:nvPr/>
        </p:nvSpPr>
        <p:spPr>
          <a:xfrm>
            <a:off x="8195214" y="1332866"/>
            <a:ext cx="133721" cy="152825"/>
          </a:xfrm>
          <a:custGeom>
            <a:avLst/>
            <a:gdLst/>
            <a:ahLst/>
            <a:cxnLst/>
            <a:rect l="l" t="t" r="r" b="b"/>
            <a:pathLst>
              <a:path w="133721" h="152825">
                <a:moveTo>
                  <a:pt x="38206" y="0"/>
                </a:moveTo>
                <a:cubicBezTo>
                  <a:pt x="43489" y="0"/>
                  <a:pt x="47758" y="4268"/>
                  <a:pt x="47758" y="9552"/>
                </a:cubicBezTo>
                <a:lnTo>
                  <a:pt x="47758" y="19103"/>
                </a:lnTo>
                <a:lnTo>
                  <a:pt x="85964" y="19103"/>
                </a:lnTo>
                <a:lnTo>
                  <a:pt x="85964" y="9552"/>
                </a:lnTo>
                <a:cubicBezTo>
                  <a:pt x="85964" y="4268"/>
                  <a:pt x="90232" y="0"/>
                  <a:pt x="95515" y="0"/>
                </a:cubicBezTo>
                <a:cubicBezTo>
                  <a:pt x="100799" y="0"/>
                  <a:pt x="105067" y="4268"/>
                  <a:pt x="105067" y="9552"/>
                </a:cubicBezTo>
                <a:lnTo>
                  <a:pt x="105067" y="19103"/>
                </a:lnTo>
                <a:lnTo>
                  <a:pt x="114618" y="19103"/>
                </a:lnTo>
                <a:cubicBezTo>
                  <a:pt x="125155" y="19103"/>
                  <a:pt x="133721" y="27670"/>
                  <a:pt x="133721" y="38206"/>
                </a:cubicBezTo>
                <a:lnTo>
                  <a:pt x="133721" y="124170"/>
                </a:lnTo>
                <a:cubicBezTo>
                  <a:pt x="133721" y="134706"/>
                  <a:pt x="125155" y="143273"/>
                  <a:pt x="114618" y="143273"/>
                </a:cubicBezTo>
                <a:lnTo>
                  <a:pt x="19103" y="143273"/>
                </a:lnTo>
                <a:cubicBezTo>
                  <a:pt x="8567" y="143273"/>
                  <a:pt x="0" y="134706"/>
                  <a:pt x="0" y="124170"/>
                </a:cubicBezTo>
                <a:lnTo>
                  <a:pt x="0" y="38206"/>
                </a:lnTo>
                <a:cubicBezTo>
                  <a:pt x="0" y="27670"/>
                  <a:pt x="8567" y="19103"/>
                  <a:pt x="19103" y="19103"/>
                </a:cubicBezTo>
                <a:lnTo>
                  <a:pt x="28655" y="19103"/>
                </a:lnTo>
                <a:lnTo>
                  <a:pt x="28655" y="9552"/>
                </a:lnTo>
                <a:cubicBezTo>
                  <a:pt x="28655" y="4268"/>
                  <a:pt x="32923" y="0"/>
                  <a:pt x="38206" y="0"/>
                </a:cubicBezTo>
                <a:close/>
                <a:moveTo>
                  <a:pt x="92053" y="68264"/>
                </a:moveTo>
                <a:cubicBezTo>
                  <a:pt x="94142" y="64921"/>
                  <a:pt x="93127" y="60503"/>
                  <a:pt x="89784" y="58384"/>
                </a:cubicBezTo>
                <a:cubicBezTo>
                  <a:pt x="86441" y="56264"/>
                  <a:pt x="82024" y="57309"/>
                  <a:pt x="79905" y="60652"/>
                </a:cubicBezTo>
                <a:lnTo>
                  <a:pt x="61578" y="89993"/>
                </a:lnTo>
                <a:lnTo>
                  <a:pt x="53518" y="79248"/>
                </a:lnTo>
                <a:cubicBezTo>
                  <a:pt x="51131" y="76084"/>
                  <a:pt x="46653" y="75427"/>
                  <a:pt x="43489" y="77815"/>
                </a:cubicBezTo>
                <a:cubicBezTo>
                  <a:pt x="40325" y="80203"/>
                  <a:pt x="39669" y="84680"/>
                  <a:pt x="42057" y="87844"/>
                </a:cubicBezTo>
                <a:lnTo>
                  <a:pt x="56384" y="106947"/>
                </a:lnTo>
                <a:cubicBezTo>
                  <a:pt x="57787" y="108828"/>
                  <a:pt x="60055" y="109902"/>
                  <a:pt x="62413" y="109813"/>
                </a:cubicBezTo>
                <a:cubicBezTo>
                  <a:pt x="64771" y="109723"/>
                  <a:pt x="66920" y="108470"/>
                  <a:pt x="68174" y="106440"/>
                </a:cubicBezTo>
                <a:lnTo>
                  <a:pt x="92053" y="68234"/>
                </a:lnTo>
                <a:close/>
              </a:path>
            </a:pathLst>
          </a:custGeom>
          <a:solidFill>
            <a:srgbClr val="F7B538"/>
          </a:solidFill>
          <a:ln/>
        </p:spPr>
      </p:sp>
      <p:sp>
        <p:nvSpPr>
          <p:cNvPr id="47" name="Text 45"/>
          <p:cNvSpPr/>
          <p:nvPr/>
        </p:nvSpPr>
        <p:spPr>
          <a:xfrm>
            <a:off x="8359713" y="1290414"/>
            <a:ext cx="3506474" cy="237727"/>
          </a:xfrm>
          <a:prstGeom prst="rect">
            <a:avLst/>
          </a:prstGeom>
          <a:noFill/>
          <a:ln/>
        </p:spPr>
        <p:txBody>
          <a:bodyPr wrap="square" lIns="0" tIns="0" rIns="0" bIns="0" rtlCol="0" anchor="ctr"/>
          <a:lstStyle/>
          <a:p>
            <a:pPr>
              <a:lnSpc>
                <a:spcPct val="130000"/>
              </a:lnSpc>
            </a:pPr>
            <a:r>
              <a:rPr lang="en-US" sz="1203" b="1" dirty="0">
                <a:solidFill>
                  <a:srgbClr val="1A535C"/>
                </a:solidFill>
                <a:latin typeface="Liter" pitchFamily="34" charset="0"/>
                <a:ea typeface="Liter" pitchFamily="34" charset="-122"/>
                <a:cs typeface="Liter" pitchFamily="34" charset="-120"/>
              </a:rPr>
              <a:t>Booking System</a:t>
            </a:r>
            <a:endParaRPr lang="en-US" sz="1600" dirty="0"/>
          </a:p>
        </p:txBody>
      </p:sp>
      <p:sp>
        <p:nvSpPr>
          <p:cNvPr id="48" name="Shape 46"/>
          <p:cNvSpPr/>
          <p:nvPr/>
        </p:nvSpPr>
        <p:spPr>
          <a:xfrm>
            <a:off x="8164437" y="1587573"/>
            <a:ext cx="3625337" cy="577337"/>
          </a:xfrm>
          <a:custGeom>
            <a:avLst/>
            <a:gdLst/>
            <a:ahLst/>
            <a:cxnLst/>
            <a:rect l="l" t="t" r="r" b="b"/>
            <a:pathLst>
              <a:path w="3625337" h="577337">
                <a:moveTo>
                  <a:pt x="33959" y="0"/>
                </a:moveTo>
                <a:lnTo>
                  <a:pt x="3591378" y="0"/>
                </a:lnTo>
                <a:cubicBezTo>
                  <a:pt x="3610121" y="0"/>
                  <a:pt x="3625337" y="15217"/>
                  <a:pt x="3625337" y="33959"/>
                </a:cubicBezTo>
                <a:lnTo>
                  <a:pt x="3625337" y="543378"/>
                </a:lnTo>
                <a:cubicBezTo>
                  <a:pt x="3625337" y="562121"/>
                  <a:pt x="3610121" y="577337"/>
                  <a:pt x="3591378" y="577337"/>
                </a:cubicBezTo>
                <a:lnTo>
                  <a:pt x="33959" y="577337"/>
                </a:lnTo>
                <a:cubicBezTo>
                  <a:pt x="15217" y="577337"/>
                  <a:pt x="0" y="562121"/>
                  <a:pt x="0" y="543378"/>
                </a:cubicBezTo>
                <a:lnTo>
                  <a:pt x="0" y="33959"/>
                </a:lnTo>
                <a:cubicBezTo>
                  <a:pt x="0" y="15217"/>
                  <a:pt x="15217" y="0"/>
                  <a:pt x="33959" y="0"/>
                </a:cubicBezTo>
                <a:close/>
              </a:path>
            </a:pathLst>
          </a:custGeom>
          <a:solidFill>
            <a:srgbClr val="F7B538">
              <a:alpha val="20000"/>
            </a:srgbClr>
          </a:solidFill>
          <a:ln/>
        </p:spPr>
      </p:sp>
      <p:sp>
        <p:nvSpPr>
          <p:cNvPr id="49" name="Text 47"/>
          <p:cNvSpPr/>
          <p:nvPr/>
        </p:nvSpPr>
        <p:spPr>
          <a:xfrm>
            <a:off x="8198398" y="1621534"/>
            <a:ext cx="3625337" cy="169805"/>
          </a:xfrm>
          <a:prstGeom prst="rect">
            <a:avLst/>
          </a:prstGeom>
          <a:noFill/>
          <a:ln/>
        </p:spPr>
        <p:txBody>
          <a:bodyPr wrap="square" lIns="0" tIns="0" rIns="0" bIns="0" rtlCol="0" anchor="ctr"/>
          <a:lstStyle/>
          <a:p>
            <a:pPr>
              <a:lnSpc>
                <a:spcPct val="100000"/>
              </a:lnSpc>
            </a:pPr>
            <a:r>
              <a:rPr lang="en-US" sz="1070" b="1" dirty="0">
                <a:solidFill>
                  <a:srgbClr val="F7B538"/>
                </a:solidFill>
                <a:latin typeface="Quattrocento Sans" pitchFamily="34" charset="0"/>
                <a:ea typeface="Quattrocento Sans" pitchFamily="34" charset="-122"/>
                <a:cs typeface="Quattrocento Sans" pitchFamily="34" charset="-120"/>
              </a:rPr>
              <a:t>bookings</a:t>
            </a:r>
            <a:endParaRPr lang="en-US" sz="1600" dirty="0"/>
          </a:p>
        </p:txBody>
      </p:sp>
      <p:sp>
        <p:nvSpPr>
          <p:cNvPr id="50" name="Text 48"/>
          <p:cNvSpPr/>
          <p:nvPr/>
        </p:nvSpPr>
        <p:spPr>
          <a:xfrm>
            <a:off x="8198398" y="1791339"/>
            <a:ext cx="3625337" cy="339610"/>
          </a:xfrm>
          <a:prstGeom prst="rect">
            <a:avLst/>
          </a:prstGeom>
          <a:noFill/>
          <a:ln/>
        </p:spPr>
        <p:txBody>
          <a:bodyPr wrap="square" lIns="0" tIns="0" rIns="0" bIns="0" rtlCol="0" anchor="ctr"/>
          <a:lstStyle/>
          <a:p>
            <a:pPr>
              <a:lnSpc>
                <a:spcPct val="100000"/>
              </a:lnSpc>
            </a:pPr>
            <a:r>
              <a:rPr lang="en-US" sz="1070" dirty="0">
                <a:solidFill>
                  <a:srgbClr val="212529">
                    <a:alpha val="80000"/>
                  </a:srgbClr>
                </a:solidFill>
                <a:latin typeface="Quattrocento Sans" pitchFamily="34" charset="0"/>
                <a:ea typeface="Quattrocento Sans" pitchFamily="34" charset="-122"/>
                <a:cs typeface="Quattrocento Sans" pitchFamily="34" charset="-120"/>
              </a:rPr>
              <a:t>session_type (solo/group/mentorship/pod), understanding_level</a:t>
            </a:r>
            <a:endParaRPr lang="en-US" sz="1600" dirty="0"/>
          </a:p>
        </p:txBody>
      </p:sp>
      <p:sp>
        <p:nvSpPr>
          <p:cNvPr id="51" name="Shape 49"/>
          <p:cNvSpPr/>
          <p:nvPr/>
        </p:nvSpPr>
        <p:spPr>
          <a:xfrm>
            <a:off x="8164437" y="2249813"/>
            <a:ext cx="3625337" cy="407532"/>
          </a:xfrm>
          <a:custGeom>
            <a:avLst/>
            <a:gdLst/>
            <a:ahLst/>
            <a:cxnLst/>
            <a:rect l="l" t="t" r="r" b="b"/>
            <a:pathLst>
              <a:path w="3625337" h="407532">
                <a:moveTo>
                  <a:pt x="33960" y="0"/>
                </a:moveTo>
                <a:lnTo>
                  <a:pt x="3591377" y="0"/>
                </a:lnTo>
                <a:cubicBezTo>
                  <a:pt x="3610133" y="0"/>
                  <a:pt x="3625337" y="15204"/>
                  <a:pt x="3625337" y="33960"/>
                </a:cubicBezTo>
                <a:lnTo>
                  <a:pt x="3625337" y="373572"/>
                </a:lnTo>
                <a:cubicBezTo>
                  <a:pt x="3625337" y="392328"/>
                  <a:pt x="3610133" y="407532"/>
                  <a:pt x="3591377" y="407532"/>
                </a:cubicBezTo>
                <a:lnTo>
                  <a:pt x="33960" y="407532"/>
                </a:lnTo>
                <a:cubicBezTo>
                  <a:pt x="15204" y="407532"/>
                  <a:pt x="0" y="392328"/>
                  <a:pt x="0" y="373572"/>
                </a:cubicBezTo>
                <a:lnTo>
                  <a:pt x="0" y="33960"/>
                </a:lnTo>
                <a:cubicBezTo>
                  <a:pt x="0" y="15204"/>
                  <a:pt x="15204" y="0"/>
                  <a:pt x="33960" y="0"/>
                </a:cubicBezTo>
                <a:close/>
              </a:path>
            </a:pathLst>
          </a:custGeom>
          <a:solidFill>
            <a:srgbClr val="F7B538">
              <a:alpha val="20000"/>
            </a:srgbClr>
          </a:solidFill>
          <a:ln/>
        </p:spPr>
      </p:sp>
      <p:sp>
        <p:nvSpPr>
          <p:cNvPr id="52" name="Text 50"/>
          <p:cNvSpPr/>
          <p:nvPr/>
        </p:nvSpPr>
        <p:spPr>
          <a:xfrm>
            <a:off x="8198398" y="2283774"/>
            <a:ext cx="3625337" cy="169805"/>
          </a:xfrm>
          <a:prstGeom prst="rect">
            <a:avLst/>
          </a:prstGeom>
          <a:noFill/>
          <a:ln/>
        </p:spPr>
        <p:txBody>
          <a:bodyPr wrap="square" lIns="0" tIns="0" rIns="0" bIns="0" rtlCol="0" anchor="ctr"/>
          <a:lstStyle/>
          <a:p>
            <a:pPr>
              <a:lnSpc>
                <a:spcPct val="100000"/>
              </a:lnSpc>
            </a:pPr>
            <a:r>
              <a:rPr lang="en-US" sz="1070" b="1" dirty="0">
                <a:solidFill>
                  <a:srgbClr val="F7B538"/>
                </a:solidFill>
                <a:latin typeface="Quattrocento Sans" pitchFamily="34" charset="0"/>
                <a:ea typeface="Quattrocento Sans" pitchFamily="34" charset="-122"/>
                <a:cs typeface="Quattrocento Sans" pitchFamily="34" charset="-120"/>
              </a:rPr>
              <a:t>pod_bookings</a:t>
            </a:r>
            <a:endParaRPr lang="en-US" sz="1600" dirty="0"/>
          </a:p>
        </p:txBody>
      </p:sp>
      <p:sp>
        <p:nvSpPr>
          <p:cNvPr id="53" name="Text 51"/>
          <p:cNvSpPr/>
          <p:nvPr/>
        </p:nvSpPr>
        <p:spPr>
          <a:xfrm>
            <a:off x="8198398" y="2453579"/>
            <a:ext cx="3625337" cy="169805"/>
          </a:xfrm>
          <a:prstGeom prst="rect">
            <a:avLst/>
          </a:prstGeom>
          <a:noFill/>
          <a:ln/>
        </p:spPr>
        <p:txBody>
          <a:bodyPr wrap="square" lIns="0" tIns="0" rIns="0" bIns="0" rtlCol="0" anchor="ctr"/>
          <a:lstStyle/>
          <a:p>
            <a:pPr>
              <a:lnSpc>
                <a:spcPct val="100000"/>
              </a:lnSpc>
            </a:pPr>
            <a:r>
              <a:rPr lang="en-US" sz="1070" dirty="0">
                <a:solidFill>
                  <a:srgbClr val="212529">
                    <a:alpha val="80000"/>
                  </a:srgbClr>
                </a:solidFill>
                <a:latin typeface="Quattrocento Sans" pitchFamily="34" charset="0"/>
                <a:ea typeface="Quattrocento Sans" pitchFamily="34" charset="-122"/>
                <a:cs typeface="Quattrocento Sans" pitchFamily="34" charset="-120"/>
              </a:rPr>
              <a:t>max_students (3-5), price_per_student, enrolled_count</a:t>
            </a:r>
            <a:endParaRPr lang="en-US" sz="1600" dirty="0"/>
          </a:p>
        </p:txBody>
      </p:sp>
      <p:sp>
        <p:nvSpPr>
          <p:cNvPr id="54" name="Shape 52"/>
          <p:cNvSpPr/>
          <p:nvPr/>
        </p:nvSpPr>
        <p:spPr>
          <a:xfrm>
            <a:off x="8164437" y="2742247"/>
            <a:ext cx="3625337" cy="407532"/>
          </a:xfrm>
          <a:custGeom>
            <a:avLst/>
            <a:gdLst/>
            <a:ahLst/>
            <a:cxnLst/>
            <a:rect l="l" t="t" r="r" b="b"/>
            <a:pathLst>
              <a:path w="3625337" h="407532">
                <a:moveTo>
                  <a:pt x="33960" y="0"/>
                </a:moveTo>
                <a:lnTo>
                  <a:pt x="3591377" y="0"/>
                </a:lnTo>
                <a:cubicBezTo>
                  <a:pt x="3610133" y="0"/>
                  <a:pt x="3625337" y="15204"/>
                  <a:pt x="3625337" y="33960"/>
                </a:cubicBezTo>
                <a:lnTo>
                  <a:pt x="3625337" y="373572"/>
                </a:lnTo>
                <a:cubicBezTo>
                  <a:pt x="3625337" y="392328"/>
                  <a:pt x="3610133" y="407532"/>
                  <a:pt x="3591377" y="407532"/>
                </a:cubicBezTo>
                <a:lnTo>
                  <a:pt x="33960" y="407532"/>
                </a:lnTo>
                <a:cubicBezTo>
                  <a:pt x="15204" y="407532"/>
                  <a:pt x="0" y="392328"/>
                  <a:pt x="0" y="373572"/>
                </a:cubicBezTo>
                <a:lnTo>
                  <a:pt x="0" y="33960"/>
                </a:lnTo>
                <a:cubicBezTo>
                  <a:pt x="0" y="15204"/>
                  <a:pt x="15204" y="0"/>
                  <a:pt x="33960" y="0"/>
                </a:cubicBezTo>
                <a:close/>
              </a:path>
            </a:pathLst>
          </a:custGeom>
          <a:solidFill>
            <a:srgbClr val="F7B538">
              <a:alpha val="20000"/>
            </a:srgbClr>
          </a:solidFill>
          <a:ln/>
        </p:spPr>
      </p:sp>
      <p:sp>
        <p:nvSpPr>
          <p:cNvPr id="55" name="Text 53"/>
          <p:cNvSpPr/>
          <p:nvPr/>
        </p:nvSpPr>
        <p:spPr>
          <a:xfrm>
            <a:off x="8198398" y="2776208"/>
            <a:ext cx="3625337" cy="169805"/>
          </a:xfrm>
          <a:prstGeom prst="rect">
            <a:avLst/>
          </a:prstGeom>
          <a:noFill/>
          <a:ln/>
        </p:spPr>
        <p:txBody>
          <a:bodyPr wrap="square" lIns="0" tIns="0" rIns="0" bIns="0" rtlCol="0" anchor="ctr"/>
          <a:lstStyle/>
          <a:p>
            <a:pPr>
              <a:lnSpc>
                <a:spcPct val="100000"/>
              </a:lnSpc>
            </a:pPr>
            <a:r>
              <a:rPr lang="en-US" sz="1070" b="1" dirty="0">
                <a:solidFill>
                  <a:srgbClr val="F7B538"/>
                </a:solidFill>
                <a:latin typeface="Quattrocento Sans" pitchFamily="34" charset="0"/>
                <a:ea typeface="Quattrocento Sans" pitchFamily="34" charset="-122"/>
                <a:cs typeface="Quattrocento Sans" pitchFamily="34" charset="-120"/>
              </a:rPr>
              <a:t>pod_enrollments</a:t>
            </a:r>
            <a:endParaRPr lang="en-US" sz="1600" dirty="0"/>
          </a:p>
        </p:txBody>
      </p:sp>
      <p:sp>
        <p:nvSpPr>
          <p:cNvPr id="56" name="Text 54"/>
          <p:cNvSpPr/>
          <p:nvPr/>
        </p:nvSpPr>
        <p:spPr>
          <a:xfrm>
            <a:off x="8198398" y="2946013"/>
            <a:ext cx="3625337" cy="169805"/>
          </a:xfrm>
          <a:prstGeom prst="rect">
            <a:avLst/>
          </a:prstGeom>
          <a:noFill/>
          <a:ln/>
        </p:spPr>
        <p:txBody>
          <a:bodyPr wrap="square" lIns="0" tIns="0" rIns="0" bIns="0" rtlCol="0" anchor="ctr"/>
          <a:lstStyle/>
          <a:p>
            <a:pPr>
              <a:lnSpc>
                <a:spcPct val="100000"/>
              </a:lnSpc>
            </a:pPr>
            <a:r>
              <a:rPr lang="en-US" sz="1070" dirty="0">
                <a:solidFill>
                  <a:srgbClr val="212529">
                    <a:alpha val="80000"/>
                  </a:srgbClr>
                </a:solidFill>
                <a:latin typeface="Quattrocento Sans" pitchFamily="34" charset="0"/>
                <a:ea typeface="Quattrocento Sans" pitchFamily="34" charset="-122"/>
                <a:cs typeface="Quattrocento Sans" pitchFamily="34" charset="-120"/>
              </a:rPr>
              <a:t>Students joining a pod with payment tracking</a:t>
            </a:r>
            <a:endParaRPr lang="en-US" sz="1600" dirty="0"/>
          </a:p>
        </p:txBody>
      </p:sp>
      <p:sp>
        <p:nvSpPr>
          <p:cNvPr id="57" name="Shape 55"/>
          <p:cNvSpPr/>
          <p:nvPr/>
        </p:nvSpPr>
        <p:spPr>
          <a:xfrm>
            <a:off x="8164437" y="3234682"/>
            <a:ext cx="3625337" cy="407532"/>
          </a:xfrm>
          <a:custGeom>
            <a:avLst/>
            <a:gdLst/>
            <a:ahLst/>
            <a:cxnLst/>
            <a:rect l="l" t="t" r="r" b="b"/>
            <a:pathLst>
              <a:path w="3625337" h="407532">
                <a:moveTo>
                  <a:pt x="33960" y="0"/>
                </a:moveTo>
                <a:lnTo>
                  <a:pt x="3591377" y="0"/>
                </a:lnTo>
                <a:cubicBezTo>
                  <a:pt x="3610133" y="0"/>
                  <a:pt x="3625337" y="15204"/>
                  <a:pt x="3625337" y="33960"/>
                </a:cubicBezTo>
                <a:lnTo>
                  <a:pt x="3625337" y="373572"/>
                </a:lnTo>
                <a:cubicBezTo>
                  <a:pt x="3625337" y="392328"/>
                  <a:pt x="3610133" y="407532"/>
                  <a:pt x="3591377" y="407532"/>
                </a:cubicBezTo>
                <a:lnTo>
                  <a:pt x="33960" y="407532"/>
                </a:lnTo>
                <a:cubicBezTo>
                  <a:pt x="15204" y="407532"/>
                  <a:pt x="0" y="392328"/>
                  <a:pt x="0" y="373572"/>
                </a:cubicBezTo>
                <a:lnTo>
                  <a:pt x="0" y="33960"/>
                </a:lnTo>
                <a:cubicBezTo>
                  <a:pt x="0" y="15204"/>
                  <a:pt x="15204" y="0"/>
                  <a:pt x="33960" y="0"/>
                </a:cubicBezTo>
                <a:close/>
              </a:path>
            </a:pathLst>
          </a:custGeom>
          <a:solidFill>
            <a:srgbClr val="F7B538">
              <a:alpha val="20000"/>
            </a:srgbClr>
          </a:solidFill>
          <a:ln/>
        </p:spPr>
      </p:sp>
      <p:sp>
        <p:nvSpPr>
          <p:cNvPr id="58" name="Text 56"/>
          <p:cNvSpPr/>
          <p:nvPr/>
        </p:nvSpPr>
        <p:spPr>
          <a:xfrm>
            <a:off x="8198398" y="3268643"/>
            <a:ext cx="3625337" cy="169805"/>
          </a:xfrm>
          <a:prstGeom prst="rect">
            <a:avLst/>
          </a:prstGeom>
          <a:noFill/>
          <a:ln/>
        </p:spPr>
        <p:txBody>
          <a:bodyPr wrap="square" lIns="0" tIns="0" rIns="0" bIns="0" rtlCol="0" anchor="ctr"/>
          <a:lstStyle/>
          <a:p>
            <a:pPr>
              <a:lnSpc>
                <a:spcPct val="100000"/>
              </a:lnSpc>
            </a:pPr>
            <a:r>
              <a:rPr lang="en-US" sz="1070" b="1" dirty="0">
                <a:solidFill>
                  <a:srgbClr val="F7B538"/>
                </a:solidFill>
                <a:latin typeface="Quattrocento Sans" pitchFamily="34" charset="0"/>
                <a:ea typeface="Quattrocento Sans" pitchFamily="34" charset="-122"/>
                <a:cs typeface="Quattrocento Sans" pitchFamily="34" charset="-120"/>
              </a:rPr>
              <a:t>learning_contracts</a:t>
            </a:r>
            <a:endParaRPr lang="en-US" sz="1600" dirty="0"/>
          </a:p>
        </p:txBody>
      </p:sp>
      <p:sp>
        <p:nvSpPr>
          <p:cNvPr id="59" name="Text 57"/>
          <p:cNvSpPr/>
          <p:nvPr/>
        </p:nvSpPr>
        <p:spPr>
          <a:xfrm>
            <a:off x="8198398" y="3438448"/>
            <a:ext cx="3625337" cy="169805"/>
          </a:xfrm>
          <a:prstGeom prst="rect">
            <a:avLst/>
          </a:prstGeom>
          <a:noFill/>
          <a:ln/>
        </p:spPr>
        <p:txBody>
          <a:bodyPr wrap="square" lIns="0" tIns="0" rIns="0" bIns="0" rtlCol="0" anchor="ctr"/>
          <a:lstStyle/>
          <a:p>
            <a:pPr>
              <a:lnSpc>
                <a:spcPct val="100000"/>
              </a:lnSpc>
            </a:pPr>
            <a:r>
              <a:rPr lang="en-US" sz="1070" dirty="0">
                <a:solidFill>
                  <a:srgbClr val="212529">
                    <a:alpha val="80000"/>
                  </a:srgbClr>
                </a:solidFill>
                <a:latin typeface="Quattrocento Sans" pitchFamily="34" charset="0"/>
                <a:ea typeface="Quattrocento Sans" pitchFamily="34" charset="-122"/>
                <a:cs typeface="Quattrocento Sans" pitchFamily="34" charset="-120"/>
              </a:rPr>
              <a:t>topics (JSON), e-signatures, fulfilment_pct</a:t>
            </a:r>
            <a:endParaRPr lang="en-US" sz="1600" dirty="0"/>
          </a:p>
        </p:txBody>
      </p:sp>
      <p:sp>
        <p:nvSpPr>
          <p:cNvPr id="60" name="Shape 58"/>
          <p:cNvSpPr/>
          <p:nvPr/>
        </p:nvSpPr>
        <p:spPr>
          <a:xfrm>
            <a:off x="8164437" y="3727116"/>
            <a:ext cx="3625337" cy="407532"/>
          </a:xfrm>
          <a:custGeom>
            <a:avLst/>
            <a:gdLst/>
            <a:ahLst/>
            <a:cxnLst/>
            <a:rect l="l" t="t" r="r" b="b"/>
            <a:pathLst>
              <a:path w="3625337" h="407532">
                <a:moveTo>
                  <a:pt x="33960" y="0"/>
                </a:moveTo>
                <a:lnTo>
                  <a:pt x="3591377" y="0"/>
                </a:lnTo>
                <a:cubicBezTo>
                  <a:pt x="3610133" y="0"/>
                  <a:pt x="3625337" y="15204"/>
                  <a:pt x="3625337" y="33960"/>
                </a:cubicBezTo>
                <a:lnTo>
                  <a:pt x="3625337" y="373572"/>
                </a:lnTo>
                <a:cubicBezTo>
                  <a:pt x="3625337" y="392328"/>
                  <a:pt x="3610133" y="407532"/>
                  <a:pt x="3591377" y="407532"/>
                </a:cubicBezTo>
                <a:lnTo>
                  <a:pt x="33960" y="407532"/>
                </a:lnTo>
                <a:cubicBezTo>
                  <a:pt x="15204" y="407532"/>
                  <a:pt x="0" y="392328"/>
                  <a:pt x="0" y="373572"/>
                </a:cubicBezTo>
                <a:lnTo>
                  <a:pt x="0" y="33960"/>
                </a:lnTo>
                <a:cubicBezTo>
                  <a:pt x="0" y="15204"/>
                  <a:pt x="15204" y="0"/>
                  <a:pt x="33960" y="0"/>
                </a:cubicBezTo>
                <a:close/>
              </a:path>
            </a:pathLst>
          </a:custGeom>
          <a:solidFill>
            <a:srgbClr val="F7B538">
              <a:alpha val="20000"/>
            </a:srgbClr>
          </a:solidFill>
          <a:ln/>
        </p:spPr>
      </p:sp>
      <p:sp>
        <p:nvSpPr>
          <p:cNvPr id="61" name="Text 59"/>
          <p:cNvSpPr/>
          <p:nvPr/>
        </p:nvSpPr>
        <p:spPr>
          <a:xfrm>
            <a:off x="8198398" y="3761077"/>
            <a:ext cx="3625337" cy="169805"/>
          </a:xfrm>
          <a:prstGeom prst="rect">
            <a:avLst/>
          </a:prstGeom>
          <a:noFill/>
          <a:ln/>
        </p:spPr>
        <p:txBody>
          <a:bodyPr wrap="square" lIns="0" tIns="0" rIns="0" bIns="0" rtlCol="0" anchor="ctr"/>
          <a:lstStyle/>
          <a:p>
            <a:pPr>
              <a:lnSpc>
                <a:spcPct val="100000"/>
              </a:lnSpc>
            </a:pPr>
            <a:r>
              <a:rPr lang="en-US" sz="1070" b="1" dirty="0">
                <a:solidFill>
                  <a:srgbClr val="F7B538"/>
                </a:solidFill>
                <a:latin typeface="Quattrocento Sans" pitchFamily="34" charset="0"/>
                <a:ea typeface="Quattrocento Sans" pitchFamily="34" charset="-122"/>
                <a:cs typeface="Quattrocento Sans" pitchFamily="34" charset="-120"/>
              </a:rPr>
              <a:t>emergency_doubts</a:t>
            </a:r>
            <a:endParaRPr lang="en-US" sz="1600" dirty="0"/>
          </a:p>
        </p:txBody>
      </p:sp>
      <p:sp>
        <p:nvSpPr>
          <p:cNvPr id="62" name="Text 60"/>
          <p:cNvSpPr/>
          <p:nvPr/>
        </p:nvSpPr>
        <p:spPr>
          <a:xfrm>
            <a:off x="8198398" y="3930882"/>
            <a:ext cx="3625337" cy="169805"/>
          </a:xfrm>
          <a:prstGeom prst="rect">
            <a:avLst/>
          </a:prstGeom>
          <a:noFill/>
          <a:ln/>
        </p:spPr>
        <p:txBody>
          <a:bodyPr wrap="square" lIns="0" tIns="0" rIns="0" bIns="0" rtlCol="0" anchor="ctr"/>
          <a:lstStyle/>
          <a:p>
            <a:pPr>
              <a:lnSpc>
                <a:spcPct val="100000"/>
              </a:lnSpc>
            </a:pPr>
            <a:r>
              <a:rPr lang="en-US" sz="1070" dirty="0">
                <a:solidFill>
                  <a:srgbClr val="212529">
                    <a:alpha val="80000"/>
                  </a:srgbClr>
                </a:solidFill>
                <a:latin typeface="Quattrocento Sans" pitchFamily="34" charset="0"/>
                <a:ea typeface="Quattrocento Sans" pitchFamily="34" charset="-122"/>
                <a:cs typeface="Quattrocento Sans" pitchFamily="34" charset="-120"/>
              </a:rPr>
              <a:t>subject, topic, status, accepted_by, real-time matching</a:t>
            </a:r>
            <a:endParaRPr lang="en-US" sz="1600" dirty="0"/>
          </a:p>
        </p:txBody>
      </p:sp>
      <p:sp>
        <p:nvSpPr>
          <p:cNvPr id="63" name="Shape 61"/>
          <p:cNvSpPr/>
          <p:nvPr/>
        </p:nvSpPr>
        <p:spPr>
          <a:xfrm>
            <a:off x="356591" y="4295963"/>
            <a:ext cx="3778162" cy="2224446"/>
          </a:xfrm>
          <a:custGeom>
            <a:avLst/>
            <a:gdLst/>
            <a:ahLst/>
            <a:cxnLst/>
            <a:rect l="l" t="t" r="r" b="b"/>
            <a:pathLst>
              <a:path w="3778162" h="2224446">
                <a:moveTo>
                  <a:pt x="33961" y="0"/>
                </a:moveTo>
                <a:lnTo>
                  <a:pt x="3710249" y="0"/>
                </a:lnTo>
                <a:cubicBezTo>
                  <a:pt x="3747756" y="0"/>
                  <a:pt x="3778162" y="30405"/>
                  <a:pt x="3778162" y="67912"/>
                </a:cubicBezTo>
                <a:lnTo>
                  <a:pt x="3778162" y="2156533"/>
                </a:lnTo>
                <a:cubicBezTo>
                  <a:pt x="3778162" y="2194040"/>
                  <a:pt x="3747756" y="2224446"/>
                  <a:pt x="3710249" y="2224446"/>
                </a:cubicBezTo>
                <a:lnTo>
                  <a:pt x="33961" y="2224446"/>
                </a:lnTo>
                <a:cubicBezTo>
                  <a:pt x="15205" y="2224446"/>
                  <a:pt x="0" y="2209241"/>
                  <a:pt x="0" y="2190485"/>
                </a:cubicBezTo>
                <a:lnTo>
                  <a:pt x="0" y="33961"/>
                </a:lnTo>
                <a:cubicBezTo>
                  <a:pt x="0" y="15217"/>
                  <a:pt x="15217" y="0"/>
                  <a:pt x="33961" y="0"/>
                </a:cubicBezTo>
                <a:close/>
              </a:path>
            </a:pathLst>
          </a:custGeom>
          <a:solidFill>
            <a:srgbClr val="FFFFFF"/>
          </a:solidFill>
          <a:ln/>
          <a:effectLst>
            <a:outerShdw sx="100000" sy="100000" kx="0" ky="0" algn="bl" rotWithShape="0" blurRad="50942" dist="33961" dir="5400000">
              <a:srgbClr val="000000">
                <a:alpha val="10196"/>
              </a:srgbClr>
            </a:outerShdw>
          </a:effectLst>
        </p:spPr>
      </p:sp>
      <p:sp>
        <p:nvSpPr>
          <p:cNvPr id="64" name="Shape 62"/>
          <p:cNvSpPr/>
          <p:nvPr/>
        </p:nvSpPr>
        <p:spPr>
          <a:xfrm>
            <a:off x="356591" y="4295963"/>
            <a:ext cx="33961" cy="2224446"/>
          </a:xfrm>
          <a:custGeom>
            <a:avLst/>
            <a:gdLst/>
            <a:ahLst/>
            <a:cxnLst/>
            <a:rect l="l" t="t" r="r" b="b"/>
            <a:pathLst>
              <a:path w="33961" h="2224446">
                <a:moveTo>
                  <a:pt x="33961" y="0"/>
                </a:moveTo>
                <a:lnTo>
                  <a:pt x="33961" y="0"/>
                </a:lnTo>
                <a:lnTo>
                  <a:pt x="33961" y="2224446"/>
                </a:lnTo>
                <a:lnTo>
                  <a:pt x="33961" y="2224446"/>
                </a:lnTo>
                <a:cubicBezTo>
                  <a:pt x="15205" y="2224446"/>
                  <a:pt x="0" y="2209241"/>
                  <a:pt x="0" y="2190485"/>
                </a:cubicBezTo>
                <a:lnTo>
                  <a:pt x="0" y="33961"/>
                </a:lnTo>
                <a:cubicBezTo>
                  <a:pt x="0" y="15205"/>
                  <a:pt x="15205" y="0"/>
                  <a:pt x="33961" y="0"/>
                </a:cubicBezTo>
                <a:close/>
              </a:path>
            </a:pathLst>
          </a:custGeom>
          <a:solidFill>
            <a:srgbClr val="1A535C"/>
          </a:solidFill>
          <a:ln/>
        </p:spPr>
      </p:sp>
      <p:sp>
        <p:nvSpPr>
          <p:cNvPr id="65" name="Shape 63"/>
          <p:cNvSpPr/>
          <p:nvPr/>
        </p:nvSpPr>
        <p:spPr>
          <a:xfrm>
            <a:off x="453167" y="4406336"/>
            <a:ext cx="171928" cy="152825"/>
          </a:xfrm>
          <a:custGeom>
            <a:avLst/>
            <a:gdLst/>
            <a:ahLst/>
            <a:cxnLst/>
            <a:rect l="l" t="t" r="r" b="b"/>
            <a:pathLst>
              <a:path w="171928" h="152825">
                <a:moveTo>
                  <a:pt x="28655" y="19103"/>
                </a:moveTo>
                <a:cubicBezTo>
                  <a:pt x="18118" y="19103"/>
                  <a:pt x="9552" y="27670"/>
                  <a:pt x="9552" y="38206"/>
                </a:cubicBezTo>
                <a:lnTo>
                  <a:pt x="9552" y="114618"/>
                </a:lnTo>
                <a:cubicBezTo>
                  <a:pt x="9552" y="125155"/>
                  <a:pt x="18118" y="133721"/>
                  <a:pt x="28655" y="133721"/>
                </a:cubicBezTo>
                <a:lnTo>
                  <a:pt x="105067" y="133721"/>
                </a:lnTo>
                <a:cubicBezTo>
                  <a:pt x="115603" y="133721"/>
                  <a:pt x="124170" y="125155"/>
                  <a:pt x="124170" y="114618"/>
                </a:cubicBezTo>
                <a:lnTo>
                  <a:pt x="124170" y="38206"/>
                </a:lnTo>
                <a:cubicBezTo>
                  <a:pt x="124170" y="27670"/>
                  <a:pt x="115603" y="19103"/>
                  <a:pt x="105067" y="19103"/>
                </a:cubicBezTo>
                <a:lnTo>
                  <a:pt x="28655" y="19103"/>
                </a:lnTo>
                <a:close/>
                <a:moveTo>
                  <a:pt x="138497" y="100291"/>
                </a:moveTo>
                <a:lnTo>
                  <a:pt x="160436" y="117842"/>
                </a:lnTo>
                <a:cubicBezTo>
                  <a:pt x="161690" y="118857"/>
                  <a:pt x="163242" y="119394"/>
                  <a:pt x="164853" y="119394"/>
                </a:cubicBezTo>
                <a:cubicBezTo>
                  <a:pt x="168764" y="119394"/>
                  <a:pt x="171928" y="116230"/>
                  <a:pt x="171928" y="112320"/>
                </a:cubicBezTo>
                <a:lnTo>
                  <a:pt x="171928" y="40504"/>
                </a:lnTo>
                <a:cubicBezTo>
                  <a:pt x="171928" y="36594"/>
                  <a:pt x="168764" y="33430"/>
                  <a:pt x="164853" y="33430"/>
                </a:cubicBezTo>
                <a:cubicBezTo>
                  <a:pt x="163242" y="33430"/>
                  <a:pt x="161690" y="33968"/>
                  <a:pt x="160436" y="34982"/>
                </a:cubicBezTo>
                <a:lnTo>
                  <a:pt x="138497" y="52533"/>
                </a:lnTo>
                <a:lnTo>
                  <a:pt x="138497" y="100291"/>
                </a:lnTo>
                <a:close/>
              </a:path>
            </a:pathLst>
          </a:custGeom>
          <a:solidFill>
            <a:srgbClr val="F7B538"/>
          </a:solidFill>
          <a:ln/>
        </p:spPr>
      </p:sp>
      <p:sp>
        <p:nvSpPr>
          <p:cNvPr id="66" name="Text 64"/>
          <p:cNvSpPr/>
          <p:nvPr/>
        </p:nvSpPr>
        <p:spPr>
          <a:xfrm>
            <a:off x="636769" y="4363885"/>
            <a:ext cx="3506474" cy="237727"/>
          </a:xfrm>
          <a:prstGeom prst="rect">
            <a:avLst/>
          </a:prstGeom>
          <a:noFill/>
          <a:ln/>
        </p:spPr>
        <p:txBody>
          <a:bodyPr wrap="square" lIns="0" tIns="0" rIns="0" bIns="0" rtlCol="0" anchor="ctr"/>
          <a:lstStyle/>
          <a:p>
            <a:pPr>
              <a:lnSpc>
                <a:spcPct val="130000"/>
              </a:lnSpc>
            </a:pPr>
            <a:r>
              <a:rPr lang="en-US" sz="1203" b="1" dirty="0">
                <a:solidFill>
                  <a:srgbClr val="1A535C"/>
                </a:solidFill>
                <a:latin typeface="Liter" pitchFamily="34" charset="0"/>
                <a:ea typeface="Liter" pitchFamily="34" charset="-122"/>
                <a:cs typeface="Liter" pitchFamily="34" charset="-120"/>
              </a:rPr>
              <a:t>Session Management</a:t>
            </a:r>
            <a:endParaRPr lang="en-US" sz="1600" dirty="0"/>
          </a:p>
        </p:txBody>
      </p:sp>
      <p:sp>
        <p:nvSpPr>
          <p:cNvPr id="67" name="Shape 65"/>
          <p:cNvSpPr/>
          <p:nvPr/>
        </p:nvSpPr>
        <p:spPr>
          <a:xfrm>
            <a:off x="441493" y="4646186"/>
            <a:ext cx="3625337" cy="407532"/>
          </a:xfrm>
          <a:custGeom>
            <a:avLst/>
            <a:gdLst/>
            <a:ahLst/>
            <a:cxnLst/>
            <a:rect l="l" t="t" r="r" b="b"/>
            <a:pathLst>
              <a:path w="3625337" h="407532">
                <a:moveTo>
                  <a:pt x="33960" y="0"/>
                </a:moveTo>
                <a:lnTo>
                  <a:pt x="3591377" y="0"/>
                </a:lnTo>
                <a:cubicBezTo>
                  <a:pt x="3610133" y="0"/>
                  <a:pt x="3625337" y="15204"/>
                  <a:pt x="3625337" y="33960"/>
                </a:cubicBezTo>
                <a:lnTo>
                  <a:pt x="3625337" y="373572"/>
                </a:lnTo>
                <a:cubicBezTo>
                  <a:pt x="3625337" y="392328"/>
                  <a:pt x="3610133" y="407532"/>
                  <a:pt x="3591377" y="407532"/>
                </a:cubicBezTo>
                <a:lnTo>
                  <a:pt x="33960" y="407532"/>
                </a:lnTo>
                <a:cubicBezTo>
                  <a:pt x="15204" y="407532"/>
                  <a:pt x="0" y="392328"/>
                  <a:pt x="0" y="373572"/>
                </a:cubicBezTo>
                <a:lnTo>
                  <a:pt x="0" y="33960"/>
                </a:lnTo>
                <a:cubicBezTo>
                  <a:pt x="0" y="15204"/>
                  <a:pt x="15204" y="0"/>
                  <a:pt x="33960" y="0"/>
                </a:cubicBezTo>
                <a:close/>
              </a:path>
            </a:pathLst>
          </a:custGeom>
          <a:solidFill>
            <a:srgbClr val="1A535C">
              <a:alpha val="10196"/>
            </a:srgbClr>
          </a:solidFill>
          <a:ln/>
        </p:spPr>
      </p:sp>
      <p:sp>
        <p:nvSpPr>
          <p:cNvPr id="68" name="Text 66"/>
          <p:cNvSpPr/>
          <p:nvPr/>
        </p:nvSpPr>
        <p:spPr>
          <a:xfrm>
            <a:off x="475454" y="4680147"/>
            <a:ext cx="3625337" cy="169805"/>
          </a:xfrm>
          <a:prstGeom prst="rect">
            <a:avLst/>
          </a:prstGeom>
          <a:noFill/>
          <a:ln/>
        </p:spPr>
        <p:txBody>
          <a:bodyPr wrap="square" lIns="0" tIns="0" rIns="0" bIns="0" rtlCol="0" anchor="ctr"/>
          <a:lstStyle/>
          <a:p>
            <a:pPr>
              <a:lnSpc>
                <a:spcPct val="100000"/>
              </a:lnSpc>
            </a:pPr>
            <a:r>
              <a:rPr lang="en-US" sz="1070" b="1" dirty="0">
                <a:solidFill>
                  <a:srgbClr val="1A535C"/>
                </a:solidFill>
                <a:latin typeface="Quattrocento Sans" pitchFamily="34" charset="0"/>
                <a:ea typeface="Quattrocento Sans" pitchFamily="34" charset="-122"/>
                <a:cs typeface="Quattrocento Sans" pitchFamily="34" charset="-120"/>
              </a:rPr>
              <a:t>conversations</a:t>
            </a:r>
            <a:endParaRPr lang="en-US" sz="1600" dirty="0"/>
          </a:p>
        </p:txBody>
      </p:sp>
      <p:sp>
        <p:nvSpPr>
          <p:cNvPr id="69" name="Text 67"/>
          <p:cNvSpPr/>
          <p:nvPr/>
        </p:nvSpPr>
        <p:spPr>
          <a:xfrm>
            <a:off x="475454" y="4849952"/>
            <a:ext cx="3625337" cy="169805"/>
          </a:xfrm>
          <a:prstGeom prst="rect">
            <a:avLst/>
          </a:prstGeom>
          <a:noFill/>
          <a:ln/>
        </p:spPr>
        <p:txBody>
          <a:bodyPr wrap="square" lIns="0" tIns="0" rIns="0" bIns="0" rtlCol="0" anchor="ctr"/>
          <a:lstStyle/>
          <a:p>
            <a:pPr>
              <a:lnSpc>
                <a:spcPct val="100000"/>
              </a:lnSpc>
            </a:pPr>
            <a:r>
              <a:rPr lang="en-US" sz="1070" dirty="0">
                <a:solidFill>
                  <a:srgbClr val="212529">
                    <a:alpha val="80000"/>
                  </a:srgbClr>
                </a:solidFill>
                <a:latin typeface="Quattrocento Sans" pitchFamily="34" charset="0"/>
                <a:ea typeface="Quattrocento Sans" pitchFamily="34" charset="-122"/>
                <a:cs typeface="Quattrocento Sans" pitchFamily="34" charset="-120"/>
              </a:rPr>
              <a:t>is_group, title, created_by (chat threads)</a:t>
            </a:r>
            <a:endParaRPr lang="en-US" sz="1600" dirty="0"/>
          </a:p>
        </p:txBody>
      </p:sp>
      <p:sp>
        <p:nvSpPr>
          <p:cNvPr id="70" name="Shape 68"/>
          <p:cNvSpPr/>
          <p:nvPr/>
        </p:nvSpPr>
        <p:spPr>
          <a:xfrm>
            <a:off x="441493" y="5108905"/>
            <a:ext cx="3625337" cy="407532"/>
          </a:xfrm>
          <a:custGeom>
            <a:avLst/>
            <a:gdLst/>
            <a:ahLst/>
            <a:cxnLst/>
            <a:rect l="l" t="t" r="r" b="b"/>
            <a:pathLst>
              <a:path w="3625337" h="407532">
                <a:moveTo>
                  <a:pt x="33960" y="0"/>
                </a:moveTo>
                <a:lnTo>
                  <a:pt x="3591377" y="0"/>
                </a:lnTo>
                <a:cubicBezTo>
                  <a:pt x="3610133" y="0"/>
                  <a:pt x="3625337" y="15204"/>
                  <a:pt x="3625337" y="33960"/>
                </a:cubicBezTo>
                <a:lnTo>
                  <a:pt x="3625337" y="373572"/>
                </a:lnTo>
                <a:cubicBezTo>
                  <a:pt x="3625337" y="392328"/>
                  <a:pt x="3610133" y="407532"/>
                  <a:pt x="3591377" y="407532"/>
                </a:cubicBezTo>
                <a:lnTo>
                  <a:pt x="33960" y="407532"/>
                </a:lnTo>
                <a:cubicBezTo>
                  <a:pt x="15204" y="407532"/>
                  <a:pt x="0" y="392328"/>
                  <a:pt x="0" y="373572"/>
                </a:cubicBezTo>
                <a:lnTo>
                  <a:pt x="0" y="33960"/>
                </a:lnTo>
                <a:cubicBezTo>
                  <a:pt x="0" y="15204"/>
                  <a:pt x="15204" y="0"/>
                  <a:pt x="33960" y="0"/>
                </a:cubicBezTo>
                <a:close/>
              </a:path>
            </a:pathLst>
          </a:custGeom>
          <a:solidFill>
            <a:srgbClr val="1A535C">
              <a:alpha val="10196"/>
            </a:srgbClr>
          </a:solidFill>
          <a:ln/>
        </p:spPr>
      </p:sp>
      <p:sp>
        <p:nvSpPr>
          <p:cNvPr id="71" name="Text 69"/>
          <p:cNvSpPr/>
          <p:nvPr/>
        </p:nvSpPr>
        <p:spPr>
          <a:xfrm>
            <a:off x="475454" y="5142866"/>
            <a:ext cx="3625337" cy="169805"/>
          </a:xfrm>
          <a:prstGeom prst="rect">
            <a:avLst/>
          </a:prstGeom>
          <a:noFill/>
          <a:ln/>
        </p:spPr>
        <p:txBody>
          <a:bodyPr wrap="square" lIns="0" tIns="0" rIns="0" bIns="0" rtlCol="0" anchor="ctr"/>
          <a:lstStyle/>
          <a:p>
            <a:pPr>
              <a:lnSpc>
                <a:spcPct val="100000"/>
              </a:lnSpc>
            </a:pPr>
            <a:r>
              <a:rPr lang="en-US" sz="1070" b="1" dirty="0">
                <a:solidFill>
                  <a:srgbClr val="1A535C"/>
                </a:solidFill>
                <a:latin typeface="Quattrocento Sans" pitchFamily="34" charset="0"/>
                <a:ea typeface="Quattrocento Sans" pitchFamily="34" charset="-122"/>
                <a:cs typeface="Quattrocento Sans" pitchFamily="34" charset="-120"/>
              </a:rPr>
              <a:t>messages</a:t>
            </a:r>
            <a:endParaRPr lang="en-US" sz="1600" dirty="0"/>
          </a:p>
        </p:txBody>
      </p:sp>
      <p:sp>
        <p:nvSpPr>
          <p:cNvPr id="72" name="Text 70"/>
          <p:cNvSpPr/>
          <p:nvPr/>
        </p:nvSpPr>
        <p:spPr>
          <a:xfrm>
            <a:off x="475454" y="5312671"/>
            <a:ext cx="3625337" cy="169805"/>
          </a:xfrm>
          <a:prstGeom prst="rect">
            <a:avLst/>
          </a:prstGeom>
          <a:noFill/>
          <a:ln/>
        </p:spPr>
        <p:txBody>
          <a:bodyPr wrap="square" lIns="0" tIns="0" rIns="0" bIns="0" rtlCol="0" anchor="ctr"/>
          <a:lstStyle/>
          <a:p>
            <a:pPr>
              <a:lnSpc>
                <a:spcPct val="100000"/>
              </a:lnSpc>
            </a:pPr>
            <a:r>
              <a:rPr lang="en-US" sz="1070" dirty="0">
                <a:solidFill>
                  <a:srgbClr val="212529">
                    <a:alpha val="80000"/>
                  </a:srgbClr>
                </a:solidFill>
                <a:latin typeface="Quattrocento Sans" pitchFamily="34" charset="0"/>
                <a:ea typeface="Quattrocento Sans" pitchFamily="34" charset="-122"/>
                <a:cs typeface="Quattrocento Sans" pitchFamily="34" charset="-120"/>
              </a:rPr>
              <a:t>body, type, read_at (individual messages)</a:t>
            </a:r>
            <a:endParaRPr lang="en-US" sz="1600" dirty="0"/>
          </a:p>
        </p:txBody>
      </p:sp>
      <p:sp>
        <p:nvSpPr>
          <p:cNvPr id="73" name="Shape 71"/>
          <p:cNvSpPr/>
          <p:nvPr/>
        </p:nvSpPr>
        <p:spPr>
          <a:xfrm>
            <a:off x="441493" y="5571727"/>
            <a:ext cx="3625337" cy="407532"/>
          </a:xfrm>
          <a:custGeom>
            <a:avLst/>
            <a:gdLst/>
            <a:ahLst/>
            <a:cxnLst/>
            <a:rect l="l" t="t" r="r" b="b"/>
            <a:pathLst>
              <a:path w="3625337" h="407532">
                <a:moveTo>
                  <a:pt x="33960" y="0"/>
                </a:moveTo>
                <a:lnTo>
                  <a:pt x="3591377" y="0"/>
                </a:lnTo>
                <a:cubicBezTo>
                  <a:pt x="3610133" y="0"/>
                  <a:pt x="3625337" y="15204"/>
                  <a:pt x="3625337" y="33960"/>
                </a:cubicBezTo>
                <a:lnTo>
                  <a:pt x="3625337" y="373572"/>
                </a:lnTo>
                <a:cubicBezTo>
                  <a:pt x="3625337" y="392328"/>
                  <a:pt x="3610133" y="407532"/>
                  <a:pt x="3591377" y="407532"/>
                </a:cubicBezTo>
                <a:lnTo>
                  <a:pt x="33960" y="407532"/>
                </a:lnTo>
                <a:cubicBezTo>
                  <a:pt x="15204" y="407532"/>
                  <a:pt x="0" y="392328"/>
                  <a:pt x="0" y="373572"/>
                </a:cubicBezTo>
                <a:lnTo>
                  <a:pt x="0" y="33960"/>
                </a:lnTo>
                <a:cubicBezTo>
                  <a:pt x="0" y="15204"/>
                  <a:pt x="15204" y="0"/>
                  <a:pt x="33960" y="0"/>
                </a:cubicBezTo>
                <a:close/>
              </a:path>
            </a:pathLst>
          </a:custGeom>
          <a:solidFill>
            <a:srgbClr val="1A535C">
              <a:alpha val="10196"/>
            </a:srgbClr>
          </a:solidFill>
          <a:ln/>
        </p:spPr>
      </p:sp>
      <p:sp>
        <p:nvSpPr>
          <p:cNvPr id="74" name="Text 72"/>
          <p:cNvSpPr/>
          <p:nvPr/>
        </p:nvSpPr>
        <p:spPr>
          <a:xfrm>
            <a:off x="475454" y="5605688"/>
            <a:ext cx="3625337" cy="169805"/>
          </a:xfrm>
          <a:prstGeom prst="rect">
            <a:avLst/>
          </a:prstGeom>
          <a:noFill/>
          <a:ln/>
        </p:spPr>
        <p:txBody>
          <a:bodyPr wrap="square" lIns="0" tIns="0" rIns="0" bIns="0" rtlCol="0" anchor="ctr"/>
          <a:lstStyle/>
          <a:p>
            <a:pPr>
              <a:lnSpc>
                <a:spcPct val="100000"/>
              </a:lnSpc>
            </a:pPr>
            <a:r>
              <a:rPr lang="en-US" sz="1070" b="1" dirty="0">
                <a:solidFill>
                  <a:srgbClr val="1A535C"/>
                </a:solidFill>
                <a:latin typeface="Quattrocento Sans" pitchFamily="34" charset="0"/>
                <a:ea typeface="Quattrocento Sans" pitchFamily="34" charset="-122"/>
                <a:cs typeface="Quattrocento Sans" pitchFamily="34" charset="-120"/>
              </a:rPr>
              <a:t>video_sessions</a:t>
            </a:r>
            <a:endParaRPr lang="en-US" sz="1600" dirty="0"/>
          </a:p>
        </p:txBody>
      </p:sp>
      <p:sp>
        <p:nvSpPr>
          <p:cNvPr id="75" name="Text 73"/>
          <p:cNvSpPr/>
          <p:nvPr/>
        </p:nvSpPr>
        <p:spPr>
          <a:xfrm>
            <a:off x="475454" y="5775493"/>
            <a:ext cx="3625337" cy="169805"/>
          </a:xfrm>
          <a:prstGeom prst="rect">
            <a:avLst/>
          </a:prstGeom>
          <a:noFill/>
          <a:ln/>
        </p:spPr>
        <p:txBody>
          <a:bodyPr wrap="square" lIns="0" tIns="0" rIns="0" bIns="0" rtlCol="0" anchor="ctr"/>
          <a:lstStyle/>
          <a:p>
            <a:pPr>
              <a:lnSpc>
                <a:spcPct val="100000"/>
              </a:lnSpc>
            </a:pPr>
            <a:r>
              <a:rPr lang="en-US" sz="1070" dirty="0">
                <a:solidFill>
                  <a:srgbClr val="212529">
                    <a:alpha val="80000"/>
                  </a:srgbClr>
                </a:solidFill>
                <a:latin typeface="Quattrocento Sans" pitchFamily="34" charset="0"/>
                <a:ea typeface="Quattrocento Sans" pitchFamily="34" charset="-122"/>
                <a:cs typeface="Quattrocento Sans" pitchFamily="34" charset="-120"/>
              </a:rPr>
              <a:t>twilio_room_sid, recording_url, low_bandwidth_mode</a:t>
            </a:r>
            <a:endParaRPr lang="en-US" sz="1600" dirty="0"/>
          </a:p>
        </p:txBody>
      </p:sp>
      <p:sp>
        <p:nvSpPr>
          <p:cNvPr id="76" name="Shape 74"/>
          <p:cNvSpPr/>
          <p:nvPr/>
        </p:nvSpPr>
        <p:spPr>
          <a:xfrm>
            <a:off x="441493" y="6034446"/>
            <a:ext cx="3625337" cy="407532"/>
          </a:xfrm>
          <a:custGeom>
            <a:avLst/>
            <a:gdLst/>
            <a:ahLst/>
            <a:cxnLst/>
            <a:rect l="l" t="t" r="r" b="b"/>
            <a:pathLst>
              <a:path w="3625337" h="407532">
                <a:moveTo>
                  <a:pt x="33960" y="0"/>
                </a:moveTo>
                <a:lnTo>
                  <a:pt x="3591377" y="0"/>
                </a:lnTo>
                <a:cubicBezTo>
                  <a:pt x="3610133" y="0"/>
                  <a:pt x="3625337" y="15204"/>
                  <a:pt x="3625337" y="33960"/>
                </a:cubicBezTo>
                <a:lnTo>
                  <a:pt x="3625337" y="373572"/>
                </a:lnTo>
                <a:cubicBezTo>
                  <a:pt x="3625337" y="392328"/>
                  <a:pt x="3610133" y="407532"/>
                  <a:pt x="3591377" y="407532"/>
                </a:cubicBezTo>
                <a:lnTo>
                  <a:pt x="33960" y="407532"/>
                </a:lnTo>
                <a:cubicBezTo>
                  <a:pt x="15204" y="407532"/>
                  <a:pt x="0" y="392328"/>
                  <a:pt x="0" y="373572"/>
                </a:cubicBezTo>
                <a:lnTo>
                  <a:pt x="0" y="33960"/>
                </a:lnTo>
                <a:cubicBezTo>
                  <a:pt x="0" y="15204"/>
                  <a:pt x="15204" y="0"/>
                  <a:pt x="33960" y="0"/>
                </a:cubicBezTo>
                <a:close/>
              </a:path>
            </a:pathLst>
          </a:custGeom>
          <a:solidFill>
            <a:srgbClr val="1A535C">
              <a:alpha val="10196"/>
            </a:srgbClr>
          </a:solidFill>
          <a:ln/>
        </p:spPr>
      </p:sp>
      <p:sp>
        <p:nvSpPr>
          <p:cNvPr id="77" name="Text 75"/>
          <p:cNvSpPr/>
          <p:nvPr/>
        </p:nvSpPr>
        <p:spPr>
          <a:xfrm>
            <a:off x="475454" y="6068407"/>
            <a:ext cx="3625337" cy="169805"/>
          </a:xfrm>
          <a:prstGeom prst="rect">
            <a:avLst/>
          </a:prstGeom>
          <a:noFill/>
          <a:ln/>
        </p:spPr>
        <p:txBody>
          <a:bodyPr wrap="square" lIns="0" tIns="0" rIns="0" bIns="0" rtlCol="0" anchor="ctr"/>
          <a:lstStyle/>
          <a:p>
            <a:pPr>
              <a:lnSpc>
                <a:spcPct val="100000"/>
              </a:lnSpc>
            </a:pPr>
            <a:r>
              <a:rPr lang="en-US" sz="1070" b="1" dirty="0">
                <a:solidFill>
                  <a:srgbClr val="1A535C"/>
                </a:solidFill>
                <a:latin typeface="Quattrocento Sans" pitchFamily="34" charset="0"/>
                <a:ea typeface="Quattrocento Sans" pitchFamily="34" charset="-122"/>
                <a:cs typeface="Quattrocento Sans" pitchFamily="34" charset="-120"/>
              </a:rPr>
              <a:t>session_notes</a:t>
            </a:r>
            <a:endParaRPr lang="en-US" sz="1600" dirty="0"/>
          </a:p>
        </p:txBody>
      </p:sp>
      <p:sp>
        <p:nvSpPr>
          <p:cNvPr id="78" name="Text 76"/>
          <p:cNvSpPr/>
          <p:nvPr/>
        </p:nvSpPr>
        <p:spPr>
          <a:xfrm>
            <a:off x="475454" y="6238212"/>
            <a:ext cx="3625337" cy="169805"/>
          </a:xfrm>
          <a:prstGeom prst="rect">
            <a:avLst/>
          </a:prstGeom>
          <a:noFill/>
          <a:ln/>
        </p:spPr>
        <p:txBody>
          <a:bodyPr wrap="square" lIns="0" tIns="0" rIns="0" bIns="0" rtlCol="0" anchor="ctr"/>
          <a:lstStyle/>
          <a:p>
            <a:pPr>
              <a:lnSpc>
                <a:spcPct val="100000"/>
              </a:lnSpc>
            </a:pPr>
            <a:r>
              <a:rPr lang="en-US" sz="1070" dirty="0">
                <a:solidFill>
                  <a:srgbClr val="212529">
                    <a:alpha val="80000"/>
                  </a:srgbClr>
                </a:solidFill>
                <a:latin typeface="Quattrocento Sans" pitchFamily="34" charset="0"/>
                <a:ea typeface="Quattrocento Sans" pitchFamily="34" charset="-122"/>
                <a:cs typeface="Quattrocento Sans" pitchFamily="34" charset="-120"/>
              </a:rPr>
              <a:t>topics_covered, homework_assigned, shared_with_parent</a:t>
            </a:r>
            <a:endParaRPr lang="en-US" sz="1600" dirty="0"/>
          </a:p>
        </p:txBody>
      </p:sp>
      <p:sp>
        <p:nvSpPr>
          <p:cNvPr id="79" name="Shape 77"/>
          <p:cNvSpPr/>
          <p:nvPr/>
        </p:nvSpPr>
        <p:spPr>
          <a:xfrm>
            <a:off x="4218063" y="4295963"/>
            <a:ext cx="3778162" cy="2224446"/>
          </a:xfrm>
          <a:custGeom>
            <a:avLst/>
            <a:gdLst/>
            <a:ahLst/>
            <a:cxnLst/>
            <a:rect l="l" t="t" r="r" b="b"/>
            <a:pathLst>
              <a:path w="3778162" h="2224446">
                <a:moveTo>
                  <a:pt x="33961" y="0"/>
                </a:moveTo>
                <a:lnTo>
                  <a:pt x="3710249" y="0"/>
                </a:lnTo>
                <a:cubicBezTo>
                  <a:pt x="3747756" y="0"/>
                  <a:pt x="3778162" y="30405"/>
                  <a:pt x="3778162" y="67912"/>
                </a:cubicBezTo>
                <a:lnTo>
                  <a:pt x="3778162" y="2156533"/>
                </a:lnTo>
                <a:cubicBezTo>
                  <a:pt x="3778162" y="2194040"/>
                  <a:pt x="3747756" y="2224446"/>
                  <a:pt x="3710249" y="2224446"/>
                </a:cubicBezTo>
                <a:lnTo>
                  <a:pt x="33961" y="2224446"/>
                </a:lnTo>
                <a:cubicBezTo>
                  <a:pt x="15205" y="2224446"/>
                  <a:pt x="0" y="2209241"/>
                  <a:pt x="0" y="2190485"/>
                </a:cubicBezTo>
                <a:lnTo>
                  <a:pt x="0" y="33961"/>
                </a:lnTo>
                <a:cubicBezTo>
                  <a:pt x="0" y="15217"/>
                  <a:pt x="15217" y="0"/>
                  <a:pt x="33961" y="0"/>
                </a:cubicBezTo>
                <a:close/>
              </a:path>
            </a:pathLst>
          </a:custGeom>
          <a:solidFill>
            <a:srgbClr val="FFFFFF"/>
          </a:solidFill>
          <a:ln/>
          <a:effectLst>
            <a:outerShdw sx="100000" sy="100000" kx="0" ky="0" algn="bl" rotWithShape="0" blurRad="50942" dist="33961" dir="5400000">
              <a:srgbClr val="000000">
                <a:alpha val="10196"/>
              </a:srgbClr>
            </a:outerShdw>
          </a:effectLst>
        </p:spPr>
      </p:sp>
      <p:sp>
        <p:nvSpPr>
          <p:cNvPr id="80" name="Shape 78"/>
          <p:cNvSpPr/>
          <p:nvPr/>
        </p:nvSpPr>
        <p:spPr>
          <a:xfrm>
            <a:off x="4218063" y="4295963"/>
            <a:ext cx="33961" cy="2224446"/>
          </a:xfrm>
          <a:custGeom>
            <a:avLst/>
            <a:gdLst/>
            <a:ahLst/>
            <a:cxnLst/>
            <a:rect l="l" t="t" r="r" b="b"/>
            <a:pathLst>
              <a:path w="33961" h="2224446">
                <a:moveTo>
                  <a:pt x="33961" y="0"/>
                </a:moveTo>
                <a:lnTo>
                  <a:pt x="33961" y="0"/>
                </a:lnTo>
                <a:lnTo>
                  <a:pt x="33961" y="2224446"/>
                </a:lnTo>
                <a:lnTo>
                  <a:pt x="33961" y="2224446"/>
                </a:lnTo>
                <a:cubicBezTo>
                  <a:pt x="15205" y="2224446"/>
                  <a:pt x="0" y="2209241"/>
                  <a:pt x="0" y="2190485"/>
                </a:cubicBezTo>
                <a:lnTo>
                  <a:pt x="0" y="33961"/>
                </a:lnTo>
                <a:cubicBezTo>
                  <a:pt x="0" y="15205"/>
                  <a:pt x="15205" y="0"/>
                  <a:pt x="33961" y="0"/>
                </a:cubicBezTo>
                <a:close/>
              </a:path>
            </a:pathLst>
          </a:custGeom>
          <a:solidFill>
            <a:srgbClr val="4A7C59"/>
          </a:solidFill>
          <a:ln/>
        </p:spPr>
      </p:sp>
      <p:sp>
        <p:nvSpPr>
          <p:cNvPr id="81" name="Shape 79"/>
          <p:cNvSpPr/>
          <p:nvPr/>
        </p:nvSpPr>
        <p:spPr>
          <a:xfrm>
            <a:off x="4333742" y="4406336"/>
            <a:ext cx="133721" cy="152825"/>
          </a:xfrm>
          <a:custGeom>
            <a:avLst/>
            <a:gdLst/>
            <a:ahLst/>
            <a:cxnLst/>
            <a:rect l="l" t="t" r="r" b="b"/>
            <a:pathLst>
              <a:path w="133721" h="152825">
                <a:moveTo>
                  <a:pt x="114618" y="152825"/>
                </a:moveTo>
                <a:lnTo>
                  <a:pt x="28655" y="152825"/>
                </a:lnTo>
                <a:cubicBezTo>
                  <a:pt x="12835" y="152825"/>
                  <a:pt x="0" y="139990"/>
                  <a:pt x="0" y="124170"/>
                </a:cubicBezTo>
                <a:lnTo>
                  <a:pt x="0" y="28655"/>
                </a:lnTo>
                <a:cubicBezTo>
                  <a:pt x="0" y="12835"/>
                  <a:pt x="12835" y="0"/>
                  <a:pt x="28655" y="0"/>
                </a:cubicBezTo>
                <a:lnTo>
                  <a:pt x="119394" y="0"/>
                </a:lnTo>
                <a:cubicBezTo>
                  <a:pt x="127304" y="0"/>
                  <a:pt x="133721" y="6417"/>
                  <a:pt x="133721" y="14327"/>
                </a:cubicBezTo>
                <a:lnTo>
                  <a:pt x="133721" y="100291"/>
                </a:lnTo>
                <a:cubicBezTo>
                  <a:pt x="133721" y="106529"/>
                  <a:pt x="129722" y="111842"/>
                  <a:pt x="124170" y="113812"/>
                </a:cubicBezTo>
                <a:lnTo>
                  <a:pt x="124170" y="133721"/>
                </a:lnTo>
                <a:cubicBezTo>
                  <a:pt x="129453" y="133721"/>
                  <a:pt x="133721" y="137990"/>
                  <a:pt x="133721" y="143273"/>
                </a:cubicBezTo>
                <a:cubicBezTo>
                  <a:pt x="133721" y="148556"/>
                  <a:pt x="129453" y="152825"/>
                  <a:pt x="124170" y="152825"/>
                </a:cubicBezTo>
                <a:lnTo>
                  <a:pt x="114618" y="152825"/>
                </a:lnTo>
                <a:close/>
                <a:moveTo>
                  <a:pt x="28655" y="114618"/>
                </a:moveTo>
                <a:cubicBezTo>
                  <a:pt x="23371" y="114618"/>
                  <a:pt x="19103" y="118887"/>
                  <a:pt x="19103" y="124170"/>
                </a:cubicBezTo>
                <a:cubicBezTo>
                  <a:pt x="19103" y="129453"/>
                  <a:pt x="23371" y="133721"/>
                  <a:pt x="28655" y="133721"/>
                </a:cubicBezTo>
                <a:lnTo>
                  <a:pt x="105067" y="133721"/>
                </a:lnTo>
                <a:lnTo>
                  <a:pt x="105067" y="114618"/>
                </a:lnTo>
                <a:lnTo>
                  <a:pt x="28655" y="114618"/>
                </a:lnTo>
                <a:close/>
                <a:moveTo>
                  <a:pt x="38206" y="45370"/>
                </a:moveTo>
                <a:cubicBezTo>
                  <a:pt x="38206" y="49340"/>
                  <a:pt x="41400" y="52533"/>
                  <a:pt x="45370" y="52533"/>
                </a:cubicBezTo>
                <a:lnTo>
                  <a:pt x="97903" y="52533"/>
                </a:lnTo>
                <a:cubicBezTo>
                  <a:pt x="101873" y="52533"/>
                  <a:pt x="105067" y="49340"/>
                  <a:pt x="105067" y="45370"/>
                </a:cubicBezTo>
                <a:cubicBezTo>
                  <a:pt x="105067" y="41400"/>
                  <a:pt x="101873" y="38206"/>
                  <a:pt x="97903" y="38206"/>
                </a:cubicBezTo>
                <a:lnTo>
                  <a:pt x="45370" y="38206"/>
                </a:lnTo>
                <a:cubicBezTo>
                  <a:pt x="41400" y="38206"/>
                  <a:pt x="38206" y="41400"/>
                  <a:pt x="38206" y="45370"/>
                </a:cubicBezTo>
                <a:close/>
                <a:moveTo>
                  <a:pt x="45370" y="66861"/>
                </a:moveTo>
                <a:cubicBezTo>
                  <a:pt x="41400" y="66861"/>
                  <a:pt x="38206" y="70055"/>
                  <a:pt x="38206" y="74024"/>
                </a:cubicBezTo>
                <a:cubicBezTo>
                  <a:pt x="38206" y="77994"/>
                  <a:pt x="41400" y="81188"/>
                  <a:pt x="45370" y="81188"/>
                </a:cubicBezTo>
                <a:lnTo>
                  <a:pt x="97903" y="81188"/>
                </a:lnTo>
                <a:cubicBezTo>
                  <a:pt x="101873" y="81188"/>
                  <a:pt x="105067" y="77994"/>
                  <a:pt x="105067" y="74024"/>
                </a:cubicBezTo>
                <a:cubicBezTo>
                  <a:pt x="105067" y="70055"/>
                  <a:pt x="101873" y="66861"/>
                  <a:pt x="97903" y="66861"/>
                </a:cubicBezTo>
                <a:lnTo>
                  <a:pt x="45370" y="66861"/>
                </a:lnTo>
                <a:close/>
              </a:path>
            </a:pathLst>
          </a:custGeom>
          <a:solidFill>
            <a:srgbClr val="F7B538"/>
          </a:solidFill>
          <a:ln/>
        </p:spPr>
      </p:sp>
      <p:sp>
        <p:nvSpPr>
          <p:cNvPr id="82" name="Text 80"/>
          <p:cNvSpPr/>
          <p:nvPr/>
        </p:nvSpPr>
        <p:spPr>
          <a:xfrm>
            <a:off x="4498241" y="4363885"/>
            <a:ext cx="3506474" cy="237727"/>
          </a:xfrm>
          <a:prstGeom prst="rect">
            <a:avLst/>
          </a:prstGeom>
          <a:noFill/>
          <a:ln/>
        </p:spPr>
        <p:txBody>
          <a:bodyPr wrap="square" lIns="0" tIns="0" rIns="0" bIns="0" rtlCol="0" anchor="ctr"/>
          <a:lstStyle/>
          <a:p>
            <a:pPr>
              <a:lnSpc>
                <a:spcPct val="130000"/>
              </a:lnSpc>
            </a:pPr>
            <a:r>
              <a:rPr lang="en-US" sz="1203" b="1" dirty="0">
                <a:solidFill>
                  <a:srgbClr val="1A535C"/>
                </a:solidFill>
                <a:latin typeface="Liter" pitchFamily="34" charset="0"/>
                <a:ea typeface="Liter" pitchFamily="34" charset="-122"/>
                <a:cs typeface="Liter" pitchFamily="34" charset="-120"/>
              </a:rPr>
              <a:t>Knowledge Legacy</a:t>
            </a:r>
            <a:endParaRPr lang="en-US" sz="1600" dirty="0"/>
          </a:p>
        </p:txBody>
      </p:sp>
      <p:sp>
        <p:nvSpPr>
          <p:cNvPr id="83" name="Shape 81"/>
          <p:cNvSpPr/>
          <p:nvPr/>
        </p:nvSpPr>
        <p:spPr>
          <a:xfrm>
            <a:off x="4302965" y="4877545"/>
            <a:ext cx="3625337" cy="407532"/>
          </a:xfrm>
          <a:custGeom>
            <a:avLst/>
            <a:gdLst/>
            <a:ahLst/>
            <a:cxnLst/>
            <a:rect l="l" t="t" r="r" b="b"/>
            <a:pathLst>
              <a:path w="3625337" h="407532">
                <a:moveTo>
                  <a:pt x="33960" y="0"/>
                </a:moveTo>
                <a:lnTo>
                  <a:pt x="3591377" y="0"/>
                </a:lnTo>
                <a:cubicBezTo>
                  <a:pt x="3610133" y="0"/>
                  <a:pt x="3625337" y="15204"/>
                  <a:pt x="3625337" y="33960"/>
                </a:cubicBezTo>
                <a:lnTo>
                  <a:pt x="3625337" y="373572"/>
                </a:lnTo>
                <a:cubicBezTo>
                  <a:pt x="3625337" y="392328"/>
                  <a:pt x="3610133" y="407532"/>
                  <a:pt x="3591377" y="407532"/>
                </a:cubicBezTo>
                <a:lnTo>
                  <a:pt x="33960" y="407532"/>
                </a:lnTo>
                <a:cubicBezTo>
                  <a:pt x="15204" y="407532"/>
                  <a:pt x="0" y="392328"/>
                  <a:pt x="0" y="373572"/>
                </a:cubicBezTo>
                <a:lnTo>
                  <a:pt x="0" y="33960"/>
                </a:lnTo>
                <a:cubicBezTo>
                  <a:pt x="0" y="15204"/>
                  <a:pt x="15204" y="0"/>
                  <a:pt x="33960" y="0"/>
                </a:cubicBezTo>
                <a:close/>
              </a:path>
            </a:pathLst>
          </a:custGeom>
          <a:solidFill>
            <a:srgbClr val="4A7C59">
              <a:alpha val="10196"/>
            </a:srgbClr>
          </a:solidFill>
          <a:ln/>
        </p:spPr>
      </p:sp>
      <p:sp>
        <p:nvSpPr>
          <p:cNvPr id="84" name="Text 82"/>
          <p:cNvSpPr/>
          <p:nvPr/>
        </p:nvSpPr>
        <p:spPr>
          <a:xfrm>
            <a:off x="4336926" y="4911506"/>
            <a:ext cx="3625337" cy="169805"/>
          </a:xfrm>
          <a:prstGeom prst="rect">
            <a:avLst/>
          </a:prstGeom>
          <a:noFill/>
          <a:ln/>
        </p:spPr>
        <p:txBody>
          <a:bodyPr wrap="square" lIns="0" tIns="0" rIns="0" bIns="0" rtlCol="0" anchor="ctr"/>
          <a:lstStyle/>
          <a:p>
            <a:pPr>
              <a:lnSpc>
                <a:spcPct val="100000"/>
              </a:lnSpc>
            </a:pPr>
            <a:r>
              <a:rPr lang="en-US" sz="1070" b="1" dirty="0">
                <a:solidFill>
                  <a:srgbClr val="4A7C59"/>
                </a:solidFill>
                <a:latin typeface="Quattrocento Sans" pitchFamily="34" charset="0"/>
                <a:ea typeface="Quattrocento Sans" pitchFamily="34" charset="-122"/>
                <a:cs typeface="Quattrocento Sans" pitchFamily="34" charset="-120"/>
              </a:rPr>
              <a:t>knowledge_materials</a:t>
            </a:r>
            <a:endParaRPr lang="en-US" sz="1600" dirty="0"/>
          </a:p>
        </p:txBody>
      </p:sp>
      <p:sp>
        <p:nvSpPr>
          <p:cNvPr id="85" name="Text 83"/>
          <p:cNvSpPr/>
          <p:nvPr/>
        </p:nvSpPr>
        <p:spPr>
          <a:xfrm>
            <a:off x="4336926" y="5081311"/>
            <a:ext cx="3625337" cy="169805"/>
          </a:xfrm>
          <a:prstGeom prst="rect">
            <a:avLst/>
          </a:prstGeom>
          <a:noFill/>
          <a:ln/>
        </p:spPr>
        <p:txBody>
          <a:bodyPr wrap="square" lIns="0" tIns="0" rIns="0" bIns="0" rtlCol="0" anchor="ctr"/>
          <a:lstStyle/>
          <a:p>
            <a:pPr>
              <a:lnSpc>
                <a:spcPct val="100000"/>
              </a:lnSpc>
            </a:pPr>
            <a:r>
              <a:rPr lang="en-US" sz="1070" dirty="0">
                <a:solidFill>
                  <a:srgbClr val="212529">
                    <a:alpha val="80000"/>
                  </a:srgbClr>
                </a:solidFill>
                <a:latin typeface="Quattrocento Sans" pitchFamily="34" charset="0"/>
                <a:ea typeface="Quattrocento Sans" pitchFamily="34" charset="-122"/>
                <a:cs typeface="Quattrocento Sans" pitchFamily="34" charset="-120"/>
              </a:rPr>
              <a:t>file_url (S3), price, download_count, is_active</a:t>
            </a:r>
            <a:endParaRPr lang="en-US" sz="1600" dirty="0"/>
          </a:p>
        </p:txBody>
      </p:sp>
      <p:sp>
        <p:nvSpPr>
          <p:cNvPr id="86" name="Shape 84"/>
          <p:cNvSpPr/>
          <p:nvPr/>
        </p:nvSpPr>
        <p:spPr>
          <a:xfrm>
            <a:off x="4302965" y="5803086"/>
            <a:ext cx="3625337" cy="407532"/>
          </a:xfrm>
          <a:custGeom>
            <a:avLst/>
            <a:gdLst/>
            <a:ahLst/>
            <a:cxnLst/>
            <a:rect l="l" t="t" r="r" b="b"/>
            <a:pathLst>
              <a:path w="3625337" h="407532">
                <a:moveTo>
                  <a:pt x="33960" y="0"/>
                </a:moveTo>
                <a:lnTo>
                  <a:pt x="3591377" y="0"/>
                </a:lnTo>
                <a:cubicBezTo>
                  <a:pt x="3610133" y="0"/>
                  <a:pt x="3625337" y="15204"/>
                  <a:pt x="3625337" y="33960"/>
                </a:cubicBezTo>
                <a:lnTo>
                  <a:pt x="3625337" y="373572"/>
                </a:lnTo>
                <a:cubicBezTo>
                  <a:pt x="3625337" y="392328"/>
                  <a:pt x="3610133" y="407532"/>
                  <a:pt x="3591377" y="407532"/>
                </a:cubicBezTo>
                <a:lnTo>
                  <a:pt x="33960" y="407532"/>
                </a:lnTo>
                <a:cubicBezTo>
                  <a:pt x="15204" y="407532"/>
                  <a:pt x="0" y="392328"/>
                  <a:pt x="0" y="373572"/>
                </a:cubicBezTo>
                <a:lnTo>
                  <a:pt x="0" y="33960"/>
                </a:lnTo>
                <a:cubicBezTo>
                  <a:pt x="0" y="15204"/>
                  <a:pt x="15204" y="0"/>
                  <a:pt x="33960" y="0"/>
                </a:cubicBezTo>
                <a:close/>
              </a:path>
            </a:pathLst>
          </a:custGeom>
          <a:solidFill>
            <a:srgbClr val="4A7C59">
              <a:alpha val="10196"/>
            </a:srgbClr>
          </a:solidFill>
          <a:ln/>
        </p:spPr>
      </p:sp>
      <p:sp>
        <p:nvSpPr>
          <p:cNvPr id="87" name="Text 85"/>
          <p:cNvSpPr/>
          <p:nvPr/>
        </p:nvSpPr>
        <p:spPr>
          <a:xfrm>
            <a:off x="4336926" y="5837047"/>
            <a:ext cx="3625337" cy="169805"/>
          </a:xfrm>
          <a:prstGeom prst="rect">
            <a:avLst/>
          </a:prstGeom>
          <a:noFill/>
          <a:ln/>
        </p:spPr>
        <p:txBody>
          <a:bodyPr wrap="square" lIns="0" tIns="0" rIns="0" bIns="0" rtlCol="0" anchor="ctr"/>
          <a:lstStyle/>
          <a:p>
            <a:pPr>
              <a:lnSpc>
                <a:spcPct val="100000"/>
              </a:lnSpc>
            </a:pPr>
            <a:r>
              <a:rPr lang="en-US" sz="1070" b="1" dirty="0">
                <a:solidFill>
                  <a:srgbClr val="4A7C59"/>
                </a:solidFill>
                <a:latin typeface="Quattrocento Sans" pitchFamily="34" charset="0"/>
                <a:ea typeface="Quattrocento Sans" pitchFamily="34" charset="-122"/>
                <a:cs typeface="Quattrocento Sans" pitchFamily="34" charset="-120"/>
              </a:rPr>
              <a:t>knowledge_purchases</a:t>
            </a:r>
            <a:endParaRPr lang="en-US" sz="1600" dirty="0"/>
          </a:p>
        </p:txBody>
      </p:sp>
      <p:sp>
        <p:nvSpPr>
          <p:cNvPr id="88" name="Text 86"/>
          <p:cNvSpPr/>
          <p:nvPr/>
        </p:nvSpPr>
        <p:spPr>
          <a:xfrm>
            <a:off x="4336926" y="6006852"/>
            <a:ext cx="3625337" cy="169805"/>
          </a:xfrm>
          <a:prstGeom prst="rect">
            <a:avLst/>
          </a:prstGeom>
          <a:noFill/>
          <a:ln/>
        </p:spPr>
        <p:txBody>
          <a:bodyPr wrap="square" lIns="0" tIns="0" rIns="0" bIns="0" rtlCol="0" anchor="ctr"/>
          <a:lstStyle/>
          <a:p>
            <a:pPr>
              <a:lnSpc>
                <a:spcPct val="100000"/>
              </a:lnSpc>
            </a:pPr>
            <a:r>
              <a:rPr lang="en-US" sz="1070" dirty="0">
                <a:solidFill>
                  <a:srgbClr val="212529">
                    <a:alpha val="80000"/>
                  </a:srgbClr>
                </a:solidFill>
                <a:latin typeface="Quattrocento Sans" pitchFamily="34" charset="0"/>
                <a:ea typeface="Quattrocento Sans" pitchFamily="34" charset="-122"/>
                <a:cs typeface="Quattrocento Sans" pitchFamily="34" charset="-120"/>
              </a:rPr>
              <a:t>Tracks downloads and teacher passive earnings</a:t>
            </a:r>
            <a:endParaRPr lang="en-US" sz="1600" dirty="0"/>
          </a:p>
        </p:txBody>
      </p:sp>
      <p:sp>
        <p:nvSpPr>
          <p:cNvPr id="89" name="Shape 87"/>
          <p:cNvSpPr/>
          <p:nvPr/>
        </p:nvSpPr>
        <p:spPr>
          <a:xfrm>
            <a:off x="8079535" y="4295963"/>
            <a:ext cx="3778162" cy="2224446"/>
          </a:xfrm>
          <a:custGeom>
            <a:avLst/>
            <a:gdLst/>
            <a:ahLst/>
            <a:cxnLst/>
            <a:rect l="l" t="t" r="r" b="b"/>
            <a:pathLst>
              <a:path w="3778162" h="2224446">
                <a:moveTo>
                  <a:pt x="33961" y="0"/>
                </a:moveTo>
                <a:lnTo>
                  <a:pt x="3710249" y="0"/>
                </a:lnTo>
                <a:cubicBezTo>
                  <a:pt x="3747756" y="0"/>
                  <a:pt x="3778162" y="30405"/>
                  <a:pt x="3778162" y="67912"/>
                </a:cubicBezTo>
                <a:lnTo>
                  <a:pt x="3778162" y="2156533"/>
                </a:lnTo>
                <a:cubicBezTo>
                  <a:pt x="3778162" y="2194040"/>
                  <a:pt x="3747756" y="2224446"/>
                  <a:pt x="3710249" y="2224446"/>
                </a:cubicBezTo>
                <a:lnTo>
                  <a:pt x="33961" y="2224446"/>
                </a:lnTo>
                <a:cubicBezTo>
                  <a:pt x="15205" y="2224446"/>
                  <a:pt x="0" y="2209241"/>
                  <a:pt x="0" y="2190485"/>
                </a:cubicBezTo>
                <a:lnTo>
                  <a:pt x="0" y="33961"/>
                </a:lnTo>
                <a:cubicBezTo>
                  <a:pt x="0" y="15217"/>
                  <a:pt x="15217" y="0"/>
                  <a:pt x="33961" y="0"/>
                </a:cubicBezTo>
                <a:close/>
              </a:path>
            </a:pathLst>
          </a:custGeom>
          <a:solidFill>
            <a:srgbClr val="FFFFFF"/>
          </a:solidFill>
          <a:ln/>
          <a:effectLst>
            <a:outerShdw sx="100000" sy="100000" kx="0" ky="0" algn="bl" rotWithShape="0" blurRad="50942" dist="33961" dir="5400000">
              <a:srgbClr val="000000">
                <a:alpha val="10196"/>
              </a:srgbClr>
            </a:outerShdw>
          </a:effectLst>
        </p:spPr>
      </p:sp>
      <p:sp>
        <p:nvSpPr>
          <p:cNvPr id="90" name="Shape 88"/>
          <p:cNvSpPr/>
          <p:nvPr/>
        </p:nvSpPr>
        <p:spPr>
          <a:xfrm>
            <a:off x="8079535" y="4295963"/>
            <a:ext cx="33961" cy="2224446"/>
          </a:xfrm>
          <a:custGeom>
            <a:avLst/>
            <a:gdLst/>
            <a:ahLst/>
            <a:cxnLst/>
            <a:rect l="l" t="t" r="r" b="b"/>
            <a:pathLst>
              <a:path w="33961" h="2224446">
                <a:moveTo>
                  <a:pt x="33961" y="0"/>
                </a:moveTo>
                <a:lnTo>
                  <a:pt x="33961" y="0"/>
                </a:lnTo>
                <a:lnTo>
                  <a:pt x="33961" y="2224446"/>
                </a:lnTo>
                <a:lnTo>
                  <a:pt x="33961" y="2224446"/>
                </a:lnTo>
                <a:cubicBezTo>
                  <a:pt x="15205" y="2224446"/>
                  <a:pt x="0" y="2209241"/>
                  <a:pt x="0" y="2190485"/>
                </a:cubicBezTo>
                <a:lnTo>
                  <a:pt x="0" y="33961"/>
                </a:lnTo>
                <a:cubicBezTo>
                  <a:pt x="0" y="15205"/>
                  <a:pt x="15205" y="0"/>
                  <a:pt x="33961" y="0"/>
                </a:cubicBezTo>
                <a:close/>
              </a:path>
            </a:pathLst>
          </a:custGeom>
          <a:solidFill>
            <a:srgbClr val="F7B538"/>
          </a:solidFill>
          <a:ln/>
        </p:spPr>
      </p:sp>
      <p:sp>
        <p:nvSpPr>
          <p:cNvPr id="91" name="Shape 89"/>
          <p:cNvSpPr/>
          <p:nvPr/>
        </p:nvSpPr>
        <p:spPr>
          <a:xfrm>
            <a:off x="8176111" y="4406336"/>
            <a:ext cx="171928" cy="152825"/>
          </a:xfrm>
          <a:custGeom>
            <a:avLst/>
            <a:gdLst/>
            <a:ahLst/>
            <a:cxnLst/>
            <a:rect l="l" t="t" r="r" b="b"/>
            <a:pathLst>
              <a:path w="171928" h="152825">
                <a:moveTo>
                  <a:pt x="92381" y="-5641"/>
                </a:moveTo>
                <a:cubicBezTo>
                  <a:pt x="91157" y="-8029"/>
                  <a:pt x="88680" y="-9552"/>
                  <a:pt x="85994" y="-9552"/>
                </a:cubicBezTo>
                <a:cubicBezTo>
                  <a:pt x="83307" y="-9552"/>
                  <a:pt x="80830" y="-8029"/>
                  <a:pt x="79606" y="-5641"/>
                </a:cubicBezTo>
                <a:lnTo>
                  <a:pt x="57638" y="37400"/>
                </a:lnTo>
                <a:lnTo>
                  <a:pt x="9910" y="44982"/>
                </a:lnTo>
                <a:cubicBezTo>
                  <a:pt x="7253" y="45400"/>
                  <a:pt x="5044" y="47280"/>
                  <a:pt x="4209" y="49847"/>
                </a:cubicBezTo>
                <a:cubicBezTo>
                  <a:pt x="3373" y="52414"/>
                  <a:pt x="4059" y="55220"/>
                  <a:pt x="5940" y="57130"/>
                </a:cubicBezTo>
                <a:lnTo>
                  <a:pt x="40087" y="91307"/>
                </a:lnTo>
                <a:lnTo>
                  <a:pt x="32565" y="139034"/>
                </a:lnTo>
                <a:cubicBezTo>
                  <a:pt x="32147" y="141691"/>
                  <a:pt x="33251" y="144377"/>
                  <a:pt x="35430" y="145959"/>
                </a:cubicBezTo>
                <a:cubicBezTo>
                  <a:pt x="37609" y="147541"/>
                  <a:pt x="40475" y="147780"/>
                  <a:pt x="42892" y="146556"/>
                </a:cubicBezTo>
                <a:lnTo>
                  <a:pt x="85994" y="124647"/>
                </a:lnTo>
                <a:lnTo>
                  <a:pt x="129065" y="146556"/>
                </a:lnTo>
                <a:cubicBezTo>
                  <a:pt x="131453" y="147780"/>
                  <a:pt x="134348" y="147541"/>
                  <a:pt x="136527" y="145959"/>
                </a:cubicBezTo>
                <a:cubicBezTo>
                  <a:pt x="138706" y="144377"/>
                  <a:pt x="139811" y="141721"/>
                  <a:pt x="139393" y="139034"/>
                </a:cubicBezTo>
                <a:lnTo>
                  <a:pt x="131841" y="91307"/>
                </a:lnTo>
                <a:lnTo>
                  <a:pt x="165988" y="57130"/>
                </a:lnTo>
                <a:cubicBezTo>
                  <a:pt x="167898" y="55220"/>
                  <a:pt x="168555" y="52414"/>
                  <a:pt x="167719" y="49847"/>
                </a:cubicBezTo>
                <a:cubicBezTo>
                  <a:pt x="166883" y="47280"/>
                  <a:pt x="164704" y="45400"/>
                  <a:pt x="162018" y="44982"/>
                </a:cubicBezTo>
                <a:lnTo>
                  <a:pt x="114320" y="37400"/>
                </a:lnTo>
                <a:lnTo>
                  <a:pt x="92381" y="-5641"/>
                </a:lnTo>
                <a:close/>
              </a:path>
            </a:pathLst>
          </a:custGeom>
          <a:solidFill>
            <a:srgbClr val="F7B538"/>
          </a:solidFill>
          <a:ln/>
        </p:spPr>
      </p:sp>
      <p:sp>
        <p:nvSpPr>
          <p:cNvPr id="92" name="Text 90"/>
          <p:cNvSpPr/>
          <p:nvPr/>
        </p:nvSpPr>
        <p:spPr>
          <a:xfrm>
            <a:off x="8359713" y="4363885"/>
            <a:ext cx="3506474" cy="237727"/>
          </a:xfrm>
          <a:prstGeom prst="rect">
            <a:avLst/>
          </a:prstGeom>
          <a:noFill/>
          <a:ln/>
        </p:spPr>
        <p:txBody>
          <a:bodyPr wrap="square" lIns="0" tIns="0" rIns="0" bIns="0" rtlCol="0" anchor="ctr"/>
          <a:lstStyle/>
          <a:p>
            <a:pPr>
              <a:lnSpc>
                <a:spcPct val="130000"/>
              </a:lnSpc>
            </a:pPr>
            <a:r>
              <a:rPr lang="en-US" sz="1203" b="1" dirty="0">
                <a:solidFill>
                  <a:srgbClr val="1A535C"/>
                </a:solidFill>
                <a:latin typeface="Liter" pitchFamily="34" charset="0"/>
                <a:ea typeface="Liter" pitchFamily="34" charset="-122"/>
                <a:cs typeface="Liter" pitchFamily="34" charset="-120"/>
              </a:rPr>
              <a:t>Community &amp; Reviews</a:t>
            </a:r>
            <a:endParaRPr lang="en-US" sz="1600" dirty="0"/>
          </a:p>
        </p:txBody>
      </p:sp>
      <p:sp>
        <p:nvSpPr>
          <p:cNvPr id="93" name="Shape 91"/>
          <p:cNvSpPr/>
          <p:nvPr/>
        </p:nvSpPr>
        <p:spPr>
          <a:xfrm>
            <a:off x="8164437" y="4646186"/>
            <a:ext cx="3625337" cy="407532"/>
          </a:xfrm>
          <a:custGeom>
            <a:avLst/>
            <a:gdLst/>
            <a:ahLst/>
            <a:cxnLst/>
            <a:rect l="l" t="t" r="r" b="b"/>
            <a:pathLst>
              <a:path w="3625337" h="407532">
                <a:moveTo>
                  <a:pt x="33960" y="0"/>
                </a:moveTo>
                <a:lnTo>
                  <a:pt x="3591377" y="0"/>
                </a:lnTo>
                <a:cubicBezTo>
                  <a:pt x="3610133" y="0"/>
                  <a:pt x="3625337" y="15204"/>
                  <a:pt x="3625337" y="33960"/>
                </a:cubicBezTo>
                <a:lnTo>
                  <a:pt x="3625337" y="373572"/>
                </a:lnTo>
                <a:cubicBezTo>
                  <a:pt x="3625337" y="392328"/>
                  <a:pt x="3610133" y="407532"/>
                  <a:pt x="3591377" y="407532"/>
                </a:cubicBezTo>
                <a:lnTo>
                  <a:pt x="33960" y="407532"/>
                </a:lnTo>
                <a:cubicBezTo>
                  <a:pt x="15204" y="407532"/>
                  <a:pt x="0" y="392328"/>
                  <a:pt x="0" y="373572"/>
                </a:cubicBezTo>
                <a:lnTo>
                  <a:pt x="0" y="33960"/>
                </a:lnTo>
                <a:cubicBezTo>
                  <a:pt x="0" y="15204"/>
                  <a:pt x="15204" y="0"/>
                  <a:pt x="33960" y="0"/>
                </a:cubicBezTo>
                <a:close/>
              </a:path>
            </a:pathLst>
          </a:custGeom>
          <a:solidFill>
            <a:srgbClr val="F7B538">
              <a:alpha val="20000"/>
            </a:srgbClr>
          </a:solidFill>
          <a:ln/>
        </p:spPr>
      </p:sp>
      <p:sp>
        <p:nvSpPr>
          <p:cNvPr id="94" name="Text 92"/>
          <p:cNvSpPr/>
          <p:nvPr/>
        </p:nvSpPr>
        <p:spPr>
          <a:xfrm>
            <a:off x="8198398" y="4680147"/>
            <a:ext cx="3625337" cy="169805"/>
          </a:xfrm>
          <a:prstGeom prst="rect">
            <a:avLst/>
          </a:prstGeom>
          <a:noFill/>
          <a:ln/>
        </p:spPr>
        <p:txBody>
          <a:bodyPr wrap="square" lIns="0" tIns="0" rIns="0" bIns="0" rtlCol="0" anchor="ctr"/>
          <a:lstStyle/>
          <a:p>
            <a:pPr>
              <a:lnSpc>
                <a:spcPct val="100000"/>
              </a:lnSpc>
            </a:pPr>
            <a:r>
              <a:rPr lang="en-US" sz="1070" b="1" dirty="0">
                <a:solidFill>
                  <a:srgbClr val="F7B538"/>
                </a:solidFill>
                <a:latin typeface="Quattrocento Sans" pitchFamily="34" charset="0"/>
                <a:ea typeface="Quattrocento Sans" pitchFamily="34" charset="-122"/>
                <a:cs typeface="Quattrocento Sans" pitchFamily="34" charset="-120"/>
              </a:rPr>
              <a:t>community_centers</a:t>
            </a:r>
            <a:endParaRPr lang="en-US" sz="1600" dirty="0"/>
          </a:p>
        </p:txBody>
      </p:sp>
      <p:sp>
        <p:nvSpPr>
          <p:cNvPr id="95" name="Text 93"/>
          <p:cNvSpPr/>
          <p:nvPr/>
        </p:nvSpPr>
        <p:spPr>
          <a:xfrm>
            <a:off x="8198398" y="4849952"/>
            <a:ext cx="3625337" cy="169805"/>
          </a:xfrm>
          <a:prstGeom prst="rect">
            <a:avLst/>
          </a:prstGeom>
          <a:noFill/>
          <a:ln/>
        </p:spPr>
        <p:txBody>
          <a:bodyPr wrap="square" lIns="0" tIns="0" rIns="0" bIns="0" rtlCol="0" anchor="ctr"/>
          <a:lstStyle/>
          <a:p>
            <a:pPr>
              <a:lnSpc>
                <a:spcPct val="100000"/>
              </a:lnSpc>
            </a:pPr>
            <a:r>
              <a:rPr lang="en-US" sz="1070" dirty="0">
                <a:solidFill>
                  <a:srgbClr val="212529">
                    <a:alpha val="80000"/>
                  </a:srgbClr>
                </a:solidFill>
                <a:latin typeface="Quattrocento Sans" pitchFamily="34" charset="0"/>
                <a:ea typeface="Quattrocento Sans" pitchFamily="34" charset="-122"/>
                <a:cs typeface="Quattrocento Sans" pitchFamily="34" charset="-120"/>
              </a:rPr>
              <a:t>lat, lng, device_count, partner_ngo_id</a:t>
            </a:r>
            <a:endParaRPr lang="en-US" sz="1600" dirty="0"/>
          </a:p>
        </p:txBody>
      </p:sp>
      <p:sp>
        <p:nvSpPr>
          <p:cNvPr id="96" name="Shape 94"/>
          <p:cNvSpPr/>
          <p:nvPr/>
        </p:nvSpPr>
        <p:spPr>
          <a:xfrm>
            <a:off x="8164437" y="5108905"/>
            <a:ext cx="3625337" cy="407532"/>
          </a:xfrm>
          <a:custGeom>
            <a:avLst/>
            <a:gdLst/>
            <a:ahLst/>
            <a:cxnLst/>
            <a:rect l="l" t="t" r="r" b="b"/>
            <a:pathLst>
              <a:path w="3625337" h="407532">
                <a:moveTo>
                  <a:pt x="33960" y="0"/>
                </a:moveTo>
                <a:lnTo>
                  <a:pt x="3591377" y="0"/>
                </a:lnTo>
                <a:cubicBezTo>
                  <a:pt x="3610133" y="0"/>
                  <a:pt x="3625337" y="15204"/>
                  <a:pt x="3625337" y="33960"/>
                </a:cubicBezTo>
                <a:lnTo>
                  <a:pt x="3625337" y="373572"/>
                </a:lnTo>
                <a:cubicBezTo>
                  <a:pt x="3625337" y="392328"/>
                  <a:pt x="3610133" y="407532"/>
                  <a:pt x="3591377" y="407532"/>
                </a:cubicBezTo>
                <a:lnTo>
                  <a:pt x="33960" y="407532"/>
                </a:lnTo>
                <a:cubicBezTo>
                  <a:pt x="15204" y="407532"/>
                  <a:pt x="0" y="392328"/>
                  <a:pt x="0" y="373572"/>
                </a:cubicBezTo>
                <a:lnTo>
                  <a:pt x="0" y="33960"/>
                </a:lnTo>
                <a:cubicBezTo>
                  <a:pt x="0" y="15204"/>
                  <a:pt x="15204" y="0"/>
                  <a:pt x="33960" y="0"/>
                </a:cubicBezTo>
                <a:close/>
              </a:path>
            </a:pathLst>
          </a:custGeom>
          <a:solidFill>
            <a:srgbClr val="F7B538">
              <a:alpha val="20000"/>
            </a:srgbClr>
          </a:solidFill>
          <a:ln/>
        </p:spPr>
      </p:sp>
      <p:sp>
        <p:nvSpPr>
          <p:cNvPr id="97" name="Text 95"/>
          <p:cNvSpPr/>
          <p:nvPr/>
        </p:nvSpPr>
        <p:spPr>
          <a:xfrm>
            <a:off x="8198398" y="5142866"/>
            <a:ext cx="3625337" cy="169805"/>
          </a:xfrm>
          <a:prstGeom prst="rect">
            <a:avLst/>
          </a:prstGeom>
          <a:noFill/>
          <a:ln/>
        </p:spPr>
        <p:txBody>
          <a:bodyPr wrap="square" lIns="0" tIns="0" rIns="0" bIns="0" rtlCol="0" anchor="ctr"/>
          <a:lstStyle/>
          <a:p>
            <a:pPr>
              <a:lnSpc>
                <a:spcPct val="100000"/>
              </a:lnSpc>
            </a:pPr>
            <a:r>
              <a:rPr lang="en-US" sz="1070" b="1" dirty="0">
                <a:solidFill>
                  <a:srgbClr val="F7B538"/>
                </a:solidFill>
                <a:latin typeface="Quattrocento Sans" pitchFamily="34" charset="0"/>
                <a:ea typeface="Quattrocento Sans" pitchFamily="34" charset="-122"/>
                <a:cs typeface="Quattrocento Sans" pitchFamily="34" charset="-120"/>
              </a:rPr>
              <a:t>reviews</a:t>
            </a:r>
            <a:endParaRPr lang="en-US" sz="1600" dirty="0"/>
          </a:p>
        </p:txBody>
      </p:sp>
      <p:sp>
        <p:nvSpPr>
          <p:cNvPr id="98" name="Text 96"/>
          <p:cNvSpPr/>
          <p:nvPr/>
        </p:nvSpPr>
        <p:spPr>
          <a:xfrm>
            <a:off x="8198398" y="5312671"/>
            <a:ext cx="3625337" cy="169805"/>
          </a:xfrm>
          <a:prstGeom prst="rect">
            <a:avLst/>
          </a:prstGeom>
          <a:noFill/>
          <a:ln/>
        </p:spPr>
        <p:txBody>
          <a:bodyPr wrap="square" lIns="0" tIns="0" rIns="0" bIns="0" rtlCol="0" anchor="ctr"/>
          <a:lstStyle/>
          <a:p>
            <a:pPr>
              <a:lnSpc>
                <a:spcPct val="100000"/>
              </a:lnSpc>
            </a:pPr>
            <a:r>
              <a:rPr lang="en-US" sz="1070" dirty="0">
                <a:solidFill>
                  <a:srgbClr val="212529">
                    <a:alpha val="80000"/>
                  </a:srgbClr>
                </a:solidFill>
                <a:latin typeface="Quattrocento Sans" pitchFamily="34" charset="0"/>
                <a:ea typeface="Quattrocento Sans" pitchFamily="34" charset="-122"/>
                <a:cs typeface="Quattrocento Sans" pitchFamily="34" charset="-120"/>
              </a:rPr>
              <a:t>rating, comment, student_improved (feeds Impact Score)</a:t>
            </a:r>
            <a:endParaRPr lang="en-US" sz="1600" dirty="0"/>
          </a:p>
        </p:txBody>
      </p:sp>
      <p:sp>
        <p:nvSpPr>
          <p:cNvPr id="99" name="Shape 97"/>
          <p:cNvSpPr/>
          <p:nvPr/>
        </p:nvSpPr>
        <p:spPr>
          <a:xfrm>
            <a:off x="8164437" y="5571727"/>
            <a:ext cx="3625337" cy="407532"/>
          </a:xfrm>
          <a:custGeom>
            <a:avLst/>
            <a:gdLst/>
            <a:ahLst/>
            <a:cxnLst/>
            <a:rect l="l" t="t" r="r" b="b"/>
            <a:pathLst>
              <a:path w="3625337" h="407532">
                <a:moveTo>
                  <a:pt x="33960" y="0"/>
                </a:moveTo>
                <a:lnTo>
                  <a:pt x="3591377" y="0"/>
                </a:lnTo>
                <a:cubicBezTo>
                  <a:pt x="3610133" y="0"/>
                  <a:pt x="3625337" y="15204"/>
                  <a:pt x="3625337" y="33960"/>
                </a:cubicBezTo>
                <a:lnTo>
                  <a:pt x="3625337" y="373572"/>
                </a:lnTo>
                <a:cubicBezTo>
                  <a:pt x="3625337" y="392328"/>
                  <a:pt x="3610133" y="407532"/>
                  <a:pt x="3591377" y="407532"/>
                </a:cubicBezTo>
                <a:lnTo>
                  <a:pt x="33960" y="407532"/>
                </a:lnTo>
                <a:cubicBezTo>
                  <a:pt x="15204" y="407532"/>
                  <a:pt x="0" y="392328"/>
                  <a:pt x="0" y="373572"/>
                </a:cubicBezTo>
                <a:lnTo>
                  <a:pt x="0" y="33960"/>
                </a:lnTo>
                <a:cubicBezTo>
                  <a:pt x="0" y="15204"/>
                  <a:pt x="15204" y="0"/>
                  <a:pt x="33960" y="0"/>
                </a:cubicBezTo>
                <a:close/>
              </a:path>
            </a:pathLst>
          </a:custGeom>
          <a:solidFill>
            <a:srgbClr val="F7B538">
              <a:alpha val="20000"/>
            </a:srgbClr>
          </a:solidFill>
          <a:ln/>
        </p:spPr>
      </p:sp>
      <p:sp>
        <p:nvSpPr>
          <p:cNvPr id="100" name="Text 98"/>
          <p:cNvSpPr/>
          <p:nvPr/>
        </p:nvSpPr>
        <p:spPr>
          <a:xfrm>
            <a:off x="8198398" y="5605688"/>
            <a:ext cx="3625337" cy="169805"/>
          </a:xfrm>
          <a:prstGeom prst="rect">
            <a:avLst/>
          </a:prstGeom>
          <a:noFill/>
          <a:ln/>
        </p:spPr>
        <p:txBody>
          <a:bodyPr wrap="square" lIns="0" tIns="0" rIns="0" bIns="0" rtlCol="0" anchor="ctr"/>
          <a:lstStyle/>
          <a:p>
            <a:pPr>
              <a:lnSpc>
                <a:spcPct val="100000"/>
              </a:lnSpc>
            </a:pPr>
            <a:r>
              <a:rPr lang="en-US" sz="1070" b="1" dirty="0">
                <a:solidFill>
                  <a:srgbClr val="F7B538"/>
                </a:solidFill>
                <a:latin typeface="Quattrocento Sans" pitchFamily="34" charset="0"/>
                <a:ea typeface="Quattrocento Sans" pitchFamily="34" charset="-122"/>
                <a:cs typeface="Quattrocento Sans" pitchFamily="34" charset="-120"/>
              </a:rPr>
              <a:t>payments</a:t>
            </a:r>
            <a:endParaRPr lang="en-US" sz="1600" dirty="0"/>
          </a:p>
        </p:txBody>
      </p:sp>
      <p:sp>
        <p:nvSpPr>
          <p:cNvPr id="101" name="Text 99"/>
          <p:cNvSpPr/>
          <p:nvPr/>
        </p:nvSpPr>
        <p:spPr>
          <a:xfrm>
            <a:off x="8198398" y="5775493"/>
            <a:ext cx="3625337" cy="169805"/>
          </a:xfrm>
          <a:prstGeom prst="rect">
            <a:avLst/>
          </a:prstGeom>
          <a:noFill/>
          <a:ln/>
        </p:spPr>
        <p:txBody>
          <a:bodyPr wrap="square" lIns="0" tIns="0" rIns="0" bIns="0" rtlCol="0" anchor="ctr"/>
          <a:lstStyle/>
          <a:p>
            <a:pPr>
              <a:lnSpc>
                <a:spcPct val="100000"/>
              </a:lnSpc>
            </a:pPr>
            <a:r>
              <a:rPr lang="en-US" sz="1070" dirty="0">
                <a:solidFill>
                  <a:srgbClr val="212529">
                    <a:alpha val="80000"/>
                  </a:srgbClr>
                </a:solidFill>
                <a:latin typeface="Quattrocento Sans" pitchFamily="34" charset="0"/>
                <a:ea typeface="Quattrocento Sans" pitchFamily="34" charset="-122"/>
                <a:cs typeface="Quattrocento Sans" pitchFamily="34" charset="-120"/>
              </a:rPr>
              <a:t>is_guru_dakshina flag for zero-commission</a:t>
            </a:r>
            <a:endParaRPr lang="en-US" sz="1600" dirty="0"/>
          </a:p>
        </p:txBody>
      </p:sp>
      <p:sp>
        <p:nvSpPr>
          <p:cNvPr id="102" name="Shape 100"/>
          <p:cNvSpPr/>
          <p:nvPr/>
        </p:nvSpPr>
        <p:spPr>
          <a:xfrm>
            <a:off x="8164437" y="6034446"/>
            <a:ext cx="3625337" cy="407532"/>
          </a:xfrm>
          <a:custGeom>
            <a:avLst/>
            <a:gdLst/>
            <a:ahLst/>
            <a:cxnLst/>
            <a:rect l="l" t="t" r="r" b="b"/>
            <a:pathLst>
              <a:path w="3625337" h="407532">
                <a:moveTo>
                  <a:pt x="33960" y="0"/>
                </a:moveTo>
                <a:lnTo>
                  <a:pt x="3591377" y="0"/>
                </a:lnTo>
                <a:cubicBezTo>
                  <a:pt x="3610133" y="0"/>
                  <a:pt x="3625337" y="15204"/>
                  <a:pt x="3625337" y="33960"/>
                </a:cubicBezTo>
                <a:lnTo>
                  <a:pt x="3625337" y="373572"/>
                </a:lnTo>
                <a:cubicBezTo>
                  <a:pt x="3625337" y="392328"/>
                  <a:pt x="3610133" y="407532"/>
                  <a:pt x="3591377" y="407532"/>
                </a:cubicBezTo>
                <a:lnTo>
                  <a:pt x="33960" y="407532"/>
                </a:lnTo>
                <a:cubicBezTo>
                  <a:pt x="15204" y="407532"/>
                  <a:pt x="0" y="392328"/>
                  <a:pt x="0" y="373572"/>
                </a:cubicBezTo>
                <a:lnTo>
                  <a:pt x="0" y="33960"/>
                </a:lnTo>
                <a:cubicBezTo>
                  <a:pt x="0" y="15204"/>
                  <a:pt x="15204" y="0"/>
                  <a:pt x="33960" y="0"/>
                </a:cubicBezTo>
                <a:close/>
              </a:path>
            </a:pathLst>
          </a:custGeom>
          <a:solidFill>
            <a:srgbClr val="F7B538">
              <a:alpha val="20000"/>
            </a:srgbClr>
          </a:solidFill>
          <a:ln/>
        </p:spPr>
      </p:sp>
      <p:sp>
        <p:nvSpPr>
          <p:cNvPr id="103" name="Text 101"/>
          <p:cNvSpPr/>
          <p:nvPr/>
        </p:nvSpPr>
        <p:spPr>
          <a:xfrm>
            <a:off x="8198398" y="6068407"/>
            <a:ext cx="3625337" cy="169805"/>
          </a:xfrm>
          <a:prstGeom prst="rect">
            <a:avLst/>
          </a:prstGeom>
          <a:noFill/>
          <a:ln/>
        </p:spPr>
        <p:txBody>
          <a:bodyPr wrap="square" lIns="0" tIns="0" rIns="0" bIns="0" rtlCol="0" anchor="ctr"/>
          <a:lstStyle/>
          <a:p>
            <a:pPr>
              <a:lnSpc>
                <a:spcPct val="100000"/>
              </a:lnSpc>
            </a:pPr>
            <a:r>
              <a:rPr lang="en-US" sz="1070" b="1" dirty="0">
                <a:solidFill>
                  <a:srgbClr val="F7B538"/>
                </a:solidFill>
                <a:latin typeface="Quattrocento Sans" pitchFamily="34" charset="0"/>
                <a:ea typeface="Quattrocento Sans" pitchFamily="34" charset="-122"/>
                <a:cs typeface="Quattrocento Sans" pitchFamily="34" charset="-120"/>
              </a:rPr>
              <a:t>notifications</a:t>
            </a:r>
            <a:endParaRPr lang="en-US" sz="1600" dirty="0"/>
          </a:p>
        </p:txBody>
      </p:sp>
      <p:sp>
        <p:nvSpPr>
          <p:cNvPr id="104" name="Text 102"/>
          <p:cNvSpPr/>
          <p:nvPr/>
        </p:nvSpPr>
        <p:spPr>
          <a:xfrm>
            <a:off x="8198398" y="6238212"/>
            <a:ext cx="3625337" cy="169805"/>
          </a:xfrm>
          <a:prstGeom prst="rect">
            <a:avLst/>
          </a:prstGeom>
          <a:noFill/>
          <a:ln/>
        </p:spPr>
        <p:txBody>
          <a:bodyPr wrap="square" lIns="0" tIns="0" rIns="0" bIns="0" rtlCol="0" anchor="ctr"/>
          <a:lstStyle/>
          <a:p>
            <a:pPr>
              <a:lnSpc>
                <a:spcPct val="100000"/>
              </a:lnSpc>
            </a:pPr>
            <a:r>
              <a:rPr lang="en-US" sz="1070" dirty="0">
                <a:solidFill>
                  <a:srgbClr val="212529">
                    <a:alpha val="80000"/>
                  </a:srgbClr>
                </a:solidFill>
                <a:latin typeface="Quattrocento Sans" pitchFamily="34" charset="0"/>
                <a:ea typeface="Quattrocento Sans" pitchFamily="34" charset="-122"/>
                <a:cs typeface="Quattrocento Sans" pitchFamily="34" charset="-120"/>
              </a:rPr>
              <a:t>channel (web/whatsapp/email/sms), read_at</a:t>
            </a:r>
            <a:endParaRPr lang="en-US" sz="16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spc="50" kern="0" dirty="0">
                <a:solidFill>
                  <a:srgbClr val="4A7C59"/>
                </a:solidFill>
                <a:latin typeface="Quattrocento Sans" pitchFamily="34" charset="0"/>
                <a:ea typeface="Quattrocento Sans" pitchFamily="34" charset="-122"/>
                <a:cs typeface="Quattrocento Sans" pitchFamily="34" charset="-120"/>
              </a:rPr>
              <a:t>PHP SERVICE CLASSES</a:t>
            </a:r>
            <a:endParaRPr lang="en-US" sz="1600" dirty="0"/>
          </a:p>
        </p:txBody>
      </p:sp>
      <p:sp>
        <p:nvSpPr>
          <p:cNvPr id="3" name="Text 1"/>
          <p:cNvSpPr/>
          <p:nvPr/>
        </p:nvSpPr>
        <p:spPr>
          <a:xfrm>
            <a:off x="317500" y="539750"/>
            <a:ext cx="11676063" cy="285750"/>
          </a:xfrm>
          <a:prstGeom prst="rect">
            <a:avLst/>
          </a:prstGeom>
          <a:noFill/>
          <a:ln/>
        </p:spPr>
        <p:txBody>
          <a:bodyPr wrap="square" lIns="0" tIns="0" rIns="0" bIns="0" rtlCol="0" anchor="ctr"/>
          <a:lstStyle/>
          <a:p>
            <a:pPr>
              <a:lnSpc>
                <a:spcPct val="100000"/>
              </a:lnSpc>
            </a:pPr>
            <a:r>
              <a:rPr lang="en-US" sz="1875" b="1" dirty="0">
                <a:solidFill>
                  <a:srgbClr val="1A535C"/>
                </a:solidFill>
                <a:latin typeface="Liter" pitchFamily="34" charset="0"/>
                <a:ea typeface="Liter" pitchFamily="34" charset="-122"/>
                <a:cs typeface="Liter" pitchFamily="34" charset="-120"/>
              </a:rPr>
              <a:t>Business Logic Layer — 15 Dedicated Service Classes</a:t>
            </a:r>
            <a:endParaRPr lang="en-US" sz="1600" dirty="0"/>
          </a:p>
        </p:txBody>
      </p:sp>
      <p:sp>
        <p:nvSpPr>
          <p:cNvPr id="4" name="Text 2"/>
          <p:cNvSpPr/>
          <p:nvPr/>
        </p:nvSpPr>
        <p:spPr>
          <a:xfrm>
            <a:off x="317500" y="857250"/>
            <a:ext cx="11620500" cy="190500"/>
          </a:xfrm>
          <a:prstGeom prst="rect">
            <a:avLst/>
          </a:prstGeom>
          <a:noFill/>
          <a:ln/>
        </p:spPr>
        <p:txBody>
          <a:bodyPr wrap="square" lIns="0" tIns="0" rIns="0" bIns="0" rtlCol="0" anchor="ctr"/>
          <a:lstStyle/>
          <a:p>
            <a:pPr>
              <a:lnSpc>
                <a:spcPct val="130000"/>
              </a:lnSpc>
            </a:pPr>
            <a:r>
              <a:rPr lang="en-US" sz="1000" dirty="0">
                <a:solidFill>
                  <a:srgbClr val="212529">
                    <a:alpha val="70000"/>
                  </a:srgbClr>
                </a:solidFill>
                <a:latin typeface="Quattrocento Sans" pitchFamily="34" charset="0"/>
                <a:ea typeface="Quattrocento Sans" pitchFamily="34" charset="-122"/>
                <a:cs typeface="Quattrocento Sans" pitchFamily="34" charset="-120"/>
              </a:rPr>
              <a:t>All business logic encapsulated in PHP Service classes — controllers remain thin and testable</a:t>
            </a:r>
            <a:endParaRPr lang="en-US" sz="1600" dirty="0"/>
          </a:p>
        </p:txBody>
      </p:sp>
      <p:sp>
        <p:nvSpPr>
          <p:cNvPr id="5" name="Shape 3"/>
          <p:cNvSpPr/>
          <p:nvPr/>
        </p:nvSpPr>
        <p:spPr>
          <a:xfrm>
            <a:off x="317500" y="1111250"/>
            <a:ext cx="762000" cy="31750"/>
          </a:xfrm>
          <a:custGeom>
            <a:avLst/>
            <a:gdLst/>
            <a:ahLst/>
            <a:cxnLst/>
            <a:rect l="l" t="t" r="r" b="b"/>
            <a:pathLst>
              <a:path w="762000" h="31750">
                <a:moveTo>
                  <a:pt x="0" y="0"/>
                </a:moveTo>
                <a:lnTo>
                  <a:pt x="762000" y="0"/>
                </a:lnTo>
                <a:lnTo>
                  <a:pt x="762000" y="31750"/>
                </a:lnTo>
                <a:lnTo>
                  <a:pt x="0" y="31750"/>
                </a:lnTo>
                <a:lnTo>
                  <a:pt x="0" y="0"/>
                </a:lnTo>
                <a:close/>
              </a:path>
            </a:pathLst>
          </a:custGeom>
          <a:solidFill>
            <a:srgbClr val="F7B538"/>
          </a:solidFill>
          <a:ln/>
        </p:spPr>
      </p:sp>
      <p:sp>
        <p:nvSpPr>
          <p:cNvPr id="6" name="Shape 4"/>
          <p:cNvSpPr/>
          <p:nvPr/>
        </p:nvSpPr>
        <p:spPr>
          <a:xfrm>
            <a:off x="333375" y="1206500"/>
            <a:ext cx="3770313" cy="1047750"/>
          </a:xfrm>
          <a:custGeom>
            <a:avLst/>
            <a:gdLst/>
            <a:ahLst/>
            <a:cxnLst/>
            <a:rect l="l" t="t" r="r" b="b"/>
            <a:pathLst>
              <a:path w="3770313" h="1047750">
                <a:moveTo>
                  <a:pt x="31750" y="0"/>
                </a:moveTo>
                <a:lnTo>
                  <a:pt x="3706808" y="0"/>
                </a:lnTo>
                <a:cubicBezTo>
                  <a:pt x="3741881" y="0"/>
                  <a:pt x="3770313" y="28432"/>
                  <a:pt x="3770313" y="63504"/>
                </a:cubicBezTo>
                <a:lnTo>
                  <a:pt x="3770313" y="984246"/>
                </a:lnTo>
                <a:cubicBezTo>
                  <a:pt x="3770313" y="1019318"/>
                  <a:pt x="3741881" y="1047750"/>
                  <a:pt x="3706808" y="1047750"/>
                </a:cubicBezTo>
                <a:lnTo>
                  <a:pt x="31750" y="1047750"/>
                </a:lnTo>
                <a:cubicBezTo>
                  <a:pt x="14215" y="1047750"/>
                  <a:pt x="0" y="1033535"/>
                  <a:pt x="0" y="1016000"/>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7" name="Shape 5"/>
          <p:cNvSpPr/>
          <p:nvPr/>
        </p:nvSpPr>
        <p:spPr>
          <a:xfrm>
            <a:off x="333375" y="1206500"/>
            <a:ext cx="31750" cy="1047750"/>
          </a:xfrm>
          <a:custGeom>
            <a:avLst/>
            <a:gdLst/>
            <a:ahLst/>
            <a:cxnLst/>
            <a:rect l="l" t="t" r="r" b="b"/>
            <a:pathLst>
              <a:path w="31750" h="1047750">
                <a:moveTo>
                  <a:pt x="31750" y="0"/>
                </a:moveTo>
                <a:lnTo>
                  <a:pt x="31750" y="0"/>
                </a:lnTo>
                <a:lnTo>
                  <a:pt x="31750" y="1047750"/>
                </a:lnTo>
                <a:lnTo>
                  <a:pt x="31750" y="1047750"/>
                </a:lnTo>
                <a:cubicBezTo>
                  <a:pt x="14227" y="1047750"/>
                  <a:pt x="0" y="1033523"/>
                  <a:pt x="0" y="1016000"/>
                </a:cubicBezTo>
                <a:lnTo>
                  <a:pt x="0" y="31750"/>
                </a:lnTo>
                <a:cubicBezTo>
                  <a:pt x="0" y="14227"/>
                  <a:pt x="14227" y="0"/>
                  <a:pt x="31750" y="0"/>
                </a:cubicBezTo>
                <a:close/>
              </a:path>
            </a:pathLst>
          </a:custGeom>
          <a:solidFill>
            <a:srgbClr val="1A535C"/>
          </a:solidFill>
          <a:ln/>
        </p:spPr>
      </p:sp>
      <p:sp>
        <p:nvSpPr>
          <p:cNvPr id="8" name="Shape 6"/>
          <p:cNvSpPr/>
          <p:nvPr/>
        </p:nvSpPr>
        <p:spPr>
          <a:xfrm>
            <a:off x="455414" y="1325563"/>
            <a:ext cx="160734" cy="142875"/>
          </a:xfrm>
          <a:custGeom>
            <a:avLst/>
            <a:gdLst/>
            <a:ahLst/>
            <a:cxnLst/>
            <a:rect l="l" t="t" r="r" b="b"/>
            <a:pathLst>
              <a:path w="160734" h="142875">
                <a:moveTo>
                  <a:pt x="86367" y="-5274"/>
                </a:moveTo>
                <a:cubicBezTo>
                  <a:pt x="85223" y="-7507"/>
                  <a:pt x="82907" y="-8930"/>
                  <a:pt x="80395" y="-8930"/>
                </a:cubicBezTo>
                <a:cubicBezTo>
                  <a:pt x="77884" y="-8930"/>
                  <a:pt x="75567" y="-7507"/>
                  <a:pt x="74423" y="-5274"/>
                </a:cubicBezTo>
                <a:lnTo>
                  <a:pt x="53885" y="34965"/>
                </a:lnTo>
                <a:lnTo>
                  <a:pt x="9265" y="42053"/>
                </a:lnTo>
                <a:cubicBezTo>
                  <a:pt x="6781" y="42444"/>
                  <a:pt x="4716" y="44202"/>
                  <a:pt x="3935" y="46602"/>
                </a:cubicBezTo>
                <a:cubicBezTo>
                  <a:pt x="3153" y="49002"/>
                  <a:pt x="3795" y="51625"/>
                  <a:pt x="5553" y="53411"/>
                </a:cubicBezTo>
                <a:lnTo>
                  <a:pt x="37477" y="85362"/>
                </a:lnTo>
                <a:lnTo>
                  <a:pt x="30445" y="129983"/>
                </a:lnTo>
                <a:cubicBezTo>
                  <a:pt x="30054" y="132466"/>
                  <a:pt x="31086" y="134978"/>
                  <a:pt x="33124" y="136457"/>
                </a:cubicBezTo>
                <a:cubicBezTo>
                  <a:pt x="35161" y="137936"/>
                  <a:pt x="37840" y="138159"/>
                  <a:pt x="40100" y="137015"/>
                </a:cubicBezTo>
                <a:lnTo>
                  <a:pt x="80395" y="116532"/>
                </a:lnTo>
                <a:lnTo>
                  <a:pt x="120662" y="137015"/>
                </a:lnTo>
                <a:cubicBezTo>
                  <a:pt x="122895" y="138159"/>
                  <a:pt x="125602" y="137936"/>
                  <a:pt x="127639" y="136457"/>
                </a:cubicBezTo>
                <a:cubicBezTo>
                  <a:pt x="129676" y="134978"/>
                  <a:pt x="130708" y="132494"/>
                  <a:pt x="130318" y="129983"/>
                </a:cubicBezTo>
                <a:lnTo>
                  <a:pt x="123258" y="85362"/>
                </a:lnTo>
                <a:lnTo>
                  <a:pt x="155181" y="53411"/>
                </a:lnTo>
                <a:cubicBezTo>
                  <a:pt x="156967" y="51625"/>
                  <a:pt x="157581" y="49002"/>
                  <a:pt x="156800" y="46602"/>
                </a:cubicBezTo>
                <a:cubicBezTo>
                  <a:pt x="156018" y="44202"/>
                  <a:pt x="153981" y="42444"/>
                  <a:pt x="151470" y="42053"/>
                </a:cubicBezTo>
                <a:lnTo>
                  <a:pt x="106877" y="34965"/>
                </a:lnTo>
                <a:lnTo>
                  <a:pt x="86367" y="-5274"/>
                </a:lnTo>
                <a:close/>
              </a:path>
            </a:pathLst>
          </a:custGeom>
          <a:solidFill>
            <a:srgbClr val="F7B538"/>
          </a:solidFill>
          <a:ln/>
        </p:spPr>
      </p:sp>
      <p:sp>
        <p:nvSpPr>
          <p:cNvPr id="9" name="Text 7"/>
          <p:cNvSpPr/>
          <p:nvPr/>
        </p:nvSpPr>
        <p:spPr>
          <a:xfrm>
            <a:off x="686594" y="1301750"/>
            <a:ext cx="1444625"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ImpactScoreService.php</a:t>
            </a:r>
            <a:endParaRPr lang="en-US" sz="1600" dirty="0"/>
          </a:p>
        </p:txBody>
      </p:sp>
      <p:sp>
        <p:nvSpPr>
          <p:cNvPr id="10" name="Text 8"/>
          <p:cNvSpPr/>
          <p:nvPr/>
        </p:nvSpPr>
        <p:spPr>
          <a:xfrm>
            <a:off x="444500" y="1524000"/>
            <a:ext cx="3627438" cy="349250"/>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Calculates and updates teacher impact scores nightly via Laravel Scheduler. Weighted formula with OpenAI sentiment analysis.</a:t>
            </a:r>
            <a:endParaRPr lang="en-US" sz="1600" dirty="0"/>
          </a:p>
        </p:txBody>
      </p:sp>
      <p:sp>
        <p:nvSpPr>
          <p:cNvPr id="11" name="Shape 9"/>
          <p:cNvSpPr/>
          <p:nvPr/>
        </p:nvSpPr>
        <p:spPr>
          <a:xfrm>
            <a:off x="444500" y="1936750"/>
            <a:ext cx="682625" cy="222250"/>
          </a:xfrm>
          <a:custGeom>
            <a:avLst/>
            <a:gdLst/>
            <a:ahLst/>
            <a:cxnLst/>
            <a:rect l="l" t="t" r="r" b="b"/>
            <a:pathLst>
              <a:path w="682625" h="222250">
                <a:moveTo>
                  <a:pt x="31751" y="0"/>
                </a:moveTo>
                <a:lnTo>
                  <a:pt x="650874" y="0"/>
                </a:lnTo>
                <a:cubicBezTo>
                  <a:pt x="668410" y="0"/>
                  <a:pt x="682625" y="14215"/>
                  <a:pt x="682625" y="31751"/>
                </a:cubicBezTo>
                <a:lnTo>
                  <a:pt x="682625" y="190499"/>
                </a:lnTo>
                <a:cubicBezTo>
                  <a:pt x="682625" y="208035"/>
                  <a:pt x="668410" y="222250"/>
                  <a:pt x="650874" y="222250"/>
                </a:cubicBezTo>
                <a:lnTo>
                  <a:pt x="31751" y="222250"/>
                </a:lnTo>
                <a:cubicBezTo>
                  <a:pt x="14227" y="222250"/>
                  <a:pt x="0" y="208023"/>
                  <a:pt x="0" y="190499"/>
                </a:cubicBezTo>
                <a:lnTo>
                  <a:pt x="0" y="31751"/>
                </a:lnTo>
                <a:cubicBezTo>
                  <a:pt x="0" y="14227"/>
                  <a:pt x="14227" y="0"/>
                  <a:pt x="31751" y="0"/>
                </a:cubicBezTo>
                <a:close/>
              </a:path>
            </a:pathLst>
          </a:custGeom>
          <a:solidFill>
            <a:srgbClr val="1A535C">
              <a:alpha val="10196"/>
            </a:srgbClr>
          </a:solidFill>
          <a:ln/>
        </p:spPr>
      </p:sp>
      <p:sp>
        <p:nvSpPr>
          <p:cNvPr id="12" name="Text 10"/>
          <p:cNvSpPr/>
          <p:nvPr/>
        </p:nvSpPr>
        <p:spPr>
          <a:xfrm>
            <a:off x="444500" y="1936750"/>
            <a:ext cx="746125" cy="222250"/>
          </a:xfrm>
          <a:prstGeom prst="rect">
            <a:avLst/>
          </a:prstGeom>
          <a:noFill/>
          <a:ln/>
        </p:spPr>
        <p:txBody>
          <a:bodyPr wrap="square" lIns="63500" tIns="15875" rIns="63500" bIns="15875" rtlCol="0" anchor="ctr"/>
          <a:lstStyle/>
          <a:p>
            <a:pPr>
              <a:lnSpc>
                <a:spcPct val="130000"/>
              </a:lnSpc>
            </a:pPr>
            <a:r>
              <a:rPr lang="en-US" sz="1000" dirty="0">
                <a:solidFill>
                  <a:srgbClr val="1A535C"/>
                </a:solidFill>
                <a:latin typeface="Quattrocento Sans" pitchFamily="34" charset="0"/>
                <a:ea typeface="Quattrocento Sans" pitchFamily="34" charset="-122"/>
                <a:cs typeface="Quattrocento Sans" pitchFamily="34" charset="-120"/>
              </a:rPr>
              <a:t>Scheduler</a:t>
            </a:r>
            <a:endParaRPr lang="en-US" sz="1600" dirty="0"/>
          </a:p>
        </p:txBody>
      </p:sp>
      <p:sp>
        <p:nvSpPr>
          <p:cNvPr id="13" name="Shape 11"/>
          <p:cNvSpPr/>
          <p:nvPr/>
        </p:nvSpPr>
        <p:spPr>
          <a:xfrm>
            <a:off x="1155005" y="1936750"/>
            <a:ext cx="547688" cy="222250"/>
          </a:xfrm>
          <a:custGeom>
            <a:avLst/>
            <a:gdLst/>
            <a:ahLst/>
            <a:cxnLst/>
            <a:rect l="l" t="t" r="r" b="b"/>
            <a:pathLst>
              <a:path w="547688" h="222250">
                <a:moveTo>
                  <a:pt x="31751" y="0"/>
                </a:moveTo>
                <a:lnTo>
                  <a:pt x="515937" y="0"/>
                </a:lnTo>
                <a:cubicBezTo>
                  <a:pt x="533472" y="0"/>
                  <a:pt x="547688" y="14215"/>
                  <a:pt x="547688" y="31751"/>
                </a:cubicBezTo>
                <a:lnTo>
                  <a:pt x="547688" y="190499"/>
                </a:lnTo>
                <a:cubicBezTo>
                  <a:pt x="547688" y="208035"/>
                  <a:pt x="533472" y="222250"/>
                  <a:pt x="515937" y="222250"/>
                </a:cubicBezTo>
                <a:lnTo>
                  <a:pt x="31751" y="222250"/>
                </a:lnTo>
                <a:cubicBezTo>
                  <a:pt x="14227" y="222250"/>
                  <a:pt x="0" y="208023"/>
                  <a:pt x="0" y="190499"/>
                </a:cubicBezTo>
                <a:lnTo>
                  <a:pt x="0" y="31751"/>
                </a:lnTo>
                <a:cubicBezTo>
                  <a:pt x="0" y="14227"/>
                  <a:pt x="14227" y="0"/>
                  <a:pt x="31751" y="0"/>
                </a:cubicBezTo>
                <a:close/>
              </a:path>
            </a:pathLst>
          </a:custGeom>
          <a:solidFill>
            <a:srgbClr val="1A535C">
              <a:alpha val="10196"/>
            </a:srgbClr>
          </a:solidFill>
          <a:ln/>
        </p:spPr>
      </p:sp>
      <p:sp>
        <p:nvSpPr>
          <p:cNvPr id="14" name="Text 12"/>
          <p:cNvSpPr/>
          <p:nvPr/>
        </p:nvSpPr>
        <p:spPr>
          <a:xfrm>
            <a:off x="1155005" y="1936750"/>
            <a:ext cx="611188" cy="222250"/>
          </a:xfrm>
          <a:prstGeom prst="rect">
            <a:avLst/>
          </a:prstGeom>
          <a:noFill/>
          <a:ln/>
        </p:spPr>
        <p:txBody>
          <a:bodyPr wrap="square" lIns="63500" tIns="15875" rIns="63500" bIns="15875" rtlCol="0" anchor="ctr"/>
          <a:lstStyle/>
          <a:p>
            <a:pPr>
              <a:lnSpc>
                <a:spcPct val="130000"/>
              </a:lnSpc>
            </a:pPr>
            <a:r>
              <a:rPr lang="en-US" sz="1000" dirty="0">
                <a:solidFill>
                  <a:srgbClr val="1A535C"/>
                </a:solidFill>
                <a:latin typeface="Quattrocento Sans" pitchFamily="34" charset="0"/>
                <a:ea typeface="Quattrocento Sans" pitchFamily="34" charset="-122"/>
                <a:cs typeface="Quattrocento Sans" pitchFamily="34" charset="-120"/>
              </a:rPr>
              <a:t>OpenAI</a:t>
            </a:r>
            <a:endParaRPr lang="en-US" sz="1600" dirty="0"/>
          </a:p>
        </p:txBody>
      </p:sp>
      <p:sp>
        <p:nvSpPr>
          <p:cNvPr id="15" name="Shape 13"/>
          <p:cNvSpPr/>
          <p:nvPr/>
        </p:nvSpPr>
        <p:spPr>
          <a:xfrm>
            <a:off x="333375" y="2317750"/>
            <a:ext cx="3770313" cy="1047750"/>
          </a:xfrm>
          <a:custGeom>
            <a:avLst/>
            <a:gdLst/>
            <a:ahLst/>
            <a:cxnLst/>
            <a:rect l="l" t="t" r="r" b="b"/>
            <a:pathLst>
              <a:path w="3770313" h="1047750">
                <a:moveTo>
                  <a:pt x="31750" y="0"/>
                </a:moveTo>
                <a:lnTo>
                  <a:pt x="3706808" y="0"/>
                </a:lnTo>
                <a:cubicBezTo>
                  <a:pt x="3741881" y="0"/>
                  <a:pt x="3770313" y="28432"/>
                  <a:pt x="3770313" y="63504"/>
                </a:cubicBezTo>
                <a:lnTo>
                  <a:pt x="3770313" y="984246"/>
                </a:lnTo>
                <a:cubicBezTo>
                  <a:pt x="3770313" y="1019318"/>
                  <a:pt x="3741881" y="1047750"/>
                  <a:pt x="3706808" y="1047750"/>
                </a:cubicBezTo>
                <a:lnTo>
                  <a:pt x="31750" y="1047750"/>
                </a:lnTo>
                <a:cubicBezTo>
                  <a:pt x="14215" y="1047750"/>
                  <a:pt x="0" y="1033535"/>
                  <a:pt x="0" y="1016000"/>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16" name="Shape 14"/>
          <p:cNvSpPr/>
          <p:nvPr/>
        </p:nvSpPr>
        <p:spPr>
          <a:xfrm>
            <a:off x="333375" y="2317750"/>
            <a:ext cx="31750" cy="1047750"/>
          </a:xfrm>
          <a:custGeom>
            <a:avLst/>
            <a:gdLst/>
            <a:ahLst/>
            <a:cxnLst/>
            <a:rect l="l" t="t" r="r" b="b"/>
            <a:pathLst>
              <a:path w="31750" h="1047750">
                <a:moveTo>
                  <a:pt x="31750" y="0"/>
                </a:moveTo>
                <a:lnTo>
                  <a:pt x="31750" y="0"/>
                </a:lnTo>
                <a:lnTo>
                  <a:pt x="31750" y="1047750"/>
                </a:lnTo>
                <a:lnTo>
                  <a:pt x="31750" y="1047750"/>
                </a:lnTo>
                <a:cubicBezTo>
                  <a:pt x="14227" y="1047750"/>
                  <a:pt x="0" y="1033523"/>
                  <a:pt x="0" y="1016000"/>
                </a:cubicBezTo>
                <a:lnTo>
                  <a:pt x="0" y="31750"/>
                </a:lnTo>
                <a:cubicBezTo>
                  <a:pt x="0" y="14227"/>
                  <a:pt x="14227" y="0"/>
                  <a:pt x="31750" y="0"/>
                </a:cubicBezTo>
                <a:close/>
              </a:path>
            </a:pathLst>
          </a:custGeom>
          <a:solidFill>
            <a:srgbClr val="4A7C59"/>
          </a:solidFill>
          <a:ln/>
        </p:spPr>
      </p:sp>
      <p:sp>
        <p:nvSpPr>
          <p:cNvPr id="17" name="Shape 15"/>
          <p:cNvSpPr/>
          <p:nvPr/>
        </p:nvSpPr>
        <p:spPr>
          <a:xfrm>
            <a:off x="473273" y="2436813"/>
            <a:ext cx="125016" cy="142875"/>
          </a:xfrm>
          <a:custGeom>
            <a:avLst/>
            <a:gdLst/>
            <a:ahLst/>
            <a:cxnLst/>
            <a:rect l="l" t="t" r="r" b="b"/>
            <a:pathLst>
              <a:path w="125016" h="142875">
                <a:moveTo>
                  <a:pt x="106291" y="27096"/>
                </a:moveTo>
                <a:cubicBezTo>
                  <a:pt x="94599" y="15376"/>
                  <a:pt x="79028" y="8930"/>
                  <a:pt x="62480" y="8930"/>
                </a:cubicBezTo>
                <a:cubicBezTo>
                  <a:pt x="28324" y="8930"/>
                  <a:pt x="530" y="36723"/>
                  <a:pt x="530" y="70879"/>
                </a:cubicBezTo>
                <a:cubicBezTo>
                  <a:pt x="530" y="81790"/>
                  <a:pt x="3377" y="92450"/>
                  <a:pt x="8790" y="101854"/>
                </a:cubicBezTo>
                <a:lnTo>
                  <a:pt x="0" y="133945"/>
                </a:lnTo>
                <a:lnTo>
                  <a:pt x="32845" y="125323"/>
                </a:lnTo>
                <a:cubicBezTo>
                  <a:pt x="41886" y="130262"/>
                  <a:pt x="52071" y="132857"/>
                  <a:pt x="62452" y="132857"/>
                </a:cubicBezTo>
                <a:lnTo>
                  <a:pt x="62480" y="132857"/>
                </a:lnTo>
                <a:cubicBezTo>
                  <a:pt x="96608" y="132857"/>
                  <a:pt x="125016" y="105063"/>
                  <a:pt x="125016" y="70907"/>
                </a:cubicBezTo>
                <a:cubicBezTo>
                  <a:pt x="125016" y="54359"/>
                  <a:pt x="117983" y="38816"/>
                  <a:pt x="106291" y="27096"/>
                </a:cubicBezTo>
                <a:close/>
                <a:moveTo>
                  <a:pt x="62480" y="122420"/>
                </a:moveTo>
                <a:cubicBezTo>
                  <a:pt x="53215" y="122420"/>
                  <a:pt x="44146" y="119937"/>
                  <a:pt x="36249" y="115249"/>
                </a:cubicBezTo>
                <a:lnTo>
                  <a:pt x="34379" y="114133"/>
                </a:lnTo>
                <a:lnTo>
                  <a:pt x="14901" y="119239"/>
                </a:lnTo>
                <a:lnTo>
                  <a:pt x="20092" y="100236"/>
                </a:lnTo>
                <a:lnTo>
                  <a:pt x="18864" y="98282"/>
                </a:lnTo>
                <a:cubicBezTo>
                  <a:pt x="13701" y="90078"/>
                  <a:pt x="10995" y="80618"/>
                  <a:pt x="10995" y="70879"/>
                </a:cubicBezTo>
                <a:cubicBezTo>
                  <a:pt x="10995" y="42500"/>
                  <a:pt x="34100" y="19394"/>
                  <a:pt x="62508" y="19394"/>
                </a:cubicBezTo>
                <a:cubicBezTo>
                  <a:pt x="76265" y="19394"/>
                  <a:pt x="89185" y="24752"/>
                  <a:pt x="98896" y="34491"/>
                </a:cubicBezTo>
                <a:cubicBezTo>
                  <a:pt x="108607" y="44230"/>
                  <a:pt x="114579" y="57150"/>
                  <a:pt x="114551" y="70907"/>
                </a:cubicBezTo>
                <a:cubicBezTo>
                  <a:pt x="114551" y="99315"/>
                  <a:pt x="90860" y="122420"/>
                  <a:pt x="62480" y="122420"/>
                </a:cubicBezTo>
                <a:close/>
                <a:moveTo>
                  <a:pt x="90720" y="83855"/>
                </a:moveTo>
                <a:cubicBezTo>
                  <a:pt x="89185" y="83074"/>
                  <a:pt x="81567" y="79335"/>
                  <a:pt x="80144" y="78832"/>
                </a:cubicBezTo>
                <a:cubicBezTo>
                  <a:pt x="78721" y="78302"/>
                  <a:pt x="77688" y="78051"/>
                  <a:pt x="76656" y="79614"/>
                </a:cubicBezTo>
                <a:cubicBezTo>
                  <a:pt x="75623" y="81176"/>
                  <a:pt x="72665" y="84637"/>
                  <a:pt x="71744" y="85697"/>
                </a:cubicBezTo>
                <a:cubicBezTo>
                  <a:pt x="70851" y="86730"/>
                  <a:pt x="69931" y="86869"/>
                  <a:pt x="68396" y="86088"/>
                </a:cubicBezTo>
                <a:cubicBezTo>
                  <a:pt x="59299" y="81539"/>
                  <a:pt x="53327" y="77967"/>
                  <a:pt x="47327" y="67670"/>
                </a:cubicBezTo>
                <a:cubicBezTo>
                  <a:pt x="45737" y="64936"/>
                  <a:pt x="48918" y="65131"/>
                  <a:pt x="51876" y="59215"/>
                </a:cubicBezTo>
                <a:cubicBezTo>
                  <a:pt x="52378" y="58182"/>
                  <a:pt x="52127" y="57290"/>
                  <a:pt x="51736" y="56508"/>
                </a:cubicBezTo>
                <a:cubicBezTo>
                  <a:pt x="51346" y="55727"/>
                  <a:pt x="48248" y="48109"/>
                  <a:pt x="46965" y="45011"/>
                </a:cubicBezTo>
                <a:cubicBezTo>
                  <a:pt x="45709" y="41997"/>
                  <a:pt x="44425" y="42416"/>
                  <a:pt x="43476" y="42360"/>
                </a:cubicBezTo>
                <a:cubicBezTo>
                  <a:pt x="42583" y="42304"/>
                  <a:pt x="41551" y="42304"/>
                  <a:pt x="40518" y="42304"/>
                </a:cubicBezTo>
                <a:cubicBezTo>
                  <a:pt x="39486" y="42304"/>
                  <a:pt x="37812" y="42695"/>
                  <a:pt x="36388" y="44230"/>
                </a:cubicBezTo>
                <a:cubicBezTo>
                  <a:pt x="34965" y="45793"/>
                  <a:pt x="30975" y="49532"/>
                  <a:pt x="30975" y="57150"/>
                </a:cubicBezTo>
                <a:cubicBezTo>
                  <a:pt x="30975" y="64768"/>
                  <a:pt x="36528" y="72135"/>
                  <a:pt x="37281" y="73168"/>
                </a:cubicBezTo>
                <a:cubicBezTo>
                  <a:pt x="38063" y="74200"/>
                  <a:pt x="48192" y="89827"/>
                  <a:pt x="63736" y="96552"/>
                </a:cubicBezTo>
                <a:cubicBezTo>
                  <a:pt x="73558" y="100794"/>
                  <a:pt x="77409" y="101157"/>
                  <a:pt x="82321" y="100431"/>
                </a:cubicBezTo>
                <a:cubicBezTo>
                  <a:pt x="85306" y="99985"/>
                  <a:pt x="91473" y="96692"/>
                  <a:pt x="92757" y="93064"/>
                </a:cubicBezTo>
                <a:cubicBezTo>
                  <a:pt x="94041" y="89436"/>
                  <a:pt x="94041" y="86339"/>
                  <a:pt x="93650" y="85697"/>
                </a:cubicBezTo>
                <a:cubicBezTo>
                  <a:pt x="93287" y="84999"/>
                  <a:pt x="92255" y="84609"/>
                  <a:pt x="90720" y="83855"/>
                </a:cubicBezTo>
                <a:close/>
              </a:path>
            </a:pathLst>
          </a:custGeom>
          <a:solidFill>
            <a:srgbClr val="F7B538"/>
          </a:solidFill>
          <a:ln/>
        </p:spPr>
      </p:sp>
      <p:sp>
        <p:nvSpPr>
          <p:cNvPr id="18" name="Text 16"/>
          <p:cNvSpPr/>
          <p:nvPr/>
        </p:nvSpPr>
        <p:spPr>
          <a:xfrm>
            <a:off x="686594" y="2413000"/>
            <a:ext cx="1984375"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WhatsAppNotificationService.php</a:t>
            </a:r>
            <a:endParaRPr lang="en-US" sz="1600" dirty="0"/>
          </a:p>
        </p:txBody>
      </p:sp>
      <p:sp>
        <p:nvSpPr>
          <p:cNvPr id="19" name="Text 17"/>
          <p:cNvSpPr/>
          <p:nvPr/>
        </p:nvSpPr>
        <p:spPr>
          <a:xfrm>
            <a:off x="444500" y="2635250"/>
            <a:ext cx="3627438" cy="349250"/>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Wraps all Meta WhatsApp Business API calls: bookings, reminders, replies, daily schedules. Webhook processing.</a:t>
            </a:r>
            <a:endParaRPr lang="en-US" sz="1600" dirty="0"/>
          </a:p>
        </p:txBody>
      </p:sp>
      <p:sp>
        <p:nvSpPr>
          <p:cNvPr id="20" name="Shape 18"/>
          <p:cNvSpPr/>
          <p:nvPr/>
        </p:nvSpPr>
        <p:spPr>
          <a:xfrm>
            <a:off x="444500" y="3048000"/>
            <a:ext cx="484187" cy="222250"/>
          </a:xfrm>
          <a:custGeom>
            <a:avLst/>
            <a:gdLst/>
            <a:ahLst/>
            <a:cxnLst/>
            <a:rect l="l" t="t" r="r" b="b"/>
            <a:pathLst>
              <a:path w="484187" h="222250">
                <a:moveTo>
                  <a:pt x="31751" y="0"/>
                </a:moveTo>
                <a:lnTo>
                  <a:pt x="452437" y="0"/>
                </a:lnTo>
                <a:cubicBezTo>
                  <a:pt x="469972" y="0"/>
                  <a:pt x="484187" y="14215"/>
                  <a:pt x="484187" y="31751"/>
                </a:cubicBezTo>
                <a:lnTo>
                  <a:pt x="484187" y="190499"/>
                </a:lnTo>
                <a:cubicBezTo>
                  <a:pt x="484187" y="208035"/>
                  <a:pt x="469972" y="222250"/>
                  <a:pt x="452437" y="222250"/>
                </a:cubicBezTo>
                <a:lnTo>
                  <a:pt x="31751" y="222250"/>
                </a:lnTo>
                <a:cubicBezTo>
                  <a:pt x="14227" y="222250"/>
                  <a:pt x="0" y="208023"/>
                  <a:pt x="0" y="190499"/>
                </a:cubicBezTo>
                <a:lnTo>
                  <a:pt x="0" y="31751"/>
                </a:lnTo>
                <a:cubicBezTo>
                  <a:pt x="0" y="14227"/>
                  <a:pt x="14227" y="0"/>
                  <a:pt x="31751" y="0"/>
                </a:cubicBezTo>
                <a:close/>
              </a:path>
            </a:pathLst>
          </a:custGeom>
          <a:solidFill>
            <a:srgbClr val="4A7C59">
              <a:alpha val="10196"/>
            </a:srgbClr>
          </a:solidFill>
          <a:ln/>
        </p:spPr>
      </p:sp>
      <p:sp>
        <p:nvSpPr>
          <p:cNvPr id="21" name="Text 19"/>
          <p:cNvSpPr/>
          <p:nvPr/>
        </p:nvSpPr>
        <p:spPr>
          <a:xfrm>
            <a:off x="444500" y="3048000"/>
            <a:ext cx="547688" cy="222250"/>
          </a:xfrm>
          <a:prstGeom prst="rect">
            <a:avLst/>
          </a:prstGeom>
          <a:noFill/>
          <a:ln/>
        </p:spPr>
        <p:txBody>
          <a:bodyPr wrap="square" lIns="63500" tIns="15875" rIns="63500" bIns="15875" rtlCol="0" anchor="ctr"/>
          <a:lstStyle/>
          <a:p>
            <a:pPr>
              <a:lnSpc>
                <a:spcPct val="130000"/>
              </a:lnSpc>
            </a:pPr>
            <a:r>
              <a:rPr lang="en-US" sz="1000" dirty="0">
                <a:solidFill>
                  <a:srgbClr val="4A7C59"/>
                </a:solidFill>
                <a:latin typeface="Quattrocento Sans" pitchFamily="34" charset="0"/>
                <a:ea typeface="Quattrocento Sans" pitchFamily="34" charset="-122"/>
                <a:cs typeface="Quattrocento Sans" pitchFamily="34" charset="-120"/>
              </a:rPr>
              <a:t>Guzzle</a:t>
            </a:r>
            <a:endParaRPr lang="en-US" sz="1600" dirty="0"/>
          </a:p>
        </p:txBody>
      </p:sp>
      <p:sp>
        <p:nvSpPr>
          <p:cNvPr id="22" name="Shape 20"/>
          <p:cNvSpPr/>
          <p:nvPr/>
        </p:nvSpPr>
        <p:spPr>
          <a:xfrm>
            <a:off x="959545" y="3048000"/>
            <a:ext cx="674688" cy="222250"/>
          </a:xfrm>
          <a:custGeom>
            <a:avLst/>
            <a:gdLst/>
            <a:ahLst/>
            <a:cxnLst/>
            <a:rect l="l" t="t" r="r" b="b"/>
            <a:pathLst>
              <a:path w="674688" h="222250">
                <a:moveTo>
                  <a:pt x="31751" y="0"/>
                </a:moveTo>
                <a:lnTo>
                  <a:pt x="642937" y="0"/>
                </a:lnTo>
                <a:cubicBezTo>
                  <a:pt x="660472" y="0"/>
                  <a:pt x="674688" y="14215"/>
                  <a:pt x="674688" y="31751"/>
                </a:cubicBezTo>
                <a:lnTo>
                  <a:pt x="674688" y="190499"/>
                </a:lnTo>
                <a:cubicBezTo>
                  <a:pt x="674688" y="208035"/>
                  <a:pt x="660472" y="222250"/>
                  <a:pt x="642937" y="222250"/>
                </a:cubicBezTo>
                <a:lnTo>
                  <a:pt x="31751" y="222250"/>
                </a:lnTo>
                <a:cubicBezTo>
                  <a:pt x="14227" y="222250"/>
                  <a:pt x="0" y="208023"/>
                  <a:pt x="0" y="190499"/>
                </a:cubicBezTo>
                <a:lnTo>
                  <a:pt x="0" y="31751"/>
                </a:lnTo>
                <a:cubicBezTo>
                  <a:pt x="0" y="14227"/>
                  <a:pt x="14227" y="0"/>
                  <a:pt x="31751" y="0"/>
                </a:cubicBezTo>
                <a:close/>
              </a:path>
            </a:pathLst>
          </a:custGeom>
          <a:solidFill>
            <a:srgbClr val="4A7C59">
              <a:alpha val="10196"/>
            </a:srgbClr>
          </a:solidFill>
          <a:ln/>
        </p:spPr>
      </p:sp>
      <p:sp>
        <p:nvSpPr>
          <p:cNvPr id="23" name="Text 21"/>
          <p:cNvSpPr/>
          <p:nvPr/>
        </p:nvSpPr>
        <p:spPr>
          <a:xfrm>
            <a:off x="959545" y="3048000"/>
            <a:ext cx="738188" cy="222250"/>
          </a:xfrm>
          <a:prstGeom prst="rect">
            <a:avLst/>
          </a:prstGeom>
          <a:noFill/>
          <a:ln/>
        </p:spPr>
        <p:txBody>
          <a:bodyPr wrap="square" lIns="63500" tIns="15875" rIns="63500" bIns="15875" rtlCol="0" anchor="ctr"/>
          <a:lstStyle/>
          <a:p>
            <a:pPr>
              <a:lnSpc>
                <a:spcPct val="130000"/>
              </a:lnSpc>
            </a:pPr>
            <a:r>
              <a:rPr lang="en-US" sz="1000" dirty="0">
                <a:solidFill>
                  <a:srgbClr val="4A7C59"/>
                </a:solidFill>
                <a:latin typeface="Quattrocento Sans" pitchFamily="34" charset="0"/>
                <a:ea typeface="Quattrocento Sans" pitchFamily="34" charset="-122"/>
                <a:cs typeface="Quattrocento Sans" pitchFamily="34" charset="-120"/>
              </a:rPr>
              <a:t>Webhook</a:t>
            </a:r>
            <a:endParaRPr lang="en-US" sz="1600" dirty="0"/>
          </a:p>
        </p:txBody>
      </p:sp>
      <p:sp>
        <p:nvSpPr>
          <p:cNvPr id="24" name="Shape 22"/>
          <p:cNvSpPr/>
          <p:nvPr/>
        </p:nvSpPr>
        <p:spPr>
          <a:xfrm>
            <a:off x="333375" y="3429000"/>
            <a:ext cx="3770313" cy="1047750"/>
          </a:xfrm>
          <a:custGeom>
            <a:avLst/>
            <a:gdLst/>
            <a:ahLst/>
            <a:cxnLst/>
            <a:rect l="l" t="t" r="r" b="b"/>
            <a:pathLst>
              <a:path w="3770313" h="1047750">
                <a:moveTo>
                  <a:pt x="31750" y="0"/>
                </a:moveTo>
                <a:lnTo>
                  <a:pt x="3706808" y="0"/>
                </a:lnTo>
                <a:cubicBezTo>
                  <a:pt x="3741881" y="0"/>
                  <a:pt x="3770313" y="28432"/>
                  <a:pt x="3770313" y="63504"/>
                </a:cubicBezTo>
                <a:lnTo>
                  <a:pt x="3770313" y="984246"/>
                </a:lnTo>
                <a:cubicBezTo>
                  <a:pt x="3770313" y="1019318"/>
                  <a:pt x="3741881" y="1047750"/>
                  <a:pt x="3706808" y="1047750"/>
                </a:cubicBezTo>
                <a:lnTo>
                  <a:pt x="31750" y="1047750"/>
                </a:lnTo>
                <a:cubicBezTo>
                  <a:pt x="14215" y="1047750"/>
                  <a:pt x="0" y="1033535"/>
                  <a:pt x="0" y="1016000"/>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25" name="Shape 23"/>
          <p:cNvSpPr/>
          <p:nvPr/>
        </p:nvSpPr>
        <p:spPr>
          <a:xfrm>
            <a:off x="333375" y="3429000"/>
            <a:ext cx="31750" cy="1047750"/>
          </a:xfrm>
          <a:custGeom>
            <a:avLst/>
            <a:gdLst/>
            <a:ahLst/>
            <a:cxnLst/>
            <a:rect l="l" t="t" r="r" b="b"/>
            <a:pathLst>
              <a:path w="31750" h="1047750">
                <a:moveTo>
                  <a:pt x="31750" y="0"/>
                </a:moveTo>
                <a:lnTo>
                  <a:pt x="31750" y="0"/>
                </a:lnTo>
                <a:lnTo>
                  <a:pt x="31750" y="1047750"/>
                </a:lnTo>
                <a:lnTo>
                  <a:pt x="31750" y="1047750"/>
                </a:lnTo>
                <a:cubicBezTo>
                  <a:pt x="14227" y="1047750"/>
                  <a:pt x="0" y="1033523"/>
                  <a:pt x="0" y="1016000"/>
                </a:cubicBezTo>
                <a:lnTo>
                  <a:pt x="0" y="31750"/>
                </a:lnTo>
                <a:cubicBezTo>
                  <a:pt x="0" y="14227"/>
                  <a:pt x="14227" y="0"/>
                  <a:pt x="31750" y="0"/>
                </a:cubicBezTo>
                <a:close/>
              </a:path>
            </a:pathLst>
          </a:custGeom>
          <a:solidFill>
            <a:srgbClr val="F7B538"/>
          </a:solidFill>
          <a:ln/>
        </p:spPr>
      </p:sp>
      <p:sp>
        <p:nvSpPr>
          <p:cNvPr id="26" name="Shape 24"/>
          <p:cNvSpPr/>
          <p:nvPr/>
        </p:nvSpPr>
        <p:spPr>
          <a:xfrm>
            <a:off x="473273" y="3548063"/>
            <a:ext cx="125016" cy="142875"/>
          </a:xfrm>
          <a:custGeom>
            <a:avLst/>
            <a:gdLst/>
            <a:ahLst/>
            <a:cxnLst/>
            <a:rect l="l" t="t" r="r" b="b"/>
            <a:pathLst>
              <a:path w="125016" h="142875">
                <a:moveTo>
                  <a:pt x="94543" y="-2763"/>
                </a:moveTo>
                <a:cubicBezTo>
                  <a:pt x="97864" y="-363"/>
                  <a:pt x="99092" y="3990"/>
                  <a:pt x="97585" y="7786"/>
                </a:cubicBezTo>
                <a:lnTo>
                  <a:pt x="75707" y="62508"/>
                </a:lnTo>
                <a:lnTo>
                  <a:pt x="116086" y="62508"/>
                </a:lnTo>
                <a:cubicBezTo>
                  <a:pt x="119853" y="62508"/>
                  <a:pt x="123202" y="64852"/>
                  <a:pt x="124485" y="68396"/>
                </a:cubicBezTo>
                <a:cubicBezTo>
                  <a:pt x="125769" y="71940"/>
                  <a:pt x="124681" y="75902"/>
                  <a:pt x="121807" y="78302"/>
                </a:cubicBezTo>
                <a:lnTo>
                  <a:pt x="41439" y="145275"/>
                </a:lnTo>
                <a:cubicBezTo>
                  <a:pt x="38286" y="147898"/>
                  <a:pt x="33793" y="148037"/>
                  <a:pt x="30473" y="145638"/>
                </a:cubicBezTo>
                <a:cubicBezTo>
                  <a:pt x="27152" y="143238"/>
                  <a:pt x="25924" y="138885"/>
                  <a:pt x="27431" y="135089"/>
                </a:cubicBezTo>
                <a:lnTo>
                  <a:pt x="49309" y="80367"/>
                </a:lnTo>
                <a:lnTo>
                  <a:pt x="8930" y="80367"/>
                </a:lnTo>
                <a:cubicBezTo>
                  <a:pt x="5162" y="80367"/>
                  <a:pt x="1814" y="78023"/>
                  <a:pt x="530" y="74479"/>
                </a:cubicBezTo>
                <a:cubicBezTo>
                  <a:pt x="-753" y="70935"/>
                  <a:pt x="335" y="66973"/>
                  <a:pt x="3209" y="64573"/>
                </a:cubicBezTo>
                <a:lnTo>
                  <a:pt x="83576" y="-2400"/>
                </a:lnTo>
                <a:cubicBezTo>
                  <a:pt x="86730" y="-5023"/>
                  <a:pt x="91222" y="-5162"/>
                  <a:pt x="94543" y="-2763"/>
                </a:cubicBezTo>
                <a:close/>
              </a:path>
            </a:pathLst>
          </a:custGeom>
          <a:solidFill>
            <a:srgbClr val="F7B538"/>
          </a:solidFill>
          <a:ln/>
        </p:spPr>
      </p:sp>
      <p:sp>
        <p:nvSpPr>
          <p:cNvPr id="27" name="Text 25"/>
          <p:cNvSpPr/>
          <p:nvPr/>
        </p:nvSpPr>
        <p:spPr>
          <a:xfrm>
            <a:off x="686594" y="3524250"/>
            <a:ext cx="1714500"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EmergencyDoubtService.php</a:t>
            </a:r>
            <a:endParaRPr lang="en-US" sz="1600" dirty="0"/>
          </a:p>
        </p:txBody>
      </p:sp>
      <p:sp>
        <p:nvSpPr>
          <p:cNvPr id="28" name="Text 26"/>
          <p:cNvSpPr/>
          <p:nvPr/>
        </p:nvSpPr>
        <p:spPr>
          <a:xfrm>
            <a:off x="444500" y="3746500"/>
            <a:ext cx="3627438" cy="349250"/>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Broadcasts doubt to online teachers; handles race-condition-safe DB-transaction acceptance. Pusher integration.</a:t>
            </a:r>
            <a:endParaRPr lang="en-US" sz="1600" dirty="0"/>
          </a:p>
        </p:txBody>
      </p:sp>
      <p:sp>
        <p:nvSpPr>
          <p:cNvPr id="29" name="Shape 27"/>
          <p:cNvSpPr/>
          <p:nvPr/>
        </p:nvSpPr>
        <p:spPr>
          <a:xfrm>
            <a:off x="444500" y="4159250"/>
            <a:ext cx="500063" cy="222250"/>
          </a:xfrm>
          <a:custGeom>
            <a:avLst/>
            <a:gdLst/>
            <a:ahLst/>
            <a:cxnLst/>
            <a:rect l="l" t="t" r="r" b="b"/>
            <a:pathLst>
              <a:path w="500063" h="222250">
                <a:moveTo>
                  <a:pt x="31751" y="0"/>
                </a:moveTo>
                <a:lnTo>
                  <a:pt x="468312" y="0"/>
                </a:lnTo>
                <a:cubicBezTo>
                  <a:pt x="485847" y="0"/>
                  <a:pt x="500063" y="14215"/>
                  <a:pt x="500063" y="31751"/>
                </a:cubicBezTo>
                <a:lnTo>
                  <a:pt x="500063" y="190499"/>
                </a:lnTo>
                <a:cubicBezTo>
                  <a:pt x="500063" y="208035"/>
                  <a:pt x="485847" y="222250"/>
                  <a:pt x="468312" y="222250"/>
                </a:cubicBezTo>
                <a:lnTo>
                  <a:pt x="31751" y="222250"/>
                </a:lnTo>
                <a:cubicBezTo>
                  <a:pt x="14227" y="222250"/>
                  <a:pt x="0" y="208023"/>
                  <a:pt x="0" y="190499"/>
                </a:cubicBezTo>
                <a:lnTo>
                  <a:pt x="0" y="31751"/>
                </a:lnTo>
                <a:cubicBezTo>
                  <a:pt x="0" y="14227"/>
                  <a:pt x="14227" y="0"/>
                  <a:pt x="31751" y="0"/>
                </a:cubicBezTo>
                <a:close/>
              </a:path>
            </a:pathLst>
          </a:custGeom>
          <a:solidFill>
            <a:srgbClr val="F7B538">
              <a:alpha val="20000"/>
            </a:srgbClr>
          </a:solidFill>
          <a:ln/>
        </p:spPr>
      </p:sp>
      <p:sp>
        <p:nvSpPr>
          <p:cNvPr id="30" name="Text 28"/>
          <p:cNvSpPr/>
          <p:nvPr/>
        </p:nvSpPr>
        <p:spPr>
          <a:xfrm>
            <a:off x="444500" y="4159250"/>
            <a:ext cx="563563" cy="222250"/>
          </a:xfrm>
          <a:prstGeom prst="rect">
            <a:avLst/>
          </a:prstGeom>
          <a:noFill/>
          <a:ln/>
        </p:spPr>
        <p:txBody>
          <a:bodyPr wrap="square" lIns="63500" tIns="15875" rIns="63500" bIns="15875" rtlCol="0" anchor="ctr"/>
          <a:lstStyle/>
          <a:p>
            <a:pPr>
              <a:lnSpc>
                <a:spcPct val="130000"/>
              </a:lnSpc>
            </a:pPr>
            <a:r>
              <a:rPr lang="en-US" sz="1000" dirty="0">
                <a:solidFill>
                  <a:srgbClr val="F7B538"/>
                </a:solidFill>
                <a:latin typeface="Quattrocento Sans" pitchFamily="34" charset="0"/>
                <a:ea typeface="Quattrocento Sans" pitchFamily="34" charset="-122"/>
                <a:cs typeface="Quattrocento Sans" pitchFamily="34" charset="-120"/>
              </a:rPr>
              <a:t>Pusher</a:t>
            </a:r>
            <a:endParaRPr lang="en-US" sz="1600" dirty="0"/>
          </a:p>
        </p:txBody>
      </p:sp>
      <p:sp>
        <p:nvSpPr>
          <p:cNvPr id="31" name="Shape 29"/>
          <p:cNvSpPr/>
          <p:nvPr/>
        </p:nvSpPr>
        <p:spPr>
          <a:xfrm>
            <a:off x="975816" y="4159250"/>
            <a:ext cx="762000" cy="222250"/>
          </a:xfrm>
          <a:custGeom>
            <a:avLst/>
            <a:gdLst/>
            <a:ahLst/>
            <a:cxnLst/>
            <a:rect l="l" t="t" r="r" b="b"/>
            <a:pathLst>
              <a:path w="762000" h="222250">
                <a:moveTo>
                  <a:pt x="31751" y="0"/>
                </a:moveTo>
                <a:lnTo>
                  <a:pt x="730249" y="0"/>
                </a:lnTo>
                <a:cubicBezTo>
                  <a:pt x="747785" y="0"/>
                  <a:pt x="762000" y="14215"/>
                  <a:pt x="762000" y="31751"/>
                </a:cubicBezTo>
                <a:lnTo>
                  <a:pt x="762000" y="190499"/>
                </a:lnTo>
                <a:cubicBezTo>
                  <a:pt x="762000" y="208035"/>
                  <a:pt x="747785" y="222250"/>
                  <a:pt x="730249" y="222250"/>
                </a:cubicBezTo>
                <a:lnTo>
                  <a:pt x="31751" y="222250"/>
                </a:lnTo>
                <a:cubicBezTo>
                  <a:pt x="14227" y="222250"/>
                  <a:pt x="0" y="208023"/>
                  <a:pt x="0" y="190499"/>
                </a:cubicBezTo>
                <a:lnTo>
                  <a:pt x="0" y="31751"/>
                </a:lnTo>
                <a:cubicBezTo>
                  <a:pt x="0" y="14227"/>
                  <a:pt x="14227" y="0"/>
                  <a:pt x="31751" y="0"/>
                </a:cubicBezTo>
                <a:close/>
              </a:path>
            </a:pathLst>
          </a:custGeom>
          <a:solidFill>
            <a:srgbClr val="F7B538">
              <a:alpha val="20000"/>
            </a:srgbClr>
          </a:solidFill>
          <a:ln/>
        </p:spPr>
      </p:sp>
      <p:sp>
        <p:nvSpPr>
          <p:cNvPr id="32" name="Text 30"/>
          <p:cNvSpPr/>
          <p:nvPr/>
        </p:nvSpPr>
        <p:spPr>
          <a:xfrm>
            <a:off x="975816" y="4159250"/>
            <a:ext cx="825500" cy="222250"/>
          </a:xfrm>
          <a:prstGeom prst="rect">
            <a:avLst/>
          </a:prstGeom>
          <a:noFill/>
          <a:ln/>
        </p:spPr>
        <p:txBody>
          <a:bodyPr wrap="square" lIns="63500" tIns="15875" rIns="63500" bIns="15875" rtlCol="0" anchor="ctr"/>
          <a:lstStyle/>
          <a:p>
            <a:pPr>
              <a:lnSpc>
                <a:spcPct val="130000"/>
              </a:lnSpc>
            </a:pPr>
            <a:r>
              <a:rPr lang="en-US" sz="1000" dirty="0">
                <a:solidFill>
                  <a:srgbClr val="F7B538"/>
                </a:solidFill>
                <a:latin typeface="Quattrocento Sans" pitchFamily="34" charset="0"/>
                <a:ea typeface="Quattrocento Sans" pitchFamily="34" charset="-122"/>
                <a:cs typeface="Quattrocento Sans" pitchFamily="34" charset="-120"/>
              </a:rPr>
              <a:t>Transaction</a:t>
            </a:r>
            <a:endParaRPr lang="en-US" sz="1600" dirty="0"/>
          </a:p>
        </p:txBody>
      </p:sp>
      <p:sp>
        <p:nvSpPr>
          <p:cNvPr id="33" name="Shape 31"/>
          <p:cNvSpPr/>
          <p:nvPr/>
        </p:nvSpPr>
        <p:spPr>
          <a:xfrm>
            <a:off x="333375" y="4540250"/>
            <a:ext cx="3770313" cy="1047750"/>
          </a:xfrm>
          <a:custGeom>
            <a:avLst/>
            <a:gdLst/>
            <a:ahLst/>
            <a:cxnLst/>
            <a:rect l="l" t="t" r="r" b="b"/>
            <a:pathLst>
              <a:path w="3770313" h="1047750">
                <a:moveTo>
                  <a:pt x="31750" y="0"/>
                </a:moveTo>
                <a:lnTo>
                  <a:pt x="3706808" y="0"/>
                </a:lnTo>
                <a:cubicBezTo>
                  <a:pt x="3741881" y="0"/>
                  <a:pt x="3770313" y="28432"/>
                  <a:pt x="3770313" y="63504"/>
                </a:cubicBezTo>
                <a:lnTo>
                  <a:pt x="3770313" y="984246"/>
                </a:lnTo>
                <a:cubicBezTo>
                  <a:pt x="3770313" y="1019318"/>
                  <a:pt x="3741881" y="1047750"/>
                  <a:pt x="3706808" y="1047750"/>
                </a:cubicBezTo>
                <a:lnTo>
                  <a:pt x="31750" y="1047750"/>
                </a:lnTo>
                <a:cubicBezTo>
                  <a:pt x="14215" y="1047750"/>
                  <a:pt x="0" y="1033535"/>
                  <a:pt x="0" y="1016000"/>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34" name="Shape 32"/>
          <p:cNvSpPr/>
          <p:nvPr/>
        </p:nvSpPr>
        <p:spPr>
          <a:xfrm>
            <a:off x="333375" y="4540250"/>
            <a:ext cx="31750" cy="1047750"/>
          </a:xfrm>
          <a:custGeom>
            <a:avLst/>
            <a:gdLst/>
            <a:ahLst/>
            <a:cxnLst/>
            <a:rect l="l" t="t" r="r" b="b"/>
            <a:pathLst>
              <a:path w="31750" h="1047750">
                <a:moveTo>
                  <a:pt x="31750" y="0"/>
                </a:moveTo>
                <a:lnTo>
                  <a:pt x="31750" y="0"/>
                </a:lnTo>
                <a:lnTo>
                  <a:pt x="31750" y="1047750"/>
                </a:lnTo>
                <a:lnTo>
                  <a:pt x="31750" y="1047750"/>
                </a:lnTo>
                <a:cubicBezTo>
                  <a:pt x="14227" y="1047750"/>
                  <a:pt x="0" y="1033523"/>
                  <a:pt x="0" y="1016000"/>
                </a:cubicBezTo>
                <a:lnTo>
                  <a:pt x="0" y="31750"/>
                </a:lnTo>
                <a:cubicBezTo>
                  <a:pt x="0" y="14227"/>
                  <a:pt x="14227" y="0"/>
                  <a:pt x="31750" y="0"/>
                </a:cubicBezTo>
                <a:close/>
              </a:path>
            </a:pathLst>
          </a:custGeom>
          <a:solidFill>
            <a:srgbClr val="1A535C"/>
          </a:solidFill>
          <a:ln/>
        </p:spPr>
      </p:sp>
      <p:sp>
        <p:nvSpPr>
          <p:cNvPr id="35" name="Shape 33"/>
          <p:cNvSpPr/>
          <p:nvPr/>
        </p:nvSpPr>
        <p:spPr>
          <a:xfrm>
            <a:off x="482203" y="4659313"/>
            <a:ext cx="107156" cy="142875"/>
          </a:xfrm>
          <a:custGeom>
            <a:avLst/>
            <a:gdLst/>
            <a:ahLst/>
            <a:cxnLst/>
            <a:rect l="l" t="t" r="r" b="b"/>
            <a:pathLst>
              <a:path w="107156" h="142875">
                <a:moveTo>
                  <a:pt x="0" y="17859"/>
                </a:moveTo>
                <a:cubicBezTo>
                  <a:pt x="0" y="8009"/>
                  <a:pt x="8009" y="0"/>
                  <a:pt x="17859" y="0"/>
                </a:cubicBezTo>
                <a:lnTo>
                  <a:pt x="59578" y="0"/>
                </a:lnTo>
                <a:cubicBezTo>
                  <a:pt x="64322" y="0"/>
                  <a:pt x="68870" y="1870"/>
                  <a:pt x="72219" y="5218"/>
                </a:cubicBezTo>
                <a:lnTo>
                  <a:pt x="101938" y="34965"/>
                </a:lnTo>
                <a:cubicBezTo>
                  <a:pt x="105287" y="38314"/>
                  <a:pt x="107156" y="42863"/>
                  <a:pt x="107156" y="47606"/>
                </a:cubicBezTo>
                <a:lnTo>
                  <a:pt x="107156" y="125016"/>
                </a:lnTo>
                <a:cubicBezTo>
                  <a:pt x="107156" y="134866"/>
                  <a:pt x="99147" y="142875"/>
                  <a:pt x="89297" y="142875"/>
                </a:cubicBezTo>
                <a:lnTo>
                  <a:pt x="17859" y="142875"/>
                </a:lnTo>
                <a:cubicBezTo>
                  <a:pt x="8009" y="142875"/>
                  <a:pt x="0" y="134866"/>
                  <a:pt x="0" y="125016"/>
                </a:cubicBezTo>
                <a:lnTo>
                  <a:pt x="0" y="17859"/>
                </a:lnTo>
                <a:close/>
                <a:moveTo>
                  <a:pt x="58043" y="16325"/>
                </a:moveTo>
                <a:lnTo>
                  <a:pt x="58043" y="42416"/>
                </a:lnTo>
                <a:cubicBezTo>
                  <a:pt x="58043" y="46127"/>
                  <a:pt x="61029" y="49113"/>
                  <a:pt x="64740" y="49113"/>
                </a:cubicBezTo>
                <a:lnTo>
                  <a:pt x="90832" y="49113"/>
                </a:lnTo>
                <a:lnTo>
                  <a:pt x="58043" y="16325"/>
                </a:lnTo>
                <a:close/>
                <a:moveTo>
                  <a:pt x="24557" y="17859"/>
                </a:moveTo>
                <a:cubicBezTo>
                  <a:pt x="20845" y="17859"/>
                  <a:pt x="17859" y="20845"/>
                  <a:pt x="17859" y="24557"/>
                </a:cubicBezTo>
                <a:cubicBezTo>
                  <a:pt x="17859" y="28268"/>
                  <a:pt x="20845" y="31254"/>
                  <a:pt x="24557" y="31254"/>
                </a:cubicBezTo>
                <a:lnTo>
                  <a:pt x="37951" y="31254"/>
                </a:lnTo>
                <a:cubicBezTo>
                  <a:pt x="41663" y="31254"/>
                  <a:pt x="44648" y="28268"/>
                  <a:pt x="44648" y="24557"/>
                </a:cubicBezTo>
                <a:cubicBezTo>
                  <a:pt x="44648" y="20845"/>
                  <a:pt x="41663" y="17859"/>
                  <a:pt x="37951" y="17859"/>
                </a:cubicBezTo>
                <a:lnTo>
                  <a:pt x="24557" y="17859"/>
                </a:lnTo>
                <a:close/>
                <a:moveTo>
                  <a:pt x="24557" y="44648"/>
                </a:moveTo>
                <a:cubicBezTo>
                  <a:pt x="20845" y="44648"/>
                  <a:pt x="17859" y="47634"/>
                  <a:pt x="17859" y="51346"/>
                </a:cubicBezTo>
                <a:cubicBezTo>
                  <a:pt x="17859" y="55057"/>
                  <a:pt x="20845" y="58043"/>
                  <a:pt x="24557" y="58043"/>
                </a:cubicBezTo>
                <a:lnTo>
                  <a:pt x="37951" y="58043"/>
                </a:lnTo>
                <a:cubicBezTo>
                  <a:pt x="41663" y="58043"/>
                  <a:pt x="44648" y="55057"/>
                  <a:pt x="44648" y="51346"/>
                </a:cubicBezTo>
                <a:cubicBezTo>
                  <a:pt x="44648" y="47634"/>
                  <a:pt x="41663" y="44648"/>
                  <a:pt x="37951" y="44648"/>
                </a:cubicBezTo>
                <a:lnTo>
                  <a:pt x="24557" y="44648"/>
                </a:lnTo>
                <a:close/>
                <a:moveTo>
                  <a:pt x="44174" y="89297"/>
                </a:moveTo>
                <a:cubicBezTo>
                  <a:pt x="41021" y="89297"/>
                  <a:pt x="38063" y="90720"/>
                  <a:pt x="36109" y="93176"/>
                </a:cubicBezTo>
                <a:lnTo>
                  <a:pt x="19338" y="114133"/>
                </a:lnTo>
                <a:cubicBezTo>
                  <a:pt x="17022" y="117007"/>
                  <a:pt x="17497" y="121248"/>
                  <a:pt x="20371" y="123537"/>
                </a:cubicBezTo>
                <a:cubicBezTo>
                  <a:pt x="23245" y="125825"/>
                  <a:pt x="27487" y="125378"/>
                  <a:pt x="29775" y="122476"/>
                </a:cubicBezTo>
                <a:lnTo>
                  <a:pt x="42918" y="106068"/>
                </a:lnTo>
                <a:lnTo>
                  <a:pt x="47160" y="120216"/>
                </a:lnTo>
                <a:cubicBezTo>
                  <a:pt x="47997" y="123062"/>
                  <a:pt x="50620" y="124988"/>
                  <a:pt x="53578" y="124988"/>
                </a:cubicBezTo>
                <a:lnTo>
                  <a:pt x="82600" y="124988"/>
                </a:lnTo>
                <a:cubicBezTo>
                  <a:pt x="86311" y="124988"/>
                  <a:pt x="89297" y="122002"/>
                  <a:pt x="89297" y="118290"/>
                </a:cubicBezTo>
                <a:cubicBezTo>
                  <a:pt x="89297" y="114579"/>
                  <a:pt x="86311" y="111593"/>
                  <a:pt x="82600" y="111593"/>
                </a:cubicBezTo>
                <a:lnTo>
                  <a:pt x="58573" y="111593"/>
                </a:lnTo>
                <a:lnTo>
                  <a:pt x="54080" y="96636"/>
                </a:lnTo>
                <a:cubicBezTo>
                  <a:pt x="52769" y="92255"/>
                  <a:pt x="48751" y="89269"/>
                  <a:pt x="44174" y="89269"/>
                </a:cubicBezTo>
                <a:close/>
              </a:path>
            </a:pathLst>
          </a:custGeom>
          <a:solidFill>
            <a:srgbClr val="F7B538"/>
          </a:solidFill>
          <a:ln/>
        </p:spPr>
      </p:sp>
      <p:sp>
        <p:nvSpPr>
          <p:cNvPr id="36" name="Text 34"/>
          <p:cNvSpPr/>
          <p:nvPr/>
        </p:nvSpPr>
        <p:spPr>
          <a:xfrm>
            <a:off x="686594" y="4635500"/>
            <a:ext cx="1706563"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LearningContractService.php</a:t>
            </a:r>
            <a:endParaRPr lang="en-US" sz="1600" dirty="0"/>
          </a:p>
        </p:txBody>
      </p:sp>
      <p:sp>
        <p:nvSpPr>
          <p:cNvPr id="37" name="Text 35"/>
          <p:cNvSpPr/>
          <p:nvPr/>
        </p:nvSpPr>
        <p:spPr>
          <a:xfrm>
            <a:off x="444500" y="4857750"/>
            <a:ext cx="3627438" cy="349250"/>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Generates PDF contracts via dompdf; records e-signatures with IP timestamps; calculates fulfilment percentage.</a:t>
            </a:r>
            <a:endParaRPr lang="en-US" sz="1600" dirty="0"/>
          </a:p>
        </p:txBody>
      </p:sp>
      <p:sp>
        <p:nvSpPr>
          <p:cNvPr id="38" name="Shape 36"/>
          <p:cNvSpPr/>
          <p:nvPr/>
        </p:nvSpPr>
        <p:spPr>
          <a:xfrm>
            <a:off x="444500" y="5270500"/>
            <a:ext cx="563563" cy="222250"/>
          </a:xfrm>
          <a:custGeom>
            <a:avLst/>
            <a:gdLst/>
            <a:ahLst/>
            <a:cxnLst/>
            <a:rect l="l" t="t" r="r" b="b"/>
            <a:pathLst>
              <a:path w="563563" h="222250">
                <a:moveTo>
                  <a:pt x="31751" y="0"/>
                </a:moveTo>
                <a:lnTo>
                  <a:pt x="531812" y="0"/>
                </a:lnTo>
                <a:cubicBezTo>
                  <a:pt x="549347" y="0"/>
                  <a:pt x="563563" y="14215"/>
                  <a:pt x="563563" y="31751"/>
                </a:cubicBezTo>
                <a:lnTo>
                  <a:pt x="563563" y="190499"/>
                </a:lnTo>
                <a:cubicBezTo>
                  <a:pt x="563563" y="208035"/>
                  <a:pt x="549347" y="222250"/>
                  <a:pt x="531812" y="222250"/>
                </a:cubicBezTo>
                <a:lnTo>
                  <a:pt x="31751" y="222250"/>
                </a:lnTo>
                <a:cubicBezTo>
                  <a:pt x="14227" y="222250"/>
                  <a:pt x="0" y="208023"/>
                  <a:pt x="0" y="190499"/>
                </a:cubicBezTo>
                <a:lnTo>
                  <a:pt x="0" y="31751"/>
                </a:lnTo>
                <a:cubicBezTo>
                  <a:pt x="0" y="14227"/>
                  <a:pt x="14227" y="0"/>
                  <a:pt x="31751" y="0"/>
                </a:cubicBezTo>
                <a:close/>
              </a:path>
            </a:pathLst>
          </a:custGeom>
          <a:solidFill>
            <a:srgbClr val="1A535C">
              <a:alpha val="10196"/>
            </a:srgbClr>
          </a:solidFill>
          <a:ln/>
        </p:spPr>
      </p:sp>
      <p:sp>
        <p:nvSpPr>
          <p:cNvPr id="39" name="Text 37"/>
          <p:cNvSpPr/>
          <p:nvPr/>
        </p:nvSpPr>
        <p:spPr>
          <a:xfrm>
            <a:off x="444500" y="5270500"/>
            <a:ext cx="627063" cy="222250"/>
          </a:xfrm>
          <a:prstGeom prst="rect">
            <a:avLst/>
          </a:prstGeom>
          <a:noFill/>
          <a:ln/>
        </p:spPr>
        <p:txBody>
          <a:bodyPr wrap="square" lIns="63500" tIns="15875" rIns="63500" bIns="15875" rtlCol="0" anchor="ctr"/>
          <a:lstStyle/>
          <a:p>
            <a:pPr>
              <a:lnSpc>
                <a:spcPct val="130000"/>
              </a:lnSpc>
            </a:pPr>
            <a:r>
              <a:rPr lang="en-US" sz="1000" dirty="0">
                <a:solidFill>
                  <a:srgbClr val="1A535C"/>
                </a:solidFill>
                <a:latin typeface="Quattrocento Sans" pitchFamily="34" charset="0"/>
                <a:ea typeface="Quattrocento Sans" pitchFamily="34" charset="-122"/>
                <a:cs typeface="Quattrocento Sans" pitchFamily="34" charset="-120"/>
              </a:rPr>
              <a:t>dompdf</a:t>
            </a:r>
            <a:endParaRPr lang="en-US" sz="1600" dirty="0"/>
          </a:p>
        </p:txBody>
      </p:sp>
      <p:sp>
        <p:nvSpPr>
          <p:cNvPr id="40" name="Shape 38"/>
          <p:cNvSpPr/>
          <p:nvPr/>
        </p:nvSpPr>
        <p:spPr>
          <a:xfrm>
            <a:off x="1040606" y="5270500"/>
            <a:ext cx="484187" cy="222250"/>
          </a:xfrm>
          <a:custGeom>
            <a:avLst/>
            <a:gdLst/>
            <a:ahLst/>
            <a:cxnLst/>
            <a:rect l="l" t="t" r="r" b="b"/>
            <a:pathLst>
              <a:path w="484187" h="222250">
                <a:moveTo>
                  <a:pt x="31751" y="0"/>
                </a:moveTo>
                <a:lnTo>
                  <a:pt x="452437" y="0"/>
                </a:lnTo>
                <a:cubicBezTo>
                  <a:pt x="469972" y="0"/>
                  <a:pt x="484187" y="14215"/>
                  <a:pt x="484187" y="31751"/>
                </a:cubicBezTo>
                <a:lnTo>
                  <a:pt x="484187" y="190499"/>
                </a:lnTo>
                <a:cubicBezTo>
                  <a:pt x="484187" y="208035"/>
                  <a:pt x="469972" y="222250"/>
                  <a:pt x="452437" y="222250"/>
                </a:cubicBezTo>
                <a:lnTo>
                  <a:pt x="31751" y="222250"/>
                </a:lnTo>
                <a:cubicBezTo>
                  <a:pt x="14227" y="222250"/>
                  <a:pt x="0" y="208023"/>
                  <a:pt x="0" y="190499"/>
                </a:cubicBezTo>
                <a:lnTo>
                  <a:pt x="0" y="31751"/>
                </a:lnTo>
                <a:cubicBezTo>
                  <a:pt x="0" y="14227"/>
                  <a:pt x="14227" y="0"/>
                  <a:pt x="31751" y="0"/>
                </a:cubicBezTo>
                <a:close/>
              </a:path>
            </a:pathLst>
          </a:custGeom>
          <a:solidFill>
            <a:srgbClr val="1A535C">
              <a:alpha val="10196"/>
            </a:srgbClr>
          </a:solidFill>
          <a:ln/>
        </p:spPr>
      </p:sp>
      <p:sp>
        <p:nvSpPr>
          <p:cNvPr id="41" name="Text 39"/>
          <p:cNvSpPr/>
          <p:nvPr/>
        </p:nvSpPr>
        <p:spPr>
          <a:xfrm>
            <a:off x="1040606" y="5270500"/>
            <a:ext cx="547688" cy="222250"/>
          </a:xfrm>
          <a:prstGeom prst="rect">
            <a:avLst/>
          </a:prstGeom>
          <a:noFill/>
          <a:ln/>
        </p:spPr>
        <p:txBody>
          <a:bodyPr wrap="square" lIns="63500" tIns="15875" rIns="63500" bIns="15875" rtlCol="0" anchor="ctr"/>
          <a:lstStyle/>
          <a:p>
            <a:pPr>
              <a:lnSpc>
                <a:spcPct val="130000"/>
              </a:lnSpc>
            </a:pPr>
            <a:r>
              <a:rPr lang="en-US" sz="1000" dirty="0">
                <a:solidFill>
                  <a:srgbClr val="1A535C"/>
                </a:solidFill>
                <a:latin typeface="Quattrocento Sans" pitchFamily="34" charset="0"/>
                <a:ea typeface="Quattrocento Sans" pitchFamily="34" charset="-122"/>
                <a:cs typeface="Quattrocento Sans" pitchFamily="34" charset="-120"/>
              </a:rPr>
              <a:t>E-Sign</a:t>
            </a:r>
            <a:endParaRPr lang="en-US" sz="1600" dirty="0"/>
          </a:p>
        </p:txBody>
      </p:sp>
      <p:sp>
        <p:nvSpPr>
          <p:cNvPr id="42" name="Shape 40"/>
          <p:cNvSpPr/>
          <p:nvPr/>
        </p:nvSpPr>
        <p:spPr>
          <a:xfrm>
            <a:off x="333375" y="5651500"/>
            <a:ext cx="3770313" cy="1047750"/>
          </a:xfrm>
          <a:custGeom>
            <a:avLst/>
            <a:gdLst/>
            <a:ahLst/>
            <a:cxnLst/>
            <a:rect l="l" t="t" r="r" b="b"/>
            <a:pathLst>
              <a:path w="3770313" h="1047750">
                <a:moveTo>
                  <a:pt x="31750" y="0"/>
                </a:moveTo>
                <a:lnTo>
                  <a:pt x="3706808" y="0"/>
                </a:lnTo>
                <a:cubicBezTo>
                  <a:pt x="3741881" y="0"/>
                  <a:pt x="3770313" y="28432"/>
                  <a:pt x="3770313" y="63504"/>
                </a:cubicBezTo>
                <a:lnTo>
                  <a:pt x="3770313" y="984246"/>
                </a:lnTo>
                <a:cubicBezTo>
                  <a:pt x="3770313" y="1019318"/>
                  <a:pt x="3741881" y="1047750"/>
                  <a:pt x="3706808" y="1047750"/>
                </a:cubicBezTo>
                <a:lnTo>
                  <a:pt x="31750" y="1047750"/>
                </a:lnTo>
                <a:cubicBezTo>
                  <a:pt x="14215" y="1047750"/>
                  <a:pt x="0" y="1033535"/>
                  <a:pt x="0" y="1016000"/>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43" name="Shape 41"/>
          <p:cNvSpPr/>
          <p:nvPr/>
        </p:nvSpPr>
        <p:spPr>
          <a:xfrm>
            <a:off x="333375" y="5651500"/>
            <a:ext cx="31750" cy="1047750"/>
          </a:xfrm>
          <a:custGeom>
            <a:avLst/>
            <a:gdLst/>
            <a:ahLst/>
            <a:cxnLst/>
            <a:rect l="l" t="t" r="r" b="b"/>
            <a:pathLst>
              <a:path w="31750" h="1047750">
                <a:moveTo>
                  <a:pt x="31750" y="0"/>
                </a:moveTo>
                <a:lnTo>
                  <a:pt x="31750" y="0"/>
                </a:lnTo>
                <a:lnTo>
                  <a:pt x="31750" y="1047750"/>
                </a:lnTo>
                <a:lnTo>
                  <a:pt x="31750" y="1047750"/>
                </a:lnTo>
                <a:cubicBezTo>
                  <a:pt x="14227" y="1047750"/>
                  <a:pt x="0" y="1033523"/>
                  <a:pt x="0" y="1016000"/>
                </a:cubicBezTo>
                <a:lnTo>
                  <a:pt x="0" y="31750"/>
                </a:lnTo>
                <a:cubicBezTo>
                  <a:pt x="0" y="14227"/>
                  <a:pt x="14227" y="0"/>
                  <a:pt x="31750" y="0"/>
                </a:cubicBezTo>
                <a:close/>
              </a:path>
            </a:pathLst>
          </a:custGeom>
          <a:solidFill>
            <a:srgbClr val="4A7C59"/>
          </a:solidFill>
          <a:ln/>
        </p:spPr>
      </p:sp>
      <p:sp>
        <p:nvSpPr>
          <p:cNvPr id="44" name="Shape 42"/>
          <p:cNvSpPr/>
          <p:nvPr/>
        </p:nvSpPr>
        <p:spPr>
          <a:xfrm>
            <a:off x="455414" y="5770563"/>
            <a:ext cx="160734" cy="142875"/>
          </a:xfrm>
          <a:custGeom>
            <a:avLst/>
            <a:gdLst/>
            <a:ahLst/>
            <a:cxnLst/>
            <a:rect l="l" t="t" r="r" b="b"/>
            <a:pathLst>
              <a:path w="160734" h="142875">
                <a:moveTo>
                  <a:pt x="26789" y="17859"/>
                </a:moveTo>
                <a:cubicBezTo>
                  <a:pt x="16939" y="17859"/>
                  <a:pt x="8930" y="25868"/>
                  <a:pt x="8930" y="35719"/>
                </a:cubicBezTo>
                <a:lnTo>
                  <a:pt x="8930" y="107156"/>
                </a:lnTo>
                <a:cubicBezTo>
                  <a:pt x="8930" y="117007"/>
                  <a:pt x="16939" y="125016"/>
                  <a:pt x="26789" y="125016"/>
                </a:cubicBezTo>
                <a:lnTo>
                  <a:pt x="98227" y="125016"/>
                </a:lnTo>
                <a:cubicBezTo>
                  <a:pt x="108077" y="125016"/>
                  <a:pt x="116086" y="117007"/>
                  <a:pt x="116086" y="107156"/>
                </a:cubicBezTo>
                <a:lnTo>
                  <a:pt x="116086" y="35719"/>
                </a:lnTo>
                <a:cubicBezTo>
                  <a:pt x="116086" y="25868"/>
                  <a:pt x="108077" y="17859"/>
                  <a:pt x="98227" y="17859"/>
                </a:cubicBezTo>
                <a:lnTo>
                  <a:pt x="26789" y="17859"/>
                </a:lnTo>
                <a:close/>
                <a:moveTo>
                  <a:pt x="129480" y="93762"/>
                </a:moveTo>
                <a:lnTo>
                  <a:pt x="149991" y="110170"/>
                </a:lnTo>
                <a:cubicBezTo>
                  <a:pt x="151163" y="111119"/>
                  <a:pt x="152614" y="111621"/>
                  <a:pt x="154121" y="111621"/>
                </a:cubicBezTo>
                <a:cubicBezTo>
                  <a:pt x="157776" y="111621"/>
                  <a:pt x="160734" y="108663"/>
                  <a:pt x="160734" y="105008"/>
                </a:cubicBezTo>
                <a:lnTo>
                  <a:pt x="160734" y="37867"/>
                </a:lnTo>
                <a:cubicBezTo>
                  <a:pt x="160734" y="34212"/>
                  <a:pt x="157776" y="31254"/>
                  <a:pt x="154121" y="31254"/>
                </a:cubicBezTo>
                <a:cubicBezTo>
                  <a:pt x="152614" y="31254"/>
                  <a:pt x="151163" y="31756"/>
                  <a:pt x="149991" y="32705"/>
                </a:cubicBezTo>
                <a:lnTo>
                  <a:pt x="129480" y="49113"/>
                </a:lnTo>
                <a:lnTo>
                  <a:pt x="129480" y="93762"/>
                </a:lnTo>
                <a:close/>
              </a:path>
            </a:pathLst>
          </a:custGeom>
          <a:solidFill>
            <a:srgbClr val="F7B538"/>
          </a:solidFill>
          <a:ln/>
        </p:spPr>
      </p:sp>
      <p:sp>
        <p:nvSpPr>
          <p:cNvPr id="45" name="Text 43"/>
          <p:cNvSpPr/>
          <p:nvPr/>
        </p:nvSpPr>
        <p:spPr>
          <a:xfrm>
            <a:off x="686594" y="5746750"/>
            <a:ext cx="1492250"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VideoSessionService.php</a:t>
            </a:r>
            <a:endParaRPr lang="en-US" sz="1600" dirty="0"/>
          </a:p>
        </p:txBody>
      </p:sp>
      <p:sp>
        <p:nvSpPr>
          <p:cNvPr id="46" name="Text 44"/>
          <p:cNvSpPr/>
          <p:nvPr/>
        </p:nvSpPr>
        <p:spPr>
          <a:xfrm>
            <a:off x="444500" y="5969000"/>
            <a:ext cx="3627438" cy="349250"/>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Creates Twilio rooms; generates access tokens; manages room lifecycle and low-bandwidth flags.</a:t>
            </a:r>
            <a:endParaRPr lang="en-US" sz="1600" dirty="0"/>
          </a:p>
        </p:txBody>
      </p:sp>
      <p:sp>
        <p:nvSpPr>
          <p:cNvPr id="47" name="Shape 45"/>
          <p:cNvSpPr/>
          <p:nvPr/>
        </p:nvSpPr>
        <p:spPr>
          <a:xfrm>
            <a:off x="444500" y="6381750"/>
            <a:ext cx="460375" cy="222250"/>
          </a:xfrm>
          <a:custGeom>
            <a:avLst/>
            <a:gdLst/>
            <a:ahLst/>
            <a:cxnLst/>
            <a:rect l="l" t="t" r="r" b="b"/>
            <a:pathLst>
              <a:path w="460375" h="222250">
                <a:moveTo>
                  <a:pt x="31751" y="0"/>
                </a:moveTo>
                <a:lnTo>
                  <a:pt x="428624" y="0"/>
                </a:lnTo>
                <a:cubicBezTo>
                  <a:pt x="446160" y="0"/>
                  <a:pt x="460375" y="14215"/>
                  <a:pt x="460375" y="31751"/>
                </a:cubicBezTo>
                <a:lnTo>
                  <a:pt x="460375" y="190499"/>
                </a:lnTo>
                <a:cubicBezTo>
                  <a:pt x="460375" y="208035"/>
                  <a:pt x="446160" y="222250"/>
                  <a:pt x="428624" y="222250"/>
                </a:cubicBezTo>
                <a:lnTo>
                  <a:pt x="31751" y="222250"/>
                </a:lnTo>
                <a:cubicBezTo>
                  <a:pt x="14227" y="222250"/>
                  <a:pt x="0" y="208023"/>
                  <a:pt x="0" y="190499"/>
                </a:cubicBezTo>
                <a:lnTo>
                  <a:pt x="0" y="31751"/>
                </a:lnTo>
                <a:cubicBezTo>
                  <a:pt x="0" y="14227"/>
                  <a:pt x="14227" y="0"/>
                  <a:pt x="31751" y="0"/>
                </a:cubicBezTo>
                <a:close/>
              </a:path>
            </a:pathLst>
          </a:custGeom>
          <a:solidFill>
            <a:srgbClr val="4A7C59">
              <a:alpha val="10196"/>
            </a:srgbClr>
          </a:solidFill>
          <a:ln/>
        </p:spPr>
      </p:sp>
      <p:sp>
        <p:nvSpPr>
          <p:cNvPr id="48" name="Text 46"/>
          <p:cNvSpPr/>
          <p:nvPr/>
        </p:nvSpPr>
        <p:spPr>
          <a:xfrm>
            <a:off x="444500" y="6381750"/>
            <a:ext cx="523875" cy="222250"/>
          </a:xfrm>
          <a:prstGeom prst="rect">
            <a:avLst/>
          </a:prstGeom>
          <a:noFill/>
          <a:ln/>
        </p:spPr>
        <p:txBody>
          <a:bodyPr wrap="square" lIns="63500" tIns="15875" rIns="63500" bIns="15875" rtlCol="0" anchor="ctr"/>
          <a:lstStyle/>
          <a:p>
            <a:pPr>
              <a:lnSpc>
                <a:spcPct val="130000"/>
              </a:lnSpc>
            </a:pPr>
            <a:r>
              <a:rPr lang="en-US" sz="1000" dirty="0">
                <a:solidFill>
                  <a:srgbClr val="4A7C59"/>
                </a:solidFill>
                <a:latin typeface="Quattrocento Sans" pitchFamily="34" charset="0"/>
                <a:ea typeface="Quattrocento Sans" pitchFamily="34" charset="-122"/>
                <a:cs typeface="Quattrocento Sans" pitchFamily="34" charset="-120"/>
              </a:rPr>
              <a:t>Twilio</a:t>
            </a:r>
            <a:endParaRPr lang="en-US" sz="1600" dirty="0"/>
          </a:p>
        </p:txBody>
      </p:sp>
      <p:sp>
        <p:nvSpPr>
          <p:cNvPr id="49" name="Shape 47"/>
          <p:cNvSpPr/>
          <p:nvPr/>
        </p:nvSpPr>
        <p:spPr>
          <a:xfrm>
            <a:off x="934244" y="6381750"/>
            <a:ext cx="515938" cy="222250"/>
          </a:xfrm>
          <a:custGeom>
            <a:avLst/>
            <a:gdLst/>
            <a:ahLst/>
            <a:cxnLst/>
            <a:rect l="l" t="t" r="r" b="b"/>
            <a:pathLst>
              <a:path w="515938" h="222250">
                <a:moveTo>
                  <a:pt x="31751" y="0"/>
                </a:moveTo>
                <a:lnTo>
                  <a:pt x="484187" y="0"/>
                </a:lnTo>
                <a:cubicBezTo>
                  <a:pt x="501722" y="0"/>
                  <a:pt x="515938" y="14215"/>
                  <a:pt x="515938" y="31751"/>
                </a:cubicBezTo>
                <a:lnTo>
                  <a:pt x="515938" y="190499"/>
                </a:lnTo>
                <a:cubicBezTo>
                  <a:pt x="515938" y="208035"/>
                  <a:pt x="501722" y="222250"/>
                  <a:pt x="484187" y="222250"/>
                </a:cubicBezTo>
                <a:lnTo>
                  <a:pt x="31751" y="222250"/>
                </a:lnTo>
                <a:cubicBezTo>
                  <a:pt x="14227" y="222250"/>
                  <a:pt x="0" y="208023"/>
                  <a:pt x="0" y="190499"/>
                </a:cubicBezTo>
                <a:lnTo>
                  <a:pt x="0" y="31751"/>
                </a:lnTo>
                <a:cubicBezTo>
                  <a:pt x="0" y="14227"/>
                  <a:pt x="14227" y="0"/>
                  <a:pt x="31751" y="0"/>
                </a:cubicBezTo>
                <a:close/>
              </a:path>
            </a:pathLst>
          </a:custGeom>
          <a:solidFill>
            <a:srgbClr val="4A7C59">
              <a:alpha val="10196"/>
            </a:srgbClr>
          </a:solidFill>
          <a:ln/>
        </p:spPr>
      </p:sp>
      <p:sp>
        <p:nvSpPr>
          <p:cNvPr id="50" name="Text 48"/>
          <p:cNvSpPr/>
          <p:nvPr/>
        </p:nvSpPr>
        <p:spPr>
          <a:xfrm>
            <a:off x="934244" y="6381750"/>
            <a:ext cx="579438" cy="222250"/>
          </a:xfrm>
          <a:prstGeom prst="rect">
            <a:avLst/>
          </a:prstGeom>
          <a:noFill/>
          <a:ln/>
        </p:spPr>
        <p:txBody>
          <a:bodyPr wrap="square" lIns="63500" tIns="15875" rIns="63500" bIns="15875" rtlCol="0" anchor="ctr"/>
          <a:lstStyle/>
          <a:p>
            <a:pPr>
              <a:lnSpc>
                <a:spcPct val="130000"/>
              </a:lnSpc>
            </a:pPr>
            <a:r>
              <a:rPr lang="en-US" sz="1000" dirty="0">
                <a:solidFill>
                  <a:srgbClr val="4A7C59"/>
                </a:solidFill>
                <a:latin typeface="Quattrocento Sans" pitchFamily="34" charset="0"/>
                <a:ea typeface="Quattrocento Sans" pitchFamily="34" charset="-122"/>
                <a:cs typeface="Quattrocento Sans" pitchFamily="34" charset="-120"/>
              </a:rPr>
              <a:t>Tokens</a:t>
            </a:r>
            <a:endParaRPr lang="en-US" sz="1600" dirty="0"/>
          </a:p>
        </p:txBody>
      </p:sp>
      <p:sp>
        <p:nvSpPr>
          <p:cNvPr id="51" name="Shape 49"/>
          <p:cNvSpPr/>
          <p:nvPr/>
        </p:nvSpPr>
        <p:spPr>
          <a:xfrm>
            <a:off x="4217392" y="1206500"/>
            <a:ext cx="3770313" cy="1047750"/>
          </a:xfrm>
          <a:custGeom>
            <a:avLst/>
            <a:gdLst/>
            <a:ahLst/>
            <a:cxnLst/>
            <a:rect l="l" t="t" r="r" b="b"/>
            <a:pathLst>
              <a:path w="3770313" h="1047750">
                <a:moveTo>
                  <a:pt x="31750" y="0"/>
                </a:moveTo>
                <a:lnTo>
                  <a:pt x="3706808" y="0"/>
                </a:lnTo>
                <a:cubicBezTo>
                  <a:pt x="3741881" y="0"/>
                  <a:pt x="3770313" y="28432"/>
                  <a:pt x="3770313" y="63504"/>
                </a:cubicBezTo>
                <a:lnTo>
                  <a:pt x="3770313" y="984246"/>
                </a:lnTo>
                <a:cubicBezTo>
                  <a:pt x="3770313" y="1019318"/>
                  <a:pt x="3741881" y="1047750"/>
                  <a:pt x="3706808" y="1047750"/>
                </a:cubicBezTo>
                <a:lnTo>
                  <a:pt x="31750" y="1047750"/>
                </a:lnTo>
                <a:cubicBezTo>
                  <a:pt x="14215" y="1047750"/>
                  <a:pt x="0" y="1033535"/>
                  <a:pt x="0" y="1016000"/>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52" name="Shape 50"/>
          <p:cNvSpPr/>
          <p:nvPr/>
        </p:nvSpPr>
        <p:spPr>
          <a:xfrm>
            <a:off x="4217392" y="1206500"/>
            <a:ext cx="31750" cy="1047750"/>
          </a:xfrm>
          <a:custGeom>
            <a:avLst/>
            <a:gdLst/>
            <a:ahLst/>
            <a:cxnLst/>
            <a:rect l="l" t="t" r="r" b="b"/>
            <a:pathLst>
              <a:path w="31750" h="1047750">
                <a:moveTo>
                  <a:pt x="31750" y="0"/>
                </a:moveTo>
                <a:lnTo>
                  <a:pt x="31750" y="0"/>
                </a:lnTo>
                <a:lnTo>
                  <a:pt x="31750" y="1047750"/>
                </a:lnTo>
                <a:lnTo>
                  <a:pt x="31750" y="1047750"/>
                </a:lnTo>
                <a:cubicBezTo>
                  <a:pt x="14227" y="1047750"/>
                  <a:pt x="0" y="1033523"/>
                  <a:pt x="0" y="1016000"/>
                </a:cubicBezTo>
                <a:lnTo>
                  <a:pt x="0" y="31750"/>
                </a:lnTo>
                <a:cubicBezTo>
                  <a:pt x="0" y="14227"/>
                  <a:pt x="14227" y="0"/>
                  <a:pt x="31750" y="0"/>
                </a:cubicBezTo>
                <a:close/>
              </a:path>
            </a:pathLst>
          </a:custGeom>
          <a:solidFill>
            <a:srgbClr val="F7B538"/>
          </a:solidFill>
          <a:ln/>
        </p:spPr>
      </p:sp>
      <p:sp>
        <p:nvSpPr>
          <p:cNvPr id="53" name="Shape 51"/>
          <p:cNvSpPr/>
          <p:nvPr/>
        </p:nvSpPr>
        <p:spPr>
          <a:xfrm>
            <a:off x="4348361" y="1325563"/>
            <a:ext cx="142875" cy="142875"/>
          </a:xfrm>
          <a:custGeom>
            <a:avLst/>
            <a:gdLst/>
            <a:ahLst/>
            <a:cxnLst/>
            <a:rect l="l" t="t" r="r" b="b"/>
            <a:pathLst>
              <a:path w="142875" h="142875">
                <a:moveTo>
                  <a:pt x="0" y="35719"/>
                </a:moveTo>
                <a:cubicBezTo>
                  <a:pt x="0" y="25868"/>
                  <a:pt x="8009" y="17859"/>
                  <a:pt x="17859" y="17859"/>
                </a:cubicBezTo>
                <a:lnTo>
                  <a:pt x="125016" y="17859"/>
                </a:lnTo>
                <a:cubicBezTo>
                  <a:pt x="134866" y="17859"/>
                  <a:pt x="142875" y="25868"/>
                  <a:pt x="142875" y="35719"/>
                </a:cubicBezTo>
                <a:lnTo>
                  <a:pt x="142875" y="107156"/>
                </a:lnTo>
                <a:cubicBezTo>
                  <a:pt x="142875" y="117007"/>
                  <a:pt x="134866" y="125016"/>
                  <a:pt x="125016" y="125016"/>
                </a:cubicBezTo>
                <a:lnTo>
                  <a:pt x="17859" y="125016"/>
                </a:lnTo>
                <a:cubicBezTo>
                  <a:pt x="8009" y="125016"/>
                  <a:pt x="0" y="117007"/>
                  <a:pt x="0" y="107156"/>
                </a:cubicBezTo>
                <a:lnTo>
                  <a:pt x="0" y="35719"/>
                </a:lnTo>
                <a:close/>
                <a:moveTo>
                  <a:pt x="42416" y="58043"/>
                </a:moveTo>
                <a:lnTo>
                  <a:pt x="51346" y="58043"/>
                </a:lnTo>
                <a:cubicBezTo>
                  <a:pt x="52574" y="58043"/>
                  <a:pt x="53578" y="59048"/>
                  <a:pt x="53578" y="60275"/>
                </a:cubicBezTo>
                <a:cubicBezTo>
                  <a:pt x="53578" y="63987"/>
                  <a:pt x="56564" y="66973"/>
                  <a:pt x="60275" y="66973"/>
                </a:cubicBezTo>
                <a:cubicBezTo>
                  <a:pt x="63987" y="66973"/>
                  <a:pt x="66973" y="63987"/>
                  <a:pt x="66973" y="60275"/>
                </a:cubicBezTo>
                <a:cubicBezTo>
                  <a:pt x="66973" y="51653"/>
                  <a:pt x="59968" y="44648"/>
                  <a:pt x="51346" y="44648"/>
                </a:cubicBezTo>
                <a:lnTo>
                  <a:pt x="42416" y="44648"/>
                </a:lnTo>
                <a:cubicBezTo>
                  <a:pt x="33793" y="44648"/>
                  <a:pt x="26789" y="51653"/>
                  <a:pt x="26789" y="60275"/>
                </a:cubicBezTo>
                <a:lnTo>
                  <a:pt x="26789" y="82600"/>
                </a:lnTo>
                <a:cubicBezTo>
                  <a:pt x="26789" y="91222"/>
                  <a:pt x="33793" y="98227"/>
                  <a:pt x="42416" y="98227"/>
                </a:cubicBezTo>
                <a:lnTo>
                  <a:pt x="51346" y="98227"/>
                </a:lnTo>
                <a:cubicBezTo>
                  <a:pt x="59968" y="98227"/>
                  <a:pt x="66973" y="91222"/>
                  <a:pt x="66973" y="82600"/>
                </a:cubicBezTo>
                <a:cubicBezTo>
                  <a:pt x="66973" y="78888"/>
                  <a:pt x="63987" y="75902"/>
                  <a:pt x="60275" y="75902"/>
                </a:cubicBezTo>
                <a:cubicBezTo>
                  <a:pt x="56564" y="75902"/>
                  <a:pt x="53578" y="78888"/>
                  <a:pt x="53578" y="82600"/>
                </a:cubicBezTo>
                <a:cubicBezTo>
                  <a:pt x="53578" y="83827"/>
                  <a:pt x="52574" y="84832"/>
                  <a:pt x="51346" y="84832"/>
                </a:cubicBezTo>
                <a:lnTo>
                  <a:pt x="42416" y="84832"/>
                </a:lnTo>
                <a:cubicBezTo>
                  <a:pt x="41188" y="84832"/>
                  <a:pt x="40184" y="83827"/>
                  <a:pt x="40184" y="82600"/>
                </a:cubicBezTo>
                <a:lnTo>
                  <a:pt x="40184" y="60275"/>
                </a:lnTo>
                <a:cubicBezTo>
                  <a:pt x="40184" y="59048"/>
                  <a:pt x="41188" y="58043"/>
                  <a:pt x="42416" y="58043"/>
                </a:cubicBezTo>
                <a:close/>
                <a:moveTo>
                  <a:pt x="89297" y="60275"/>
                </a:moveTo>
                <a:cubicBezTo>
                  <a:pt x="89297" y="59048"/>
                  <a:pt x="90301" y="58043"/>
                  <a:pt x="91529" y="58043"/>
                </a:cubicBezTo>
                <a:lnTo>
                  <a:pt x="100459" y="58043"/>
                </a:lnTo>
                <a:cubicBezTo>
                  <a:pt x="101687" y="58043"/>
                  <a:pt x="102691" y="59048"/>
                  <a:pt x="102691" y="60275"/>
                </a:cubicBezTo>
                <a:cubicBezTo>
                  <a:pt x="102691" y="63987"/>
                  <a:pt x="105677" y="66973"/>
                  <a:pt x="109389" y="66973"/>
                </a:cubicBezTo>
                <a:cubicBezTo>
                  <a:pt x="113100" y="66973"/>
                  <a:pt x="116086" y="63987"/>
                  <a:pt x="116086" y="60275"/>
                </a:cubicBezTo>
                <a:cubicBezTo>
                  <a:pt x="116086" y="51653"/>
                  <a:pt x="109082" y="44648"/>
                  <a:pt x="100459" y="44648"/>
                </a:cubicBezTo>
                <a:lnTo>
                  <a:pt x="91529" y="44648"/>
                </a:lnTo>
                <a:cubicBezTo>
                  <a:pt x="82907" y="44648"/>
                  <a:pt x="75902" y="51653"/>
                  <a:pt x="75902" y="60275"/>
                </a:cubicBezTo>
                <a:lnTo>
                  <a:pt x="75902" y="82600"/>
                </a:lnTo>
                <a:cubicBezTo>
                  <a:pt x="75902" y="91222"/>
                  <a:pt x="82907" y="98227"/>
                  <a:pt x="91529" y="98227"/>
                </a:cubicBezTo>
                <a:lnTo>
                  <a:pt x="100459" y="98227"/>
                </a:lnTo>
                <a:cubicBezTo>
                  <a:pt x="109082" y="98227"/>
                  <a:pt x="116086" y="91222"/>
                  <a:pt x="116086" y="82600"/>
                </a:cubicBezTo>
                <a:cubicBezTo>
                  <a:pt x="116086" y="78888"/>
                  <a:pt x="113100" y="75902"/>
                  <a:pt x="109389" y="75902"/>
                </a:cubicBezTo>
                <a:cubicBezTo>
                  <a:pt x="105677" y="75902"/>
                  <a:pt x="102691" y="78888"/>
                  <a:pt x="102691" y="82600"/>
                </a:cubicBezTo>
                <a:cubicBezTo>
                  <a:pt x="102691" y="83827"/>
                  <a:pt x="101687" y="84832"/>
                  <a:pt x="100459" y="84832"/>
                </a:cubicBezTo>
                <a:lnTo>
                  <a:pt x="91529" y="84832"/>
                </a:lnTo>
                <a:cubicBezTo>
                  <a:pt x="90301" y="84832"/>
                  <a:pt x="89297" y="83827"/>
                  <a:pt x="89297" y="82600"/>
                </a:cubicBezTo>
                <a:lnTo>
                  <a:pt x="89297" y="60275"/>
                </a:lnTo>
                <a:close/>
              </a:path>
            </a:pathLst>
          </a:custGeom>
          <a:solidFill>
            <a:srgbClr val="F7B538"/>
          </a:solidFill>
          <a:ln/>
        </p:spPr>
      </p:sp>
      <p:sp>
        <p:nvSpPr>
          <p:cNvPr id="54" name="Text 52"/>
          <p:cNvSpPr/>
          <p:nvPr/>
        </p:nvSpPr>
        <p:spPr>
          <a:xfrm>
            <a:off x="4570611" y="1301750"/>
            <a:ext cx="1571625"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SubtitleStreamService.php</a:t>
            </a:r>
            <a:endParaRPr lang="en-US" sz="1600" dirty="0"/>
          </a:p>
        </p:txBody>
      </p:sp>
      <p:sp>
        <p:nvSpPr>
          <p:cNvPr id="55" name="Text 53"/>
          <p:cNvSpPr/>
          <p:nvPr/>
        </p:nvSpPr>
        <p:spPr>
          <a:xfrm>
            <a:off x="4328517" y="1524000"/>
            <a:ext cx="3627438" cy="349250"/>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Calls Google Speech-to-Text + Translate API; streams translated subtitles via Laravel Echo WebSocket during video.</a:t>
            </a:r>
            <a:endParaRPr lang="en-US" sz="1600" dirty="0"/>
          </a:p>
        </p:txBody>
      </p:sp>
      <p:sp>
        <p:nvSpPr>
          <p:cNvPr id="56" name="Shape 54"/>
          <p:cNvSpPr/>
          <p:nvPr/>
        </p:nvSpPr>
        <p:spPr>
          <a:xfrm>
            <a:off x="4328517" y="1936750"/>
            <a:ext cx="730250" cy="222250"/>
          </a:xfrm>
          <a:custGeom>
            <a:avLst/>
            <a:gdLst/>
            <a:ahLst/>
            <a:cxnLst/>
            <a:rect l="l" t="t" r="r" b="b"/>
            <a:pathLst>
              <a:path w="730250" h="222250">
                <a:moveTo>
                  <a:pt x="31751" y="0"/>
                </a:moveTo>
                <a:lnTo>
                  <a:pt x="698499" y="0"/>
                </a:lnTo>
                <a:cubicBezTo>
                  <a:pt x="716035" y="0"/>
                  <a:pt x="730250" y="14215"/>
                  <a:pt x="730250" y="31751"/>
                </a:cubicBezTo>
                <a:lnTo>
                  <a:pt x="730250" y="190499"/>
                </a:lnTo>
                <a:cubicBezTo>
                  <a:pt x="730250" y="208035"/>
                  <a:pt x="716035" y="222250"/>
                  <a:pt x="698499" y="222250"/>
                </a:cubicBezTo>
                <a:lnTo>
                  <a:pt x="31751" y="222250"/>
                </a:lnTo>
                <a:cubicBezTo>
                  <a:pt x="14227" y="222250"/>
                  <a:pt x="0" y="208023"/>
                  <a:pt x="0" y="190499"/>
                </a:cubicBezTo>
                <a:lnTo>
                  <a:pt x="0" y="31751"/>
                </a:lnTo>
                <a:cubicBezTo>
                  <a:pt x="0" y="14227"/>
                  <a:pt x="14227" y="0"/>
                  <a:pt x="31751" y="0"/>
                </a:cubicBezTo>
                <a:close/>
              </a:path>
            </a:pathLst>
          </a:custGeom>
          <a:solidFill>
            <a:srgbClr val="F7B538">
              <a:alpha val="20000"/>
            </a:srgbClr>
          </a:solidFill>
          <a:ln/>
        </p:spPr>
      </p:sp>
      <p:sp>
        <p:nvSpPr>
          <p:cNvPr id="57" name="Text 55"/>
          <p:cNvSpPr/>
          <p:nvPr/>
        </p:nvSpPr>
        <p:spPr>
          <a:xfrm>
            <a:off x="4328517" y="1936750"/>
            <a:ext cx="793750" cy="222250"/>
          </a:xfrm>
          <a:prstGeom prst="rect">
            <a:avLst/>
          </a:prstGeom>
          <a:noFill/>
          <a:ln/>
        </p:spPr>
        <p:txBody>
          <a:bodyPr wrap="square" lIns="63500" tIns="15875" rIns="63500" bIns="15875" rtlCol="0" anchor="ctr"/>
          <a:lstStyle/>
          <a:p>
            <a:pPr>
              <a:lnSpc>
                <a:spcPct val="130000"/>
              </a:lnSpc>
            </a:pPr>
            <a:r>
              <a:rPr lang="en-US" sz="1000" dirty="0">
                <a:solidFill>
                  <a:srgbClr val="F7B538"/>
                </a:solidFill>
                <a:latin typeface="Quattrocento Sans" pitchFamily="34" charset="0"/>
                <a:ea typeface="Quattrocento Sans" pitchFamily="34" charset="-122"/>
                <a:cs typeface="Quattrocento Sans" pitchFamily="34" charset="-120"/>
              </a:rPr>
              <a:t>Google API</a:t>
            </a:r>
            <a:endParaRPr lang="en-US" sz="1600" dirty="0"/>
          </a:p>
        </p:txBody>
      </p:sp>
      <p:sp>
        <p:nvSpPr>
          <p:cNvPr id="58" name="Shape 56"/>
          <p:cNvSpPr/>
          <p:nvPr/>
        </p:nvSpPr>
        <p:spPr>
          <a:xfrm>
            <a:off x="5090021" y="1936750"/>
            <a:ext cx="396875" cy="222250"/>
          </a:xfrm>
          <a:custGeom>
            <a:avLst/>
            <a:gdLst/>
            <a:ahLst/>
            <a:cxnLst/>
            <a:rect l="l" t="t" r="r" b="b"/>
            <a:pathLst>
              <a:path w="396875" h="222250">
                <a:moveTo>
                  <a:pt x="31751" y="0"/>
                </a:moveTo>
                <a:lnTo>
                  <a:pt x="365124" y="0"/>
                </a:lnTo>
                <a:cubicBezTo>
                  <a:pt x="382660" y="0"/>
                  <a:pt x="396875" y="14215"/>
                  <a:pt x="396875" y="31751"/>
                </a:cubicBezTo>
                <a:lnTo>
                  <a:pt x="396875" y="190499"/>
                </a:lnTo>
                <a:cubicBezTo>
                  <a:pt x="396875" y="208035"/>
                  <a:pt x="382660" y="222250"/>
                  <a:pt x="365124" y="222250"/>
                </a:cubicBezTo>
                <a:lnTo>
                  <a:pt x="31751" y="222250"/>
                </a:lnTo>
                <a:cubicBezTo>
                  <a:pt x="14227" y="222250"/>
                  <a:pt x="0" y="208023"/>
                  <a:pt x="0" y="190499"/>
                </a:cubicBezTo>
                <a:lnTo>
                  <a:pt x="0" y="31751"/>
                </a:lnTo>
                <a:cubicBezTo>
                  <a:pt x="0" y="14227"/>
                  <a:pt x="14227" y="0"/>
                  <a:pt x="31751" y="0"/>
                </a:cubicBezTo>
                <a:close/>
              </a:path>
            </a:pathLst>
          </a:custGeom>
          <a:solidFill>
            <a:srgbClr val="F7B538">
              <a:alpha val="20000"/>
            </a:srgbClr>
          </a:solidFill>
          <a:ln/>
        </p:spPr>
      </p:sp>
      <p:sp>
        <p:nvSpPr>
          <p:cNvPr id="59" name="Text 57"/>
          <p:cNvSpPr/>
          <p:nvPr/>
        </p:nvSpPr>
        <p:spPr>
          <a:xfrm>
            <a:off x="5090021" y="1936750"/>
            <a:ext cx="460375" cy="222250"/>
          </a:xfrm>
          <a:prstGeom prst="rect">
            <a:avLst/>
          </a:prstGeom>
          <a:noFill/>
          <a:ln/>
        </p:spPr>
        <p:txBody>
          <a:bodyPr wrap="square" lIns="63500" tIns="15875" rIns="63500" bIns="15875" rtlCol="0" anchor="ctr"/>
          <a:lstStyle/>
          <a:p>
            <a:pPr>
              <a:lnSpc>
                <a:spcPct val="130000"/>
              </a:lnSpc>
            </a:pPr>
            <a:r>
              <a:rPr lang="en-US" sz="1000" dirty="0">
                <a:solidFill>
                  <a:srgbClr val="F7B538"/>
                </a:solidFill>
                <a:latin typeface="Quattrocento Sans" pitchFamily="34" charset="0"/>
                <a:ea typeface="Quattrocento Sans" pitchFamily="34" charset="-122"/>
                <a:cs typeface="Quattrocento Sans" pitchFamily="34" charset="-120"/>
              </a:rPr>
              <a:t>Echo</a:t>
            </a:r>
            <a:endParaRPr lang="en-US" sz="1600" dirty="0"/>
          </a:p>
        </p:txBody>
      </p:sp>
      <p:sp>
        <p:nvSpPr>
          <p:cNvPr id="60" name="Shape 58"/>
          <p:cNvSpPr/>
          <p:nvPr/>
        </p:nvSpPr>
        <p:spPr>
          <a:xfrm>
            <a:off x="4217392" y="2317750"/>
            <a:ext cx="3770313" cy="1047750"/>
          </a:xfrm>
          <a:custGeom>
            <a:avLst/>
            <a:gdLst/>
            <a:ahLst/>
            <a:cxnLst/>
            <a:rect l="l" t="t" r="r" b="b"/>
            <a:pathLst>
              <a:path w="3770313" h="1047750">
                <a:moveTo>
                  <a:pt x="31750" y="0"/>
                </a:moveTo>
                <a:lnTo>
                  <a:pt x="3706808" y="0"/>
                </a:lnTo>
                <a:cubicBezTo>
                  <a:pt x="3741881" y="0"/>
                  <a:pt x="3770313" y="28432"/>
                  <a:pt x="3770313" y="63504"/>
                </a:cubicBezTo>
                <a:lnTo>
                  <a:pt x="3770313" y="984246"/>
                </a:lnTo>
                <a:cubicBezTo>
                  <a:pt x="3770313" y="1019318"/>
                  <a:pt x="3741881" y="1047750"/>
                  <a:pt x="3706808" y="1047750"/>
                </a:cubicBezTo>
                <a:lnTo>
                  <a:pt x="31750" y="1047750"/>
                </a:lnTo>
                <a:cubicBezTo>
                  <a:pt x="14215" y="1047750"/>
                  <a:pt x="0" y="1033535"/>
                  <a:pt x="0" y="1016000"/>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61" name="Shape 59"/>
          <p:cNvSpPr/>
          <p:nvPr/>
        </p:nvSpPr>
        <p:spPr>
          <a:xfrm>
            <a:off x="4217392" y="2317750"/>
            <a:ext cx="31750" cy="1047750"/>
          </a:xfrm>
          <a:custGeom>
            <a:avLst/>
            <a:gdLst/>
            <a:ahLst/>
            <a:cxnLst/>
            <a:rect l="l" t="t" r="r" b="b"/>
            <a:pathLst>
              <a:path w="31750" h="1047750">
                <a:moveTo>
                  <a:pt x="31750" y="0"/>
                </a:moveTo>
                <a:lnTo>
                  <a:pt x="31750" y="0"/>
                </a:lnTo>
                <a:lnTo>
                  <a:pt x="31750" y="1047750"/>
                </a:lnTo>
                <a:lnTo>
                  <a:pt x="31750" y="1047750"/>
                </a:lnTo>
                <a:cubicBezTo>
                  <a:pt x="14227" y="1047750"/>
                  <a:pt x="0" y="1033523"/>
                  <a:pt x="0" y="1016000"/>
                </a:cubicBezTo>
                <a:lnTo>
                  <a:pt x="0" y="31750"/>
                </a:lnTo>
                <a:cubicBezTo>
                  <a:pt x="0" y="14227"/>
                  <a:pt x="14227" y="0"/>
                  <a:pt x="31750" y="0"/>
                </a:cubicBezTo>
                <a:close/>
              </a:path>
            </a:pathLst>
          </a:custGeom>
          <a:solidFill>
            <a:srgbClr val="1A535C"/>
          </a:solidFill>
          <a:ln/>
        </p:spPr>
      </p:sp>
      <p:sp>
        <p:nvSpPr>
          <p:cNvPr id="62" name="Shape 60"/>
          <p:cNvSpPr/>
          <p:nvPr/>
        </p:nvSpPr>
        <p:spPr>
          <a:xfrm>
            <a:off x="4348361" y="2436813"/>
            <a:ext cx="142875" cy="142875"/>
          </a:xfrm>
          <a:custGeom>
            <a:avLst/>
            <a:gdLst/>
            <a:ahLst/>
            <a:cxnLst/>
            <a:rect l="l" t="t" r="r" b="b"/>
            <a:pathLst>
              <a:path w="142875" h="142875">
                <a:moveTo>
                  <a:pt x="89715" y="19199"/>
                </a:moveTo>
                <a:cubicBezTo>
                  <a:pt x="91836" y="15599"/>
                  <a:pt x="95687" y="13395"/>
                  <a:pt x="99845" y="13395"/>
                </a:cubicBezTo>
                <a:lnTo>
                  <a:pt x="100459" y="13395"/>
                </a:lnTo>
                <a:cubicBezTo>
                  <a:pt x="106626" y="13395"/>
                  <a:pt x="111621" y="18390"/>
                  <a:pt x="111621" y="24557"/>
                </a:cubicBezTo>
                <a:cubicBezTo>
                  <a:pt x="111621" y="30724"/>
                  <a:pt x="106626" y="35719"/>
                  <a:pt x="100459" y="35719"/>
                </a:cubicBezTo>
                <a:lnTo>
                  <a:pt x="80004" y="35719"/>
                </a:lnTo>
                <a:lnTo>
                  <a:pt x="89715" y="19199"/>
                </a:lnTo>
                <a:close/>
                <a:moveTo>
                  <a:pt x="53160" y="19199"/>
                </a:moveTo>
                <a:lnTo>
                  <a:pt x="62871" y="35719"/>
                </a:lnTo>
                <a:lnTo>
                  <a:pt x="42416" y="35719"/>
                </a:lnTo>
                <a:cubicBezTo>
                  <a:pt x="36249" y="35719"/>
                  <a:pt x="31254" y="30724"/>
                  <a:pt x="31254" y="24557"/>
                </a:cubicBezTo>
                <a:cubicBezTo>
                  <a:pt x="31254" y="18390"/>
                  <a:pt x="36249" y="13395"/>
                  <a:pt x="42416" y="13395"/>
                </a:cubicBezTo>
                <a:lnTo>
                  <a:pt x="43030" y="13395"/>
                </a:lnTo>
                <a:cubicBezTo>
                  <a:pt x="47188" y="13395"/>
                  <a:pt x="51067" y="15599"/>
                  <a:pt x="53160" y="19199"/>
                </a:cubicBezTo>
                <a:close/>
                <a:moveTo>
                  <a:pt x="78163" y="12418"/>
                </a:moveTo>
                <a:lnTo>
                  <a:pt x="71438" y="23859"/>
                </a:lnTo>
                <a:lnTo>
                  <a:pt x="64712" y="12418"/>
                </a:lnTo>
                <a:cubicBezTo>
                  <a:pt x="60192" y="4716"/>
                  <a:pt x="51932" y="0"/>
                  <a:pt x="43030" y="0"/>
                </a:cubicBezTo>
                <a:lnTo>
                  <a:pt x="42416" y="0"/>
                </a:lnTo>
                <a:cubicBezTo>
                  <a:pt x="28854" y="0"/>
                  <a:pt x="17859" y="10995"/>
                  <a:pt x="17859" y="24557"/>
                </a:cubicBezTo>
                <a:cubicBezTo>
                  <a:pt x="17859" y="28575"/>
                  <a:pt x="18836" y="32370"/>
                  <a:pt x="20538" y="35719"/>
                </a:cubicBezTo>
                <a:lnTo>
                  <a:pt x="8930" y="35719"/>
                </a:lnTo>
                <a:cubicBezTo>
                  <a:pt x="3990" y="35719"/>
                  <a:pt x="0" y="39709"/>
                  <a:pt x="0" y="44648"/>
                </a:cubicBezTo>
                <a:lnTo>
                  <a:pt x="0" y="53578"/>
                </a:lnTo>
                <a:cubicBezTo>
                  <a:pt x="0" y="58517"/>
                  <a:pt x="3990" y="62508"/>
                  <a:pt x="8930" y="62508"/>
                </a:cubicBezTo>
                <a:lnTo>
                  <a:pt x="133945" y="62508"/>
                </a:lnTo>
                <a:cubicBezTo>
                  <a:pt x="138885" y="62508"/>
                  <a:pt x="142875" y="58517"/>
                  <a:pt x="142875" y="53578"/>
                </a:cubicBezTo>
                <a:lnTo>
                  <a:pt x="142875" y="44648"/>
                </a:lnTo>
                <a:cubicBezTo>
                  <a:pt x="142875" y="39709"/>
                  <a:pt x="138885" y="35719"/>
                  <a:pt x="133945" y="35719"/>
                </a:cubicBezTo>
                <a:lnTo>
                  <a:pt x="122337" y="35719"/>
                </a:lnTo>
                <a:cubicBezTo>
                  <a:pt x="124039" y="32370"/>
                  <a:pt x="125016" y="28575"/>
                  <a:pt x="125016" y="24557"/>
                </a:cubicBezTo>
                <a:cubicBezTo>
                  <a:pt x="125016" y="10995"/>
                  <a:pt x="114021" y="0"/>
                  <a:pt x="100459" y="0"/>
                </a:cubicBezTo>
                <a:lnTo>
                  <a:pt x="99845" y="0"/>
                </a:lnTo>
                <a:cubicBezTo>
                  <a:pt x="90943" y="0"/>
                  <a:pt x="82683" y="4716"/>
                  <a:pt x="78163" y="12390"/>
                </a:cubicBezTo>
                <a:close/>
                <a:moveTo>
                  <a:pt x="133945" y="75902"/>
                </a:moveTo>
                <a:lnTo>
                  <a:pt x="78135" y="75902"/>
                </a:lnTo>
                <a:lnTo>
                  <a:pt x="78135" y="133945"/>
                </a:lnTo>
                <a:lnTo>
                  <a:pt x="116086" y="133945"/>
                </a:lnTo>
                <a:cubicBezTo>
                  <a:pt x="125936" y="133945"/>
                  <a:pt x="133945" y="125936"/>
                  <a:pt x="133945" y="116086"/>
                </a:cubicBezTo>
                <a:lnTo>
                  <a:pt x="133945" y="75902"/>
                </a:lnTo>
                <a:close/>
                <a:moveTo>
                  <a:pt x="64740" y="75902"/>
                </a:moveTo>
                <a:lnTo>
                  <a:pt x="8930" y="75902"/>
                </a:lnTo>
                <a:lnTo>
                  <a:pt x="8930" y="116086"/>
                </a:lnTo>
                <a:cubicBezTo>
                  <a:pt x="8930" y="125936"/>
                  <a:pt x="16939" y="133945"/>
                  <a:pt x="26789" y="133945"/>
                </a:cubicBezTo>
                <a:lnTo>
                  <a:pt x="64740" y="133945"/>
                </a:lnTo>
                <a:lnTo>
                  <a:pt x="64740" y="75902"/>
                </a:lnTo>
                <a:close/>
              </a:path>
            </a:pathLst>
          </a:custGeom>
          <a:solidFill>
            <a:srgbClr val="F7B538"/>
          </a:solidFill>
          <a:ln/>
        </p:spPr>
      </p:sp>
      <p:sp>
        <p:nvSpPr>
          <p:cNvPr id="63" name="Text 61"/>
          <p:cNvSpPr/>
          <p:nvPr/>
        </p:nvSpPr>
        <p:spPr>
          <a:xfrm>
            <a:off x="4570611" y="2413000"/>
            <a:ext cx="1516063"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GuruDakshinaService.php</a:t>
            </a:r>
            <a:endParaRPr lang="en-US" sz="1600" dirty="0"/>
          </a:p>
        </p:txBody>
      </p:sp>
      <p:sp>
        <p:nvSpPr>
          <p:cNvPr id="64" name="Text 62"/>
          <p:cNvSpPr/>
          <p:nvPr/>
        </p:nvSpPr>
        <p:spPr>
          <a:xfrm>
            <a:off x="4328517" y="2635250"/>
            <a:ext cx="3627438" cy="349250"/>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Generates zero-commission Razorpay payment links post-session; records to payments table with special flag.</a:t>
            </a:r>
            <a:endParaRPr lang="en-US" sz="1600" dirty="0"/>
          </a:p>
        </p:txBody>
      </p:sp>
      <p:sp>
        <p:nvSpPr>
          <p:cNvPr id="65" name="Shape 63"/>
          <p:cNvSpPr/>
          <p:nvPr/>
        </p:nvSpPr>
        <p:spPr>
          <a:xfrm>
            <a:off x="4328517" y="3048000"/>
            <a:ext cx="635000" cy="222250"/>
          </a:xfrm>
          <a:custGeom>
            <a:avLst/>
            <a:gdLst/>
            <a:ahLst/>
            <a:cxnLst/>
            <a:rect l="l" t="t" r="r" b="b"/>
            <a:pathLst>
              <a:path w="635000" h="222250">
                <a:moveTo>
                  <a:pt x="31751" y="0"/>
                </a:moveTo>
                <a:lnTo>
                  <a:pt x="603249" y="0"/>
                </a:lnTo>
                <a:cubicBezTo>
                  <a:pt x="620785" y="0"/>
                  <a:pt x="635000" y="14215"/>
                  <a:pt x="635000" y="31751"/>
                </a:cubicBezTo>
                <a:lnTo>
                  <a:pt x="635000" y="190499"/>
                </a:lnTo>
                <a:cubicBezTo>
                  <a:pt x="635000" y="208035"/>
                  <a:pt x="620785" y="222250"/>
                  <a:pt x="603249" y="222250"/>
                </a:cubicBezTo>
                <a:lnTo>
                  <a:pt x="31751" y="222250"/>
                </a:lnTo>
                <a:cubicBezTo>
                  <a:pt x="14227" y="222250"/>
                  <a:pt x="0" y="208023"/>
                  <a:pt x="0" y="190499"/>
                </a:cubicBezTo>
                <a:lnTo>
                  <a:pt x="0" y="31751"/>
                </a:lnTo>
                <a:cubicBezTo>
                  <a:pt x="0" y="14227"/>
                  <a:pt x="14227" y="0"/>
                  <a:pt x="31751" y="0"/>
                </a:cubicBezTo>
                <a:close/>
              </a:path>
            </a:pathLst>
          </a:custGeom>
          <a:solidFill>
            <a:srgbClr val="1A535C">
              <a:alpha val="10196"/>
            </a:srgbClr>
          </a:solidFill>
          <a:ln/>
        </p:spPr>
      </p:sp>
      <p:sp>
        <p:nvSpPr>
          <p:cNvPr id="66" name="Text 64"/>
          <p:cNvSpPr/>
          <p:nvPr/>
        </p:nvSpPr>
        <p:spPr>
          <a:xfrm>
            <a:off x="4328517" y="3048000"/>
            <a:ext cx="698500" cy="222250"/>
          </a:xfrm>
          <a:prstGeom prst="rect">
            <a:avLst/>
          </a:prstGeom>
          <a:noFill/>
          <a:ln/>
        </p:spPr>
        <p:txBody>
          <a:bodyPr wrap="square" lIns="63500" tIns="15875" rIns="63500" bIns="15875" rtlCol="0" anchor="ctr"/>
          <a:lstStyle/>
          <a:p>
            <a:pPr>
              <a:lnSpc>
                <a:spcPct val="130000"/>
              </a:lnSpc>
            </a:pPr>
            <a:r>
              <a:rPr lang="en-US" sz="1000" dirty="0">
                <a:solidFill>
                  <a:srgbClr val="1A535C"/>
                </a:solidFill>
                <a:latin typeface="Quattrocento Sans" pitchFamily="34" charset="0"/>
                <a:ea typeface="Quattrocento Sans" pitchFamily="34" charset="-122"/>
                <a:cs typeface="Quattrocento Sans" pitchFamily="34" charset="-120"/>
              </a:rPr>
              <a:t>Razorpay</a:t>
            </a:r>
            <a:endParaRPr lang="en-US" sz="1600" dirty="0"/>
          </a:p>
        </p:txBody>
      </p:sp>
      <p:sp>
        <p:nvSpPr>
          <p:cNvPr id="67" name="Shape 65"/>
          <p:cNvSpPr/>
          <p:nvPr/>
        </p:nvSpPr>
        <p:spPr>
          <a:xfrm>
            <a:off x="4997847" y="3048000"/>
            <a:ext cx="1023938" cy="222250"/>
          </a:xfrm>
          <a:custGeom>
            <a:avLst/>
            <a:gdLst/>
            <a:ahLst/>
            <a:cxnLst/>
            <a:rect l="l" t="t" r="r" b="b"/>
            <a:pathLst>
              <a:path w="1023938" h="222250">
                <a:moveTo>
                  <a:pt x="31751" y="0"/>
                </a:moveTo>
                <a:lnTo>
                  <a:pt x="992187" y="0"/>
                </a:lnTo>
                <a:cubicBezTo>
                  <a:pt x="1009722" y="0"/>
                  <a:pt x="1023938" y="14215"/>
                  <a:pt x="1023938" y="31751"/>
                </a:cubicBezTo>
                <a:lnTo>
                  <a:pt x="1023938" y="190499"/>
                </a:lnTo>
                <a:cubicBezTo>
                  <a:pt x="1023938" y="208035"/>
                  <a:pt x="1009722" y="222250"/>
                  <a:pt x="992187" y="222250"/>
                </a:cubicBezTo>
                <a:lnTo>
                  <a:pt x="31751" y="222250"/>
                </a:lnTo>
                <a:cubicBezTo>
                  <a:pt x="14227" y="222250"/>
                  <a:pt x="0" y="208023"/>
                  <a:pt x="0" y="190499"/>
                </a:cubicBezTo>
                <a:lnTo>
                  <a:pt x="0" y="31751"/>
                </a:lnTo>
                <a:cubicBezTo>
                  <a:pt x="0" y="14227"/>
                  <a:pt x="14227" y="0"/>
                  <a:pt x="31751" y="0"/>
                </a:cubicBezTo>
                <a:close/>
              </a:path>
            </a:pathLst>
          </a:custGeom>
          <a:solidFill>
            <a:srgbClr val="1A535C">
              <a:alpha val="10196"/>
            </a:srgbClr>
          </a:solidFill>
          <a:ln/>
        </p:spPr>
      </p:sp>
      <p:sp>
        <p:nvSpPr>
          <p:cNvPr id="68" name="Text 66"/>
          <p:cNvSpPr/>
          <p:nvPr/>
        </p:nvSpPr>
        <p:spPr>
          <a:xfrm>
            <a:off x="4997847" y="3048000"/>
            <a:ext cx="1087438" cy="222250"/>
          </a:xfrm>
          <a:prstGeom prst="rect">
            <a:avLst/>
          </a:prstGeom>
          <a:noFill/>
          <a:ln/>
        </p:spPr>
        <p:txBody>
          <a:bodyPr wrap="square" lIns="63500" tIns="15875" rIns="63500" bIns="15875" rtlCol="0" anchor="ctr"/>
          <a:lstStyle/>
          <a:p>
            <a:pPr>
              <a:lnSpc>
                <a:spcPct val="130000"/>
              </a:lnSpc>
            </a:pPr>
            <a:r>
              <a:rPr lang="en-US" sz="1000" dirty="0">
                <a:solidFill>
                  <a:srgbClr val="1A535C"/>
                </a:solidFill>
                <a:latin typeface="Quattrocento Sans" pitchFamily="34" charset="0"/>
                <a:ea typeface="Quattrocento Sans" pitchFamily="34" charset="-122"/>
                <a:cs typeface="Quattrocento Sans" pitchFamily="34" charset="-120"/>
              </a:rPr>
              <a:t>0% Commission</a:t>
            </a:r>
            <a:endParaRPr lang="en-US" sz="1600" dirty="0"/>
          </a:p>
        </p:txBody>
      </p:sp>
      <p:sp>
        <p:nvSpPr>
          <p:cNvPr id="69" name="Shape 67"/>
          <p:cNvSpPr/>
          <p:nvPr/>
        </p:nvSpPr>
        <p:spPr>
          <a:xfrm>
            <a:off x="4217392" y="3429000"/>
            <a:ext cx="3770313" cy="1047750"/>
          </a:xfrm>
          <a:custGeom>
            <a:avLst/>
            <a:gdLst/>
            <a:ahLst/>
            <a:cxnLst/>
            <a:rect l="l" t="t" r="r" b="b"/>
            <a:pathLst>
              <a:path w="3770313" h="1047750">
                <a:moveTo>
                  <a:pt x="31750" y="0"/>
                </a:moveTo>
                <a:lnTo>
                  <a:pt x="3706808" y="0"/>
                </a:lnTo>
                <a:cubicBezTo>
                  <a:pt x="3741881" y="0"/>
                  <a:pt x="3770313" y="28432"/>
                  <a:pt x="3770313" y="63504"/>
                </a:cubicBezTo>
                <a:lnTo>
                  <a:pt x="3770313" y="984246"/>
                </a:lnTo>
                <a:cubicBezTo>
                  <a:pt x="3770313" y="1019318"/>
                  <a:pt x="3741881" y="1047750"/>
                  <a:pt x="3706808" y="1047750"/>
                </a:cubicBezTo>
                <a:lnTo>
                  <a:pt x="31750" y="1047750"/>
                </a:lnTo>
                <a:cubicBezTo>
                  <a:pt x="14215" y="1047750"/>
                  <a:pt x="0" y="1033535"/>
                  <a:pt x="0" y="1016000"/>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70" name="Shape 68"/>
          <p:cNvSpPr/>
          <p:nvPr/>
        </p:nvSpPr>
        <p:spPr>
          <a:xfrm>
            <a:off x="4217392" y="3429000"/>
            <a:ext cx="31750" cy="1047750"/>
          </a:xfrm>
          <a:custGeom>
            <a:avLst/>
            <a:gdLst/>
            <a:ahLst/>
            <a:cxnLst/>
            <a:rect l="l" t="t" r="r" b="b"/>
            <a:pathLst>
              <a:path w="31750" h="1047750">
                <a:moveTo>
                  <a:pt x="31750" y="0"/>
                </a:moveTo>
                <a:lnTo>
                  <a:pt x="31750" y="0"/>
                </a:lnTo>
                <a:lnTo>
                  <a:pt x="31750" y="1047750"/>
                </a:lnTo>
                <a:lnTo>
                  <a:pt x="31750" y="1047750"/>
                </a:lnTo>
                <a:cubicBezTo>
                  <a:pt x="14227" y="1047750"/>
                  <a:pt x="0" y="1033523"/>
                  <a:pt x="0" y="1016000"/>
                </a:cubicBezTo>
                <a:lnTo>
                  <a:pt x="0" y="31750"/>
                </a:lnTo>
                <a:cubicBezTo>
                  <a:pt x="0" y="14227"/>
                  <a:pt x="14227" y="0"/>
                  <a:pt x="31750" y="0"/>
                </a:cubicBezTo>
                <a:close/>
              </a:path>
            </a:pathLst>
          </a:custGeom>
          <a:solidFill>
            <a:srgbClr val="4A7C59"/>
          </a:solidFill>
          <a:ln/>
        </p:spPr>
      </p:sp>
      <p:sp>
        <p:nvSpPr>
          <p:cNvPr id="71" name="Shape 69"/>
          <p:cNvSpPr/>
          <p:nvPr/>
        </p:nvSpPr>
        <p:spPr>
          <a:xfrm>
            <a:off x="4348361" y="3548063"/>
            <a:ext cx="142875" cy="142875"/>
          </a:xfrm>
          <a:custGeom>
            <a:avLst/>
            <a:gdLst/>
            <a:ahLst/>
            <a:cxnLst/>
            <a:rect l="l" t="t" r="r" b="b"/>
            <a:pathLst>
              <a:path w="142875" h="142875">
                <a:moveTo>
                  <a:pt x="71438" y="0"/>
                </a:moveTo>
                <a:cubicBezTo>
                  <a:pt x="110865" y="0"/>
                  <a:pt x="142875" y="32010"/>
                  <a:pt x="142875" y="71438"/>
                </a:cubicBezTo>
                <a:cubicBezTo>
                  <a:pt x="142875" y="110865"/>
                  <a:pt x="110865" y="142875"/>
                  <a:pt x="71438" y="142875"/>
                </a:cubicBezTo>
                <a:cubicBezTo>
                  <a:pt x="32010" y="142875"/>
                  <a:pt x="0" y="110865"/>
                  <a:pt x="0" y="71438"/>
                </a:cubicBezTo>
                <a:cubicBezTo>
                  <a:pt x="0" y="32010"/>
                  <a:pt x="32010" y="0"/>
                  <a:pt x="71437" y="0"/>
                </a:cubicBezTo>
                <a:close/>
                <a:moveTo>
                  <a:pt x="64740" y="33486"/>
                </a:moveTo>
                <a:lnTo>
                  <a:pt x="64740" y="71438"/>
                </a:lnTo>
                <a:cubicBezTo>
                  <a:pt x="64740" y="73670"/>
                  <a:pt x="65856" y="75763"/>
                  <a:pt x="67726" y="77019"/>
                </a:cubicBezTo>
                <a:lnTo>
                  <a:pt x="94515" y="94878"/>
                </a:lnTo>
                <a:cubicBezTo>
                  <a:pt x="97585" y="96943"/>
                  <a:pt x="101743" y="96106"/>
                  <a:pt x="103808" y="93008"/>
                </a:cubicBezTo>
                <a:cubicBezTo>
                  <a:pt x="105873" y="89911"/>
                  <a:pt x="105035" y="85781"/>
                  <a:pt x="101938" y="83716"/>
                </a:cubicBezTo>
                <a:lnTo>
                  <a:pt x="78135" y="67866"/>
                </a:lnTo>
                <a:lnTo>
                  <a:pt x="78135" y="33486"/>
                </a:lnTo>
                <a:cubicBezTo>
                  <a:pt x="78135" y="29775"/>
                  <a:pt x="75149" y="26789"/>
                  <a:pt x="71438" y="26789"/>
                </a:cubicBezTo>
                <a:cubicBezTo>
                  <a:pt x="67726" y="26789"/>
                  <a:pt x="64740" y="29775"/>
                  <a:pt x="64740" y="33486"/>
                </a:cubicBezTo>
                <a:close/>
              </a:path>
            </a:pathLst>
          </a:custGeom>
          <a:solidFill>
            <a:srgbClr val="F7B538"/>
          </a:solidFill>
          <a:ln/>
        </p:spPr>
      </p:sp>
      <p:sp>
        <p:nvSpPr>
          <p:cNvPr id="72" name="Text 70"/>
          <p:cNvSpPr/>
          <p:nvPr/>
        </p:nvSpPr>
        <p:spPr>
          <a:xfrm>
            <a:off x="4570611" y="3524250"/>
            <a:ext cx="1547813"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TeacherStatusService.php</a:t>
            </a:r>
            <a:endParaRPr lang="en-US" sz="1600" dirty="0"/>
          </a:p>
        </p:txBody>
      </p:sp>
      <p:sp>
        <p:nvSpPr>
          <p:cNvPr id="73" name="Text 71"/>
          <p:cNvSpPr/>
          <p:nvPr/>
        </p:nvSpPr>
        <p:spPr>
          <a:xfrm>
            <a:off x="4328517" y="3746500"/>
            <a:ext cx="3627438" cy="349250"/>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Creates daily statuses; notifies followers via Echo broadcast; purges expired statuses via Scheduler.</a:t>
            </a:r>
            <a:endParaRPr lang="en-US" sz="1600" dirty="0"/>
          </a:p>
        </p:txBody>
      </p:sp>
      <p:sp>
        <p:nvSpPr>
          <p:cNvPr id="74" name="Shape 72"/>
          <p:cNvSpPr/>
          <p:nvPr/>
        </p:nvSpPr>
        <p:spPr>
          <a:xfrm>
            <a:off x="4328517" y="4159250"/>
            <a:ext cx="690563" cy="222250"/>
          </a:xfrm>
          <a:custGeom>
            <a:avLst/>
            <a:gdLst/>
            <a:ahLst/>
            <a:cxnLst/>
            <a:rect l="l" t="t" r="r" b="b"/>
            <a:pathLst>
              <a:path w="690563" h="222250">
                <a:moveTo>
                  <a:pt x="31751" y="0"/>
                </a:moveTo>
                <a:lnTo>
                  <a:pt x="658812" y="0"/>
                </a:lnTo>
                <a:cubicBezTo>
                  <a:pt x="676347" y="0"/>
                  <a:pt x="690563" y="14215"/>
                  <a:pt x="690563" y="31751"/>
                </a:cubicBezTo>
                <a:lnTo>
                  <a:pt x="690563" y="190499"/>
                </a:lnTo>
                <a:cubicBezTo>
                  <a:pt x="690563" y="208035"/>
                  <a:pt x="676347" y="222250"/>
                  <a:pt x="658812" y="222250"/>
                </a:cubicBezTo>
                <a:lnTo>
                  <a:pt x="31751" y="222250"/>
                </a:lnTo>
                <a:cubicBezTo>
                  <a:pt x="14227" y="222250"/>
                  <a:pt x="0" y="208023"/>
                  <a:pt x="0" y="190499"/>
                </a:cubicBezTo>
                <a:lnTo>
                  <a:pt x="0" y="31751"/>
                </a:lnTo>
                <a:cubicBezTo>
                  <a:pt x="0" y="14227"/>
                  <a:pt x="14227" y="0"/>
                  <a:pt x="31751" y="0"/>
                </a:cubicBezTo>
                <a:close/>
              </a:path>
            </a:pathLst>
          </a:custGeom>
          <a:solidFill>
            <a:srgbClr val="4A7C59">
              <a:alpha val="10196"/>
            </a:srgbClr>
          </a:solidFill>
          <a:ln/>
        </p:spPr>
      </p:sp>
      <p:sp>
        <p:nvSpPr>
          <p:cNvPr id="75" name="Text 73"/>
          <p:cNvSpPr/>
          <p:nvPr/>
        </p:nvSpPr>
        <p:spPr>
          <a:xfrm>
            <a:off x="4328517" y="4159250"/>
            <a:ext cx="754063" cy="222250"/>
          </a:xfrm>
          <a:prstGeom prst="rect">
            <a:avLst/>
          </a:prstGeom>
          <a:noFill/>
          <a:ln/>
        </p:spPr>
        <p:txBody>
          <a:bodyPr wrap="square" lIns="63500" tIns="15875" rIns="63500" bIns="15875" rtlCol="0" anchor="ctr"/>
          <a:lstStyle/>
          <a:p>
            <a:pPr>
              <a:lnSpc>
                <a:spcPct val="130000"/>
              </a:lnSpc>
            </a:pPr>
            <a:r>
              <a:rPr lang="en-US" sz="1000" dirty="0">
                <a:solidFill>
                  <a:srgbClr val="4A7C59"/>
                </a:solidFill>
                <a:latin typeface="Quattrocento Sans" pitchFamily="34" charset="0"/>
                <a:ea typeface="Quattrocento Sans" pitchFamily="34" charset="-122"/>
                <a:cs typeface="Quattrocento Sans" pitchFamily="34" charset="-120"/>
              </a:rPr>
              <a:t>24h Status</a:t>
            </a:r>
            <a:endParaRPr lang="en-US" sz="1600" dirty="0"/>
          </a:p>
        </p:txBody>
      </p:sp>
      <p:sp>
        <p:nvSpPr>
          <p:cNvPr id="76" name="Shape 74"/>
          <p:cNvSpPr/>
          <p:nvPr/>
        </p:nvSpPr>
        <p:spPr>
          <a:xfrm>
            <a:off x="5054600" y="4159250"/>
            <a:ext cx="674688" cy="222250"/>
          </a:xfrm>
          <a:custGeom>
            <a:avLst/>
            <a:gdLst/>
            <a:ahLst/>
            <a:cxnLst/>
            <a:rect l="l" t="t" r="r" b="b"/>
            <a:pathLst>
              <a:path w="674688" h="222250">
                <a:moveTo>
                  <a:pt x="31751" y="0"/>
                </a:moveTo>
                <a:lnTo>
                  <a:pt x="642937" y="0"/>
                </a:lnTo>
                <a:cubicBezTo>
                  <a:pt x="660472" y="0"/>
                  <a:pt x="674688" y="14215"/>
                  <a:pt x="674688" y="31751"/>
                </a:cubicBezTo>
                <a:lnTo>
                  <a:pt x="674688" y="190499"/>
                </a:lnTo>
                <a:cubicBezTo>
                  <a:pt x="674688" y="208035"/>
                  <a:pt x="660472" y="222250"/>
                  <a:pt x="642937" y="222250"/>
                </a:cubicBezTo>
                <a:lnTo>
                  <a:pt x="31751" y="222250"/>
                </a:lnTo>
                <a:cubicBezTo>
                  <a:pt x="14227" y="222250"/>
                  <a:pt x="0" y="208023"/>
                  <a:pt x="0" y="190499"/>
                </a:cubicBezTo>
                <a:lnTo>
                  <a:pt x="0" y="31751"/>
                </a:lnTo>
                <a:cubicBezTo>
                  <a:pt x="0" y="14227"/>
                  <a:pt x="14227" y="0"/>
                  <a:pt x="31751" y="0"/>
                </a:cubicBezTo>
                <a:close/>
              </a:path>
            </a:pathLst>
          </a:custGeom>
          <a:solidFill>
            <a:srgbClr val="4A7C59">
              <a:alpha val="10196"/>
            </a:srgbClr>
          </a:solidFill>
          <a:ln/>
        </p:spPr>
      </p:sp>
      <p:sp>
        <p:nvSpPr>
          <p:cNvPr id="77" name="Text 75"/>
          <p:cNvSpPr/>
          <p:nvPr/>
        </p:nvSpPr>
        <p:spPr>
          <a:xfrm>
            <a:off x="5054600" y="4159250"/>
            <a:ext cx="738188" cy="222250"/>
          </a:xfrm>
          <a:prstGeom prst="rect">
            <a:avLst/>
          </a:prstGeom>
          <a:noFill/>
          <a:ln/>
        </p:spPr>
        <p:txBody>
          <a:bodyPr wrap="square" lIns="63500" tIns="15875" rIns="63500" bIns="15875" rtlCol="0" anchor="ctr"/>
          <a:lstStyle/>
          <a:p>
            <a:pPr>
              <a:lnSpc>
                <a:spcPct val="130000"/>
              </a:lnSpc>
            </a:pPr>
            <a:r>
              <a:rPr lang="en-US" sz="1000" dirty="0">
                <a:solidFill>
                  <a:srgbClr val="4A7C59"/>
                </a:solidFill>
                <a:latin typeface="Quattrocento Sans" pitchFamily="34" charset="0"/>
                <a:ea typeface="Quattrocento Sans" pitchFamily="34" charset="-122"/>
                <a:cs typeface="Quattrocento Sans" pitchFamily="34" charset="-120"/>
              </a:rPr>
              <a:t>Broadcast</a:t>
            </a:r>
            <a:endParaRPr lang="en-US" sz="1600" dirty="0"/>
          </a:p>
        </p:txBody>
      </p:sp>
      <p:sp>
        <p:nvSpPr>
          <p:cNvPr id="78" name="Shape 76"/>
          <p:cNvSpPr/>
          <p:nvPr/>
        </p:nvSpPr>
        <p:spPr>
          <a:xfrm>
            <a:off x="4217392" y="4540250"/>
            <a:ext cx="3770313" cy="1047750"/>
          </a:xfrm>
          <a:custGeom>
            <a:avLst/>
            <a:gdLst/>
            <a:ahLst/>
            <a:cxnLst/>
            <a:rect l="l" t="t" r="r" b="b"/>
            <a:pathLst>
              <a:path w="3770313" h="1047750">
                <a:moveTo>
                  <a:pt x="31750" y="0"/>
                </a:moveTo>
                <a:lnTo>
                  <a:pt x="3706808" y="0"/>
                </a:lnTo>
                <a:cubicBezTo>
                  <a:pt x="3741881" y="0"/>
                  <a:pt x="3770313" y="28432"/>
                  <a:pt x="3770313" y="63504"/>
                </a:cubicBezTo>
                <a:lnTo>
                  <a:pt x="3770313" y="984246"/>
                </a:lnTo>
                <a:cubicBezTo>
                  <a:pt x="3770313" y="1019318"/>
                  <a:pt x="3741881" y="1047750"/>
                  <a:pt x="3706808" y="1047750"/>
                </a:cubicBezTo>
                <a:lnTo>
                  <a:pt x="31750" y="1047750"/>
                </a:lnTo>
                <a:cubicBezTo>
                  <a:pt x="14215" y="1047750"/>
                  <a:pt x="0" y="1033535"/>
                  <a:pt x="0" y="1016000"/>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79" name="Shape 77"/>
          <p:cNvSpPr/>
          <p:nvPr/>
        </p:nvSpPr>
        <p:spPr>
          <a:xfrm>
            <a:off x="4217392" y="4540250"/>
            <a:ext cx="31750" cy="1047750"/>
          </a:xfrm>
          <a:custGeom>
            <a:avLst/>
            <a:gdLst/>
            <a:ahLst/>
            <a:cxnLst/>
            <a:rect l="l" t="t" r="r" b="b"/>
            <a:pathLst>
              <a:path w="31750" h="1047750">
                <a:moveTo>
                  <a:pt x="31750" y="0"/>
                </a:moveTo>
                <a:lnTo>
                  <a:pt x="31750" y="0"/>
                </a:lnTo>
                <a:lnTo>
                  <a:pt x="31750" y="1047750"/>
                </a:lnTo>
                <a:lnTo>
                  <a:pt x="31750" y="1047750"/>
                </a:lnTo>
                <a:cubicBezTo>
                  <a:pt x="14227" y="1047750"/>
                  <a:pt x="0" y="1033523"/>
                  <a:pt x="0" y="1016000"/>
                </a:cubicBezTo>
                <a:lnTo>
                  <a:pt x="0" y="31750"/>
                </a:lnTo>
                <a:cubicBezTo>
                  <a:pt x="0" y="14227"/>
                  <a:pt x="14227" y="0"/>
                  <a:pt x="31750" y="0"/>
                </a:cubicBezTo>
                <a:close/>
              </a:path>
            </a:pathLst>
          </a:custGeom>
          <a:solidFill>
            <a:srgbClr val="F7B538"/>
          </a:solidFill>
          <a:ln/>
        </p:spPr>
      </p:sp>
      <p:sp>
        <p:nvSpPr>
          <p:cNvPr id="80" name="Shape 78"/>
          <p:cNvSpPr/>
          <p:nvPr/>
        </p:nvSpPr>
        <p:spPr>
          <a:xfrm>
            <a:off x="4348361" y="4659313"/>
            <a:ext cx="142875" cy="142875"/>
          </a:xfrm>
          <a:custGeom>
            <a:avLst/>
            <a:gdLst/>
            <a:ahLst/>
            <a:cxnLst/>
            <a:rect l="l" t="t" r="r" b="b"/>
            <a:pathLst>
              <a:path w="142875" h="142875">
                <a:moveTo>
                  <a:pt x="33486" y="15627"/>
                </a:moveTo>
                <a:cubicBezTo>
                  <a:pt x="33486" y="7004"/>
                  <a:pt x="40491" y="0"/>
                  <a:pt x="49113" y="0"/>
                </a:cubicBezTo>
                <a:lnTo>
                  <a:pt x="55811" y="0"/>
                </a:lnTo>
                <a:cubicBezTo>
                  <a:pt x="60750" y="0"/>
                  <a:pt x="64740" y="3990"/>
                  <a:pt x="64740" y="8930"/>
                </a:cubicBezTo>
                <a:lnTo>
                  <a:pt x="64740" y="133945"/>
                </a:lnTo>
                <a:cubicBezTo>
                  <a:pt x="64740" y="138885"/>
                  <a:pt x="60750" y="142875"/>
                  <a:pt x="55811" y="142875"/>
                </a:cubicBezTo>
                <a:lnTo>
                  <a:pt x="46881" y="142875"/>
                </a:lnTo>
                <a:cubicBezTo>
                  <a:pt x="38565" y="142875"/>
                  <a:pt x="31561" y="137182"/>
                  <a:pt x="29580" y="129480"/>
                </a:cubicBezTo>
                <a:cubicBezTo>
                  <a:pt x="29384" y="129480"/>
                  <a:pt x="29217" y="129480"/>
                  <a:pt x="29021" y="129480"/>
                </a:cubicBezTo>
                <a:cubicBezTo>
                  <a:pt x="16687" y="129480"/>
                  <a:pt x="6697" y="119490"/>
                  <a:pt x="6697" y="107156"/>
                </a:cubicBezTo>
                <a:cubicBezTo>
                  <a:pt x="6697" y="102133"/>
                  <a:pt x="8372" y="97501"/>
                  <a:pt x="11162" y="93762"/>
                </a:cubicBezTo>
                <a:cubicBezTo>
                  <a:pt x="5748" y="89688"/>
                  <a:pt x="2232" y="83214"/>
                  <a:pt x="2232" y="75902"/>
                </a:cubicBezTo>
                <a:cubicBezTo>
                  <a:pt x="2232" y="67280"/>
                  <a:pt x="7144" y="59773"/>
                  <a:pt x="14288" y="56062"/>
                </a:cubicBezTo>
                <a:cubicBezTo>
                  <a:pt x="12306" y="52713"/>
                  <a:pt x="11162" y="48806"/>
                  <a:pt x="11162" y="44648"/>
                </a:cubicBezTo>
                <a:cubicBezTo>
                  <a:pt x="11162" y="32314"/>
                  <a:pt x="21152" y="22324"/>
                  <a:pt x="33486" y="22324"/>
                </a:cubicBezTo>
                <a:lnTo>
                  <a:pt x="33486" y="15627"/>
                </a:lnTo>
                <a:close/>
                <a:moveTo>
                  <a:pt x="109389" y="15627"/>
                </a:moveTo>
                <a:lnTo>
                  <a:pt x="109389" y="22324"/>
                </a:lnTo>
                <a:cubicBezTo>
                  <a:pt x="121723" y="22324"/>
                  <a:pt x="131713" y="32314"/>
                  <a:pt x="131713" y="44648"/>
                </a:cubicBezTo>
                <a:cubicBezTo>
                  <a:pt x="131713" y="48834"/>
                  <a:pt x="130569" y="52741"/>
                  <a:pt x="128588" y="56062"/>
                </a:cubicBezTo>
                <a:cubicBezTo>
                  <a:pt x="135759" y="59773"/>
                  <a:pt x="140643" y="67252"/>
                  <a:pt x="140643" y="75902"/>
                </a:cubicBezTo>
                <a:cubicBezTo>
                  <a:pt x="140643" y="83214"/>
                  <a:pt x="137127" y="89688"/>
                  <a:pt x="131713" y="93762"/>
                </a:cubicBezTo>
                <a:cubicBezTo>
                  <a:pt x="134503" y="97501"/>
                  <a:pt x="136178" y="102133"/>
                  <a:pt x="136178" y="107156"/>
                </a:cubicBezTo>
                <a:cubicBezTo>
                  <a:pt x="136178" y="119490"/>
                  <a:pt x="126188" y="129480"/>
                  <a:pt x="113854" y="129480"/>
                </a:cubicBezTo>
                <a:cubicBezTo>
                  <a:pt x="113658" y="129480"/>
                  <a:pt x="113491" y="129480"/>
                  <a:pt x="113295" y="129480"/>
                </a:cubicBezTo>
                <a:cubicBezTo>
                  <a:pt x="111314" y="137182"/>
                  <a:pt x="104310" y="142875"/>
                  <a:pt x="95994" y="142875"/>
                </a:cubicBezTo>
                <a:lnTo>
                  <a:pt x="87064" y="142875"/>
                </a:lnTo>
                <a:cubicBezTo>
                  <a:pt x="82125" y="142875"/>
                  <a:pt x="78135" y="138885"/>
                  <a:pt x="78135" y="133945"/>
                </a:cubicBezTo>
                <a:lnTo>
                  <a:pt x="78135" y="8930"/>
                </a:lnTo>
                <a:cubicBezTo>
                  <a:pt x="78135" y="3990"/>
                  <a:pt x="82125" y="0"/>
                  <a:pt x="87064" y="0"/>
                </a:cubicBezTo>
                <a:lnTo>
                  <a:pt x="93762" y="0"/>
                </a:lnTo>
                <a:cubicBezTo>
                  <a:pt x="102384" y="0"/>
                  <a:pt x="109389" y="7004"/>
                  <a:pt x="109389" y="15627"/>
                </a:cubicBezTo>
                <a:close/>
              </a:path>
            </a:pathLst>
          </a:custGeom>
          <a:solidFill>
            <a:srgbClr val="F7B538"/>
          </a:solidFill>
          <a:ln/>
        </p:spPr>
      </p:sp>
      <p:sp>
        <p:nvSpPr>
          <p:cNvPr id="81" name="Text 79"/>
          <p:cNvSpPr/>
          <p:nvPr/>
        </p:nvSpPr>
        <p:spPr>
          <a:xfrm>
            <a:off x="4570611" y="4635500"/>
            <a:ext cx="1730375"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WisdomMatchingService.php</a:t>
            </a:r>
            <a:endParaRPr lang="en-US" sz="1600" dirty="0"/>
          </a:p>
        </p:txBody>
      </p:sp>
      <p:sp>
        <p:nvSpPr>
          <p:cNvPr id="82" name="Text 80"/>
          <p:cNvSpPr/>
          <p:nvPr/>
        </p:nvSpPr>
        <p:spPr>
          <a:xfrm>
            <a:off x="4328517" y="4857750"/>
            <a:ext cx="3627438" cy="349250"/>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Calls OpenAI Embeddings API; computes teacher-student compatibility score for search results. Refreshed weekly.</a:t>
            </a:r>
            <a:endParaRPr lang="en-US" sz="1600" dirty="0"/>
          </a:p>
        </p:txBody>
      </p:sp>
      <p:sp>
        <p:nvSpPr>
          <p:cNvPr id="83" name="Shape 81"/>
          <p:cNvSpPr/>
          <p:nvPr/>
        </p:nvSpPr>
        <p:spPr>
          <a:xfrm>
            <a:off x="4328517" y="5270500"/>
            <a:ext cx="547688" cy="222250"/>
          </a:xfrm>
          <a:custGeom>
            <a:avLst/>
            <a:gdLst/>
            <a:ahLst/>
            <a:cxnLst/>
            <a:rect l="l" t="t" r="r" b="b"/>
            <a:pathLst>
              <a:path w="547688" h="222250">
                <a:moveTo>
                  <a:pt x="31751" y="0"/>
                </a:moveTo>
                <a:lnTo>
                  <a:pt x="515937" y="0"/>
                </a:lnTo>
                <a:cubicBezTo>
                  <a:pt x="533472" y="0"/>
                  <a:pt x="547688" y="14215"/>
                  <a:pt x="547688" y="31751"/>
                </a:cubicBezTo>
                <a:lnTo>
                  <a:pt x="547688" y="190499"/>
                </a:lnTo>
                <a:cubicBezTo>
                  <a:pt x="547688" y="208035"/>
                  <a:pt x="533472" y="222250"/>
                  <a:pt x="515937" y="222250"/>
                </a:cubicBezTo>
                <a:lnTo>
                  <a:pt x="31751" y="222250"/>
                </a:lnTo>
                <a:cubicBezTo>
                  <a:pt x="14227" y="222250"/>
                  <a:pt x="0" y="208023"/>
                  <a:pt x="0" y="190499"/>
                </a:cubicBezTo>
                <a:lnTo>
                  <a:pt x="0" y="31751"/>
                </a:lnTo>
                <a:cubicBezTo>
                  <a:pt x="0" y="14227"/>
                  <a:pt x="14227" y="0"/>
                  <a:pt x="31751" y="0"/>
                </a:cubicBezTo>
                <a:close/>
              </a:path>
            </a:pathLst>
          </a:custGeom>
          <a:solidFill>
            <a:srgbClr val="F7B538">
              <a:alpha val="20000"/>
            </a:srgbClr>
          </a:solidFill>
          <a:ln/>
        </p:spPr>
      </p:sp>
      <p:sp>
        <p:nvSpPr>
          <p:cNvPr id="84" name="Text 82"/>
          <p:cNvSpPr/>
          <p:nvPr/>
        </p:nvSpPr>
        <p:spPr>
          <a:xfrm>
            <a:off x="4328517" y="5270500"/>
            <a:ext cx="611188" cy="222250"/>
          </a:xfrm>
          <a:prstGeom prst="rect">
            <a:avLst/>
          </a:prstGeom>
          <a:noFill/>
          <a:ln/>
        </p:spPr>
        <p:txBody>
          <a:bodyPr wrap="square" lIns="63500" tIns="15875" rIns="63500" bIns="15875" rtlCol="0" anchor="ctr"/>
          <a:lstStyle/>
          <a:p>
            <a:pPr>
              <a:lnSpc>
                <a:spcPct val="130000"/>
              </a:lnSpc>
            </a:pPr>
            <a:r>
              <a:rPr lang="en-US" sz="1000" dirty="0">
                <a:solidFill>
                  <a:srgbClr val="F7B538"/>
                </a:solidFill>
                <a:latin typeface="Quattrocento Sans" pitchFamily="34" charset="0"/>
                <a:ea typeface="Quattrocento Sans" pitchFamily="34" charset="-122"/>
                <a:cs typeface="Quattrocento Sans" pitchFamily="34" charset="-120"/>
              </a:rPr>
              <a:t>OpenAI</a:t>
            </a:r>
            <a:endParaRPr lang="en-US" sz="1600" dirty="0"/>
          </a:p>
        </p:txBody>
      </p:sp>
      <p:sp>
        <p:nvSpPr>
          <p:cNvPr id="85" name="Shape 83"/>
          <p:cNvSpPr/>
          <p:nvPr/>
        </p:nvSpPr>
        <p:spPr>
          <a:xfrm>
            <a:off x="4907459" y="5270500"/>
            <a:ext cx="809625" cy="222250"/>
          </a:xfrm>
          <a:custGeom>
            <a:avLst/>
            <a:gdLst/>
            <a:ahLst/>
            <a:cxnLst/>
            <a:rect l="l" t="t" r="r" b="b"/>
            <a:pathLst>
              <a:path w="809625" h="222250">
                <a:moveTo>
                  <a:pt x="31751" y="0"/>
                </a:moveTo>
                <a:lnTo>
                  <a:pt x="777874" y="0"/>
                </a:lnTo>
                <a:cubicBezTo>
                  <a:pt x="795410" y="0"/>
                  <a:pt x="809625" y="14215"/>
                  <a:pt x="809625" y="31751"/>
                </a:cubicBezTo>
                <a:lnTo>
                  <a:pt x="809625" y="190499"/>
                </a:lnTo>
                <a:cubicBezTo>
                  <a:pt x="809625" y="208035"/>
                  <a:pt x="795410" y="222250"/>
                  <a:pt x="777874" y="222250"/>
                </a:cubicBezTo>
                <a:lnTo>
                  <a:pt x="31751" y="222250"/>
                </a:lnTo>
                <a:cubicBezTo>
                  <a:pt x="14227" y="222250"/>
                  <a:pt x="0" y="208023"/>
                  <a:pt x="0" y="190499"/>
                </a:cubicBezTo>
                <a:lnTo>
                  <a:pt x="0" y="31751"/>
                </a:lnTo>
                <a:cubicBezTo>
                  <a:pt x="0" y="14227"/>
                  <a:pt x="14227" y="0"/>
                  <a:pt x="31751" y="0"/>
                </a:cubicBezTo>
                <a:close/>
              </a:path>
            </a:pathLst>
          </a:custGeom>
          <a:solidFill>
            <a:srgbClr val="F7B538">
              <a:alpha val="20000"/>
            </a:srgbClr>
          </a:solidFill>
          <a:ln/>
        </p:spPr>
      </p:sp>
      <p:sp>
        <p:nvSpPr>
          <p:cNvPr id="86" name="Text 84"/>
          <p:cNvSpPr/>
          <p:nvPr/>
        </p:nvSpPr>
        <p:spPr>
          <a:xfrm>
            <a:off x="4907459" y="5270500"/>
            <a:ext cx="873125" cy="222250"/>
          </a:xfrm>
          <a:prstGeom prst="rect">
            <a:avLst/>
          </a:prstGeom>
          <a:noFill/>
          <a:ln/>
        </p:spPr>
        <p:txBody>
          <a:bodyPr wrap="square" lIns="63500" tIns="15875" rIns="63500" bIns="15875" rtlCol="0" anchor="ctr"/>
          <a:lstStyle/>
          <a:p>
            <a:pPr>
              <a:lnSpc>
                <a:spcPct val="130000"/>
              </a:lnSpc>
            </a:pPr>
            <a:r>
              <a:rPr lang="en-US" sz="1000" dirty="0">
                <a:solidFill>
                  <a:srgbClr val="F7B538"/>
                </a:solidFill>
                <a:latin typeface="Quattrocento Sans" pitchFamily="34" charset="0"/>
                <a:ea typeface="Quattrocento Sans" pitchFamily="34" charset="-122"/>
                <a:cs typeface="Quattrocento Sans" pitchFamily="34" charset="-120"/>
              </a:rPr>
              <a:t>Embeddings</a:t>
            </a:r>
            <a:endParaRPr lang="en-US" sz="1600" dirty="0"/>
          </a:p>
        </p:txBody>
      </p:sp>
      <p:sp>
        <p:nvSpPr>
          <p:cNvPr id="87" name="Shape 85"/>
          <p:cNvSpPr/>
          <p:nvPr/>
        </p:nvSpPr>
        <p:spPr>
          <a:xfrm>
            <a:off x="4217392" y="5651500"/>
            <a:ext cx="3770313" cy="1047750"/>
          </a:xfrm>
          <a:custGeom>
            <a:avLst/>
            <a:gdLst/>
            <a:ahLst/>
            <a:cxnLst/>
            <a:rect l="l" t="t" r="r" b="b"/>
            <a:pathLst>
              <a:path w="3770313" h="1047750">
                <a:moveTo>
                  <a:pt x="31750" y="0"/>
                </a:moveTo>
                <a:lnTo>
                  <a:pt x="3706808" y="0"/>
                </a:lnTo>
                <a:cubicBezTo>
                  <a:pt x="3741881" y="0"/>
                  <a:pt x="3770313" y="28432"/>
                  <a:pt x="3770313" y="63504"/>
                </a:cubicBezTo>
                <a:lnTo>
                  <a:pt x="3770313" y="984246"/>
                </a:lnTo>
                <a:cubicBezTo>
                  <a:pt x="3770313" y="1019318"/>
                  <a:pt x="3741881" y="1047750"/>
                  <a:pt x="3706808" y="1047750"/>
                </a:cubicBezTo>
                <a:lnTo>
                  <a:pt x="31750" y="1047750"/>
                </a:lnTo>
                <a:cubicBezTo>
                  <a:pt x="14215" y="1047750"/>
                  <a:pt x="0" y="1033535"/>
                  <a:pt x="0" y="1016000"/>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88" name="Shape 86"/>
          <p:cNvSpPr/>
          <p:nvPr/>
        </p:nvSpPr>
        <p:spPr>
          <a:xfrm>
            <a:off x="4217392" y="5651500"/>
            <a:ext cx="31750" cy="1047750"/>
          </a:xfrm>
          <a:custGeom>
            <a:avLst/>
            <a:gdLst/>
            <a:ahLst/>
            <a:cxnLst/>
            <a:rect l="l" t="t" r="r" b="b"/>
            <a:pathLst>
              <a:path w="31750" h="1047750">
                <a:moveTo>
                  <a:pt x="31750" y="0"/>
                </a:moveTo>
                <a:lnTo>
                  <a:pt x="31750" y="0"/>
                </a:lnTo>
                <a:lnTo>
                  <a:pt x="31750" y="1047750"/>
                </a:lnTo>
                <a:lnTo>
                  <a:pt x="31750" y="1047750"/>
                </a:lnTo>
                <a:cubicBezTo>
                  <a:pt x="14227" y="1047750"/>
                  <a:pt x="0" y="1033523"/>
                  <a:pt x="0" y="1016000"/>
                </a:cubicBezTo>
                <a:lnTo>
                  <a:pt x="0" y="31750"/>
                </a:lnTo>
                <a:cubicBezTo>
                  <a:pt x="0" y="14227"/>
                  <a:pt x="14227" y="0"/>
                  <a:pt x="31750" y="0"/>
                </a:cubicBezTo>
                <a:close/>
              </a:path>
            </a:pathLst>
          </a:custGeom>
          <a:solidFill>
            <a:srgbClr val="1A535C"/>
          </a:solidFill>
          <a:ln/>
        </p:spPr>
      </p:sp>
      <p:sp>
        <p:nvSpPr>
          <p:cNvPr id="89" name="Shape 87"/>
          <p:cNvSpPr/>
          <p:nvPr/>
        </p:nvSpPr>
        <p:spPr>
          <a:xfrm>
            <a:off x="4366220" y="5770563"/>
            <a:ext cx="107156" cy="142875"/>
          </a:xfrm>
          <a:custGeom>
            <a:avLst/>
            <a:gdLst/>
            <a:ahLst/>
            <a:cxnLst/>
            <a:rect l="l" t="t" r="r" b="b"/>
            <a:pathLst>
              <a:path w="107156" h="142875">
                <a:moveTo>
                  <a:pt x="53578" y="0"/>
                </a:moveTo>
                <a:cubicBezTo>
                  <a:pt x="38788" y="0"/>
                  <a:pt x="26789" y="11999"/>
                  <a:pt x="26789" y="26789"/>
                </a:cubicBezTo>
                <a:lnTo>
                  <a:pt x="26789" y="62508"/>
                </a:lnTo>
                <a:cubicBezTo>
                  <a:pt x="26789" y="77298"/>
                  <a:pt x="38788" y="89297"/>
                  <a:pt x="53578" y="89297"/>
                </a:cubicBezTo>
                <a:cubicBezTo>
                  <a:pt x="68368" y="89297"/>
                  <a:pt x="80367" y="77298"/>
                  <a:pt x="80367" y="62508"/>
                </a:cubicBezTo>
                <a:lnTo>
                  <a:pt x="80367" y="26789"/>
                </a:lnTo>
                <a:cubicBezTo>
                  <a:pt x="80367" y="11999"/>
                  <a:pt x="68368" y="0"/>
                  <a:pt x="53578" y="0"/>
                </a:cubicBezTo>
                <a:close/>
                <a:moveTo>
                  <a:pt x="13395" y="51346"/>
                </a:moveTo>
                <a:cubicBezTo>
                  <a:pt x="13395" y="47634"/>
                  <a:pt x="10409" y="44648"/>
                  <a:pt x="6697" y="44648"/>
                </a:cubicBezTo>
                <a:cubicBezTo>
                  <a:pt x="2986" y="44648"/>
                  <a:pt x="0" y="47634"/>
                  <a:pt x="0" y="51346"/>
                </a:cubicBezTo>
                <a:lnTo>
                  <a:pt x="0" y="62508"/>
                </a:lnTo>
                <a:cubicBezTo>
                  <a:pt x="0" y="89827"/>
                  <a:pt x="20455" y="112375"/>
                  <a:pt x="46881" y="115667"/>
                </a:cubicBezTo>
                <a:lnTo>
                  <a:pt x="46881" y="129480"/>
                </a:lnTo>
                <a:lnTo>
                  <a:pt x="33486" y="129480"/>
                </a:lnTo>
                <a:cubicBezTo>
                  <a:pt x="29775" y="129480"/>
                  <a:pt x="26789" y="132466"/>
                  <a:pt x="26789" y="136178"/>
                </a:cubicBezTo>
                <a:cubicBezTo>
                  <a:pt x="26789" y="139889"/>
                  <a:pt x="29775" y="142875"/>
                  <a:pt x="33486" y="142875"/>
                </a:cubicBezTo>
                <a:lnTo>
                  <a:pt x="73670" y="142875"/>
                </a:lnTo>
                <a:cubicBezTo>
                  <a:pt x="77381" y="142875"/>
                  <a:pt x="80367" y="139889"/>
                  <a:pt x="80367" y="136178"/>
                </a:cubicBezTo>
                <a:cubicBezTo>
                  <a:pt x="80367" y="132466"/>
                  <a:pt x="77381" y="129480"/>
                  <a:pt x="73670" y="129480"/>
                </a:cubicBezTo>
                <a:lnTo>
                  <a:pt x="60275" y="129480"/>
                </a:lnTo>
                <a:lnTo>
                  <a:pt x="60275" y="115667"/>
                </a:lnTo>
                <a:cubicBezTo>
                  <a:pt x="86702" y="112375"/>
                  <a:pt x="107156" y="89827"/>
                  <a:pt x="107156" y="62508"/>
                </a:cubicBezTo>
                <a:lnTo>
                  <a:pt x="107156" y="51346"/>
                </a:lnTo>
                <a:cubicBezTo>
                  <a:pt x="107156" y="47634"/>
                  <a:pt x="104170" y="44648"/>
                  <a:pt x="100459" y="44648"/>
                </a:cubicBezTo>
                <a:cubicBezTo>
                  <a:pt x="96748" y="44648"/>
                  <a:pt x="93762" y="47634"/>
                  <a:pt x="93762" y="51346"/>
                </a:cubicBezTo>
                <a:lnTo>
                  <a:pt x="93762" y="62508"/>
                </a:lnTo>
                <a:cubicBezTo>
                  <a:pt x="93762" y="84693"/>
                  <a:pt x="75763" y="102691"/>
                  <a:pt x="53578" y="102691"/>
                </a:cubicBezTo>
                <a:cubicBezTo>
                  <a:pt x="31393" y="102691"/>
                  <a:pt x="13395" y="84693"/>
                  <a:pt x="13395" y="62508"/>
                </a:cubicBezTo>
                <a:lnTo>
                  <a:pt x="13395" y="51346"/>
                </a:lnTo>
                <a:close/>
              </a:path>
            </a:pathLst>
          </a:custGeom>
          <a:solidFill>
            <a:srgbClr val="F7B538"/>
          </a:solidFill>
          <a:ln/>
        </p:spPr>
      </p:sp>
      <p:sp>
        <p:nvSpPr>
          <p:cNvPr id="90" name="Text 88"/>
          <p:cNvSpPr/>
          <p:nvPr/>
        </p:nvSpPr>
        <p:spPr>
          <a:xfrm>
            <a:off x="4570611" y="5746750"/>
            <a:ext cx="1635125"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VoiceCommandService.php</a:t>
            </a:r>
            <a:endParaRPr lang="en-US" sz="1600" dirty="0"/>
          </a:p>
        </p:txBody>
      </p:sp>
      <p:sp>
        <p:nvSpPr>
          <p:cNvPr id="91" name="Text 89"/>
          <p:cNvSpPr/>
          <p:nvPr/>
        </p:nvSpPr>
        <p:spPr>
          <a:xfrm>
            <a:off x="4328517" y="5969000"/>
            <a:ext cx="3627438" cy="349250"/>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Parses voice command strings from browser; maps recognized phrases to platform actions via PHP switch logic.</a:t>
            </a:r>
            <a:endParaRPr lang="en-US" sz="1600" dirty="0"/>
          </a:p>
        </p:txBody>
      </p:sp>
      <p:sp>
        <p:nvSpPr>
          <p:cNvPr id="92" name="Shape 90"/>
          <p:cNvSpPr/>
          <p:nvPr/>
        </p:nvSpPr>
        <p:spPr>
          <a:xfrm>
            <a:off x="4328517" y="6381750"/>
            <a:ext cx="746125" cy="222250"/>
          </a:xfrm>
          <a:custGeom>
            <a:avLst/>
            <a:gdLst/>
            <a:ahLst/>
            <a:cxnLst/>
            <a:rect l="l" t="t" r="r" b="b"/>
            <a:pathLst>
              <a:path w="746125" h="222250">
                <a:moveTo>
                  <a:pt x="31751" y="0"/>
                </a:moveTo>
                <a:lnTo>
                  <a:pt x="714374" y="0"/>
                </a:lnTo>
                <a:cubicBezTo>
                  <a:pt x="731910" y="0"/>
                  <a:pt x="746125" y="14215"/>
                  <a:pt x="746125" y="31751"/>
                </a:cubicBezTo>
                <a:lnTo>
                  <a:pt x="746125" y="190499"/>
                </a:lnTo>
                <a:cubicBezTo>
                  <a:pt x="746125" y="208035"/>
                  <a:pt x="731910" y="222250"/>
                  <a:pt x="714374" y="222250"/>
                </a:cubicBezTo>
                <a:lnTo>
                  <a:pt x="31751" y="222250"/>
                </a:lnTo>
                <a:cubicBezTo>
                  <a:pt x="14227" y="222250"/>
                  <a:pt x="0" y="208023"/>
                  <a:pt x="0" y="190499"/>
                </a:cubicBezTo>
                <a:lnTo>
                  <a:pt x="0" y="31751"/>
                </a:lnTo>
                <a:cubicBezTo>
                  <a:pt x="0" y="14227"/>
                  <a:pt x="14227" y="0"/>
                  <a:pt x="31751" y="0"/>
                </a:cubicBezTo>
                <a:close/>
              </a:path>
            </a:pathLst>
          </a:custGeom>
          <a:solidFill>
            <a:srgbClr val="1A535C">
              <a:alpha val="10196"/>
            </a:srgbClr>
          </a:solidFill>
          <a:ln/>
        </p:spPr>
      </p:sp>
      <p:sp>
        <p:nvSpPr>
          <p:cNvPr id="93" name="Text 91"/>
          <p:cNvSpPr/>
          <p:nvPr/>
        </p:nvSpPr>
        <p:spPr>
          <a:xfrm>
            <a:off x="4328517" y="6381750"/>
            <a:ext cx="809625" cy="222250"/>
          </a:xfrm>
          <a:prstGeom prst="rect">
            <a:avLst/>
          </a:prstGeom>
          <a:noFill/>
          <a:ln/>
        </p:spPr>
        <p:txBody>
          <a:bodyPr wrap="square" lIns="63500" tIns="15875" rIns="63500" bIns="15875" rtlCol="0" anchor="ctr"/>
          <a:lstStyle/>
          <a:p>
            <a:pPr>
              <a:lnSpc>
                <a:spcPct val="130000"/>
              </a:lnSpc>
            </a:pPr>
            <a:r>
              <a:rPr lang="en-US" sz="1000" dirty="0">
                <a:solidFill>
                  <a:srgbClr val="1A535C"/>
                </a:solidFill>
                <a:latin typeface="Quattrocento Sans" pitchFamily="34" charset="0"/>
                <a:ea typeface="Quattrocento Sans" pitchFamily="34" charset="-122"/>
                <a:cs typeface="Quattrocento Sans" pitchFamily="34" charset="-120"/>
              </a:rPr>
              <a:t>Speech API</a:t>
            </a:r>
            <a:endParaRPr lang="en-US" sz="1600" dirty="0"/>
          </a:p>
        </p:txBody>
      </p:sp>
      <p:sp>
        <p:nvSpPr>
          <p:cNvPr id="94" name="Shape 92"/>
          <p:cNvSpPr/>
          <p:nvPr/>
        </p:nvSpPr>
        <p:spPr>
          <a:xfrm>
            <a:off x="5108873" y="6381750"/>
            <a:ext cx="468313" cy="222250"/>
          </a:xfrm>
          <a:custGeom>
            <a:avLst/>
            <a:gdLst/>
            <a:ahLst/>
            <a:cxnLst/>
            <a:rect l="l" t="t" r="r" b="b"/>
            <a:pathLst>
              <a:path w="468313" h="222250">
                <a:moveTo>
                  <a:pt x="31751" y="0"/>
                </a:moveTo>
                <a:lnTo>
                  <a:pt x="436562" y="0"/>
                </a:lnTo>
                <a:cubicBezTo>
                  <a:pt x="454097" y="0"/>
                  <a:pt x="468313" y="14215"/>
                  <a:pt x="468313" y="31751"/>
                </a:cubicBezTo>
                <a:lnTo>
                  <a:pt x="468313" y="190499"/>
                </a:lnTo>
                <a:cubicBezTo>
                  <a:pt x="468313" y="208035"/>
                  <a:pt x="454097" y="222250"/>
                  <a:pt x="436562" y="222250"/>
                </a:cubicBezTo>
                <a:lnTo>
                  <a:pt x="31751" y="222250"/>
                </a:lnTo>
                <a:cubicBezTo>
                  <a:pt x="14227" y="222250"/>
                  <a:pt x="0" y="208023"/>
                  <a:pt x="0" y="190499"/>
                </a:cubicBezTo>
                <a:lnTo>
                  <a:pt x="0" y="31751"/>
                </a:lnTo>
                <a:cubicBezTo>
                  <a:pt x="0" y="14227"/>
                  <a:pt x="14227" y="0"/>
                  <a:pt x="31751" y="0"/>
                </a:cubicBezTo>
                <a:close/>
              </a:path>
            </a:pathLst>
          </a:custGeom>
          <a:solidFill>
            <a:srgbClr val="1A535C">
              <a:alpha val="10196"/>
            </a:srgbClr>
          </a:solidFill>
          <a:ln/>
        </p:spPr>
      </p:sp>
      <p:sp>
        <p:nvSpPr>
          <p:cNvPr id="95" name="Text 93"/>
          <p:cNvSpPr/>
          <p:nvPr/>
        </p:nvSpPr>
        <p:spPr>
          <a:xfrm>
            <a:off x="5108873" y="6381750"/>
            <a:ext cx="531813" cy="222250"/>
          </a:xfrm>
          <a:prstGeom prst="rect">
            <a:avLst/>
          </a:prstGeom>
          <a:noFill/>
          <a:ln/>
        </p:spPr>
        <p:txBody>
          <a:bodyPr wrap="square" lIns="63500" tIns="15875" rIns="63500" bIns="15875" rtlCol="0" anchor="ctr"/>
          <a:lstStyle/>
          <a:p>
            <a:pPr>
              <a:lnSpc>
                <a:spcPct val="130000"/>
              </a:lnSpc>
            </a:pPr>
            <a:r>
              <a:rPr lang="en-US" sz="1000" dirty="0">
                <a:solidFill>
                  <a:srgbClr val="1A535C"/>
                </a:solidFill>
                <a:latin typeface="Quattrocento Sans" pitchFamily="34" charset="0"/>
                <a:ea typeface="Quattrocento Sans" pitchFamily="34" charset="-122"/>
                <a:cs typeface="Quattrocento Sans" pitchFamily="34" charset="-120"/>
              </a:rPr>
              <a:t>Parser</a:t>
            </a:r>
            <a:endParaRPr lang="en-US" sz="1600" dirty="0"/>
          </a:p>
        </p:txBody>
      </p:sp>
      <p:sp>
        <p:nvSpPr>
          <p:cNvPr id="96" name="Shape 94"/>
          <p:cNvSpPr/>
          <p:nvPr/>
        </p:nvSpPr>
        <p:spPr>
          <a:xfrm>
            <a:off x="8101509" y="1206500"/>
            <a:ext cx="3770313" cy="1047750"/>
          </a:xfrm>
          <a:custGeom>
            <a:avLst/>
            <a:gdLst/>
            <a:ahLst/>
            <a:cxnLst/>
            <a:rect l="l" t="t" r="r" b="b"/>
            <a:pathLst>
              <a:path w="3770313" h="1047750">
                <a:moveTo>
                  <a:pt x="31750" y="0"/>
                </a:moveTo>
                <a:lnTo>
                  <a:pt x="3706808" y="0"/>
                </a:lnTo>
                <a:cubicBezTo>
                  <a:pt x="3741881" y="0"/>
                  <a:pt x="3770313" y="28432"/>
                  <a:pt x="3770313" y="63504"/>
                </a:cubicBezTo>
                <a:lnTo>
                  <a:pt x="3770313" y="984246"/>
                </a:lnTo>
                <a:cubicBezTo>
                  <a:pt x="3770313" y="1019318"/>
                  <a:pt x="3741881" y="1047750"/>
                  <a:pt x="3706808" y="1047750"/>
                </a:cubicBezTo>
                <a:lnTo>
                  <a:pt x="31750" y="1047750"/>
                </a:lnTo>
                <a:cubicBezTo>
                  <a:pt x="14215" y="1047750"/>
                  <a:pt x="0" y="1033535"/>
                  <a:pt x="0" y="1016000"/>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97" name="Shape 95"/>
          <p:cNvSpPr/>
          <p:nvPr/>
        </p:nvSpPr>
        <p:spPr>
          <a:xfrm>
            <a:off x="8101509" y="1206500"/>
            <a:ext cx="31750" cy="1047750"/>
          </a:xfrm>
          <a:custGeom>
            <a:avLst/>
            <a:gdLst/>
            <a:ahLst/>
            <a:cxnLst/>
            <a:rect l="l" t="t" r="r" b="b"/>
            <a:pathLst>
              <a:path w="31750" h="1047750">
                <a:moveTo>
                  <a:pt x="31750" y="0"/>
                </a:moveTo>
                <a:lnTo>
                  <a:pt x="31750" y="0"/>
                </a:lnTo>
                <a:lnTo>
                  <a:pt x="31750" y="1047750"/>
                </a:lnTo>
                <a:lnTo>
                  <a:pt x="31750" y="1047750"/>
                </a:lnTo>
                <a:cubicBezTo>
                  <a:pt x="14227" y="1047750"/>
                  <a:pt x="0" y="1033523"/>
                  <a:pt x="0" y="1016000"/>
                </a:cubicBezTo>
                <a:lnTo>
                  <a:pt x="0" y="31750"/>
                </a:lnTo>
                <a:cubicBezTo>
                  <a:pt x="0" y="14227"/>
                  <a:pt x="14227" y="0"/>
                  <a:pt x="31750" y="0"/>
                </a:cubicBezTo>
                <a:close/>
              </a:path>
            </a:pathLst>
          </a:custGeom>
          <a:solidFill>
            <a:srgbClr val="4A7C59"/>
          </a:solidFill>
          <a:ln/>
        </p:spPr>
      </p:sp>
      <p:sp>
        <p:nvSpPr>
          <p:cNvPr id="98" name="Shape 96"/>
          <p:cNvSpPr/>
          <p:nvPr/>
        </p:nvSpPr>
        <p:spPr>
          <a:xfrm>
            <a:off x="8214618" y="1325563"/>
            <a:ext cx="178594" cy="142875"/>
          </a:xfrm>
          <a:custGeom>
            <a:avLst/>
            <a:gdLst/>
            <a:ahLst/>
            <a:cxnLst/>
            <a:rect l="l" t="t" r="r" b="b"/>
            <a:pathLst>
              <a:path w="178594" h="142875">
                <a:moveTo>
                  <a:pt x="89297" y="4465"/>
                </a:moveTo>
                <a:cubicBezTo>
                  <a:pt x="105314" y="4465"/>
                  <a:pt x="118318" y="17469"/>
                  <a:pt x="118318" y="33486"/>
                </a:cubicBezTo>
                <a:cubicBezTo>
                  <a:pt x="118318" y="49504"/>
                  <a:pt x="105314" y="62508"/>
                  <a:pt x="89297" y="62508"/>
                </a:cubicBezTo>
                <a:cubicBezTo>
                  <a:pt x="73279" y="62508"/>
                  <a:pt x="60275" y="49504"/>
                  <a:pt x="60275" y="33486"/>
                </a:cubicBezTo>
                <a:cubicBezTo>
                  <a:pt x="60275" y="17469"/>
                  <a:pt x="73279" y="4465"/>
                  <a:pt x="89297" y="4465"/>
                </a:cubicBezTo>
                <a:close/>
                <a:moveTo>
                  <a:pt x="26789" y="24557"/>
                </a:moveTo>
                <a:cubicBezTo>
                  <a:pt x="37878" y="24557"/>
                  <a:pt x="46881" y="33559"/>
                  <a:pt x="46881" y="44648"/>
                </a:cubicBezTo>
                <a:cubicBezTo>
                  <a:pt x="46881" y="55737"/>
                  <a:pt x="37878" y="64740"/>
                  <a:pt x="26789" y="64740"/>
                </a:cubicBezTo>
                <a:cubicBezTo>
                  <a:pt x="15700" y="64740"/>
                  <a:pt x="6697" y="55737"/>
                  <a:pt x="6697" y="44648"/>
                </a:cubicBezTo>
                <a:cubicBezTo>
                  <a:pt x="6697" y="33559"/>
                  <a:pt x="15700" y="24557"/>
                  <a:pt x="26789" y="24557"/>
                </a:cubicBezTo>
                <a:close/>
                <a:moveTo>
                  <a:pt x="0" y="116086"/>
                </a:moveTo>
                <a:cubicBezTo>
                  <a:pt x="0" y="96357"/>
                  <a:pt x="15990" y="80367"/>
                  <a:pt x="35719" y="80367"/>
                </a:cubicBezTo>
                <a:cubicBezTo>
                  <a:pt x="39291" y="80367"/>
                  <a:pt x="42751" y="80897"/>
                  <a:pt x="46016" y="81874"/>
                </a:cubicBezTo>
                <a:cubicBezTo>
                  <a:pt x="36835" y="92143"/>
                  <a:pt x="31254" y="105705"/>
                  <a:pt x="31254" y="120551"/>
                </a:cubicBezTo>
                <a:lnTo>
                  <a:pt x="31254" y="125016"/>
                </a:lnTo>
                <a:cubicBezTo>
                  <a:pt x="31254" y="128197"/>
                  <a:pt x="31924" y="131211"/>
                  <a:pt x="33124" y="133945"/>
                </a:cubicBezTo>
                <a:lnTo>
                  <a:pt x="8930" y="133945"/>
                </a:lnTo>
                <a:cubicBezTo>
                  <a:pt x="3990" y="133945"/>
                  <a:pt x="0" y="129955"/>
                  <a:pt x="0" y="125016"/>
                </a:cubicBezTo>
                <a:lnTo>
                  <a:pt x="0" y="116086"/>
                </a:lnTo>
                <a:close/>
                <a:moveTo>
                  <a:pt x="145470" y="133945"/>
                </a:moveTo>
                <a:cubicBezTo>
                  <a:pt x="146670" y="131211"/>
                  <a:pt x="147340" y="128197"/>
                  <a:pt x="147340" y="125016"/>
                </a:cubicBezTo>
                <a:lnTo>
                  <a:pt x="147340" y="120551"/>
                </a:lnTo>
                <a:cubicBezTo>
                  <a:pt x="147340" y="105705"/>
                  <a:pt x="141759" y="92143"/>
                  <a:pt x="132578" y="81874"/>
                </a:cubicBezTo>
                <a:cubicBezTo>
                  <a:pt x="135843" y="80897"/>
                  <a:pt x="139303" y="80367"/>
                  <a:pt x="142875" y="80367"/>
                </a:cubicBezTo>
                <a:cubicBezTo>
                  <a:pt x="162604" y="80367"/>
                  <a:pt x="178594" y="96357"/>
                  <a:pt x="178594" y="116086"/>
                </a:cubicBezTo>
                <a:lnTo>
                  <a:pt x="178594" y="125016"/>
                </a:lnTo>
                <a:cubicBezTo>
                  <a:pt x="178594" y="129955"/>
                  <a:pt x="174603" y="133945"/>
                  <a:pt x="169664" y="133945"/>
                </a:cubicBezTo>
                <a:lnTo>
                  <a:pt x="145470" y="133945"/>
                </a:lnTo>
                <a:close/>
                <a:moveTo>
                  <a:pt x="131713" y="44648"/>
                </a:moveTo>
                <a:cubicBezTo>
                  <a:pt x="131713" y="33559"/>
                  <a:pt x="140716" y="24557"/>
                  <a:pt x="151805" y="24557"/>
                </a:cubicBezTo>
                <a:cubicBezTo>
                  <a:pt x="162894" y="24557"/>
                  <a:pt x="171896" y="33559"/>
                  <a:pt x="171896" y="44648"/>
                </a:cubicBezTo>
                <a:cubicBezTo>
                  <a:pt x="171896" y="55737"/>
                  <a:pt x="162894" y="64740"/>
                  <a:pt x="151805" y="64740"/>
                </a:cubicBezTo>
                <a:cubicBezTo>
                  <a:pt x="140716" y="64740"/>
                  <a:pt x="131713" y="55737"/>
                  <a:pt x="131713" y="44648"/>
                </a:cubicBezTo>
                <a:close/>
                <a:moveTo>
                  <a:pt x="44648" y="120551"/>
                </a:moveTo>
                <a:cubicBezTo>
                  <a:pt x="44648" y="95883"/>
                  <a:pt x="64629" y="75902"/>
                  <a:pt x="89297" y="75902"/>
                </a:cubicBezTo>
                <a:cubicBezTo>
                  <a:pt x="113965" y="75902"/>
                  <a:pt x="133945" y="95883"/>
                  <a:pt x="133945" y="120551"/>
                </a:cubicBezTo>
                <a:lnTo>
                  <a:pt x="133945" y="125016"/>
                </a:lnTo>
                <a:cubicBezTo>
                  <a:pt x="133945" y="129955"/>
                  <a:pt x="129955" y="133945"/>
                  <a:pt x="125016" y="133945"/>
                </a:cubicBezTo>
                <a:lnTo>
                  <a:pt x="53578" y="133945"/>
                </a:lnTo>
                <a:cubicBezTo>
                  <a:pt x="48639" y="133945"/>
                  <a:pt x="44648" y="129955"/>
                  <a:pt x="44648" y="125016"/>
                </a:cubicBezTo>
                <a:lnTo>
                  <a:pt x="44648" y="120551"/>
                </a:lnTo>
                <a:close/>
              </a:path>
            </a:pathLst>
          </a:custGeom>
          <a:solidFill>
            <a:srgbClr val="F7B538"/>
          </a:solidFill>
          <a:ln/>
        </p:spPr>
      </p:sp>
      <p:sp>
        <p:nvSpPr>
          <p:cNvPr id="99" name="Text 97"/>
          <p:cNvSpPr/>
          <p:nvPr/>
        </p:nvSpPr>
        <p:spPr>
          <a:xfrm>
            <a:off x="8454727" y="1301750"/>
            <a:ext cx="1404938"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PodBookingService.php</a:t>
            </a:r>
            <a:endParaRPr lang="en-US" sz="1600" dirty="0"/>
          </a:p>
        </p:txBody>
      </p:sp>
      <p:sp>
        <p:nvSpPr>
          <p:cNvPr id="100" name="Text 98"/>
          <p:cNvSpPr/>
          <p:nvPr/>
        </p:nvSpPr>
        <p:spPr>
          <a:xfrm>
            <a:off x="8212633" y="1524000"/>
            <a:ext cx="3627438" cy="349250"/>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Manages pod creation, student enrollment, capacity checks, and per-student Razorpay charges for Micro-Learning Pods.</a:t>
            </a:r>
            <a:endParaRPr lang="en-US" sz="1600" dirty="0"/>
          </a:p>
        </p:txBody>
      </p:sp>
      <p:sp>
        <p:nvSpPr>
          <p:cNvPr id="101" name="Shape 99"/>
          <p:cNvSpPr/>
          <p:nvPr/>
        </p:nvSpPr>
        <p:spPr>
          <a:xfrm>
            <a:off x="8212633" y="1936750"/>
            <a:ext cx="841375" cy="222250"/>
          </a:xfrm>
          <a:custGeom>
            <a:avLst/>
            <a:gdLst/>
            <a:ahLst/>
            <a:cxnLst/>
            <a:rect l="l" t="t" r="r" b="b"/>
            <a:pathLst>
              <a:path w="841375" h="222250">
                <a:moveTo>
                  <a:pt x="31751" y="0"/>
                </a:moveTo>
                <a:lnTo>
                  <a:pt x="809624" y="0"/>
                </a:lnTo>
                <a:cubicBezTo>
                  <a:pt x="827160" y="0"/>
                  <a:pt x="841375" y="14215"/>
                  <a:pt x="841375" y="31751"/>
                </a:cubicBezTo>
                <a:lnTo>
                  <a:pt x="841375" y="190499"/>
                </a:lnTo>
                <a:cubicBezTo>
                  <a:pt x="841375" y="208035"/>
                  <a:pt x="827160" y="222250"/>
                  <a:pt x="809624" y="222250"/>
                </a:cubicBezTo>
                <a:lnTo>
                  <a:pt x="31751" y="222250"/>
                </a:lnTo>
                <a:cubicBezTo>
                  <a:pt x="14227" y="222250"/>
                  <a:pt x="0" y="208023"/>
                  <a:pt x="0" y="190499"/>
                </a:cubicBezTo>
                <a:lnTo>
                  <a:pt x="0" y="31751"/>
                </a:lnTo>
                <a:cubicBezTo>
                  <a:pt x="0" y="14227"/>
                  <a:pt x="14227" y="0"/>
                  <a:pt x="31751" y="0"/>
                </a:cubicBezTo>
                <a:close/>
              </a:path>
            </a:pathLst>
          </a:custGeom>
          <a:solidFill>
            <a:srgbClr val="4A7C59">
              <a:alpha val="10196"/>
            </a:srgbClr>
          </a:solidFill>
          <a:ln/>
        </p:spPr>
      </p:sp>
      <p:sp>
        <p:nvSpPr>
          <p:cNvPr id="102" name="Text 100"/>
          <p:cNvSpPr/>
          <p:nvPr/>
        </p:nvSpPr>
        <p:spPr>
          <a:xfrm>
            <a:off x="8212633" y="1936750"/>
            <a:ext cx="904875" cy="222250"/>
          </a:xfrm>
          <a:prstGeom prst="rect">
            <a:avLst/>
          </a:prstGeom>
          <a:noFill/>
          <a:ln/>
        </p:spPr>
        <p:txBody>
          <a:bodyPr wrap="square" lIns="63500" tIns="15875" rIns="63500" bIns="15875" rtlCol="0" anchor="ctr"/>
          <a:lstStyle/>
          <a:p>
            <a:pPr>
              <a:lnSpc>
                <a:spcPct val="130000"/>
              </a:lnSpc>
            </a:pPr>
            <a:r>
              <a:rPr lang="en-US" sz="1000" dirty="0">
                <a:solidFill>
                  <a:srgbClr val="4A7C59"/>
                </a:solidFill>
                <a:latin typeface="Quattrocento Sans" pitchFamily="34" charset="0"/>
                <a:ea typeface="Quattrocento Sans" pitchFamily="34" charset="-122"/>
                <a:cs typeface="Quattrocento Sans" pitchFamily="34" charset="-120"/>
              </a:rPr>
              <a:t>3-5 Students</a:t>
            </a:r>
            <a:endParaRPr lang="en-US" sz="1600" dirty="0"/>
          </a:p>
        </p:txBody>
      </p:sp>
      <p:sp>
        <p:nvSpPr>
          <p:cNvPr id="103" name="Shape 101"/>
          <p:cNvSpPr/>
          <p:nvPr/>
        </p:nvSpPr>
        <p:spPr>
          <a:xfrm>
            <a:off x="9082980" y="1936750"/>
            <a:ext cx="650875" cy="222250"/>
          </a:xfrm>
          <a:custGeom>
            <a:avLst/>
            <a:gdLst/>
            <a:ahLst/>
            <a:cxnLst/>
            <a:rect l="l" t="t" r="r" b="b"/>
            <a:pathLst>
              <a:path w="650875" h="222250">
                <a:moveTo>
                  <a:pt x="31751" y="0"/>
                </a:moveTo>
                <a:lnTo>
                  <a:pt x="619124" y="0"/>
                </a:lnTo>
                <a:cubicBezTo>
                  <a:pt x="636660" y="0"/>
                  <a:pt x="650875" y="14215"/>
                  <a:pt x="650875" y="31751"/>
                </a:cubicBezTo>
                <a:lnTo>
                  <a:pt x="650875" y="190499"/>
                </a:lnTo>
                <a:cubicBezTo>
                  <a:pt x="650875" y="208035"/>
                  <a:pt x="636660" y="222250"/>
                  <a:pt x="619124" y="222250"/>
                </a:cubicBezTo>
                <a:lnTo>
                  <a:pt x="31751" y="222250"/>
                </a:lnTo>
                <a:cubicBezTo>
                  <a:pt x="14227" y="222250"/>
                  <a:pt x="0" y="208023"/>
                  <a:pt x="0" y="190499"/>
                </a:cubicBezTo>
                <a:lnTo>
                  <a:pt x="0" y="31751"/>
                </a:lnTo>
                <a:cubicBezTo>
                  <a:pt x="0" y="14227"/>
                  <a:pt x="14227" y="0"/>
                  <a:pt x="31751" y="0"/>
                </a:cubicBezTo>
                <a:close/>
              </a:path>
            </a:pathLst>
          </a:custGeom>
          <a:solidFill>
            <a:srgbClr val="4A7C59">
              <a:alpha val="10196"/>
            </a:srgbClr>
          </a:solidFill>
          <a:ln/>
        </p:spPr>
      </p:sp>
      <p:sp>
        <p:nvSpPr>
          <p:cNvPr id="104" name="Text 102"/>
          <p:cNvSpPr/>
          <p:nvPr/>
        </p:nvSpPr>
        <p:spPr>
          <a:xfrm>
            <a:off x="9082980" y="1936750"/>
            <a:ext cx="714375" cy="222250"/>
          </a:xfrm>
          <a:prstGeom prst="rect">
            <a:avLst/>
          </a:prstGeom>
          <a:noFill/>
          <a:ln/>
        </p:spPr>
        <p:txBody>
          <a:bodyPr wrap="square" lIns="63500" tIns="15875" rIns="63500" bIns="15875" rtlCol="0" anchor="ctr"/>
          <a:lstStyle/>
          <a:p>
            <a:pPr>
              <a:lnSpc>
                <a:spcPct val="130000"/>
              </a:lnSpc>
            </a:pPr>
            <a:r>
              <a:rPr lang="en-US" sz="1000" dirty="0">
                <a:solidFill>
                  <a:srgbClr val="4A7C59"/>
                </a:solidFill>
                <a:latin typeface="Quattrocento Sans" pitchFamily="34" charset="0"/>
                <a:ea typeface="Quattrocento Sans" pitchFamily="34" charset="-122"/>
                <a:cs typeface="Quattrocento Sans" pitchFamily="34" charset="-120"/>
              </a:rPr>
              <a:t>Cost Split</a:t>
            </a:r>
            <a:endParaRPr lang="en-US" sz="1600" dirty="0"/>
          </a:p>
        </p:txBody>
      </p:sp>
      <p:sp>
        <p:nvSpPr>
          <p:cNvPr id="105" name="Shape 103"/>
          <p:cNvSpPr/>
          <p:nvPr/>
        </p:nvSpPr>
        <p:spPr>
          <a:xfrm>
            <a:off x="8101509" y="2317750"/>
            <a:ext cx="3770313" cy="1047750"/>
          </a:xfrm>
          <a:custGeom>
            <a:avLst/>
            <a:gdLst/>
            <a:ahLst/>
            <a:cxnLst/>
            <a:rect l="l" t="t" r="r" b="b"/>
            <a:pathLst>
              <a:path w="3770313" h="1047750">
                <a:moveTo>
                  <a:pt x="31750" y="0"/>
                </a:moveTo>
                <a:lnTo>
                  <a:pt x="3706808" y="0"/>
                </a:lnTo>
                <a:cubicBezTo>
                  <a:pt x="3741881" y="0"/>
                  <a:pt x="3770313" y="28432"/>
                  <a:pt x="3770313" y="63504"/>
                </a:cubicBezTo>
                <a:lnTo>
                  <a:pt x="3770313" y="984246"/>
                </a:lnTo>
                <a:cubicBezTo>
                  <a:pt x="3770313" y="1019318"/>
                  <a:pt x="3741881" y="1047750"/>
                  <a:pt x="3706808" y="1047750"/>
                </a:cubicBezTo>
                <a:lnTo>
                  <a:pt x="31750" y="1047750"/>
                </a:lnTo>
                <a:cubicBezTo>
                  <a:pt x="14215" y="1047750"/>
                  <a:pt x="0" y="1033535"/>
                  <a:pt x="0" y="1016000"/>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106" name="Shape 104"/>
          <p:cNvSpPr/>
          <p:nvPr/>
        </p:nvSpPr>
        <p:spPr>
          <a:xfrm>
            <a:off x="8101509" y="2317750"/>
            <a:ext cx="31750" cy="1047750"/>
          </a:xfrm>
          <a:custGeom>
            <a:avLst/>
            <a:gdLst/>
            <a:ahLst/>
            <a:cxnLst/>
            <a:rect l="l" t="t" r="r" b="b"/>
            <a:pathLst>
              <a:path w="31750" h="1047750">
                <a:moveTo>
                  <a:pt x="31750" y="0"/>
                </a:moveTo>
                <a:lnTo>
                  <a:pt x="31750" y="0"/>
                </a:lnTo>
                <a:lnTo>
                  <a:pt x="31750" y="1047750"/>
                </a:lnTo>
                <a:lnTo>
                  <a:pt x="31750" y="1047750"/>
                </a:lnTo>
                <a:cubicBezTo>
                  <a:pt x="14227" y="1047750"/>
                  <a:pt x="0" y="1033523"/>
                  <a:pt x="0" y="1016000"/>
                </a:cubicBezTo>
                <a:lnTo>
                  <a:pt x="0" y="31750"/>
                </a:lnTo>
                <a:cubicBezTo>
                  <a:pt x="0" y="14227"/>
                  <a:pt x="14227" y="0"/>
                  <a:pt x="31750" y="0"/>
                </a:cubicBezTo>
                <a:close/>
              </a:path>
            </a:pathLst>
          </a:custGeom>
          <a:solidFill>
            <a:srgbClr val="F7B538"/>
          </a:solidFill>
          <a:ln/>
        </p:spPr>
      </p:sp>
      <p:sp>
        <p:nvSpPr>
          <p:cNvPr id="107" name="Shape 105"/>
          <p:cNvSpPr/>
          <p:nvPr/>
        </p:nvSpPr>
        <p:spPr>
          <a:xfrm>
            <a:off x="8232477" y="2436813"/>
            <a:ext cx="142875" cy="142875"/>
          </a:xfrm>
          <a:custGeom>
            <a:avLst/>
            <a:gdLst/>
            <a:ahLst/>
            <a:cxnLst/>
            <a:rect l="l" t="t" r="r" b="b"/>
            <a:pathLst>
              <a:path w="142875" h="142875">
                <a:moveTo>
                  <a:pt x="71438" y="39430"/>
                </a:moveTo>
                <a:lnTo>
                  <a:pt x="71438" y="125741"/>
                </a:lnTo>
                <a:lnTo>
                  <a:pt x="71577" y="125685"/>
                </a:lnTo>
                <a:cubicBezTo>
                  <a:pt x="86813" y="119351"/>
                  <a:pt x="103166" y="116086"/>
                  <a:pt x="119658" y="116086"/>
                </a:cubicBezTo>
                <a:lnTo>
                  <a:pt x="125016" y="116086"/>
                </a:lnTo>
                <a:lnTo>
                  <a:pt x="125016" y="26789"/>
                </a:lnTo>
                <a:lnTo>
                  <a:pt x="119658" y="26789"/>
                </a:lnTo>
                <a:cubicBezTo>
                  <a:pt x="107882" y="26789"/>
                  <a:pt x="96189" y="29133"/>
                  <a:pt x="85306" y="33654"/>
                </a:cubicBezTo>
                <a:cubicBezTo>
                  <a:pt x="80618" y="35607"/>
                  <a:pt x="75986" y="37533"/>
                  <a:pt x="71438" y="39430"/>
                </a:cubicBezTo>
                <a:close/>
                <a:moveTo>
                  <a:pt x="64433" y="17162"/>
                </a:moveTo>
                <a:lnTo>
                  <a:pt x="71438" y="20092"/>
                </a:lnTo>
                <a:lnTo>
                  <a:pt x="78442" y="17162"/>
                </a:lnTo>
                <a:cubicBezTo>
                  <a:pt x="91501" y="11720"/>
                  <a:pt x="105510" y="8930"/>
                  <a:pt x="119658" y="8930"/>
                </a:cubicBezTo>
                <a:lnTo>
                  <a:pt x="129480" y="8930"/>
                </a:lnTo>
                <a:cubicBezTo>
                  <a:pt x="136875" y="8930"/>
                  <a:pt x="142875" y="14929"/>
                  <a:pt x="142875" y="22324"/>
                </a:cubicBezTo>
                <a:lnTo>
                  <a:pt x="142875" y="120551"/>
                </a:lnTo>
                <a:cubicBezTo>
                  <a:pt x="142875" y="127946"/>
                  <a:pt x="136875" y="133945"/>
                  <a:pt x="129480" y="133945"/>
                </a:cubicBezTo>
                <a:lnTo>
                  <a:pt x="119658" y="133945"/>
                </a:lnTo>
                <a:cubicBezTo>
                  <a:pt x="105510" y="133945"/>
                  <a:pt x="91501" y="136736"/>
                  <a:pt x="78442" y="142177"/>
                </a:cubicBezTo>
                <a:lnTo>
                  <a:pt x="74870" y="143656"/>
                </a:lnTo>
                <a:cubicBezTo>
                  <a:pt x="72665" y="144577"/>
                  <a:pt x="70210" y="144577"/>
                  <a:pt x="68005" y="143656"/>
                </a:cubicBezTo>
                <a:lnTo>
                  <a:pt x="64433" y="142177"/>
                </a:lnTo>
                <a:cubicBezTo>
                  <a:pt x="51374" y="136736"/>
                  <a:pt x="37365" y="133945"/>
                  <a:pt x="23217" y="133945"/>
                </a:cubicBezTo>
                <a:lnTo>
                  <a:pt x="13395" y="133945"/>
                </a:lnTo>
                <a:cubicBezTo>
                  <a:pt x="6000" y="133945"/>
                  <a:pt x="0" y="127946"/>
                  <a:pt x="0" y="120551"/>
                </a:cubicBezTo>
                <a:lnTo>
                  <a:pt x="0" y="22324"/>
                </a:lnTo>
                <a:cubicBezTo>
                  <a:pt x="0" y="14929"/>
                  <a:pt x="6000" y="8930"/>
                  <a:pt x="13395" y="8930"/>
                </a:cubicBezTo>
                <a:lnTo>
                  <a:pt x="23217" y="8930"/>
                </a:lnTo>
                <a:cubicBezTo>
                  <a:pt x="37365" y="8930"/>
                  <a:pt x="51374" y="11720"/>
                  <a:pt x="64433" y="17162"/>
                </a:cubicBezTo>
                <a:close/>
              </a:path>
            </a:pathLst>
          </a:custGeom>
          <a:solidFill>
            <a:srgbClr val="F7B538"/>
          </a:solidFill>
          <a:ln/>
        </p:spPr>
      </p:sp>
      <p:sp>
        <p:nvSpPr>
          <p:cNvPr id="108" name="Text 106"/>
          <p:cNvSpPr/>
          <p:nvPr/>
        </p:nvSpPr>
        <p:spPr>
          <a:xfrm>
            <a:off x="8454727" y="2413000"/>
            <a:ext cx="1762125"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KnowledgeLegacyService.php</a:t>
            </a:r>
            <a:endParaRPr lang="en-US" sz="1600" dirty="0"/>
          </a:p>
        </p:txBody>
      </p:sp>
      <p:sp>
        <p:nvSpPr>
          <p:cNvPr id="109" name="Text 107"/>
          <p:cNvSpPr/>
          <p:nvPr/>
        </p:nvSpPr>
        <p:spPr>
          <a:xfrm>
            <a:off x="8212633" y="2635250"/>
            <a:ext cx="3627438" cy="349250"/>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Handles material uploads to S3 with ClamAV virus scan; generates signed download URLs; tracks passive earnings.</a:t>
            </a:r>
            <a:endParaRPr lang="en-US" sz="1600" dirty="0"/>
          </a:p>
        </p:txBody>
      </p:sp>
      <p:sp>
        <p:nvSpPr>
          <p:cNvPr id="110" name="Shape 108"/>
          <p:cNvSpPr/>
          <p:nvPr/>
        </p:nvSpPr>
        <p:spPr>
          <a:xfrm>
            <a:off x="8212633" y="3048000"/>
            <a:ext cx="587375" cy="222250"/>
          </a:xfrm>
          <a:custGeom>
            <a:avLst/>
            <a:gdLst/>
            <a:ahLst/>
            <a:cxnLst/>
            <a:rect l="l" t="t" r="r" b="b"/>
            <a:pathLst>
              <a:path w="587375" h="222250">
                <a:moveTo>
                  <a:pt x="31751" y="0"/>
                </a:moveTo>
                <a:lnTo>
                  <a:pt x="555624" y="0"/>
                </a:lnTo>
                <a:cubicBezTo>
                  <a:pt x="573160" y="0"/>
                  <a:pt x="587375" y="14215"/>
                  <a:pt x="587375" y="31751"/>
                </a:cubicBezTo>
                <a:lnTo>
                  <a:pt x="587375" y="190499"/>
                </a:lnTo>
                <a:cubicBezTo>
                  <a:pt x="587375" y="208035"/>
                  <a:pt x="573160" y="222250"/>
                  <a:pt x="555624" y="222250"/>
                </a:cubicBezTo>
                <a:lnTo>
                  <a:pt x="31751" y="222250"/>
                </a:lnTo>
                <a:cubicBezTo>
                  <a:pt x="14227" y="222250"/>
                  <a:pt x="0" y="208023"/>
                  <a:pt x="0" y="190499"/>
                </a:cubicBezTo>
                <a:lnTo>
                  <a:pt x="0" y="31751"/>
                </a:lnTo>
                <a:cubicBezTo>
                  <a:pt x="0" y="14227"/>
                  <a:pt x="14227" y="0"/>
                  <a:pt x="31751" y="0"/>
                </a:cubicBezTo>
                <a:close/>
              </a:path>
            </a:pathLst>
          </a:custGeom>
          <a:solidFill>
            <a:srgbClr val="F7B538">
              <a:alpha val="20000"/>
            </a:srgbClr>
          </a:solidFill>
          <a:ln/>
        </p:spPr>
      </p:sp>
      <p:sp>
        <p:nvSpPr>
          <p:cNvPr id="111" name="Text 109"/>
          <p:cNvSpPr/>
          <p:nvPr/>
        </p:nvSpPr>
        <p:spPr>
          <a:xfrm>
            <a:off x="8212633" y="3048000"/>
            <a:ext cx="650875" cy="222250"/>
          </a:xfrm>
          <a:prstGeom prst="rect">
            <a:avLst/>
          </a:prstGeom>
          <a:noFill/>
          <a:ln/>
        </p:spPr>
        <p:txBody>
          <a:bodyPr wrap="square" lIns="63500" tIns="15875" rIns="63500" bIns="15875" rtlCol="0" anchor="ctr"/>
          <a:lstStyle/>
          <a:p>
            <a:pPr>
              <a:lnSpc>
                <a:spcPct val="130000"/>
              </a:lnSpc>
            </a:pPr>
            <a:r>
              <a:rPr lang="en-US" sz="1000" dirty="0">
                <a:solidFill>
                  <a:srgbClr val="F7B538"/>
                </a:solidFill>
                <a:latin typeface="Quattrocento Sans" pitchFamily="34" charset="0"/>
                <a:ea typeface="Quattrocento Sans" pitchFamily="34" charset="-122"/>
                <a:cs typeface="Quattrocento Sans" pitchFamily="34" charset="-120"/>
              </a:rPr>
              <a:t>AWS S3</a:t>
            </a:r>
            <a:endParaRPr lang="en-US" sz="1600" dirty="0"/>
          </a:p>
        </p:txBody>
      </p:sp>
      <p:sp>
        <p:nvSpPr>
          <p:cNvPr id="112" name="Shape 110"/>
          <p:cNvSpPr/>
          <p:nvPr/>
        </p:nvSpPr>
        <p:spPr>
          <a:xfrm>
            <a:off x="8829278" y="3048000"/>
            <a:ext cx="571500" cy="222250"/>
          </a:xfrm>
          <a:custGeom>
            <a:avLst/>
            <a:gdLst/>
            <a:ahLst/>
            <a:cxnLst/>
            <a:rect l="l" t="t" r="r" b="b"/>
            <a:pathLst>
              <a:path w="571500" h="222250">
                <a:moveTo>
                  <a:pt x="31751" y="0"/>
                </a:moveTo>
                <a:lnTo>
                  <a:pt x="539749" y="0"/>
                </a:lnTo>
                <a:cubicBezTo>
                  <a:pt x="557285" y="0"/>
                  <a:pt x="571500" y="14215"/>
                  <a:pt x="571500" y="31751"/>
                </a:cubicBezTo>
                <a:lnTo>
                  <a:pt x="571500" y="190499"/>
                </a:lnTo>
                <a:cubicBezTo>
                  <a:pt x="571500" y="208035"/>
                  <a:pt x="557285" y="222250"/>
                  <a:pt x="539749" y="222250"/>
                </a:cubicBezTo>
                <a:lnTo>
                  <a:pt x="31751" y="222250"/>
                </a:lnTo>
                <a:cubicBezTo>
                  <a:pt x="14227" y="222250"/>
                  <a:pt x="0" y="208023"/>
                  <a:pt x="0" y="190499"/>
                </a:cubicBezTo>
                <a:lnTo>
                  <a:pt x="0" y="31751"/>
                </a:lnTo>
                <a:cubicBezTo>
                  <a:pt x="0" y="14227"/>
                  <a:pt x="14227" y="0"/>
                  <a:pt x="31751" y="0"/>
                </a:cubicBezTo>
                <a:close/>
              </a:path>
            </a:pathLst>
          </a:custGeom>
          <a:solidFill>
            <a:srgbClr val="F7B538">
              <a:alpha val="20000"/>
            </a:srgbClr>
          </a:solidFill>
          <a:ln/>
        </p:spPr>
      </p:sp>
      <p:sp>
        <p:nvSpPr>
          <p:cNvPr id="113" name="Text 111"/>
          <p:cNvSpPr/>
          <p:nvPr/>
        </p:nvSpPr>
        <p:spPr>
          <a:xfrm>
            <a:off x="8829278" y="3048000"/>
            <a:ext cx="635000" cy="222250"/>
          </a:xfrm>
          <a:prstGeom prst="rect">
            <a:avLst/>
          </a:prstGeom>
          <a:noFill/>
          <a:ln/>
        </p:spPr>
        <p:txBody>
          <a:bodyPr wrap="square" lIns="63500" tIns="15875" rIns="63500" bIns="15875" rtlCol="0" anchor="ctr"/>
          <a:lstStyle/>
          <a:p>
            <a:pPr>
              <a:lnSpc>
                <a:spcPct val="130000"/>
              </a:lnSpc>
            </a:pPr>
            <a:r>
              <a:rPr lang="en-US" sz="1000" dirty="0">
                <a:solidFill>
                  <a:srgbClr val="F7B538"/>
                </a:solidFill>
                <a:latin typeface="Quattrocento Sans" pitchFamily="34" charset="0"/>
                <a:ea typeface="Quattrocento Sans" pitchFamily="34" charset="-122"/>
                <a:cs typeface="Quattrocento Sans" pitchFamily="34" charset="-120"/>
              </a:rPr>
              <a:t>ClamAV</a:t>
            </a:r>
            <a:endParaRPr lang="en-US" sz="1600" dirty="0"/>
          </a:p>
        </p:txBody>
      </p:sp>
      <p:sp>
        <p:nvSpPr>
          <p:cNvPr id="114" name="Shape 112"/>
          <p:cNvSpPr/>
          <p:nvPr/>
        </p:nvSpPr>
        <p:spPr>
          <a:xfrm>
            <a:off x="8101509" y="3429000"/>
            <a:ext cx="3770313" cy="1047750"/>
          </a:xfrm>
          <a:custGeom>
            <a:avLst/>
            <a:gdLst/>
            <a:ahLst/>
            <a:cxnLst/>
            <a:rect l="l" t="t" r="r" b="b"/>
            <a:pathLst>
              <a:path w="3770313" h="1047750">
                <a:moveTo>
                  <a:pt x="31750" y="0"/>
                </a:moveTo>
                <a:lnTo>
                  <a:pt x="3706808" y="0"/>
                </a:lnTo>
                <a:cubicBezTo>
                  <a:pt x="3741881" y="0"/>
                  <a:pt x="3770313" y="28432"/>
                  <a:pt x="3770313" y="63504"/>
                </a:cubicBezTo>
                <a:lnTo>
                  <a:pt x="3770313" y="984246"/>
                </a:lnTo>
                <a:cubicBezTo>
                  <a:pt x="3770313" y="1019318"/>
                  <a:pt x="3741881" y="1047750"/>
                  <a:pt x="3706808" y="1047750"/>
                </a:cubicBezTo>
                <a:lnTo>
                  <a:pt x="31750" y="1047750"/>
                </a:lnTo>
                <a:cubicBezTo>
                  <a:pt x="14215" y="1047750"/>
                  <a:pt x="0" y="1033535"/>
                  <a:pt x="0" y="1016000"/>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115" name="Shape 113"/>
          <p:cNvSpPr/>
          <p:nvPr/>
        </p:nvSpPr>
        <p:spPr>
          <a:xfrm>
            <a:off x="8101509" y="3429000"/>
            <a:ext cx="31750" cy="1047750"/>
          </a:xfrm>
          <a:custGeom>
            <a:avLst/>
            <a:gdLst/>
            <a:ahLst/>
            <a:cxnLst/>
            <a:rect l="l" t="t" r="r" b="b"/>
            <a:pathLst>
              <a:path w="31750" h="1047750">
                <a:moveTo>
                  <a:pt x="31750" y="0"/>
                </a:moveTo>
                <a:lnTo>
                  <a:pt x="31750" y="0"/>
                </a:lnTo>
                <a:lnTo>
                  <a:pt x="31750" y="1047750"/>
                </a:lnTo>
                <a:lnTo>
                  <a:pt x="31750" y="1047750"/>
                </a:lnTo>
                <a:cubicBezTo>
                  <a:pt x="14227" y="1047750"/>
                  <a:pt x="0" y="1033523"/>
                  <a:pt x="0" y="1016000"/>
                </a:cubicBezTo>
                <a:lnTo>
                  <a:pt x="0" y="31750"/>
                </a:lnTo>
                <a:cubicBezTo>
                  <a:pt x="0" y="14227"/>
                  <a:pt x="14227" y="0"/>
                  <a:pt x="31750" y="0"/>
                </a:cubicBezTo>
                <a:close/>
              </a:path>
            </a:pathLst>
          </a:custGeom>
          <a:solidFill>
            <a:srgbClr val="1A535C"/>
          </a:solidFill>
          <a:ln/>
        </p:spPr>
      </p:sp>
      <p:sp>
        <p:nvSpPr>
          <p:cNvPr id="116" name="Shape 114"/>
          <p:cNvSpPr/>
          <p:nvPr/>
        </p:nvSpPr>
        <p:spPr>
          <a:xfrm>
            <a:off x="8223547" y="3548063"/>
            <a:ext cx="160734" cy="142875"/>
          </a:xfrm>
          <a:custGeom>
            <a:avLst/>
            <a:gdLst/>
            <a:ahLst/>
            <a:cxnLst/>
            <a:rect l="l" t="t" r="r" b="b"/>
            <a:pathLst>
              <a:path w="160734" h="142875">
                <a:moveTo>
                  <a:pt x="26789" y="0"/>
                </a:moveTo>
                <a:cubicBezTo>
                  <a:pt x="16939" y="0"/>
                  <a:pt x="8930" y="8009"/>
                  <a:pt x="8930" y="17859"/>
                </a:cubicBezTo>
                <a:lnTo>
                  <a:pt x="8930" y="125016"/>
                </a:lnTo>
                <a:cubicBezTo>
                  <a:pt x="8930" y="134866"/>
                  <a:pt x="16939" y="142875"/>
                  <a:pt x="26789" y="142875"/>
                </a:cubicBezTo>
                <a:lnTo>
                  <a:pt x="49113" y="142875"/>
                </a:lnTo>
                <a:lnTo>
                  <a:pt x="49113" y="111621"/>
                </a:lnTo>
                <a:cubicBezTo>
                  <a:pt x="49113" y="101771"/>
                  <a:pt x="57122" y="93762"/>
                  <a:pt x="66973" y="93762"/>
                </a:cubicBezTo>
                <a:lnTo>
                  <a:pt x="116086" y="93762"/>
                </a:lnTo>
                <a:lnTo>
                  <a:pt x="116086" y="47578"/>
                </a:lnTo>
                <a:cubicBezTo>
                  <a:pt x="116086" y="42835"/>
                  <a:pt x="114216" y="38286"/>
                  <a:pt x="110868" y="34937"/>
                </a:cubicBezTo>
                <a:lnTo>
                  <a:pt x="81121" y="5218"/>
                </a:lnTo>
                <a:cubicBezTo>
                  <a:pt x="77772" y="1870"/>
                  <a:pt x="73251" y="0"/>
                  <a:pt x="68507" y="0"/>
                </a:cubicBezTo>
                <a:lnTo>
                  <a:pt x="26789" y="0"/>
                </a:lnTo>
                <a:close/>
                <a:moveTo>
                  <a:pt x="99761" y="49113"/>
                </a:moveTo>
                <a:lnTo>
                  <a:pt x="73670" y="49113"/>
                </a:lnTo>
                <a:cubicBezTo>
                  <a:pt x="69959" y="49113"/>
                  <a:pt x="66973" y="46127"/>
                  <a:pt x="66973" y="42416"/>
                </a:cubicBezTo>
                <a:lnTo>
                  <a:pt x="66973" y="16325"/>
                </a:lnTo>
                <a:lnTo>
                  <a:pt x="99761" y="49113"/>
                </a:lnTo>
                <a:close/>
                <a:moveTo>
                  <a:pt x="66973" y="106040"/>
                </a:moveTo>
                <a:cubicBezTo>
                  <a:pt x="63903" y="106040"/>
                  <a:pt x="61392" y="108552"/>
                  <a:pt x="61392" y="111621"/>
                </a:cubicBezTo>
                <a:lnTo>
                  <a:pt x="61392" y="147340"/>
                </a:lnTo>
                <a:cubicBezTo>
                  <a:pt x="61392" y="150409"/>
                  <a:pt x="63903" y="152921"/>
                  <a:pt x="66973" y="152921"/>
                </a:cubicBezTo>
                <a:cubicBezTo>
                  <a:pt x="70042" y="152921"/>
                  <a:pt x="72554" y="150409"/>
                  <a:pt x="72554" y="147340"/>
                </a:cubicBezTo>
                <a:lnTo>
                  <a:pt x="72554" y="139526"/>
                </a:lnTo>
                <a:lnTo>
                  <a:pt x="75902" y="139526"/>
                </a:lnTo>
                <a:cubicBezTo>
                  <a:pt x="85139" y="139526"/>
                  <a:pt x="92646" y="132020"/>
                  <a:pt x="92646" y="122783"/>
                </a:cubicBezTo>
                <a:cubicBezTo>
                  <a:pt x="92646" y="113547"/>
                  <a:pt x="85139" y="106040"/>
                  <a:pt x="75902" y="106040"/>
                </a:cubicBezTo>
                <a:lnTo>
                  <a:pt x="66973" y="106040"/>
                </a:lnTo>
                <a:close/>
                <a:moveTo>
                  <a:pt x="75902" y="128364"/>
                </a:moveTo>
                <a:lnTo>
                  <a:pt x="72554" y="128364"/>
                </a:lnTo>
                <a:lnTo>
                  <a:pt x="72554" y="117202"/>
                </a:lnTo>
                <a:lnTo>
                  <a:pt x="75902" y="117202"/>
                </a:lnTo>
                <a:cubicBezTo>
                  <a:pt x="78972" y="117202"/>
                  <a:pt x="81483" y="119714"/>
                  <a:pt x="81483" y="122783"/>
                </a:cubicBezTo>
                <a:cubicBezTo>
                  <a:pt x="81483" y="125853"/>
                  <a:pt x="78972" y="128364"/>
                  <a:pt x="75902" y="128364"/>
                </a:cubicBezTo>
                <a:close/>
                <a:moveTo>
                  <a:pt x="102691" y="106040"/>
                </a:moveTo>
                <a:cubicBezTo>
                  <a:pt x="99622" y="106040"/>
                  <a:pt x="97110" y="108552"/>
                  <a:pt x="97110" y="111621"/>
                </a:cubicBezTo>
                <a:lnTo>
                  <a:pt x="97110" y="147340"/>
                </a:lnTo>
                <a:cubicBezTo>
                  <a:pt x="97110" y="150409"/>
                  <a:pt x="99622" y="152921"/>
                  <a:pt x="102691" y="152921"/>
                </a:cubicBezTo>
                <a:lnTo>
                  <a:pt x="111621" y="152921"/>
                </a:lnTo>
                <a:cubicBezTo>
                  <a:pt x="119630" y="152921"/>
                  <a:pt x="126132" y="146419"/>
                  <a:pt x="126132" y="138410"/>
                </a:cubicBezTo>
                <a:lnTo>
                  <a:pt x="126132" y="120551"/>
                </a:lnTo>
                <a:cubicBezTo>
                  <a:pt x="126132" y="112542"/>
                  <a:pt x="119630" y="106040"/>
                  <a:pt x="111621" y="106040"/>
                </a:cubicBezTo>
                <a:lnTo>
                  <a:pt x="102691" y="106040"/>
                </a:lnTo>
                <a:close/>
                <a:moveTo>
                  <a:pt x="108272" y="141759"/>
                </a:moveTo>
                <a:lnTo>
                  <a:pt x="108272" y="117202"/>
                </a:lnTo>
                <a:lnTo>
                  <a:pt x="111621" y="117202"/>
                </a:lnTo>
                <a:cubicBezTo>
                  <a:pt x="113463" y="117202"/>
                  <a:pt x="114970" y="118709"/>
                  <a:pt x="114970" y="120551"/>
                </a:cubicBezTo>
                <a:lnTo>
                  <a:pt x="114970" y="138410"/>
                </a:lnTo>
                <a:cubicBezTo>
                  <a:pt x="114970" y="140252"/>
                  <a:pt x="113463" y="141759"/>
                  <a:pt x="111621" y="141759"/>
                </a:cubicBezTo>
                <a:lnTo>
                  <a:pt x="108272" y="141759"/>
                </a:lnTo>
                <a:close/>
                <a:moveTo>
                  <a:pt x="132829" y="111621"/>
                </a:moveTo>
                <a:lnTo>
                  <a:pt x="132829" y="147340"/>
                </a:lnTo>
                <a:cubicBezTo>
                  <a:pt x="132829" y="150409"/>
                  <a:pt x="135341" y="152921"/>
                  <a:pt x="138410" y="152921"/>
                </a:cubicBezTo>
                <a:cubicBezTo>
                  <a:pt x="141480" y="152921"/>
                  <a:pt x="143991" y="150409"/>
                  <a:pt x="143991" y="147340"/>
                </a:cubicBezTo>
                <a:lnTo>
                  <a:pt x="143991" y="135062"/>
                </a:lnTo>
                <a:lnTo>
                  <a:pt x="151805" y="135062"/>
                </a:lnTo>
                <a:cubicBezTo>
                  <a:pt x="154874" y="135062"/>
                  <a:pt x="157386" y="132550"/>
                  <a:pt x="157386" y="129480"/>
                </a:cubicBezTo>
                <a:cubicBezTo>
                  <a:pt x="157386" y="126411"/>
                  <a:pt x="154874" y="123899"/>
                  <a:pt x="151805" y="123899"/>
                </a:cubicBezTo>
                <a:lnTo>
                  <a:pt x="143991" y="123899"/>
                </a:lnTo>
                <a:lnTo>
                  <a:pt x="143991" y="117202"/>
                </a:lnTo>
                <a:lnTo>
                  <a:pt x="151805" y="117202"/>
                </a:lnTo>
                <a:cubicBezTo>
                  <a:pt x="154874" y="117202"/>
                  <a:pt x="157386" y="114691"/>
                  <a:pt x="157386" y="111621"/>
                </a:cubicBezTo>
                <a:cubicBezTo>
                  <a:pt x="157386" y="108552"/>
                  <a:pt x="154874" y="106040"/>
                  <a:pt x="151805" y="106040"/>
                </a:cubicBezTo>
                <a:lnTo>
                  <a:pt x="138410" y="106040"/>
                </a:lnTo>
                <a:cubicBezTo>
                  <a:pt x="135341" y="106040"/>
                  <a:pt x="132829" y="108552"/>
                  <a:pt x="132829" y="111621"/>
                </a:cubicBezTo>
                <a:close/>
              </a:path>
            </a:pathLst>
          </a:custGeom>
          <a:solidFill>
            <a:srgbClr val="F7B538"/>
          </a:solidFill>
          <a:ln/>
        </p:spPr>
      </p:sp>
      <p:sp>
        <p:nvSpPr>
          <p:cNvPr id="117" name="Text 115"/>
          <p:cNvSpPr/>
          <p:nvPr/>
        </p:nvSpPr>
        <p:spPr>
          <a:xfrm>
            <a:off x="8454727" y="3524250"/>
            <a:ext cx="1468438"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ParentReportService.php</a:t>
            </a:r>
            <a:endParaRPr lang="en-US" sz="1600" dirty="0"/>
          </a:p>
        </p:txBody>
      </p:sp>
      <p:sp>
        <p:nvSpPr>
          <p:cNvPr id="118" name="Text 116"/>
          <p:cNvSpPr/>
          <p:nvPr/>
        </p:nvSpPr>
        <p:spPr>
          <a:xfrm>
            <a:off x="8212633" y="3746500"/>
            <a:ext cx="3627438" cy="349250"/>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Generates weekly PDF progress report via dompdf; emails to parent via Mailgun queue job. Three-way visibility.</a:t>
            </a:r>
            <a:endParaRPr lang="en-US" sz="1600" dirty="0"/>
          </a:p>
        </p:txBody>
      </p:sp>
      <p:sp>
        <p:nvSpPr>
          <p:cNvPr id="119" name="Shape 117"/>
          <p:cNvSpPr/>
          <p:nvPr/>
        </p:nvSpPr>
        <p:spPr>
          <a:xfrm>
            <a:off x="8212633" y="4159250"/>
            <a:ext cx="563563" cy="222250"/>
          </a:xfrm>
          <a:custGeom>
            <a:avLst/>
            <a:gdLst/>
            <a:ahLst/>
            <a:cxnLst/>
            <a:rect l="l" t="t" r="r" b="b"/>
            <a:pathLst>
              <a:path w="563563" h="222250">
                <a:moveTo>
                  <a:pt x="31751" y="0"/>
                </a:moveTo>
                <a:lnTo>
                  <a:pt x="531812" y="0"/>
                </a:lnTo>
                <a:cubicBezTo>
                  <a:pt x="549347" y="0"/>
                  <a:pt x="563563" y="14215"/>
                  <a:pt x="563563" y="31751"/>
                </a:cubicBezTo>
                <a:lnTo>
                  <a:pt x="563563" y="190499"/>
                </a:lnTo>
                <a:cubicBezTo>
                  <a:pt x="563563" y="208035"/>
                  <a:pt x="549347" y="222250"/>
                  <a:pt x="531812" y="222250"/>
                </a:cubicBezTo>
                <a:lnTo>
                  <a:pt x="31751" y="222250"/>
                </a:lnTo>
                <a:cubicBezTo>
                  <a:pt x="14227" y="222250"/>
                  <a:pt x="0" y="208023"/>
                  <a:pt x="0" y="190499"/>
                </a:cubicBezTo>
                <a:lnTo>
                  <a:pt x="0" y="31751"/>
                </a:lnTo>
                <a:cubicBezTo>
                  <a:pt x="0" y="14227"/>
                  <a:pt x="14227" y="0"/>
                  <a:pt x="31751" y="0"/>
                </a:cubicBezTo>
                <a:close/>
              </a:path>
            </a:pathLst>
          </a:custGeom>
          <a:solidFill>
            <a:srgbClr val="1A535C">
              <a:alpha val="10196"/>
            </a:srgbClr>
          </a:solidFill>
          <a:ln/>
        </p:spPr>
      </p:sp>
      <p:sp>
        <p:nvSpPr>
          <p:cNvPr id="120" name="Text 118"/>
          <p:cNvSpPr/>
          <p:nvPr/>
        </p:nvSpPr>
        <p:spPr>
          <a:xfrm>
            <a:off x="8212633" y="4159250"/>
            <a:ext cx="627063" cy="222250"/>
          </a:xfrm>
          <a:prstGeom prst="rect">
            <a:avLst/>
          </a:prstGeom>
          <a:noFill/>
          <a:ln/>
        </p:spPr>
        <p:txBody>
          <a:bodyPr wrap="square" lIns="63500" tIns="15875" rIns="63500" bIns="15875" rtlCol="0" anchor="ctr"/>
          <a:lstStyle/>
          <a:p>
            <a:pPr>
              <a:lnSpc>
                <a:spcPct val="130000"/>
              </a:lnSpc>
            </a:pPr>
            <a:r>
              <a:rPr lang="en-US" sz="1000" dirty="0">
                <a:solidFill>
                  <a:srgbClr val="1A535C"/>
                </a:solidFill>
                <a:latin typeface="Quattrocento Sans" pitchFamily="34" charset="0"/>
                <a:ea typeface="Quattrocento Sans" pitchFamily="34" charset="-122"/>
                <a:cs typeface="Quattrocento Sans" pitchFamily="34" charset="-120"/>
              </a:rPr>
              <a:t>dompdf</a:t>
            </a:r>
            <a:endParaRPr lang="en-US" sz="1600" dirty="0"/>
          </a:p>
        </p:txBody>
      </p:sp>
      <p:sp>
        <p:nvSpPr>
          <p:cNvPr id="121" name="Shape 119"/>
          <p:cNvSpPr/>
          <p:nvPr/>
        </p:nvSpPr>
        <p:spPr>
          <a:xfrm>
            <a:off x="8808740" y="4159250"/>
            <a:ext cx="555625" cy="222250"/>
          </a:xfrm>
          <a:custGeom>
            <a:avLst/>
            <a:gdLst/>
            <a:ahLst/>
            <a:cxnLst/>
            <a:rect l="l" t="t" r="r" b="b"/>
            <a:pathLst>
              <a:path w="555625" h="222250">
                <a:moveTo>
                  <a:pt x="31751" y="0"/>
                </a:moveTo>
                <a:lnTo>
                  <a:pt x="523874" y="0"/>
                </a:lnTo>
                <a:cubicBezTo>
                  <a:pt x="541410" y="0"/>
                  <a:pt x="555625" y="14215"/>
                  <a:pt x="555625" y="31751"/>
                </a:cubicBezTo>
                <a:lnTo>
                  <a:pt x="555625" y="190499"/>
                </a:lnTo>
                <a:cubicBezTo>
                  <a:pt x="555625" y="208035"/>
                  <a:pt x="541410" y="222250"/>
                  <a:pt x="523874" y="222250"/>
                </a:cubicBezTo>
                <a:lnTo>
                  <a:pt x="31751" y="222250"/>
                </a:lnTo>
                <a:cubicBezTo>
                  <a:pt x="14227" y="222250"/>
                  <a:pt x="0" y="208023"/>
                  <a:pt x="0" y="190499"/>
                </a:cubicBezTo>
                <a:lnTo>
                  <a:pt x="0" y="31751"/>
                </a:lnTo>
                <a:cubicBezTo>
                  <a:pt x="0" y="14227"/>
                  <a:pt x="14227" y="0"/>
                  <a:pt x="31751" y="0"/>
                </a:cubicBezTo>
                <a:close/>
              </a:path>
            </a:pathLst>
          </a:custGeom>
          <a:solidFill>
            <a:srgbClr val="1A535C">
              <a:alpha val="10196"/>
            </a:srgbClr>
          </a:solidFill>
          <a:ln/>
        </p:spPr>
      </p:sp>
      <p:sp>
        <p:nvSpPr>
          <p:cNvPr id="122" name="Text 120"/>
          <p:cNvSpPr/>
          <p:nvPr/>
        </p:nvSpPr>
        <p:spPr>
          <a:xfrm>
            <a:off x="8808740" y="4159250"/>
            <a:ext cx="619125" cy="222250"/>
          </a:xfrm>
          <a:prstGeom prst="rect">
            <a:avLst/>
          </a:prstGeom>
          <a:noFill/>
          <a:ln/>
        </p:spPr>
        <p:txBody>
          <a:bodyPr wrap="square" lIns="63500" tIns="15875" rIns="63500" bIns="15875" rtlCol="0" anchor="ctr"/>
          <a:lstStyle/>
          <a:p>
            <a:pPr>
              <a:lnSpc>
                <a:spcPct val="130000"/>
              </a:lnSpc>
            </a:pPr>
            <a:r>
              <a:rPr lang="en-US" sz="1000" dirty="0">
                <a:solidFill>
                  <a:srgbClr val="1A535C"/>
                </a:solidFill>
                <a:latin typeface="Quattrocento Sans" pitchFamily="34" charset="0"/>
                <a:ea typeface="Quattrocento Sans" pitchFamily="34" charset="-122"/>
                <a:cs typeface="Quattrocento Sans" pitchFamily="34" charset="-120"/>
              </a:rPr>
              <a:t>Mailgun</a:t>
            </a:r>
            <a:endParaRPr lang="en-US" sz="1600" dirty="0"/>
          </a:p>
        </p:txBody>
      </p:sp>
      <p:sp>
        <p:nvSpPr>
          <p:cNvPr id="123" name="Shape 121"/>
          <p:cNvSpPr/>
          <p:nvPr/>
        </p:nvSpPr>
        <p:spPr>
          <a:xfrm>
            <a:off x="8101509" y="4540250"/>
            <a:ext cx="3770313" cy="1047750"/>
          </a:xfrm>
          <a:custGeom>
            <a:avLst/>
            <a:gdLst/>
            <a:ahLst/>
            <a:cxnLst/>
            <a:rect l="l" t="t" r="r" b="b"/>
            <a:pathLst>
              <a:path w="3770313" h="1047750">
                <a:moveTo>
                  <a:pt x="31750" y="0"/>
                </a:moveTo>
                <a:lnTo>
                  <a:pt x="3706808" y="0"/>
                </a:lnTo>
                <a:cubicBezTo>
                  <a:pt x="3741881" y="0"/>
                  <a:pt x="3770313" y="28432"/>
                  <a:pt x="3770313" y="63504"/>
                </a:cubicBezTo>
                <a:lnTo>
                  <a:pt x="3770313" y="984246"/>
                </a:lnTo>
                <a:cubicBezTo>
                  <a:pt x="3770313" y="1019318"/>
                  <a:pt x="3741881" y="1047750"/>
                  <a:pt x="3706808" y="1047750"/>
                </a:cubicBezTo>
                <a:lnTo>
                  <a:pt x="31750" y="1047750"/>
                </a:lnTo>
                <a:cubicBezTo>
                  <a:pt x="14215" y="1047750"/>
                  <a:pt x="0" y="1033535"/>
                  <a:pt x="0" y="1016000"/>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124" name="Shape 122"/>
          <p:cNvSpPr/>
          <p:nvPr/>
        </p:nvSpPr>
        <p:spPr>
          <a:xfrm>
            <a:off x="8101509" y="4540250"/>
            <a:ext cx="31750" cy="1047750"/>
          </a:xfrm>
          <a:custGeom>
            <a:avLst/>
            <a:gdLst/>
            <a:ahLst/>
            <a:cxnLst/>
            <a:rect l="l" t="t" r="r" b="b"/>
            <a:pathLst>
              <a:path w="31750" h="1047750">
                <a:moveTo>
                  <a:pt x="31750" y="0"/>
                </a:moveTo>
                <a:lnTo>
                  <a:pt x="31750" y="0"/>
                </a:lnTo>
                <a:lnTo>
                  <a:pt x="31750" y="1047750"/>
                </a:lnTo>
                <a:lnTo>
                  <a:pt x="31750" y="1047750"/>
                </a:lnTo>
                <a:cubicBezTo>
                  <a:pt x="14227" y="1047750"/>
                  <a:pt x="0" y="1033523"/>
                  <a:pt x="0" y="1016000"/>
                </a:cubicBezTo>
                <a:lnTo>
                  <a:pt x="0" y="31750"/>
                </a:lnTo>
                <a:cubicBezTo>
                  <a:pt x="0" y="14227"/>
                  <a:pt x="14227" y="0"/>
                  <a:pt x="31750" y="0"/>
                </a:cubicBezTo>
                <a:close/>
              </a:path>
            </a:pathLst>
          </a:custGeom>
          <a:solidFill>
            <a:srgbClr val="4A7C59"/>
          </a:solidFill>
          <a:ln/>
        </p:spPr>
      </p:sp>
      <p:sp>
        <p:nvSpPr>
          <p:cNvPr id="125" name="Shape 123"/>
          <p:cNvSpPr/>
          <p:nvPr/>
        </p:nvSpPr>
        <p:spPr>
          <a:xfrm>
            <a:off x="8250337" y="4659313"/>
            <a:ext cx="107156" cy="142875"/>
          </a:xfrm>
          <a:custGeom>
            <a:avLst/>
            <a:gdLst/>
            <a:ahLst/>
            <a:cxnLst/>
            <a:rect l="l" t="t" r="r" b="b"/>
            <a:pathLst>
              <a:path w="107156" h="142875">
                <a:moveTo>
                  <a:pt x="17859" y="0"/>
                </a:moveTo>
                <a:cubicBezTo>
                  <a:pt x="8009" y="0"/>
                  <a:pt x="0" y="8009"/>
                  <a:pt x="0" y="17859"/>
                </a:cubicBezTo>
                <a:lnTo>
                  <a:pt x="0" y="125016"/>
                </a:lnTo>
                <a:cubicBezTo>
                  <a:pt x="0" y="134866"/>
                  <a:pt x="8009" y="142875"/>
                  <a:pt x="17859" y="142875"/>
                </a:cubicBezTo>
                <a:lnTo>
                  <a:pt x="89297" y="142875"/>
                </a:lnTo>
                <a:cubicBezTo>
                  <a:pt x="99147" y="142875"/>
                  <a:pt x="107156" y="134866"/>
                  <a:pt x="107156" y="125016"/>
                </a:cubicBezTo>
                <a:lnTo>
                  <a:pt x="107156" y="17859"/>
                </a:lnTo>
                <a:cubicBezTo>
                  <a:pt x="107156" y="8009"/>
                  <a:pt x="99147" y="0"/>
                  <a:pt x="89297" y="0"/>
                </a:cubicBezTo>
                <a:lnTo>
                  <a:pt x="17859" y="0"/>
                </a:lnTo>
                <a:close/>
                <a:moveTo>
                  <a:pt x="49113" y="98227"/>
                </a:moveTo>
                <a:lnTo>
                  <a:pt x="58043" y="98227"/>
                </a:lnTo>
                <a:cubicBezTo>
                  <a:pt x="62982" y="98227"/>
                  <a:pt x="66973" y="102217"/>
                  <a:pt x="66973" y="107156"/>
                </a:cubicBezTo>
                <a:lnTo>
                  <a:pt x="66973" y="129480"/>
                </a:lnTo>
                <a:lnTo>
                  <a:pt x="40184" y="129480"/>
                </a:lnTo>
                <a:lnTo>
                  <a:pt x="40184" y="107156"/>
                </a:lnTo>
                <a:cubicBezTo>
                  <a:pt x="40184" y="102217"/>
                  <a:pt x="44174" y="98227"/>
                  <a:pt x="49113" y="98227"/>
                </a:cubicBezTo>
                <a:close/>
                <a:moveTo>
                  <a:pt x="26789" y="31254"/>
                </a:moveTo>
                <a:cubicBezTo>
                  <a:pt x="26789" y="28798"/>
                  <a:pt x="28798" y="26789"/>
                  <a:pt x="31254" y="26789"/>
                </a:cubicBezTo>
                <a:lnTo>
                  <a:pt x="40184" y="26789"/>
                </a:lnTo>
                <a:cubicBezTo>
                  <a:pt x="42639" y="26789"/>
                  <a:pt x="44648" y="28798"/>
                  <a:pt x="44648" y="31254"/>
                </a:cubicBezTo>
                <a:lnTo>
                  <a:pt x="44648" y="40184"/>
                </a:lnTo>
                <a:cubicBezTo>
                  <a:pt x="44648" y="42639"/>
                  <a:pt x="42639" y="44648"/>
                  <a:pt x="40184" y="44648"/>
                </a:cubicBezTo>
                <a:lnTo>
                  <a:pt x="31254" y="44648"/>
                </a:lnTo>
                <a:cubicBezTo>
                  <a:pt x="28798" y="44648"/>
                  <a:pt x="26789" y="42639"/>
                  <a:pt x="26789" y="40184"/>
                </a:cubicBezTo>
                <a:lnTo>
                  <a:pt x="26789" y="31254"/>
                </a:lnTo>
                <a:close/>
                <a:moveTo>
                  <a:pt x="66973" y="26789"/>
                </a:moveTo>
                <a:lnTo>
                  <a:pt x="75902" y="26789"/>
                </a:lnTo>
                <a:cubicBezTo>
                  <a:pt x="78358" y="26789"/>
                  <a:pt x="80367" y="28798"/>
                  <a:pt x="80367" y="31254"/>
                </a:cubicBezTo>
                <a:lnTo>
                  <a:pt x="80367" y="40184"/>
                </a:lnTo>
                <a:cubicBezTo>
                  <a:pt x="80367" y="42639"/>
                  <a:pt x="78358" y="44648"/>
                  <a:pt x="75902" y="44648"/>
                </a:cubicBezTo>
                <a:lnTo>
                  <a:pt x="66973" y="44648"/>
                </a:lnTo>
                <a:cubicBezTo>
                  <a:pt x="64517" y="44648"/>
                  <a:pt x="62508" y="42639"/>
                  <a:pt x="62508" y="40184"/>
                </a:cubicBezTo>
                <a:lnTo>
                  <a:pt x="62508" y="31254"/>
                </a:lnTo>
                <a:cubicBezTo>
                  <a:pt x="62508" y="28798"/>
                  <a:pt x="64517" y="26789"/>
                  <a:pt x="66973" y="26789"/>
                </a:cubicBezTo>
                <a:close/>
                <a:moveTo>
                  <a:pt x="26789" y="66973"/>
                </a:moveTo>
                <a:cubicBezTo>
                  <a:pt x="26789" y="64517"/>
                  <a:pt x="28798" y="62508"/>
                  <a:pt x="31254" y="62508"/>
                </a:cubicBezTo>
                <a:lnTo>
                  <a:pt x="40184" y="62508"/>
                </a:lnTo>
                <a:cubicBezTo>
                  <a:pt x="42639" y="62508"/>
                  <a:pt x="44648" y="64517"/>
                  <a:pt x="44648" y="66973"/>
                </a:cubicBezTo>
                <a:lnTo>
                  <a:pt x="44648" y="75902"/>
                </a:lnTo>
                <a:cubicBezTo>
                  <a:pt x="44648" y="78358"/>
                  <a:pt x="42639" y="80367"/>
                  <a:pt x="40184" y="80367"/>
                </a:cubicBezTo>
                <a:lnTo>
                  <a:pt x="31254" y="80367"/>
                </a:lnTo>
                <a:cubicBezTo>
                  <a:pt x="28798" y="80367"/>
                  <a:pt x="26789" y="78358"/>
                  <a:pt x="26789" y="75902"/>
                </a:cubicBezTo>
                <a:lnTo>
                  <a:pt x="26789" y="66973"/>
                </a:lnTo>
                <a:close/>
                <a:moveTo>
                  <a:pt x="66973" y="62508"/>
                </a:moveTo>
                <a:lnTo>
                  <a:pt x="75902" y="62508"/>
                </a:lnTo>
                <a:cubicBezTo>
                  <a:pt x="78358" y="62508"/>
                  <a:pt x="80367" y="64517"/>
                  <a:pt x="80367" y="66973"/>
                </a:cubicBezTo>
                <a:lnTo>
                  <a:pt x="80367" y="75902"/>
                </a:lnTo>
                <a:cubicBezTo>
                  <a:pt x="80367" y="78358"/>
                  <a:pt x="78358" y="80367"/>
                  <a:pt x="75902" y="80367"/>
                </a:cubicBezTo>
                <a:lnTo>
                  <a:pt x="66973" y="80367"/>
                </a:lnTo>
                <a:cubicBezTo>
                  <a:pt x="64517" y="80367"/>
                  <a:pt x="62508" y="78358"/>
                  <a:pt x="62508" y="75902"/>
                </a:cubicBezTo>
                <a:lnTo>
                  <a:pt x="62508" y="66973"/>
                </a:lnTo>
                <a:cubicBezTo>
                  <a:pt x="62508" y="64517"/>
                  <a:pt x="64517" y="62508"/>
                  <a:pt x="66973" y="62508"/>
                </a:cubicBezTo>
                <a:close/>
              </a:path>
            </a:pathLst>
          </a:custGeom>
          <a:solidFill>
            <a:srgbClr val="F7B538"/>
          </a:solidFill>
          <a:ln/>
        </p:spPr>
      </p:sp>
      <p:sp>
        <p:nvSpPr>
          <p:cNvPr id="126" name="Text 124"/>
          <p:cNvSpPr/>
          <p:nvPr/>
        </p:nvSpPr>
        <p:spPr>
          <a:xfrm>
            <a:off x="8454727" y="4635500"/>
            <a:ext cx="2071688"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GovernmentVerificationService.php</a:t>
            </a:r>
            <a:endParaRPr lang="en-US" sz="1600" dirty="0"/>
          </a:p>
        </p:txBody>
      </p:sp>
      <p:sp>
        <p:nvSpPr>
          <p:cNvPr id="127" name="Text 125"/>
          <p:cNvSpPr/>
          <p:nvPr/>
        </p:nvSpPr>
        <p:spPr>
          <a:xfrm>
            <a:off x="8212633" y="4857750"/>
            <a:ext cx="3627438" cy="349250"/>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Calls state pension/HR APIs via Guzzle; validates teacher service records; sets govt_verified flag with badge.</a:t>
            </a:r>
            <a:endParaRPr lang="en-US" sz="1600" dirty="0"/>
          </a:p>
        </p:txBody>
      </p:sp>
      <p:sp>
        <p:nvSpPr>
          <p:cNvPr id="128" name="Shape 126"/>
          <p:cNvSpPr/>
          <p:nvPr/>
        </p:nvSpPr>
        <p:spPr>
          <a:xfrm>
            <a:off x="8212633" y="5270500"/>
            <a:ext cx="603250" cy="222250"/>
          </a:xfrm>
          <a:custGeom>
            <a:avLst/>
            <a:gdLst/>
            <a:ahLst/>
            <a:cxnLst/>
            <a:rect l="l" t="t" r="r" b="b"/>
            <a:pathLst>
              <a:path w="603250" h="222250">
                <a:moveTo>
                  <a:pt x="31751" y="0"/>
                </a:moveTo>
                <a:lnTo>
                  <a:pt x="571499" y="0"/>
                </a:lnTo>
                <a:cubicBezTo>
                  <a:pt x="589035" y="0"/>
                  <a:pt x="603250" y="14215"/>
                  <a:pt x="603250" y="31751"/>
                </a:cubicBezTo>
                <a:lnTo>
                  <a:pt x="603250" y="190499"/>
                </a:lnTo>
                <a:cubicBezTo>
                  <a:pt x="603250" y="208035"/>
                  <a:pt x="589035" y="222250"/>
                  <a:pt x="571499" y="222250"/>
                </a:cubicBezTo>
                <a:lnTo>
                  <a:pt x="31751" y="222250"/>
                </a:lnTo>
                <a:cubicBezTo>
                  <a:pt x="14227" y="222250"/>
                  <a:pt x="0" y="208023"/>
                  <a:pt x="0" y="190499"/>
                </a:cubicBezTo>
                <a:lnTo>
                  <a:pt x="0" y="31751"/>
                </a:lnTo>
                <a:cubicBezTo>
                  <a:pt x="0" y="14227"/>
                  <a:pt x="14227" y="0"/>
                  <a:pt x="31751" y="0"/>
                </a:cubicBezTo>
                <a:close/>
              </a:path>
            </a:pathLst>
          </a:custGeom>
          <a:solidFill>
            <a:srgbClr val="4A7C59">
              <a:alpha val="10196"/>
            </a:srgbClr>
          </a:solidFill>
          <a:ln/>
        </p:spPr>
      </p:sp>
      <p:sp>
        <p:nvSpPr>
          <p:cNvPr id="129" name="Text 127"/>
          <p:cNvSpPr/>
          <p:nvPr/>
        </p:nvSpPr>
        <p:spPr>
          <a:xfrm>
            <a:off x="8212633" y="5270500"/>
            <a:ext cx="666750" cy="222250"/>
          </a:xfrm>
          <a:prstGeom prst="rect">
            <a:avLst/>
          </a:prstGeom>
          <a:noFill/>
          <a:ln/>
        </p:spPr>
        <p:txBody>
          <a:bodyPr wrap="square" lIns="63500" tIns="15875" rIns="63500" bIns="15875" rtlCol="0" anchor="ctr"/>
          <a:lstStyle/>
          <a:p>
            <a:pPr>
              <a:lnSpc>
                <a:spcPct val="130000"/>
              </a:lnSpc>
            </a:pPr>
            <a:r>
              <a:rPr lang="en-US" sz="1000" dirty="0">
                <a:solidFill>
                  <a:srgbClr val="4A7C59"/>
                </a:solidFill>
                <a:latin typeface="Quattrocento Sans" pitchFamily="34" charset="0"/>
                <a:ea typeface="Quattrocento Sans" pitchFamily="34" charset="-122"/>
                <a:cs typeface="Quattrocento Sans" pitchFamily="34" charset="-120"/>
              </a:rPr>
              <a:t>Govt API</a:t>
            </a:r>
            <a:endParaRPr lang="en-US" sz="1600" dirty="0"/>
          </a:p>
        </p:txBody>
      </p:sp>
      <p:sp>
        <p:nvSpPr>
          <p:cNvPr id="130" name="Shape 128"/>
          <p:cNvSpPr/>
          <p:nvPr/>
        </p:nvSpPr>
        <p:spPr>
          <a:xfrm>
            <a:off x="8848428" y="5270500"/>
            <a:ext cx="754063" cy="222250"/>
          </a:xfrm>
          <a:custGeom>
            <a:avLst/>
            <a:gdLst/>
            <a:ahLst/>
            <a:cxnLst/>
            <a:rect l="l" t="t" r="r" b="b"/>
            <a:pathLst>
              <a:path w="754063" h="222250">
                <a:moveTo>
                  <a:pt x="31751" y="0"/>
                </a:moveTo>
                <a:lnTo>
                  <a:pt x="722312" y="0"/>
                </a:lnTo>
                <a:cubicBezTo>
                  <a:pt x="739847" y="0"/>
                  <a:pt x="754063" y="14215"/>
                  <a:pt x="754063" y="31751"/>
                </a:cubicBezTo>
                <a:lnTo>
                  <a:pt x="754063" y="190499"/>
                </a:lnTo>
                <a:cubicBezTo>
                  <a:pt x="754063" y="208035"/>
                  <a:pt x="739847" y="222250"/>
                  <a:pt x="722312" y="222250"/>
                </a:cubicBezTo>
                <a:lnTo>
                  <a:pt x="31751" y="222250"/>
                </a:lnTo>
                <a:cubicBezTo>
                  <a:pt x="14227" y="222250"/>
                  <a:pt x="0" y="208023"/>
                  <a:pt x="0" y="190499"/>
                </a:cubicBezTo>
                <a:lnTo>
                  <a:pt x="0" y="31751"/>
                </a:lnTo>
                <a:cubicBezTo>
                  <a:pt x="0" y="14227"/>
                  <a:pt x="14227" y="0"/>
                  <a:pt x="31751" y="0"/>
                </a:cubicBezTo>
                <a:close/>
              </a:path>
            </a:pathLst>
          </a:custGeom>
          <a:solidFill>
            <a:srgbClr val="4A7C59">
              <a:alpha val="10196"/>
            </a:srgbClr>
          </a:solidFill>
          <a:ln/>
        </p:spPr>
      </p:sp>
      <p:sp>
        <p:nvSpPr>
          <p:cNvPr id="131" name="Text 129"/>
          <p:cNvSpPr/>
          <p:nvPr/>
        </p:nvSpPr>
        <p:spPr>
          <a:xfrm>
            <a:off x="8848428" y="5270500"/>
            <a:ext cx="817563" cy="222250"/>
          </a:xfrm>
          <a:prstGeom prst="rect">
            <a:avLst/>
          </a:prstGeom>
          <a:noFill/>
          <a:ln/>
        </p:spPr>
        <p:txBody>
          <a:bodyPr wrap="square" lIns="63500" tIns="15875" rIns="63500" bIns="15875" rtlCol="0" anchor="ctr"/>
          <a:lstStyle/>
          <a:p>
            <a:pPr>
              <a:lnSpc>
                <a:spcPct val="130000"/>
              </a:lnSpc>
            </a:pPr>
            <a:r>
              <a:rPr lang="en-US" sz="1000" dirty="0">
                <a:solidFill>
                  <a:srgbClr val="4A7C59"/>
                </a:solidFill>
                <a:latin typeface="Quattrocento Sans" pitchFamily="34" charset="0"/>
                <a:ea typeface="Quattrocento Sans" pitchFamily="34" charset="-122"/>
                <a:cs typeface="Quattrocento Sans" pitchFamily="34" charset="-120"/>
              </a:rPr>
              <a:t>Verification</a:t>
            </a:r>
            <a:endParaRPr lang="en-US" sz="1600" dirty="0"/>
          </a:p>
        </p:txBody>
      </p:sp>
      <p:sp>
        <p:nvSpPr>
          <p:cNvPr id="132" name="Shape 130"/>
          <p:cNvSpPr/>
          <p:nvPr/>
        </p:nvSpPr>
        <p:spPr>
          <a:xfrm>
            <a:off x="8101509" y="5651500"/>
            <a:ext cx="3770313" cy="1047750"/>
          </a:xfrm>
          <a:custGeom>
            <a:avLst/>
            <a:gdLst/>
            <a:ahLst/>
            <a:cxnLst/>
            <a:rect l="l" t="t" r="r" b="b"/>
            <a:pathLst>
              <a:path w="3770313" h="1047750">
                <a:moveTo>
                  <a:pt x="31750" y="0"/>
                </a:moveTo>
                <a:lnTo>
                  <a:pt x="3706808" y="0"/>
                </a:lnTo>
                <a:cubicBezTo>
                  <a:pt x="3741881" y="0"/>
                  <a:pt x="3770313" y="28432"/>
                  <a:pt x="3770313" y="63504"/>
                </a:cubicBezTo>
                <a:lnTo>
                  <a:pt x="3770313" y="984246"/>
                </a:lnTo>
                <a:cubicBezTo>
                  <a:pt x="3770313" y="1019318"/>
                  <a:pt x="3741881" y="1047750"/>
                  <a:pt x="3706808" y="1047750"/>
                </a:cubicBezTo>
                <a:lnTo>
                  <a:pt x="31750" y="1047750"/>
                </a:lnTo>
                <a:cubicBezTo>
                  <a:pt x="14215" y="1047750"/>
                  <a:pt x="0" y="1033535"/>
                  <a:pt x="0" y="1016000"/>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133" name="Shape 131"/>
          <p:cNvSpPr/>
          <p:nvPr/>
        </p:nvSpPr>
        <p:spPr>
          <a:xfrm>
            <a:off x="8101509" y="5651500"/>
            <a:ext cx="31750" cy="1047750"/>
          </a:xfrm>
          <a:custGeom>
            <a:avLst/>
            <a:gdLst/>
            <a:ahLst/>
            <a:cxnLst/>
            <a:rect l="l" t="t" r="r" b="b"/>
            <a:pathLst>
              <a:path w="31750" h="1047750">
                <a:moveTo>
                  <a:pt x="31750" y="0"/>
                </a:moveTo>
                <a:lnTo>
                  <a:pt x="31750" y="0"/>
                </a:lnTo>
                <a:lnTo>
                  <a:pt x="31750" y="1047750"/>
                </a:lnTo>
                <a:lnTo>
                  <a:pt x="31750" y="1047750"/>
                </a:lnTo>
                <a:cubicBezTo>
                  <a:pt x="14227" y="1047750"/>
                  <a:pt x="0" y="1033523"/>
                  <a:pt x="0" y="1016000"/>
                </a:cubicBezTo>
                <a:lnTo>
                  <a:pt x="0" y="31750"/>
                </a:lnTo>
                <a:cubicBezTo>
                  <a:pt x="0" y="14227"/>
                  <a:pt x="14227" y="0"/>
                  <a:pt x="31750" y="0"/>
                </a:cubicBezTo>
                <a:close/>
              </a:path>
            </a:pathLst>
          </a:custGeom>
          <a:solidFill>
            <a:srgbClr val="F7B538"/>
          </a:solidFill>
          <a:ln/>
        </p:spPr>
      </p:sp>
      <p:sp>
        <p:nvSpPr>
          <p:cNvPr id="134" name="Shape 132"/>
          <p:cNvSpPr/>
          <p:nvPr/>
        </p:nvSpPr>
        <p:spPr>
          <a:xfrm>
            <a:off x="8232477" y="5770563"/>
            <a:ext cx="142875" cy="142875"/>
          </a:xfrm>
          <a:custGeom>
            <a:avLst/>
            <a:gdLst/>
            <a:ahLst/>
            <a:cxnLst/>
            <a:rect l="l" t="t" r="r" b="b"/>
            <a:pathLst>
              <a:path w="142875" h="142875">
                <a:moveTo>
                  <a:pt x="40267" y="0"/>
                </a:moveTo>
                <a:lnTo>
                  <a:pt x="102775" y="0"/>
                </a:lnTo>
                <a:cubicBezTo>
                  <a:pt x="110170" y="0"/>
                  <a:pt x="116198" y="6083"/>
                  <a:pt x="115919" y="13450"/>
                </a:cubicBezTo>
                <a:cubicBezTo>
                  <a:pt x="115863" y="14929"/>
                  <a:pt x="115807" y="16408"/>
                  <a:pt x="115723" y="17859"/>
                </a:cubicBezTo>
                <a:lnTo>
                  <a:pt x="129564" y="17859"/>
                </a:lnTo>
                <a:cubicBezTo>
                  <a:pt x="136847" y="17859"/>
                  <a:pt x="143266" y="23887"/>
                  <a:pt x="142708" y="31756"/>
                </a:cubicBezTo>
                <a:cubicBezTo>
                  <a:pt x="140615" y="60694"/>
                  <a:pt x="125825" y="76600"/>
                  <a:pt x="109779" y="84916"/>
                </a:cubicBezTo>
                <a:cubicBezTo>
                  <a:pt x="105370" y="87204"/>
                  <a:pt x="100878" y="88906"/>
                  <a:pt x="96608" y="90162"/>
                </a:cubicBezTo>
                <a:cubicBezTo>
                  <a:pt x="90971" y="98143"/>
                  <a:pt x="85111" y="102357"/>
                  <a:pt x="80451" y="104617"/>
                </a:cubicBezTo>
                <a:lnTo>
                  <a:pt x="80451" y="125016"/>
                </a:lnTo>
                <a:lnTo>
                  <a:pt x="98310" y="125016"/>
                </a:lnTo>
                <a:cubicBezTo>
                  <a:pt x="103250" y="125016"/>
                  <a:pt x="107240" y="129006"/>
                  <a:pt x="107240" y="133945"/>
                </a:cubicBezTo>
                <a:cubicBezTo>
                  <a:pt x="107240" y="138885"/>
                  <a:pt x="103250" y="142875"/>
                  <a:pt x="98310" y="142875"/>
                </a:cubicBezTo>
                <a:lnTo>
                  <a:pt x="44732" y="142875"/>
                </a:lnTo>
                <a:cubicBezTo>
                  <a:pt x="39793" y="142875"/>
                  <a:pt x="35802" y="138885"/>
                  <a:pt x="35802" y="133945"/>
                </a:cubicBezTo>
                <a:cubicBezTo>
                  <a:pt x="35802" y="129006"/>
                  <a:pt x="39793" y="125016"/>
                  <a:pt x="44732" y="125016"/>
                </a:cubicBezTo>
                <a:lnTo>
                  <a:pt x="62592" y="125016"/>
                </a:lnTo>
                <a:lnTo>
                  <a:pt x="62592" y="104617"/>
                </a:lnTo>
                <a:cubicBezTo>
                  <a:pt x="58127" y="102468"/>
                  <a:pt x="52574" y="98478"/>
                  <a:pt x="47160" y="91139"/>
                </a:cubicBezTo>
                <a:cubicBezTo>
                  <a:pt x="42025" y="89799"/>
                  <a:pt x="36444" y="87762"/>
                  <a:pt x="31003" y="84693"/>
                </a:cubicBezTo>
                <a:cubicBezTo>
                  <a:pt x="15906" y="76237"/>
                  <a:pt x="2288" y="60303"/>
                  <a:pt x="335" y="31700"/>
                </a:cubicBezTo>
                <a:cubicBezTo>
                  <a:pt x="-195" y="23859"/>
                  <a:pt x="6195" y="17831"/>
                  <a:pt x="13478" y="17831"/>
                </a:cubicBezTo>
                <a:lnTo>
                  <a:pt x="27319" y="17831"/>
                </a:lnTo>
                <a:cubicBezTo>
                  <a:pt x="27236" y="16380"/>
                  <a:pt x="27180" y="14929"/>
                  <a:pt x="27124" y="13422"/>
                </a:cubicBezTo>
                <a:cubicBezTo>
                  <a:pt x="26845" y="6028"/>
                  <a:pt x="32872" y="-28"/>
                  <a:pt x="40267" y="-28"/>
                </a:cubicBezTo>
                <a:close/>
                <a:moveTo>
                  <a:pt x="28324" y="31254"/>
                </a:moveTo>
                <a:lnTo>
                  <a:pt x="13701" y="31254"/>
                </a:lnTo>
                <a:cubicBezTo>
                  <a:pt x="15432" y="54890"/>
                  <a:pt x="26287" y="66722"/>
                  <a:pt x="37477" y="73000"/>
                </a:cubicBezTo>
                <a:cubicBezTo>
                  <a:pt x="33458" y="62592"/>
                  <a:pt x="30138" y="49002"/>
                  <a:pt x="28324" y="31254"/>
                </a:cubicBezTo>
                <a:close/>
                <a:moveTo>
                  <a:pt x="106040" y="71661"/>
                </a:moveTo>
                <a:cubicBezTo>
                  <a:pt x="117342" y="65019"/>
                  <a:pt x="127555" y="53215"/>
                  <a:pt x="129285" y="31254"/>
                </a:cubicBezTo>
                <a:lnTo>
                  <a:pt x="114691" y="31254"/>
                </a:lnTo>
                <a:cubicBezTo>
                  <a:pt x="112961" y="48248"/>
                  <a:pt x="109835" y="61447"/>
                  <a:pt x="106040" y="71661"/>
                </a:cubicBezTo>
                <a:close/>
              </a:path>
            </a:pathLst>
          </a:custGeom>
          <a:solidFill>
            <a:srgbClr val="F7B538"/>
          </a:solidFill>
          <a:ln/>
        </p:spPr>
      </p:sp>
      <p:sp>
        <p:nvSpPr>
          <p:cNvPr id="135" name="Text 133"/>
          <p:cNvSpPr/>
          <p:nvPr/>
        </p:nvSpPr>
        <p:spPr>
          <a:xfrm>
            <a:off x="8454727" y="5746750"/>
            <a:ext cx="1595438" cy="190500"/>
          </a:xfrm>
          <a:prstGeom prst="rect">
            <a:avLst/>
          </a:prstGeom>
          <a:noFill/>
          <a:ln/>
        </p:spPr>
        <p:txBody>
          <a:bodyPr wrap="square" lIns="0" tIns="0" rIns="0" bIns="0" rtlCol="0" anchor="ctr"/>
          <a:lstStyle/>
          <a:p>
            <a:pPr>
              <a:lnSpc>
                <a:spcPct val="130000"/>
              </a:lnSpc>
            </a:pPr>
            <a:r>
              <a:rPr lang="en-US" sz="1000" b="1" dirty="0">
                <a:solidFill>
                  <a:srgbClr val="1A535C"/>
                </a:solidFill>
                <a:latin typeface="Liter" pitchFamily="34" charset="0"/>
                <a:ea typeface="Liter" pitchFamily="34" charset="-122"/>
                <a:cs typeface="Liter" pitchFamily="34" charset="-120"/>
              </a:rPr>
              <a:t>SilverMilestoneService.php</a:t>
            </a:r>
            <a:endParaRPr lang="en-US" sz="1600" dirty="0"/>
          </a:p>
        </p:txBody>
      </p:sp>
      <p:sp>
        <p:nvSpPr>
          <p:cNvPr id="136" name="Text 134"/>
          <p:cNvSpPr/>
          <p:nvPr/>
        </p:nvSpPr>
        <p:spPr>
          <a:xfrm>
            <a:off x="8212633" y="5969000"/>
            <a:ext cx="3627438" cy="349250"/>
          </a:xfrm>
          <a:prstGeom prst="rect">
            <a:avLst/>
          </a:prstGeom>
          <a:noFill/>
          <a:ln/>
        </p:spPr>
        <p:txBody>
          <a:bodyPr wrap="square" lIns="0" tIns="0" rIns="0" bIns="0" rtlCol="0" anchor="ctr"/>
          <a:lstStyle/>
          <a:p>
            <a:pPr>
              <a:lnSpc>
                <a:spcPct val="110000"/>
              </a:lnSpc>
            </a:pPr>
            <a:r>
              <a:rPr lang="en-US" sz="1000" dirty="0">
                <a:solidFill>
                  <a:srgbClr val="212529"/>
                </a:solidFill>
                <a:latin typeface="Quattrocento Sans" pitchFamily="34" charset="0"/>
                <a:ea typeface="Quattrocento Sans" pitchFamily="34" charset="-122"/>
                <a:cs typeface="Quattrocento Sans" pitchFamily="34" charset="-120"/>
              </a:rPr>
              <a:t>Checks milestone conditions after each session; awards badges; generates certificate PDFs via dompdf.</a:t>
            </a:r>
            <a:endParaRPr lang="en-US" sz="1600" dirty="0"/>
          </a:p>
        </p:txBody>
      </p:sp>
      <p:sp>
        <p:nvSpPr>
          <p:cNvPr id="137" name="Shape 135"/>
          <p:cNvSpPr/>
          <p:nvPr/>
        </p:nvSpPr>
        <p:spPr>
          <a:xfrm>
            <a:off x="8212633" y="6381750"/>
            <a:ext cx="817563" cy="222250"/>
          </a:xfrm>
          <a:custGeom>
            <a:avLst/>
            <a:gdLst/>
            <a:ahLst/>
            <a:cxnLst/>
            <a:rect l="l" t="t" r="r" b="b"/>
            <a:pathLst>
              <a:path w="817563" h="222250">
                <a:moveTo>
                  <a:pt x="31751" y="0"/>
                </a:moveTo>
                <a:lnTo>
                  <a:pt x="785812" y="0"/>
                </a:lnTo>
                <a:cubicBezTo>
                  <a:pt x="803347" y="0"/>
                  <a:pt x="817563" y="14215"/>
                  <a:pt x="817563" y="31751"/>
                </a:cubicBezTo>
                <a:lnTo>
                  <a:pt x="817563" y="190499"/>
                </a:lnTo>
                <a:cubicBezTo>
                  <a:pt x="817563" y="208035"/>
                  <a:pt x="803347" y="222250"/>
                  <a:pt x="785812" y="222250"/>
                </a:cubicBezTo>
                <a:lnTo>
                  <a:pt x="31751" y="222250"/>
                </a:lnTo>
                <a:cubicBezTo>
                  <a:pt x="14227" y="222250"/>
                  <a:pt x="0" y="208023"/>
                  <a:pt x="0" y="190499"/>
                </a:cubicBezTo>
                <a:lnTo>
                  <a:pt x="0" y="31751"/>
                </a:lnTo>
                <a:cubicBezTo>
                  <a:pt x="0" y="14227"/>
                  <a:pt x="14227" y="0"/>
                  <a:pt x="31751" y="0"/>
                </a:cubicBezTo>
                <a:close/>
              </a:path>
            </a:pathLst>
          </a:custGeom>
          <a:solidFill>
            <a:srgbClr val="F7B538">
              <a:alpha val="20000"/>
            </a:srgbClr>
          </a:solidFill>
          <a:ln/>
        </p:spPr>
      </p:sp>
      <p:sp>
        <p:nvSpPr>
          <p:cNvPr id="138" name="Text 136"/>
          <p:cNvSpPr/>
          <p:nvPr/>
        </p:nvSpPr>
        <p:spPr>
          <a:xfrm>
            <a:off x="8212633" y="6381750"/>
            <a:ext cx="881063" cy="222250"/>
          </a:xfrm>
          <a:prstGeom prst="rect">
            <a:avLst/>
          </a:prstGeom>
          <a:noFill/>
          <a:ln/>
        </p:spPr>
        <p:txBody>
          <a:bodyPr wrap="square" lIns="63500" tIns="15875" rIns="63500" bIns="15875" rtlCol="0" anchor="ctr"/>
          <a:lstStyle/>
          <a:p>
            <a:pPr>
              <a:lnSpc>
                <a:spcPct val="130000"/>
              </a:lnSpc>
            </a:pPr>
            <a:r>
              <a:rPr lang="en-US" sz="1000" dirty="0">
                <a:solidFill>
                  <a:srgbClr val="F7B538"/>
                </a:solidFill>
                <a:latin typeface="Quattrocento Sans" pitchFamily="34" charset="0"/>
                <a:ea typeface="Quattrocento Sans" pitchFamily="34" charset="-122"/>
                <a:cs typeface="Quattrocento Sans" pitchFamily="34" charset="-120"/>
              </a:rPr>
              <a:t>Gamification</a:t>
            </a:r>
            <a:endParaRPr lang="en-US" sz="1600" dirty="0"/>
          </a:p>
        </p:txBody>
      </p:sp>
      <p:sp>
        <p:nvSpPr>
          <p:cNvPr id="139" name="Shape 137"/>
          <p:cNvSpPr/>
          <p:nvPr/>
        </p:nvSpPr>
        <p:spPr>
          <a:xfrm>
            <a:off x="9059863" y="6381750"/>
            <a:ext cx="746125" cy="222250"/>
          </a:xfrm>
          <a:custGeom>
            <a:avLst/>
            <a:gdLst/>
            <a:ahLst/>
            <a:cxnLst/>
            <a:rect l="l" t="t" r="r" b="b"/>
            <a:pathLst>
              <a:path w="746125" h="222250">
                <a:moveTo>
                  <a:pt x="31751" y="0"/>
                </a:moveTo>
                <a:lnTo>
                  <a:pt x="714374" y="0"/>
                </a:lnTo>
                <a:cubicBezTo>
                  <a:pt x="731910" y="0"/>
                  <a:pt x="746125" y="14215"/>
                  <a:pt x="746125" y="31751"/>
                </a:cubicBezTo>
                <a:lnTo>
                  <a:pt x="746125" y="190499"/>
                </a:lnTo>
                <a:cubicBezTo>
                  <a:pt x="746125" y="208035"/>
                  <a:pt x="731910" y="222250"/>
                  <a:pt x="714374" y="222250"/>
                </a:cubicBezTo>
                <a:lnTo>
                  <a:pt x="31751" y="222250"/>
                </a:lnTo>
                <a:cubicBezTo>
                  <a:pt x="14227" y="222250"/>
                  <a:pt x="0" y="208023"/>
                  <a:pt x="0" y="190499"/>
                </a:cubicBezTo>
                <a:lnTo>
                  <a:pt x="0" y="31751"/>
                </a:lnTo>
                <a:cubicBezTo>
                  <a:pt x="0" y="14227"/>
                  <a:pt x="14227" y="0"/>
                  <a:pt x="31751" y="0"/>
                </a:cubicBezTo>
                <a:close/>
              </a:path>
            </a:pathLst>
          </a:custGeom>
          <a:solidFill>
            <a:srgbClr val="F7B538">
              <a:alpha val="20000"/>
            </a:srgbClr>
          </a:solidFill>
          <a:ln/>
        </p:spPr>
      </p:sp>
      <p:sp>
        <p:nvSpPr>
          <p:cNvPr id="140" name="Text 138"/>
          <p:cNvSpPr/>
          <p:nvPr/>
        </p:nvSpPr>
        <p:spPr>
          <a:xfrm>
            <a:off x="9059863" y="6381750"/>
            <a:ext cx="809625" cy="222250"/>
          </a:xfrm>
          <a:prstGeom prst="rect">
            <a:avLst/>
          </a:prstGeom>
          <a:noFill/>
          <a:ln/>
        </p:spPr>
        <p:txBody>
          <a:bodyPr wrap="square" lIns="63500" tIns="15875" rIns="63500" bIns="15875" rtlCol="0" anchor="ctr"/>
          <a:lstStyle/>
          <a:p>
            <a:pPr>
              <a:lnSpc>
                <a:spcPct val="130000"/>
              </a:lnSpc>
            </a:pPr>
            <a:r>
              <a:rPr lang="en-US" sz="1000" dirty="0">
                <a:solidFill>
                  <a:srgbClr val="F7B538"/>
                </a:solidFill>
                <a:latin typeface="Quattrocento Sans" pitchFamily="34" charset="0"/>
                <a:ea typeface="Quattrocento Sans" pitchFamily="34" charset="-122"/>
                <a:cs typeface="Quattrocento Sans" pitchFamily="34" charset="-120"/>
              </a:rPr>
              <a:t>Certificates</a:t>
            </a:r>
            <a:endParaRPr lang="en-US" sz="16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331755" y="331755"/>
            <a:ext cx="11594841" cy="199053"/>
          </a:xfrm>
          <a:prstGeom prst="rect">
            <a:avLst/>
          </a:prstGeom>
          <a:noFill/>
          <a:ln/>
        </p:spPr>
        <p:txBody>
          <a:bodyPr wrap="square" lIns="0" tIns="0" rIns="0" bIns="0" rtlCol="0" anchor="ctr"/>
          <a:lstStyle/>
          <a:p>
            <a:pPr>
              <a:lnSpc>
                <a:spcPct val="130000"/>
              </a:lnSpc>
            </a:pPr>
            <a:r>
              <a:rPr lang="en-US" sz="1045" b="1" spc="52" kern="0" dirty="0">
                <a:solidFill>
                  <a:srgbClr val="4A7C59"/>
                </a:solidFill>
                <a:latin typeface="Quattrocento Sans" pitchFamily="34" charset="0"/>
                <a:ea typeface="Quattrocento Sans" pitchFamily="34" charset="-122"/>
                <a:cs typeface="Quattrocento Sans" pitchFamily="34" charset="-120"/>
              </a:rPr>
              <a:t>BUSINESS MODEL &amp; SOCIAL IMPACT</a:t>
            </a:r>
            <a:endParaRPr lang="en-US" sz="1600" dirty="0"/>
          </a:p>
        </p:txBody>
      </p:sp>
      <p:sp>
        <p:nvSpPr>
          <p:cNvPr id="3" name="Text 1"/>
          <p:cNvSpPr/>
          <p:nvPr/>
        </p:nvSpPr>
        <p:spPr>
          <a:xfrm>
            <a:off x="331755" y="563984"/>
            <a:ext cx="11652898" cy="298580"/>
          </a:xfrm>
          <a:prstGeom prst="rect">
            <a:avLst/>
          </a:prstGeom>
          <a:noFill/>
          <a:ln/>
        </p:spPr>
        <p:txBody>
          <a:bodyPr wrap="square" lIns="0" tIns="0" rIns="0" bIns="0" rtlCol="0" anchor="ctr"/>
          <a:lstStyle/>
          <a:p>
            <a:pPr>
              <a:lnSpc>
                <a:spcPct val="100000"/>
              </a:lnSpc>
            </a:pPr>
            <a:r>
              <a:rPr lang="en-US" sz="1959" b="1" dirty="0">
                <a:solidFill>
                  <a:srgbClr val="1A535C"/>
                </a:solidFill>
                <a:latin typeface="Liter" pitchFamily="34" charset="0"/>
                <a:ea typeface="Liter" pitchFamily="34" charset="-122"/>
                <a:cs typeface="Liter" pitchFamily="34" charset="-120"/>
              </a:rPr>
              <a:t>9 Revenue Streams + Measurable Social Outcomes</a:t>
            </a:r>
            <a:endParaRPr lang="en-US" sz="1600" dirty="0"/>
          </a:p>
        </p:txBody>
      </p:sp>
      <p:sp>
        <p:nvSpPr>
          <p:cNvPr id="4" name="Text 2"/>
          <p:cNvSpPr/>
          <p:nvPr/>
        </p:nvSpPr>
        <p:spPr>
          <a:xfrm>
            <a:off x="331755" y="895739"/>
            <a:ext cx="11594841" cy="199053"/>
          </a:xfrm>
          <a:prstGeom prst="rect">
            <a:avLst/>
          </a:prstGeom>
          <a:noFill/>
          <a:ln/>
        </p:spPr>
        <p:txBody>
          <a:bodyPr wrap="square" lIns="0" tIns="0" rIns="0" bIns="0" rtlCol="0" anchor="ctr"/>
          <a:lstStyle/>
          <a:p>
            <a:pPr>
              <a:lnSpc>
                <a:spcPct val="130000"/>
              </a:lnSpc>
            </a:pPr>
            <a:r>
              <a:rPr lang="en-US" sz="1045" dirty="0">
                <a:solidFill>
                  <a:srgbClr val="212529">
                    <a:alpha val="70000"/>
                  </a:srgbClr>
                </a:solidFill>
                <a:latin typeface="Quattrocento Sans" pitchFamily="34" charset="0"/>
                <a:ea typeface="Quattrocento Sans" pitchFamily="34" charset="-122"/>
                <a:cs typeface="Quattrocento Sans" pitchFamily="34" charset="-120"/>
              </a:rPr>
              <a:t>Commercial viability balanced with deep social mission — free tier never compromised</a:t>
            </a:r>
            <a:endParaRPr lang="en-US" sz="1600" dirty="0"/>
          </a:p>
        </p:txBody>
      </p:sp>
      <p:sp>
        <p:nvSpPr>
          <p:cNvPr id="5" name="Shape 3"/>
          <p:cNvSpPr/>
          <p:nvPr/>
        </p:nvSpPr>
        <p:spPr>
          <a:xfrm>
            <a:off x="331755" y="1161143"/>
            <a:ext cx="796212" cy="33176"/>
          </a:xfrm>
          <a:custGeom>
            <a:avLst/>
            <a:gdLst/>
            <a:ahLst/>
            <a:cxnLst/>
            <a:rect l="l" t="t" r="r" b="b"/>
            <a:pathLst>
              <a:path w="796212" h="33176">
                <a:moveTo>
                  <a:pt x="0" y="0"/>
                </a:moveTo>
                <a:lnTo>
                  <a:pt x="796212" y="0"/>
                </a:lnTo>
                <a:lnTo>
                  <a:pt x="796212" y="33176"/>
                </a:lnTo>
                <a:lnTo>
                  <a:pt x="0" y="33176"/>
                </a:lnTo>
                <a:lnTo>
                  <a:pt x="0" y="0"/>
                </a:lnTo>
                <a:close/>
              </a:path>
            </a:pathLst>
          </a:custGeom>
          <a:solidFill>
            <a:srgbClr val="F7B538"/>
          </a:solidFill>
          <a:ln/>
        </p:spPr>
      </p:sp>
      <p:sp>
        <p:nvSpPr>
          <p:cNvPr id="6" name="Shape 4"/>
          <p:cNvSpPr/>
          <p:nvPr/>
        </p:nvSpPr>
        <p:spPr>
          <a:xfrm>
            <a:off x="331755" y="1277257"/>
            <a:ext cx="5714482" cy="5581780"/>
          </a:xfrm>
          <a:custGeom>
            <a:avLst/>
            <a:gdLst/>
            <a:ahLst/>
            <a:cxnLst/>
            <a:rect l="l" t="t" r="r" b="b"/>
            <a:pathLst>
              <a:path w="5714482" h="5581780">
                <a:moveTo>
                  <a:pt x="33176" y="0"/>
                </a:moveTo>
                <a:lnTo>
                  <a:pt x="5681306" y="0"/>
                </a:lnTo>
                <a:cubicBezTo>
                  <a:pt x="5699628" y="0"/>
                  <a:pt x="5714482" y="14853"/>
                  <a:pt x="5714482" y="33176"/>
                </a:cubicBezTo>
                <a:lnTo>
                  <a:pt x="5714482" y="5515412"/>
                </a:lnTo>
                <a:cubicBezTo>
                  <a:pt x="5714482" y="5552066"/>
                  <a:pt x="5684768" y="5581780"/>
                  <a:pt x="5648114" y="5581780"/>
                </a:cubicBezTo>
                <a:lnTo>
                  <a:pt x="66367" y="5581780"/>
                </a:lnTo>
                <a:cubicBezTo>
                  <a:pt x="29714" y="5581780"/>
                  <a:pt x="0" y="5552066"/>
                  <a:pt x="0" y="5515412"/>
                </a:cubicBezTo>
                <a:lnTo>
                  <a:pt x="0" y="33176"/>
                </a:lnTo>
                <a:cubicBezTo>
                  <a:pt x="0" y="14853"/>
                  <a:pt x="14853" y="0"/>
                  <a:pt x="33176" y="0"/>
                </a:cubicBezTo>
                <a:close/>
              </a:path>
            </a:pathLst>
          </a:custGeom>
          <a:solidFill>
            <a:srgbClr val="FFFFFF"/>
          </a:solidFill>
          <a:ln/>
          <a:effectLst>
            <a:outerShdw sx="100000" sy="100000" kx="0" ky="0" algn="bl" rotWithShape="0" blurRad="49763" dist="33176" dir="5400000">
              <a:srgbClr val="000000">
                <a:alpha val="10196"/>
              </a:srgbClr>
            </a:outerShdw>
          </a:effectLst>
        </p:spPr>
      </p:sp>
      <p:sp>
        <p:nvSpPr>
          <p:cNvPr id="7" name="Shape 5"/>
          <p:cNvSpPr/>
          <p:nvPr/>
        </p:nvSpPr>
        <p:spPr>
          <a:xfrm>
            <a:off x="331755" y="1277257"/>
            <a:ext cx="5714482" cy="33176"/>
          </a:xfrm>
          <a:custGeom>
            <a:avLst/>
            <a:gdLst/>
            <a:ahLst/>
            <a:cxnLst/>
            <a:rect l="l" t="t" r="r" b="b"/>
            <a:pathLst>
              <a:path w="5714482" h="33176">
                <a:moveTo>
                  <a:pt x="33176" y="0"/>
                </a:moveTo>
                <a:lnTo>
                  <a:pt x="5681306" y="0"/>
                </a:lnTo>
                <a:cubicBezTo>
                  <a:pt x="5699628" y="0"/>
                  <a:pt x="5714482" y="14853"/>
                  <a:pt x="5714482" y="33176"/>
                </a:cubicBezTo>
                <a:lnTo>
                  <a:pt x="5714482" y="33176"/>
                </a:lnTo>
                <a:lnTo>
                  <a:pt x="0" y="33176"/>
                </a:lnTo>
                <a:lnTo>
                  <a:pt x="0" y="33176"/>
                </a:lnTo>
                <a:cubicBezTo>
                  <a:pt x="0" y="14853"/>
                  <a:pt x="14853" y="0"/>
                  <a:pt x="33176" y="0"/>
                </a:cubicBezTo>
                <a:close/>
              </a:path>
            </a:pathLst>
          </a:custGeom>
          <a:solidFill>
            <a:srgbClr val="1A535C"/>
          </a:solidFill>
          <a:ln/>
        </p:spPr>
      </p:sp>
      <p:sp>
        <p:nvSpPr>
          <p:cNvPr id="8" name="Shape 6"/>
          <p:cNvSpPr/>
          <p:nvPr/>
        </p:nvSpPr>
        <p:spPr>
          <a:xfrm>
            <a:off x="452016" y="1434841"/>
            <a:ext cx="149290" cy="149290"/>
          </a:xfrm>
          <a:custGeom>
            <a:avLst/>
            <a:gdLst/>
            <a:ahLst/>
            <a:cxnLst/>
            <a:rect l="l" t="t" r="r" b="b"/>
            <a:pathLst>
              <a:path w="149290" h="149290">
                <a:moveTo>
                  <a:pt x="37322" y="27992"/>
                </a:moveTo>
                <a:lnTo>
                  <a:pt x="37322" y="23327"/>
                </a:lnTo>
                <a:cubicBezTo>
                  <a:pt x="37322" y="10439"/>
                  <a:pt x="62398" y="0"/>
                  <a:pt x="93306" y="0"/>
                </a:cubicBezTo>
                <a:cubicBezTo>
                  <a:pt x="124214" y="0"/>
                  <a:pt x="149290" y="10439"/>
                  <a:pt x="149290" y="23327"/>
                </a:cubicBezTo>
                <a:lnTo>
                  <a:pt x="149290" y="27992"/>
                </a:lnTo>
                <a:cubicBezTo>
                  <a:pt x="149290" y="36914"/>
                  <a:pt x="137247" y="44670"/>
                  <a:pt x="119548" y="48607"/>
                </a:cubicBezTo>
                <a:cubicBezTo>
                  <a:pt x="118849" y="47790"/>
                  <a:pt x="118120" y="47003"/>
                  <a:pt x="117391" y="46274"/>
                </a:cubicBezTo>
                <a:cubicBezTo>
                  <a:pt x="112871" y="41813"/>
                  <a:pt x="107040" y="38430"/>
                  <a:pt x="100946" y="35923"/>
                </a:cubicBezTo>
                <a:cubicBezTo>
                  <a:pt x="88728" y="30820"/>
                  <a:pt x="72808" y="28021"/>
                  <a:pt x="55984" y="28021"/>
                </a:cubicBezTo>
                <a:cubicBezTo>
                  <a:pt x="49598" y="28021"/>
                  <a:pt x="43358" y="28429"/>
                  <a:pt x="37381" y="29216"/>
                </a:cubicBezTo>
                <a:cubicBezTo>
                  <a:pt x="37322" y="28837"/>
                  <a:pt x="37322" y="28429"/>
                  <a:pt x="37322" y="28021"/>
                </a:cubicBezTo>
                <a:close/>
                <a:moveTo>
                  <a:pt x="125963" y="102928"/>
                </a:moveTo>
                <a:lnTo>
                  <a:pt x="125963" y="89457"/>
                </a:lnTo>
                <a:cubicBezTo>
                  <a:pt x="130366" y="88320"/>
                  <a:pt x="134507" y="86979"/>
                  <a:pt x="138268" y="85404"/>
                </a:cubicBezTo>
                <a:cubicBezTo>
                  <a:pt x="142117" y="83801"/>
                  <a:pt x="145878" y="81847"/>
                  <a:pt x="149290" y="79485"/>
                </a:cubicBezTo>
                <a:lnTo>
                  <a:pt x="149290" y="83976"/>
                </a:lnTo>
                <a:cubicBezTo>
                  <a:pt x="149290" y="91790"/>
                  <a:pt x="140105" y="98700"/>
                  <a:pt x="125963" y="102928"/>
                </a:cubicBezTo>
                <a:close/>
                <a:moveTo>
                  <a:pt x="125963" y="74936"/>
                </a:moveTo>
                <a:lnTo>
                  <a:pt x="125963" y="65314"/>
                </a:lnTo>
                <a:cubicBezTo>
                  <a:pt x="125963" y="64002"/>
                  <a:pt x="125847" y="62748"/>
                  <a:pt x="125672" y="61524"/>
                </a:cubicBezTo>
                <a:cubicBezTo>
                  <a:pt x="130191" y="60387"/>
                  <a:pt x="134419" y="59016"/>
                  <a:pt x="138268" y="57383"/>
                </a:cubicBezTo>
                <a:cubicBezTo>
                  <a:pt x="142117" y="55750"/>
                  <a:pt x="145878" y="53826"/>
                  <a:pt x="149290" y="51464"/>
                </a:cubicBezTo>
                <a:lnTo>
                  <a:pt x="149290" y="55955"/>
                </a:lnTo>
                <a:cubicBezTo>
                  <a:pt x="149290" y="63769"/>
                  <a:pt x="140105" y="70679"/>
                  <a:pt x="125963" y="74907"/>
                </a:cubicBezTo>
                <a:close/>
                <a:moveTo>
                  <a:pt x="0" y="69980"/>
                </a:moveTo>
                <a:lnTo>
                  <a:pt x="0" y="65314"/>
                </a:lnTo>
                <a:cubicBezTo>
                  <a:pt x="0" y="52426"/>
                  <a:pt x="25076" y="41988"/>
                  <a:pt x="55984" y="41988"/>
                </a:cubicBezTo>
                <a:cubicBezTo>
                  <a:pt x="86891" y="41988"/>
                  <a:pt x="111967" y="52426"/>
                  <a:pt x="111967" y="65314"/>
                </a:cubicBezTo>
                <a:lnTo>
                  <a:pt x="111967" y="69980"/>
                </a:lnTo>
                <a:cubicBezTo>
                  <a:pt x="111967" y="82868"/>
                  <a:pt x="86891" y="93306"/>
                  <a:pt x="55984" y="93306"/>
                </a:cubicBezTo>
                <a:cubicBezTo>
                  <a:pt x="25076" y="93306"/>
                  <a:pt x="0" y="82868"/>
                  <a:pt x="0" y="69980"/>
                </a:cubicBezTo>
                <a:close/>
                <a:moveTo>
                  <a:pt x="111967" y="97971"/>
                </a:moveTo>
                <a:cubicBezTo>
                  <a:pt x="111967" y="110859"/>
                  <a:pt x="86891" y="121298"/>
                  <a:pt x="55984" y="121298"/>
                </a:cubicBezTo>
                <a:cubicBezTo>
                  <a:pt x="25076" y="121298"/>
                  <a:pt x="0" y="110859"/>
                  <a:pt x="0" y="97971"/>
                </a:cubicBezTo>
                <a:lnTo>
                  <a:pt x="0" y="93481"/>
                </a:lnTo>
                <a:cubicBezTo>
                  <a:pt x="3382" y="95843"/>
                  <a:pt x="7144" y="97767"/>
                  <a:pt x="11022" y="99400"/>
                </a:cubicBezTo>
                <a:cubicBezTo>
                  <a:pt x="23239" y="104503"/>
                  <a:pt x="39159" y="107302"/>
                  <a:pt x="55984" y="107302"/>
                </a:cubicBezTo>
                <a:cubicBezTo>
                  <a:pt x="72808" y="107302"/>
                  <a:pt x="88728" y="104474"/>
                  <a:pt x="100946" y="99400"/>
                </a:cubicBezTo>
                <a:cubicBezTo>
                  <a:pt x="104794" y="97796"/>
                  <a:pt x="108556" y="95843"/>
                  <a:pt x="111967" y="93481"/>
                </a:cubicBezTo>
                <a:lnTo>
                  <a:pt x="111967" y="97971"/>
                </a:lnTo>
                <a:close/>
                <a:moveTo>
                  <a:pt x="111967" y="121473"/>
                </a:moveTo>
                <a:lnTo>
                  <a:pt x="111967" y="125963"/>
                </a:lnTo>
                <a:cubicBezTo>
                  <a:pt x="111967" y="138851"/>
                  <a:pt x="86891" y="149290"/>
                  <a:pt x="55984" y="149290"/>
                </a:cubicBezTo>
                <a:cubicBezTo>
                  <a:pt x="25076" y="149290"/>
                  <a:pt x="0" y="138851"/>
                  <a:pt x="0" y="125963"/>
                </a:cubicBezTo>
                <a:lnTo>
                  <a:pt x="0" y="121473"/>
                </a:lnTo>
                <a:cubicBezTo>
                  <a:pt x="3382" y="123835"/>
                  <a:pt x="7144" y="125759"/>
                  <a:pt x="11022" y="127392"/>
                </a:cubicBezTo>
                <a:cubicBezTo>
                  <a:pt x="23239" y="132495"/>
                  <a:pt x="39159" y="135294"/>
                  <a:pt x="55984" y="135294"/>
                </a:cubicBezTo>
                <a:cubicBezTo>
                  <a:pt x="72808" y="135294"/>
                  <a:pt x="88728" y="132466"/>
                  <a:pt x="100946" y="127392"/>
                </a:cubicBezTo>
                <a:cubicBezTo>
                  <a:pt x="104794" y="125788"/>
                  <a:pt x="108556" y="123835"/>
                  <a:pt x="111967" y="121473"/>
                </a:cubicBezTo>
                <a:close/>
              </a:path>
            </a:pathLst>
          </a:custGeom>
          <a:solidFill>
            <a:srgbClr val="F7B538"/>
          </a:solidFill>
          <a:ln/>
        </p:spPr>
      </p:sp>
      <p:sp>
        <p:nvSpPr>
          <p:cNvPr id="9" name="Text 7"/>
          <p:cNvSpPr/>
          <p:nvPr/>
        </p:nvSpPr>
        <p:spPr>
          <a:xfrm>
            <a:off x="622041" y="1393371"/>
            <a:ext cx="5399314" cy="232229"/>
          </a:xfrm>
          <a:prstGeom prst="rect">
            <a:avLst/>
          </a:prstGeom>
          <a:noFill/>
          <a:ln/>
        </p:spPr>
        <p:txBody>
          <a:bodyPr wrap="square" lIns="0" tIns="0" rIns="0" bIns="0" rtlCol="0" anchor="ctr"/>
          <a:lstStyle/>
          <a:p>
            <a:pPr>
              <a:lnSpc>
                <a:spcPct val="130000"/>
              </a:lnSpc>
            </a:pPr>
            <a:r>
              <a:rPr lang="en-US" sz="1176" b="1" dirty="0">
                <a:solidFill>
                  <a:srgbClr val="1A535C"/>
                </a:solidFill>
                <a:latin typeface="Liter" pitchFamily="34" charset="0"/>
                <a:ea typeface="Liter" pitchFamily="34" charset="-122"/>
                <a:cs typeface="Liter" pitchFamily="34" charset="-120"/>
              </a:rPr>
              <a:t>Revenue Streams</a:t>
            </a:r>
            <a:endParaRPr lang="en-US" sz="1600" dirty="0"/>
          </a:p>
        </p:txBody>
      </p:sp>
      <p:sp>
        <p:nvSpPr>
          <p:cNvPr id="10" name="Shape 8"/>
          <p:cNvSpPr/>
          <p:nvPr/>
        </p:nvSpPr>
        <p:spPr>
          <a:xfrm>
            <a:off x="431282" y="1691951"/>
            <a:ext cx="5515429" cy="530808"/>
          </a:xfrm>
          <a:custGeom>
            <a:avLst/>
            <a:gdLst/>
            <a:ahLst/>
            <a:cxnLst/>
            <a:rect l="l" t="t" r="r" b="b"/>
            <a:pathLst>
              <a:path w="5515429" h="530808">
                <a:moveTo>
                  <a:pt x="66351" y="0"/>
                </a:moveTo>
                <a:lnTo>
                  <a:pt x="5449078" y="0"/>
                </a:lnTo>
                <a:cubicBezTo>
                  <a:pt x="5485722" y="0"/>
                  <a:pt x="5515429" y="29706"/>
                  <a:pt x="5515429" y="66351"/>
                </a:cubicBezTo>
                <a:lnTo>
                  <a:pt x="5515429" y="464457"/>
                </a:lnTo>
                <a:cubicBezTo>
                  <a:pt x="5515429" y="501102"/>
                  <a:pt x="5485722" y="530808"/>
                  <a:pt x="5449078" y="530808"/>
                </a:cubicBezTo>
                <a:lnTo>
                  <a:pt x="66351" y="530808"/>
                </a:lnTo>
                <a:cubicBezTo>
                  <a:pt x="29731" y="530808"/>
                  <a:pt x="0" y="501077"/>
                  <a:pt x="0" y="464457"/>
                </a:cubicBezTo>
                <a:lnTo>
                  <a:pt x="0" y="66351"/>
                </a:lnTo>
                <a:cubicBezTo>
                  <a:pt x="0" y="29706"/>
                  <a:pt x="29706" y="0"/>
                  <a:pt x="66351" y="0"/>
                </a:cubicBezTo>
                <a:close/>
              </a:path>
            </a:pathLst>
          </a:custGeom>
          <a:solidFill>
            <a:srgbClr val="1A535C">
              <a:alpha val="10196"/>
            </a:srgbClr>
          </a:solidFill>
          <a:ln/>
        </p:spPr>
      </p:sp>
      <p:sp>
        <p:nvSpPr>
          <p:cNvPr id="11" name="Text 9"/>
          <p:cNvSpPr/>
          <p:nvPr/>
        </p:nvSpPr>
        <p:spPr>
          <a:xfrm>
            <a:off x="497633" y="1758302"/>
            <a:ext cx="1575837" cy="199053"/>
          </a:xfrm>
          <a:prstGeom prst="rect">
            <a:avLst/>
          </a:prstGeom>
          <a:noFill/>
          <a:ln/>
        </p:spPr>
        <p:txBody>
          <a:bodyPr wrap="square" lIns="0" tIns="0" rIns="0" bIns="0" rtlCol="0" anchor="ctr"/>
          <a:lstStyle/>
          <a:p>
            <a:pPr>
              <a:lnSpc>
                <a:spcPct val="130000"/>
              </a:lnSpc>
            </a:pPr>
            <a:r>
              <a:rPr lang="en-US" sz="1045" b="1" dirty="0">
                <a:solidFill>
                  <a:srgbClr val="1A535C"/>
                </a:solidFill>
                <a:latin typeface="Quattrocento Sans" pitchFamily="34" charset="0"/>
                <a:ea typeface="Quattrocento Sans" pitchFamily="34" charset="-122"/>
                <a:cs typeface="Quattrocento Sans" pitchFamily="34" charset="-120"/>
              </a:rPr>
              <a:t>Paid Sessions Commission</a:t>
            </a:r>
            <a:endParaRPr lang="en-US" sz="1600" dirty="0"/>
          </a:p>
        </p:txBody>
      </p:sp>
      <p:sp>
        <p:nvSpPr>
          <p:cNvPr id="12" name="Text 10"/>
          <p:cNvSpPr/>
          <p:nvPr/>
        </p:nvSpPr>
        <p:spPr>
          <a:xfrm>
            <a:off x="497633" y="1957355"/>
            <a:ext cx="1575837" cy="199053"/>
          </a:xfrm>
          <a:prstGeom prst="rect">
            <a:avLst/>
          </a:prstGeom>
          <a:noFill/>
          <a:ln/>
        </p:spPr>
        <p:txBody>
          <a:bodyPr wrap="square" lIns="0" tIns="0" rIns="0" bIns="0" rtlCol="0" anchor="ctr"/>
          <a:lstStyle/>
          <a:p>
            <a:pPr>
              <a:lnSpc>
                <a:spcPct val="130000"/>
              </a:lnSpc>
            </a:pPr>
            <a:r>
              <a:rPr lang="en-US" sz="1045" dirty="0">
                <a:solidFill>
                  <a:srgbClr val="212529">
                    <a:alpha val="70000"/>
                  </a:srgbClr>
                </a:solidFill>
                <a:latin typeface="Quattrocento Sans" pitchFamily="34" charset="0"/>
                <a:ea typeface="Quattrocento Sans" pitchFamily="34" charset="-122"/>
                <a:cs typeface="Quattrocento Sans" pitchFamily="34" charset="-120"/>
              </a:rPr>
              <a:t>Per paid booking</a:t>
            </a:r>
            <a:endParaRPr lang="en-US" sz="1600" dirty="0"/>
          </a:p>
        </p:txBody>
      </p:sp>
      <p:sp>
        <p:nvSpPr>
          <p:cNvPr id="13" name="Text 11"/>
          <p:cNvSpPr/>
          <p:nvPr/>
        </p:nvSpPr>
        <p:spPr>
          <a:xfrm>
            <a:off x="5362822" y="1841241"/>
            <a:ext cx="605453" cy="232229"/>
          </a:xfrm>
          <a:prstGeom prst="rect">
            <a:avLst/>
          </a:prstGeom>
          <a:noFill/>
          <a:ln/>
        </p:spPr>
        <p:txBody>
          <a:bodyPr wrap="square" lIns="0" tIns="0" rIns="0" bIns="0" rtlCol="0" anchor="ctr"/>
          <a:lstStyle/>
          <a:p>
            <a:pPr>
              <a:lnSpc>
                <a:spcPct val="120000"/>
              </a:lnSpc>
            </a:pPr>
            <a:r>
              <a:rPr lang="en-US" sz="1306" b="1" dirty="0">
                <a:solidFill>
                  <a:srgbClr val="1A535C"/>
                </a:solidFill>
                <a:latin typeface="Quattrocento Sans" pitchFamily="34" charset="0"/>
                <a:ea typeface="Quattrocento Sans" pitchFamily="34" charset="-122"/>
                <a:cs typeface="Quattrocento Sans" pitchFamily="34" charset="-120"/>
              </a:rPr>
              <a:t>10-15%</a:t>
            </a:r>
            <a:endParaRPr lang="en-US" sz="1600" dirty="0"/>
          </a:p>
        </p:txBody>
      </p:sp>
      <p:sp>
        <p:nvSpPr>
          <p:cNvPr id="14" name="Shape 12"/>
          <p:cNvSpPr/>
          <p:nvPr/>
        </p:nvSpPr>
        <p:spPr>
          <a:xfrm>
            <a:off x="431282" y="2255935"/>
            <a:ext cx="5515429" cy="530808"/>
          </a:xfrm>
          <a:custGeom>
            <a:avLst/>
            <a:gdLst/>
            <a:ahLst/>
            <a:cxnLst/>
            <a:rect l="l" t="t" r="r" b="b"/>
            <a:pathLst>
              <a:path w="5515429" h="530808">
                <a:moveTo>
                  <a:pt x="66351" y="0"/>
                </a:moveTo>
                <a:lnTo>
                  <a:pt x="5449078" y="0"/>
                </a:lnTo>
                <a:cubicBezTo>
                  <a:pt x="5485722" y="0"/>
                  <a:pt x="5515429" y="29706"/>
                  <a:pt x="5515429" y="66351"/>
                </a:cubicBezTo>
                <a:lnTo>
                  <a:pt x="5515429" y="464457"/>
                </a:lnTo>
                <a:cubicBezTo>
                  <a:pt x="5515429" y="501102"/>
                  <a:pt x="5485722" y="530808"/>
                  <a:pt x="5449078" y="530808"/>
                </a:cubicBezTo>
                <a:lnTo>
                  <a:pt x="66351" y="530808"/>
                </a:lnTo>
                <a:cubicBezTo>
                  <a:pt x="29731" y="530808"/>
                  <a:pt x="0" y="501077"/>
                  <a:pt x="0" y="464457"/>
                </a:cubicBezTo>
                <a:lnTo>
                  <a:pt x="0" y="66351"/>
                </a:lnTo>
                <a:cubicBezTo>
                  <a:pt x="0" y="29706"/>
                  <a:pt x="29706" y="0"/>
                  <a:pt x="66351" y="0"/>
                </a:cubicBezTo>
                <a:close/>
              </a:path>
            </a:pathLst>
          </a:custGeom>
          <a:solidFill>
            <a:srgbClr val="4A7C59">
              <a:alpha val="10196"/>
            </a:srgbClr>
          </a:solidFill>
          <a:ln/>
        </p:spPr>
      </p:sp>
      <p:sp>
        <p:nvSpPr>
          <p:cNvPr id="15" name="Text 13"/>
          <p:cNvSpPr/>
          <p:nvPr/>
        </p:nvSpPr>
        <p:spPr>
          <a:xfrm>
            <a:off x="497633" y="2322286"/>
            <a:ext cx="1766596" cy="199053"/>
          </a:xfrm>
          <a:prstGeom prst="rect">
            <a:avLst/>
          </a:prstGeom>
          <a:noFill/>
          <a:ln/>
        </p:spPr>
        <p:txBody>
          <a:bodyPr wrap="square" lIns="0" tIns="0" rIns="0" bIns="0" rtlCol="0" anchor="ctr"/>
          <a:lstStyle/>
          <a:p>
            <a:pPr>
              <a:lnSpc>
                <a:spcPct val="130000"/>
              </a:lnSpc>
            </a:pPr>
            <a:r>
              <a:rPr lang="en-US" sz="1045" b="1" dirty="0">
                <a:solidFill>
                  <a:srgbClr val="4A7C59"/>
                </a:solidFill>
                <a:latin typeface="Quattrocento Sans" pitchFamily="34" charset="0"/>
                <a:ea typeface="Quattrocento Sans" pitchFamily="34" charset="-122"/>
                <a:cs typeface="Quattrocento Sans" pitchFamily="34" charset="-120"/>
              </a:rPr>
              <a:t>Emergency Session Fee</a:t>
            </a:r>
            <a:endParaRPr lang="en-US" sz="1600" dirty="0"/>
          </a:p>
        </p:txBody>
      </p:sp>
      <p:sp>
        <p:nvSpPr>
          <p:cNvPr id="16" name="Text 14"/>
          <p:cNvSpPr/>
          <p:nvPr/>
        </p:nvSpPr>
        <p:spPr>
          <a:xfrm>
            <a:off x="497633" y="2521339"/>
            <a:ext cx="1766596" cy="199053"/>
          </a:xfrm>
          <a:prstGeom prst="rect">
            <a:avLst/>
          </a:prstGeom>
          <a:noFill/>
          <a:ln/>
        </p:spPr>
        <p:txBody>
          <a:bodyPr wrap="square" lIns="0" tIns="0" rIns="0" bIns="0" rtlCol="0" anchor="ctr"/>
          <a:lstStyle/>
          <a:p>
            <a:pPr>
              <a:lnSpc>
                <a:spcPct val="130000"/>
              </a:lnSpc>
            </a:pPr>
            <a:r>
              <a:rPr lang="en-US" sz="1045" dirty="0">
                <a:solidFill>
                  <a:srgbClr val="212529">
                    <a:alpha val="70000"/>
                  </a:srgbClr>
                </a:solidFill>
                <a:latin typeface="Quattrocento Sans" pitchFamily="34" charset="0"/>
                <a:ea typeface="Quattrocento Sans" pitchFamily="34" charset="-122"/>
                <a:cs typeface="Quattrocento Sans" pitchFamily="34" charset="-120"/>
              </a:rPr>
              <a:t>Flat fee per Emergency Doubt</a:t>
            </a:r>
            <a:endParaRPr lang="en-US" sz="1600" dirty="0"/>
          </a:p>
        </p:txBody>
      </p:sp>
      <p:sp>
        <p:nvSpPr>
          <p:cNvPr id="17" name="Text 15"/>
          <p:cNvSpPr/>
          <p:nvPr/>
        </p:nvSpPr>
        <p:spPr>
          <a:xfrm>
            <a:off x="5596812" y="2405224"/>
            <a:ext cx="364931" cy="232229"/>
          </a:xfrm>
          <a:prstGeom prst="rect">
            <a:avLst/>
          </a:prstGeom>
          <a:noFill/>
          <a:ln/>
        </p:spPr>
        <p:txBody>
          <a:bodyPr wrap="square" lIns="0" tIns="0" rIns="0" bIns="0" rtlCol="0" anchor="ctr"/>
          <a:lstStyle/>
          <a:p>
            <a:pPr>
              <a:lnSpc>
                <a:spcPct val="120000"/>
              </a:lnSpc>
            </a:pPr>
            <a:r>
              <a:rPr lang="en-US" sz="1306" b="1" dirty="0">
                <a:solidFill>
                  <a:srgbClr val="4A7C59"/>
                </a:solidFill>
                <a:latin typeface="Quattrocento Sans" pitchFamily="34" charset="0"/>
                <a:ea typeface="Quattrocento Sans" pitchFamily="34" charset="-122"/>
                <a:cs typeface="Quattrocento Sans" pitchFamily="34" charset="-120"/>
              </a:rPr>
              <a:t>₹20</a:t>
            </a:r>
            <a:endParaRPr lang="en-US" sz="1600" dirty="0"/>
          </a:p>
        </p:txBody>
      </p:sp>
      <p:sp>
        <p:nvSpPr>
          <p:cNvPr id="18" name="Shape 16"/>
          <p:cNvSpPr/>
          <p:nvPr/>
        </p:nvSpPr>
        <p:spPr>
          <a:xfrm>
            <a:off x="431282" y="2819918"/>
            <a:ext cx="5515429" cy="530808"/>
          </a:xfrm>
          <a:custGeom>
            <a:avLst/>
            <a:gdLst/>
            <a:ahLst/>
            <a:cxnLst/>
            <a:rect l="l" t="t" r="r" b="b"/>
            <a:pathLst>
              <a:path w="5515429" h="530808">
                <a:moveTo>
                  <a:pt x="66351" y="0"/>
                </a:moveTo>
                <a:lnTo>
                  <a:pt x="5449078" y="0"/>
                </a:lnTo>
                <a:cubicBezTo>
                  <a:pt x="5485722" y="0"/>
                  <a:pt x="5515429" y="29706"/>
                  <a:pt x="5515429" y="66351"/>
                </a:cubicBezTo>
                <a:lnTo>
                  <a:pt x="5515429" y="464457"/>
                </a:lnTo>
                <a:cubicBezTo>
                  <a:pt x="5515429" y="501102"/>
                  <a:pt x="5485722" y="530808"/>
                  <a:pt x="5449078" y="530808"/>
                </a:cubicBezTo>
                <a:lnTo>
                  <a:pt x="66351" y="530808"/>
                </a:lnTo>
                <a:cubicBezTo>
                  <a:pt x="29731" y="530808"/>
                  <a:pt x="0" y="501077"/>
                  <a:pt x="0" y="464457"/>
                </a:cubicBezTo>
                <a:lnTo>
                  <a:pt x="0" y="66351"/>
                </a:lnTo>
                <a:cubicBezTo>
                  <a:pt x="0" y="29706"/>
                  <a:pt x="29706" y="0"/>
                  <a:pt x="66351" y="0"/>
                </a:cubicBezTo>
                <a:close/>
              </a:path>
            </a:pathLst>
          </a:custGeom>
          <a:solidFill>
            <a:srgbClr val="F7B538">
              <a:alpha val="20000"/>
            </a:srgbClr>
          </a:solidFill>
          <a:ln/>
        </p:spPr>
      </p:sp>
      <p:sp>
        <p:nvSpPr>
          <p:cNvPr id="19" name="Text 17"/>
          <p:cNvSpPr/>
          <p:nvPr/>
        </p:nvSpPr>
        <p:spPr>
          <a:xfrm>
            <a:off x="497633" y="2886269"/>
            <a:ext cx="1501192" cy="199053"/>
          </a:xfrm>
          <a:prstGeom prst="rect">
            <a:avLst/>
          </a:prstGeom>
          <a:noFill/>
          <a:ln/>
        </p:spPr>
        <p:txBody>
          <a:bodyPr wrap="square" lIns="0" tIns="0" rIns="0" bIns="0" rtlCol="0" anchor="ctr"/>
          <a:lstStyle/>
          <a:p>
            <a:pPr>
              <a:lnSpc>
                <a:spcPct val="130000"/>
              </a:lnSpc>
            </a:pPr>
            <a:r>
              <a:rPr lang="en-US" sz="1045" b="1" dirty="0">
                <a:solidFill>
                  <a:srgbClr val="F7B538"/>
                </a:solidFill>
                <a:latin typeface="Quattrocento Sans" pitchFamily="34" charset="0"/>
                <a:ea typeface="Quattrocento Sans" pitchFamily="34" charset="-122"/>
                <a:cs typeface="Quattrocento Sans" pitchFamily="34" charset="-120"/>
              </a:rPr>
              <a:t>Pod Session Commission</a:t>
            </a:r>
            <a:endParaRPr lang="en-US" sz="1600" dirty="0"/>
          </a:p>
        </p:txBody>
      </p:sp>
      <p:sp>
        <p:nvSpPr>
          <p:cNvPr id="20" name="Text 18"/>
          <p:cNvSpPr/>
          <p:nvPr/>
        </p:nvSpPr>
        <p:spPr>
          <a:xfrm>
            <a:off x="497633" y="3085322"/>
            <a:ext cx="1501192" cy="199053"/>
          </a:xfrm>
          <a:prstGeom prst="rect">
            <a:avLst/>
          </a:prstGeom>
          <a:noFill/>
          <a:ln/>
        </p:spPr>
        <p:txBody>
          <a:bodyPr wrap="square" lIns="0" tIns="0" rIns="0" bIns="0" rtlCol="0" anchor="ctr"/>
          <a:lstStyle/>
          <a:p>
            <a:pPr>
              <a:lnSpc>
                <a:spcPct val="130000"/>
              </a:lnSpc>
            </a:pPr>
            <a:r>
              <a:rPr lang="en-US" sz="1045" dirty="0">
                <a:solidFill>
                  <a:srgbClr val="212529">
                    <a:alpha val="70000"/>
                  </a:srgbClr>
                </a:solidFill>
                <a:latin typeface="Quattrocento Sans" pitchFamily="34" charset="0"/>
                <a:ea typeface="Quattrocento Sans" pitchFamily="34" charset="-122"/>
                <a:cs typeface="Quattrocento Sans" pitchFamily="34" charset="-120"/>
              </a:rPr>
              <a:t>Of total pod revenue</a:t>
            </a:r>
            <a:endParaRPr lang="en-US" sz="1600" dirty="0"/>
          </a:p>
        </p:txBody>
      </p:sp>
      <p:sp>
        <p:nvSpPr>
          <p:cNvPr id="21" name="Text 19"/>
          <p:cNvSpPr/>
          <p:nvPr/>
        </p:nvSpPr>
        <p:spPr>
          <a:xfrm>
            <a:off x="5585201" y="2969208"/>
            <a:ext cx="381518" cy="232229"/>
          </a:xfrm>
          <a:prstGeom prst="rect">
            <a:avLst/>
          </a:prstGeom>
          <a:noFill/>
          <a:ln/>
        </p:spPr>
        <p:txBody>
          <a:bodyPr wrap="square" lIns="0" tIns="0" rIns="0" bIns="0" rtlCol="0" anchor="ctr"/>
          <a:lstStyle/>
          <a:p>
            <a:pPr>
              <a:lnSpc>
                <a:spcPct val="120000"/>
              </a:lnSpc>
            </a:pPr>
            <a:r>
              <a:rPr lang="en-US" sz="1306" b="1" dirty="0">
                <a:solidFill>
                  <a:srgbClr val="F7B538"/>
                </a:solidFill>
                <a:latin typeface="Quattrocento Sans" pitchFamily="34" charset="0"/>
                <a:ea typeface="Quattrocento Sans" pitchFamily="34" charset="-122"/>
                <a:cs typeface="Quattrocento Sans" pitchFamily="34" charset="-120"/>
              </a:rPr>
              <a:t>10%</a:t>
            </a:r>
            <a:endParaRPr lang="en-US" sz="1600" dirty="0"/>
          </a:p>
        </p:txBody>
      </p:sp>
      <p:sp>
        <p:nvSpPr>
          <p:cNvPr id="22" name="Shape 20"/>
          <p:cNvSpPr/>
          <p:nvPr/>
        </p:nvSpPr>
        <p:spPr>
          <a:xfrm>
            <a:off x="431282" y="3383902"/>
            <a:ext cx="5515429" cy="530808"/>
          </a:xfrm>
          <a:custGeom>
            <a:avLst/>
            <a:gdLst/>
            <a:ahLst/>
            <a:cxnLst/>
            <a:rect l="l" t="t" r="r" b="b"/>
            <a:pathLst>
              <a:path w="5515429" h="530808">
                <a:moveTo>
                  <a:pt x="66351" y="0"/>
                </a:moveTo>
                <a:lnTo>
                  <a:pt x="5449078" y="0"/>
                </a:lnTo>
                <a:cubicBezTo>
                  <a:pt x="5485722" y="0"/>
                  <a:pt x="5515429" y="29706"/>
                  <a:pt x="5515429" y="66351"/>
                </a:cubicBezTo>
                <a:lnTo>
                  <a:pt x="5515429" y="464457"/>
                </a:lnTo>
                <a:cubicBezTo>
                  <a:pt x="5515429" y="501102"/>
                  <a:pt x="5485722" y="530808"/>
                  <a:pt x="5449078" y="530808"/>
                </a:cubicBezTo>
                <a:lnTo>
                  <a:pt x="66351" y="530808"/>
                </a:lnTo>
                <a:cubicBezTo>
                  <a:pt x="29731" y="530808"/>
                  <a:pt x="0" y="501077"/>
                  <a:pt x="0" y="464457"/>
                </a:cubicBezTo>
                <a:lnTo>
                  <a:pt x="0" y="66351"/>
                </a:lnTo>
                <a:cubicBezTo>
                  <a:pt x="0" y="29706"/>
                  <a:pt x="29706" y="0"/>
                  <a:pt x="66351" y="0"/>
                </a:cubicBezTo>
                <a:close/>
              </a:path>
            </a:pathLst>
          </a:custGeom>
          <a:solidFill>
            <a:srgbClr val="1A535C">
              <a:alpha val="10196"/>
            </a:srgbClr>
          </a:solidFill>
          <a:ln/>
        </p:spPr>
      </p:sp>
      <p:sp>
        <p:nvSpPr>
          <p:cNvPr id="23" name="Text 21"/>
          <p:cNvSpPr/>
          <p:nvPr/>
        </p:nvSpPr>
        <p:spPr>
          <a:xfrm>
            <a:off x="497633" y="3450253"/>
            <a:ext cx="1841241" cy="199053"/>
          </a:xfrm>
          <a:prstGeom prst="rect">
            <a:avLst/>
          </a:prstGeom>
          <a:noFill/>
          <a:ln/>
        </p:spPr>
        <p:txBody>
          <a:bodyPr wrap="square" lIns="0" tIns="0" rIns="0" bIns="0" rtlCol="0" anchor="ctr"/>
          <a:lstStyle/>
          <a:p>
            <a:pPr>
              <a:lnSpc>
                <a:spcPct val="130000"/>
              </a:lnSpc>
            </a:pPr>
            <a:r>
              <a:rPr lang="en-US" sz="1045" b="1" dirty="0">
                <a:solidFill>
                  <a:srgbClr val="1A535C"/>
                </a:solidFill>
                <a:latin typeface="Quattrocento Sans" pitchFamily="34" charset="0"/>
                <a:ea typeface="Quattrocento Sans" pitchFamily="34" charset="-122"/>
                <a:cs typeface="Quattrocento Sans" pitchFamily="34" charset="-120"/>
              </a:rPr>
              <a:t>Knowledge Legacy Downloads</a:t>
            </a:r>
            <a:endParaRPr lang="en-US" sz="1600" dirty="0"/>
          </a:p>
        </p:txBody>
      </p:sp>
      <p:sp>
        <p:nvSpPr>
          <p:cNvPr id="24" name="Text 22"/>
          <p:cNvSpPr/>
          <p:nvPr/>
        </p:nvSpPr>
        <p:spPr>
          <a:xfrm>
            <a:off x="497633" y="3649306"/>
            <a:ext cx="1841241" cy="199053"/>
          </a:xfrm>
          <a:prstGeom prst="rect">
            <a:avLst/>
          </a:prstGeom>
          <a:noFill/>
          <a:ln/>
        </p:spPr>
        <p:txBody>
          <a:bodyPr wrap="square" lIns="0" tIns="0" rIns="0" bIns="0" rtlCol="0" anchor="ctr"/>
          <a:lstStyle/>
          <a:p>
            <a:pPr>
              <a:lnSpc>
                <a:spcPct val="130000"/>
              </a:lnSpc>
            </a:pPr>
            <a:r>
              <a:rPr lang="en-US" sz="1045" dirty="0">
                <a:solidFill>
                  <a:srgbClr val="212529">
                    <a:alpha val="70000"/>
                  </a:srgbClr>
                </a:solidFill>
                <a:latin typeface="Quattrocento Sans" pitchFamily="34" charset="0"/>
                <a:ea typeface="Quattrocento Sans" pitchFamily="34" charset="-122"/>
                <a:cs typeface="Quattrocento Sans" pitchFamily="34" charset="-120"/>
              </a:rPr>
              <a:t>Per material download</a:t>
            </a:r>
            <a:endParaRPr lang="en-US" sz="1600" dirty="0"/>
          </a:p>
        </p:txBody>
      </p:sp>
      <p:sp>
        <p:nvSpPr>
          <p:cNvPr id="25" name="Text 23"/>
          <p:cNvSpPr/>
          <p:nvPr/>
        </p:nvSpPr>
        <p:spPr>
          <a:xfrm>
            <a:off x="5553373" y="3533192"/>
            <a:ext cx="414694" cy="232229"/>
          </a:xfrm>
          <a:prstGeom prst="rect">
            <a:avLst/>
          </a:prstGeom>
          <a:noFill/>
          <a:ln/>
        </p:spPr>
        <p:txBody>
          <a:bodyPr wrap="square" lIns="0" tIns="0" rIns="0" bIns="0" rtlCol="0" anchor="ctr"/>
          <a:lstStyle/>
          <a:p>
            <a:pPr>
              <a:lnSpc>
                <a:spcPct val="120000"/>
              </a:lnSpc>
            </a:pPr>
            <a:r>
              <a:rPr lang="en-US" sz="1306" b="1" dirty="0">
                <a:solidFill>
                  <a:srgbClr val="1A535C"/>
                </a:solidFill>
                <a:latin typeface="Quattrocento Sans" pitchFamily="34" charset="0"/>
                <a:ea typeface="Quattrocento Sans" pitchFamily="34" charset="-122"/>
                <a:cs typeface="Quattrocento Sans" pitchFamily="34" charset="-120"/>
              </a:rPr>
              <a:t>20%</a:t>
            </a:r>
            <a:endParaRPr lang="en-US" sz="1600" dirty="0"/>
          </a:p>
        </p:txBody>
      </p:sp>
      <p:sp>
        <p:nvSpPr>
          <p:cNvPr id="26" name="Shape 24"/>
          <p:cNvSpPr/>
          <p:nvPr/>
        </p:nvSpPr>
        <p:spPr>
          <a:xfrm>
            <a:off x="431282" y="3947886"/>
            <a:ext cx="5515429" cy="530808"/>
          </a:xfrm>
          <a:custGeom>
            <a:avLst/>
            <a:gdLst/>
            <a:ahLst/>
            <a:cxnLst/>
            <a:rect l="l" t="t" r="r" b="b"/>
            <a:pathLst>
              <a:path w="5515429" h="530808">
                <a:moveTo>
                  <a:pt x="66351" y="0"/>
                </a:moveTo>
                <a:lnTo>
                  <a:pt x="5449078" y="0"/>
                </a:lnTo>
                <a:cubicBezTo>
                  <a:pt x="5485722" y="0"/>
                  <a:pt x="5515429" y="29706"/>
                  <a:pt x="5515429" y="66351"/>
                </a:cubicBezTo>
                <a:lnTo>
                  <a:pt x="5515429" y="464457"/>
                </a:lnTo>
                <a:cubicBezTo>
                  <a:pt x="5515429" y="501102"/>
                  <a:pt x="5485722" y="530808"/>
                  <a:pt x="5449078" y="530808"/>
                </a:cubicBezTo>
                <a:lnTo>
                  <a:pt x="66351" y="530808"/>
                </a:lnTo>
                <a:cubicBezTo>
                  <a:pt x="29731" y="530808"/>
                  <a:pt x="0" y="501077"/>
                  <a:pt x="0" y="464457"/>
                </a:cubicBezTo>
                <a:lnTo>
                  <a:pt x="0" y="66351"/>
                </a:lnTo>
                <a:cubicBezTo>
                  <a:pt x="0" y="29706"/>
                  <a:pt x="29706" y="0"/>
                  <a:pt x="66351" y="0"/>
                </a:cubicBezTo>
                <a:close/>
              </a:path>
            </a:pathLst>
          </a:custGeom>
          <a:solidFill>
            <a:srgbClr val="4A7C59">
              <a:alpha val="10196"/>
            </a:srgbClr>
          </a:solidFill>
          <a:ln/>
        </p:spPr>
      </p:sp>
      <p:sp>
        <p:nvSpPr>
          <p:cNvPr id="27" name="Text 25"/>
          <p:cNvSpPr/>
          <p:nvPr/>
        </p:nvSpPr>
        <p:spPr>
          <a:xfrm>
            <a:off x="497633" y="4014237"/>
            <a:ext cx="1592424" cy="199053"/>
          </a:xfrm>
          <a:prstGeom prst="rect">
            <a:avLst/>
          </a:prstGeom>
          <a:noFill/>
          <a:ln/>
        </p:spPr>
        <p:txBody>
          <a:bodyPr wrap="square" lIns="0" tIns="0" rIns="0" bIns="0" rtlCol="0" anchor="ctr"/>
          <a:lstStyle/>
          <a:p>
            <a:pPr>
              <a:lnSpc>
                <a:spcPct val="130000"/>
              </a:lnSpc>
            </a:pPr>
            <a:r>
              <a:rPr lang="en-US" sz="1045" b="1" dirty="0">
                <a:solidFill>
                  <a:srgbClr val="4A7C59"/>
                </a:solidFill>
                <a:latin typeface="Quattrocento Sans" pitchFamily="34" charset="0"/>
                <a:ea typeface="Quattrocento Sans" pitchFamily="34" charset="-122"/>
                <a:cs typeface="Quattrocento Sans" pitchFamily="34" charset="-120"/>
              </a:rPr>
              <a:t>Teacher Premium</a:t>
            </a:r>
            <a:endParaRPr lang="en-US" sz="1600" dirty="0"/>
          </a:p>
        </p:txBody>
      </p:sp>
      <p:sp>
        <p:nvSpPr>
          <p:cNvPr id="28" name="Text 26"/>
          <p:cNvSpPr/>
          <p:nvPr/>
        </p:nvSpPr>
        <p:spPr>
          <a:xfrm>
            <a:off x="497633" y="4213290"/>
            <a:ext cx="1592424" cy="199053"/>
          </a:xfrm>
          <a:prstGeom prst="rect">
            <a:avLst/>
          </a:prstGeom>
          <a:noFill/>
          <a:ln/>
        </p:spPr>
        <p:txBody>
          <a:bodyPr wrap="square" lIns="0" tIns="0" rIns="0" bIns="0" rtlCol="0" anchor="ctr"/>
          <a:lstStyle/>
          <a:p>
            <a:pPr>
              <a:lnSpc>
                <a:spcPct val="130000"/>
              </a:lnSpc>
            </a:pPr>
            <a:r>
              <a:rPr lang="en-US" sz="1045" dirty="0">
                <a:solidFill>
                  <a:srgbClr val="212529">
                    <a:alpha val="70000"/>
                  </a:srgbClr>
                </a:solidFill>
                <a:latin typeface="Quattrocento Sans" pitchFamily="34" charset="0"/>
                <a:ea typeface="Quattrocento Sans" pitchFamily="34" charset="-122"/>
                <a:cs typeface="Quattrocento Sans" pitchFamily="34" charset="-120"/>
              </a:rPr>
              <a:t>Featured profiles, analytics</a:t>
            </a:r>
            <a:endParaRPr lang="en-US" sz="1600" dirty="0"/>
          </a:p>
        </p:txBody>
      </p:sp>
      <p:sp>
        <p:nvSpPr>
          <p:cNvPr id="29" name="Text 27"/>
          <p:cNvSpPr/>
          <p:nvPr/>
        </p:nvSpPr>
        <p:spPr>
          <a:xfrm>
            <a:off x="5215398" y="4097176"/>
            <a:ext cx="746449" cy="232229"/>
          </a:xfrm>
          <a:prstGeom prst="rect">
            <a:avLst/>
          </a:prstGeom>
          <a:noFill/>
          <a:ln/>
        </p:spPr>
        <p:txBody>
          <a:bodyPr wrap="square" lIns="0" tIns="0" rIns="0" bIns="0" rtlCol="0" anchor="ctr"/>
          <a:lstStyle/>
          <a:p>
            <a:pPr>
              <a:lnSpc>
                <a:spcPct val="120000"/>
              </a:lnSpc>
            </a:pPr>
            <a:r>
              <a:rPr lang="en-US" sz="1306" b="1" dirty="0">
                <a:solidFill>
                  <a:srgbClr val="4A7C59"/>
                </a:solidFill>
                <a:latin typeface="Quattrocento Sans" pitchFamily="34" charset="0"/>
                <a:ea typeface="Quattrocento Sans" pitchFamily="34" charset="-122"/>
                <a:cs typeface="Quattrocento Sans" pitchFamily="34" charset="-120"/>
              </a:rPr>
              <a:t>₹299/mo</a:t>
            </a:r>
            <a:endParaRPr lang="en-US" sz="1600" dirty="0"/>
          </a:p>
        </p:txBody>
      </p:sp>
      <p:sp>
        <p:nvSpPr>
          <p:cNvPr id="30" name="Shape 28"/>
          <p:cNvSpPr/>
          <p:nvPr/>
        </p:nvSpPr>
        <p:spPr>
          <a:xfrm>
            <a:off x="431282" y="4511869"/>
            <a:ext cx="5515429" cy="530808"/>
          </a:xfrm>
          <a:custGeom>
            <a:avLst/>
            <a:gdLst/>
            <a:ahLst/>
            <a:cxnLst/>
            <a:rect l="l" t="t" r="r" b="b"/>
            <a:pathLst>
              <a:path w="5515429" h="530808">
                <a:moveTo>
                  <a:pt x="66351" y="0"/>
                </a:moveTo>
                <a:lnTo>
                  <a:pt x="5449078" y="0"/>
                </a:lnTo>
                <a:cubicBezTo>
                  <a:pt x="5485722" y="0"/>
                  <a:pt x="5515429" y="29706"/>
                  <a:pt x="5515429" y="66351"/>
                </a:cubicBezTo>
                <a:lnTo>
                  <a:pt x="5515429" y="464457"/>
                </a:lnTo>
                <a:cubicBezTo>
                  <a:pt x="5515429" y="501102"/>
                  <a:pt x="5485722" y="530808"/>
                  <a:pt x="5449078" y="530808"/>
                </a:cubicBezTo>
                <a:lnTo>
                  <a:pt x="66351" y="530808"/>
                </a:lnTo>
                <a:cubicBezTo>
                  <a:pt x="29731" y="530808"/>
                  <a:pt x="0" y="501077"/>
                  <a:pt x="0" y="464457"/>
                </a:cubicBezTo>
                <a:lnTo>
                  <a:pt x="0" y="66351"/>
                </a:lnTo>
                <a:cubicBezTo>
                  <a:pt x="0" y="29706"/>
                  <a:pt x="29706" y="0"/>
                  <a:pt x="66351" y="0"/>
                </a:cubicBezTo>
                <a:close/>
              </a:path>
            </a:pathLst>
          </a:custGeom>
          <a:solidFill>
            <a:srgbClr val="F7B538">
              <a:alpha val="20000"/>
            </a:srgbClr>
          </a:solidFill>
          <a:ln/>
        </p:spPr>
      </p:sp>
      <p:sp>
        <p:nvSpPr>
          <p:cNvPr id="31" name="Text 29"/>
          <p:cNvSpPr/>
          <p:nvPr/>
        </p:nvSpPr>
        <p:spPr>
          <a:xfrm>
            <a:off x="497633" y="4578220"/>
            <a:ext cx="1169437" cy="199053"/>
          </a:xfrm>
          <a:prstGeom prst="rect">
            <a:avLst/>
          </a:prstGeom>
          <a:noFill/>
          <a:ln/>
        </p:spPr>
        <p:txBody>
          <a:bodyPr wrap="square" lIns="0" tIns="0" rIns="0" bIns="0" rtlCol="0" anchor="ctr"/>
          <a:lstStyle/>
          <a:p>
            <a:pPr>
              <a:lnSpc>
                <a:spcPct val="130000"/>
              </a:lnSpc>
            </a:pPr>
            <a:r>
              <a:rPr lang="en-US" sz="1045" b="1" dirty="0">
                <a:solidFill>
                  <a:srgbClr val="F7B538"/>
                </a:solidFill>
                <a:latin typeface="Quattrocento Sans" pitchFamily="34" charset="0"/>
                <a:ea typeface="Quattrocento Sans" pitchFamily="34" charset="-122"/>
                <a:cs typeface="Quattrocento Sans" pitchFamily="34" charset="-120"/>
              </a:rPr>
              <a:t>Student Pro Plan</a:t>
            </a:r>
            <a:endParaRPr lang="en-US" sz="1600" dirty="0"/>
          </a:p>
        </p:txBody>
      </p:sp>
      <p:sp>
        <p:nvSpPr>
          <p:cNvPr id="32" name="Text 30"/>
          <p:cNvSpPr/>
          <p:nvPr/>
        </p:nvSpPr>
        <p:spPr>
          <a:xfrm>
            <a:off x="497633" y="4777273"/>
            <a:ext cx="1169437" cy="199053"/>
          </a:xfrm>
          <a:prstGeom prst="rect">
            <a:avLst/>
          </a:prstGeom>
          <a:noFill/>
          <a:ln/>
        </p:spPr>
        <p:txBody>
          <a:bodyPr wrap="square" lIns="0" tIns="0" rIns="0" bIns="0" rtlCol="0" anchor="ctr"/>
          <a:lstStyle/>
          <a:p>
            <a:pPr>
              <a:lnSpc>
                <a:spcPct val="130000"/>
              </a:lnSpc>
            </a:pPr>
            <a:r>
              <a:rPr lang="en-US" sz="1045" dirty="0">
                <a:solidFill>
                  <a:srgbClr val="212529">
                    <a:alpha val="70000"/>
                  </a:srgbClr>
                </a:solidFill>
                <a:latin typeface="Quattrocento Sans" pitchFamily="34" charset="0"/>
                <a:ea typeface="Quattrocento Sans" pitchFamily="34" charset="-122"/>
                <a:cs typeface="Quattrocento Sans" pitchFamily="34" charset="-120"/>
              </a:rPr>
              <a:t>Unlimited bookings</a:t>
            </a:r>
            <a:endParaRPr lang="en-US" sz="1600" dirty="0"/>
          </a:p>
        </p:txBody>
      </p:sp>
      <p:sp>
        <p:nvSpPr>
          <p:cNvPr id="33" name="Text 31"/>
          <p:cNvSpPr/>
          <p:nvPr/>
        </p:nvSpPr>
        <p:spPr>
          <a:xfrm>
            <a:off x="5299892" y="4661159"/>
            <a:ext cx="663510" cy="232229"/>
          </a:xfrm>
          <a:prstGeom prst="rect">
            <a:avLst/>
          </a:prstGeom>
          <a:noFill/>
          <a:ln/>
        </p:spPr>
        <p:txBody>
          <a:bodyPr wrap="square" lIns="0" tIns="0" rIns="0" bIns="0" rtlCol="0" anchor="ctr"/>
          <a:lstStyle/>
          <a:p>
            <a:pPr>
              <a:lnSpc>
                <a:spcPct val="120000"/>
              </a:lnSpc>
            </a:pPr>
            <a:r>
              <a:rPr lang="en-US" sz="1306" b="1" dirty="0">
                <a:solidFill>
                  <a:srgbClr val="F7B538"/>
                </a:solidFill>
                <a:latin typeface="Quattrocento Sans" pitchFamily="34" charset="0"/>
                <a:ea typeface="Quattrocento Sans" pitchFamily="34" charset="-122"/>
                <a:cs typeface="Quattrocento Sans" pitchFamily="34" charset="-120"/>
              </a:rPr>
              <a:t>₹99/mo</a:t>
            </a:r>
            <a:endParaRPr lang="en-US" sz="1600" dirty="0"/>
          </a:p>
        </p:txBody>
      </p:sp>
      <p:sp>
        <p:nvSpPr>
          <p:cNvPr id="34" name="Shape 32"/>
          <p:cNvSpPr/>
          <p:nvPr/>
        </p:nvSpPr>
        <p:spPr>
          <a:xfrm>
            <a:off x="431282" y="5075853"/>
            <a:ext cx="5515429" cy="530808"/>
          </a:xfrm>
          <a:custGeom>
            <a:avLst/>
            <a:gdLst/>
            <a:ahLst/>
            <a:cxnLst/>
            <a:rect l="l" t="t" r="r" b="b"/>
            <a:pathLst>
              <a:path w="5515429" h="530808">
                <a:moveTo>
                  <a:pt x="66351" y="0"/>
                </a:moveTo>
                <a:lnTo>
                  <a:pt x="5449078" y="0"/>
                </a:lnTo>
                <a:cubicBezTo>
                  <a:pt x="5485722" y="0"/>
                  <a:pt x="5515429" y="29706"/>
                  <a:pt x="5515429" y="66351"/>
                </a:cubicBezTo>
                <a:lnTo>
                  <a:pt x="5515429" y="464457"/>
                </a:lnTo>
                <a:cubicBezTo>
                  <a:pt x="5515429" y="501102"/>
                  <a:pt x="5485722" y="530808"/>
                  <a:pt x="5449078" y="530808"/>
                </a:cubicBezTo>
                <a:lnTo>
                  <a:pt x="66351" y="530808"/>
                </a:lnTo>
                <a:cubicBezTo>
                  <a:pt x="29731" y="530808"/>
                  <a:pt x="0" y="501077"/>
                  <a:pt x="0" y="464457"/>
                </a:cubicBezTo>
                <a:lnTo>
                  <a:pt x="0" y="66351"/>
                </a:lnTo>
                <a:cubicBezTo>
                  <a:pt x="0" y="29706"/>
                  <a:pt x="29706" y="0"/>
                  <a:pt x="66351" y="0"/>
                </a:cubicBezTo>
                <a:close/>
              </a:path>
            </a:pathLst>
          </a:custGeom>
          <a:solidFill>
            <a:srgbClr val="1A535C">
              <a:alpha val="10196"/>
            </a:srgbClr>
          </a:solidFill>
          <a:ln/>
        </p:spPr>
      </p:sp>
      <p:sp>
        <p:nvSpPr>
          <p:cNvPr id="35" name="Text 33"/>
          <p:cNvSpPr/>
          <p:nvPr/>
        </p:nvSpPr>
        <p:spPr>
          <a:xfrm>
            <a:off x="497633" y="5142204"/>
            <a:ext cx="1832947" cy="199053"/>
          </a:xfrm>
          <a:prstGeom prst="rect">
            <a:avLst/>
          </a:prstGeom>
          <a:noFill/>
          <a:ln/>
        </p:spPr>
        <p:txBody>
          <a:bodyPr wrap="square" lIns="0" tIns="0" rIns="0" bIns="0" rtlCol="0" anchor="ctr"/>
          <a:lstStyle/>
          <a:p>
            <a:pPr>
              <a:lnSpc>
                <a:spcPct val="130000"/>
              </a:lnSpc>
            </a:pPr>
            <a:r>
              <a:rPr lang="en-US" sz="1045" b="1" dirty="0">
                <a:solidFill>
                  <a:srgbClr val="1A535C"/>
                </a:solidFill>
                <a:latin typeface="Quattrocento Sans" pitchFamily="34" charset="0"/>
                <a:ea typeface="Quattrocento Sans" pitchFamily="34" charset="-122"/>
                <a:cs typeface="Quattrocento Sans" pitchFamily="34" charset="-120"/>
              </a:rPr>
              <a:t>B2B Partnerships</a:t>
            </a:r>
            <a:endParaRPr lang="en-US" sz="1600" dirty="0"/>
          </a:p>
        </p:txBody>
      </p:sp>
      <p:sp>
        <p:nvSpPr>
          <p:cNvPr id="36" name="Text 34"/>
          <p:cNvSpPr/>
          <p:nvPr/>
        </p:nvSpPr>
        <p:spPr>
          <a:xfrm>
            <a:off x="497633" y="5341257"/>
            <a:ext cx="1832947" cy="199053"/>
          </a:xfrm>
          <a:prstGeom prst="rect">
            <a:avLst/>
          </a:prstGeom>
          <a:noFill/>
          <a:ln/>
        </p:spPr>
        <p:txBody>
          <a:bodyPr wrap="square" lIns="0" tIns="0" rIns="0" bIns="0" rtlCol="0" anchor="ctr"/>
          <a:lstStyle/>
          <a:p>
            <a:pPr>
              <a:lnSpc>
                <a:spcPct val="130000"/>
              </a:lnSpc>
            </a:pPr>
            <a:r>
              <a:rPr lang="en-US" sz="1045" dirty="0">
                <a:solidFill>
                  <a:srgbClr val="212529">
                    <a:alpha val="70000"/>
                  </a:srgbClr>
                </a:solidFill>
                <a:latin typeface="Quattrocento Sans" pitchFamily="34" charset="0"/>
                <a:ea typeface="Quattrocento Sans" pitchFamily="34" charset="-122"/>
                <a:cs typeface="Quattrocento Sans" pitchFamily="34" charset="-120"/>
              </a:rPr>
              <a:t>Schools &amp; colleges bulk access</a:t>
            </a:r>
            <a:endParaRPr lang="en-US" sz="1600" dirty="0"/>
          </a:p>
        </p:txBody>
      </p:sp>
      <p:sp>
        <p:nvSpPr>
          <p:cNvPr id="37" name="Text 35"/>
          <p:cNvSpPr/>
          <p:nvPr/>
        </p:nvSpPr>
        <p:spPr>
          <a:xfrm>
            <a:off x="5096173" y="5225143"/>
            <a:ext cx="870857" cy="232229"/>
          </a:xfrm>
          <a:prstGeom prst="rect">
            <a:avLst/>
          </a:prstGeom>
          <a:noFill/>
          <a:ln/>
        </p:spPr>
        <p:txBody>
          <a:bodyPr wrap="square" lIns="0" tIns="0" rIns="0" bIns="0" rtlCol="0" anchor="ctr"/>
          <a:lstStyle/>
          <a:p>
            <a:pPr>
              <a:lnSpc>
                <a:spcPct val="120000"/>
              </a:lnSpc>
            </a:pPr>
            <a:r>
              <a:rPr lang="en-US" sz="1306" b="1" dirty="0">
                <a:solidFill>
                  <a:srgbClr val="1A535C"/>
                </a:solidFill>
                <a:latin typeface="Quattrocento Sans" pitchFamily="34" charset="0"/>
                <a:ea typeface="Quattrocento Sans" pitchFamily="34" charset="-122"/>
                <a:cs typeface="Quattrocento Sans" pitchFamily="34" charset="-120"/>
              </a:rPr>
              <a:t>Negotiated</a:t>
            </a:r>
            <a:endParaRPr lang="en-US" sz="1600" dirty="0"/>
          </a:p>
        </p:txBody>
      </p:sp>
      <p:sp>
        <p:nvSpPr>
          <p:cNvPr id="38" name="Shape 36"/>
          <p:cNvSpPr/>
          <p:nvPr/>
        </p:nvSpPr>
        <p:spPr>
          <a:xfrm>
            <a:off x="431282" y="5639837"/>
            <a:ext cx="5515429" cy="530808"/>
          </a:xfrm>
          <a:custGeom>
            <a:avLst/>
            <a:gdLst/>
            <a:ahLst/>
            <a:cxnLst/>
            <a:rect l="l" t="t" r="r" b="b"/>
            <a:pathLst>
              <a:path w="5515429" h="530808">
                <a:moveTo>
                  <a:pt x="66351" y="0"/>
                </a:moveTo>
                <a:lnTo>
                  <a:pt x="5449078" y="0"/>
                </a:lnTo>
                <a:cubicBezTo>
                  <a:pt x="5485722" y="0"/>
                  <a:pt x="5515429" y="29706"/>
                  <a:pt x="5515429" y="66351"/>
                </a:cubicBezTo>
                <a:lnTo>
                  <a:pt x="5515429" y="464457"/>
                </a:lnTo>
                <a:cubicBezTo>
                  <a:pt x="5515429" y="501102"/>
                  <a:pt x="5485722" y="530808"/>
                  <a:pt x="5449078" y="530808"/>
                </a:cubicBezTo>
                <a:lnTo>
                  <a:pt x="66351" y="530808"/>
                </a:lnTo>
                <a:cubicBezTo>
                  <a:pt x="29731" y="530808"/>
                  <a:pt x="0" y="501077"/>
                  <a:pt x="0" y="464457"/>
                </a:cubicBezTo>
                <a:lnTo>
                  <a:pt x="0" y="66351"/>
                </a:lnTo>
                <a:cubicBezTo>
                  <a:pt x="0" y="29706"/>
                  <a:pt x="29706" y="0"/>
                  <a:pt x="66351" y="0"/>
                </a:cubicBezTo>
                <a:close/>
              </a:path>
            </a:pathLst>
          </a:custGeom>
          <a:solidFill>
            <a:srgbClr val="4A7C59">
              <a:alpha val="10196"/>
            </a:srgbClr>
          </a:solidFill>
          <a:ln/>
        </p:spPr>
      </p:sp>
      <p:sp>
        <p:nvSpPr>
          <p:cNvPr id="39" name="Text 37"/>
          <p:cNvSpPr/>
          <p:nvPr/>
        </p:nvSpPr>
        <p:spPr>
          <a:xfrm>
            <a:off x="497633" y="5706188"/>
            <a:ext cx="1045029" cy="199053"/>
          </a:xfrm>
          <a:prstGeom prst="rect">
            <a:avLst/>
          </a:prstGeom>
          <a:noFill/>
          <a:ln/>
        </p:spPr>
        <p:txBody>
          <a:bodyPr wrap="square" lIns="0" tIns="0" rIns="0" bIns="0" rtlCol="0" anchor="ctr"/>
          <a:lstStyle/>
          <a:p>
            <a:pPr>
              <a:lnSpc>
                <a:spcPct val="130000"/>
              </a:lnSpc>
            </a:pPr>
            <a:r>
              <a:rPr lang="en-US" sz="1045" b="1" dirty="0">
                <a:solidFill>
                  <a:srgbClr val="4A7C59"/>
                </a:solidFill>
                <a:latin typeface="Quattrocento Sans" pitchFamily="34" charset="0"/>
                <a:ea typeface="Quattrocento Sans" pitchFamily="34" charset="-122"/>
                <a:cs typeface="Quattrocento Sans" pitchFamily="34" charset="-120"/>
              </a:rPr>
              <a:t>CSR Partnerships</a:t>
            </a:r>
            <a:endParaRPr lang="en-US" sz="1600" dirty="0"/>
          </a:p>
        </p:txBody>
      </p:sp>
      <p:sp>
        <p:nvSpPr>
          <p:cNvPr id="40" name="Text 38"/>
          <p:cNvSpPr/>
          <p:nvPr/>
        </p:nvSpPr>
        <p:spPr>
          <a:xfrm>
            <a:off x="497633" y="5905241"/>
            <a:ext cx="1045029" cy="199053"/>
          </a:xfrm>
          <a:prstGeom prst="rect">
            <a:avLst/>
          </a:prstGeom>
          <a:noFill/>
          <a:ln/>
        </p:spPr>
        <p:txBody>
          <a:bodyPr wrap="square" lIns="0" tIns="0" rIns="0" bIns="0" rtlCol="0" anchor="ctr"/>
          <a:lstStyle/>
          <a:p>
            <a:pPr>
              <a:lnSpc>
                <a:spcPct val="130000"/>
              </a:lnSpc>
            </a:pPr>
            <a:r>
              <a:rPr lang="en-US" sz="1045" dirty="0">
                <a:solidFill>
                  <a:srgbClr val="212529">
                    <a:alpha val="70000"/>
                  </a:srgbClr>
                </a:solidFill>
                <a:latin typeface="Quattrocento Sans" pitchFamily="34" charset="0"/>
                <a:ea typeface="Quattrocento Sans" pitchFamily="34" charset="-122"/>
                <a:cs typeface="Quattrocento Sans" pitchFamily="34" charset="-120"/>
              </a:rPr>
              <a:t>Admin fee only</a:t>
            </a:r>
            <a:endParaRPr lang="en-US" sz="1600" dirty="0"/>
          </a:p>
        </p:txBody>
      </p:sp>
      <p:sp>
        <p:nvSpPr>
          <p:cNvPr id="41" name="Text 39"/>
          <p:cNvSpPr/>
          <p:nvPr/>
        </p:nvSpPr>
        <p:spPr>
          <a:xfrm>
            <a:off x="5311399" y="5789127"/>
            <a:ext cx="655216" cy="232229"/>
          </a:xfrm>
          <a:prstGeom prst="rect">
            <a:avLst/>
          </a:prstGeom>
          <a:noFill/>
          <a:ln/>
        </p:spPr>
        <p:txBody>
          <a:bodyPr wrap="square" lIns="0" tIns="0" rIns="0" bIns="0" rtlCol="0" anchor="ctr"/>
          <a:lstStyle/>
          <a:p>
            <a:pPr>
              <a:lnSpc>
                <a:spcPct val="120000"/>
              </a:lnSpc>
            </a:pPr>
            <a:r>
              <a:rPr lang="en-US" sz="1306" b="1" dirty="0">
                <a:solidFill>
                  <a:srgbClr val="4A7C59"/>
                </a:solidFill>
                <a:latin typeface="Quattrocento Sans" pitchFamily="34" charset="0"/>
                <a:ea typeface="Quattrocento Sans" pitchFamily="34" charset="-122"/>
                <a:cs typeface="Quattrocento Sans" pitchFamily="34" charset="-120"/>
              </a:rPr>
              <a:t>Minimal</a:t>
            </a:r>
            <a:endParaRPr lang="en-US" sz="1600" dirty="0"/>
          </a:p>
        </p:txBody>
      </p:sp>
      <p:sp>
        <p:nvSpPr>
          <p:cNvPr id="42" name="Shape 40"/>
          <p:cNvSpPr/>
          <p:nvPr/>
        </p:nvSpPr>
        <p:spPr>
          <a:xfrm>
            <a:off x="437917" y="6210456"/>
            <a:ext cx="5503817" cy="544078"/>
          </a:xfrm>
          <a:custGeom>
            <a:avLst/>
            <a:gdLst/>
            <a:ahLst/>
            <a:cxnLst/>
            <a:rect l="l" t="t" r="r" b="b"/>
            <a:pathLst>
              <a:path w="5503817" h="544078">
                <a:moveTo>
                  <a:pt x="66350" y="0"/>
                </a:moveTo>
                <a:lnTo>
                  <a:pt x="5437467" y="0"/>
                </a:lnTo>
                <a:cubicBezTo>
                  <a:pt x="5474111" y="0"/>
                  <a:pt x="5503817" y="29706"/>
                  <a:pt x="5503817" y="66350"/>
                </a:cubicBezTo>
                <a:lnTo>
                  <a:pt x="5503817" y="477728"/>
                </a:lnTo>
                <a:cubicBezTo>
                  <a:pt x="5503817" y="514372"/>
                  <a:pt x="5474111" y="544078"/>
                  <a:pt x="5437467" y="544078"/>
                </a:cubicBezTo>
                <a:lnTo>
                  <a:pt x="66350" y="544078"/>
                </a:lnTo>
                <a:cubicBezTo>
                  <a:pt x="29731" y="544078"/>
                  <a:pt x="0" y="514348"/>
                  <a:pt x="0" y="477728"/>
                </a:cubicBezTo>
                <a:lnTo>
                  <a:pt x="0" y="66350"/>
                </a:lnTo>
                <a:cubicBezTo>
                  <a:pt x="0" y="29731"/>
                  <a:pt x="29731" y="0"/>
                  <a:pt x="66350" y="0"/>
                </a:cubicBezTo>
                <a:close/>
              </a:path>
            </a:pathLst>
          </a:custGeom>
          <a:solidFill>
            <a:srgbClr val="F7B538">
              <a:alpha val="20000"/>
            </a:srgbClr>
          </a:solidFill>
          <a:ln w="20320">
            <a:solidFill>
              <a:srgbClr val="F7B538"/>
            </a:solidFill>
            <a:prstDash val="solid"/>
          </a:ln>
        </p:spPr>
      </p:sp>
      <p:sp>
        <p:nvSpPr>
          <p:cNvPr id="43" name="Text 41"/>
          <p:cNvSpPr/>
          <p:nvPr/>
        </p:nvSpPr>
        <p:spPr>
          <a:xfrm>
            <a:off x="510903" y="6283446"/>
            <a:ext cx="1766596" cy="199053"/>
          </a:xfrm>
          <a:prstGeom prst="rect">
            <a:avLst/>
          </a:prstGeom>
          <a:noFill/>
          <a:ln/>
        </p:spPr>
        <p:txBody>
          <a:bodyPr wrap="square" lIns="0" tIns="0" rIns="0" bIns="0" rtlCol="0" anchor="ctr"/>
          <a:lstStyle/>
          <a:p>
            <a:pPr>
              <a:lnSpc>
                <a:spcPct val="130000"/>
              </a:lnSpc>
            </a:pPr>
            <a:r>
              <a:rPr lang="en-US" sz="1045" b="1" dirty="0">
                <a:solidFill>
                  <a:srgbClr val="F7B538"/>
                </a:solidFill>
                <a:latin typeface="Quattrocento Sans" pitchFamily="34" charset="0"/>
                <a:ea typeface="Quattrocento Sans" pitchFamily="34" charset="-122"/>
                <a:cs typeface="Quattrocento Sans" pitchFamily="34" charset="-120"/>
              </a:rPr>
              <a:t>Guru Dakshina</a:t>
            </a:r>
            <a:endParaRPr lang="en-US" sz="1600" dirty="0"/>
          </a:p>
        </p:txBody>
      </p:sp>
      <p:sp>
        <p:nvSpPr>
          <p:cNvPr id="44" name="Text 42"/>
          <p:cNvSpPr/>
          <p:nvPr/>
        </p:nvSpPr>
        <p:spPr>
          <a:xfrm>
            <a:off x="510903" y="6482500"/>
            <a:ext cx="1766596" cy="199053"/>
          </a:xfrm>
          <a:prstGeom prst="rect">
            <a:avLst/>
          </a:prstGeom>
          <a:noFill/>
          <a:ln/>
        </p:spPr>
        <p:txBody>
          <a:bodyPr wrap="square" lIns="0" tIns="0" rIns="0" bIns="0" rtlCol="0" anchor="ctr"/>
          <a:lstStyle/>
          <a:p>
            <a:pPr>
              <a:lnSpc>
                <a:spcPct val="130000"/>
              </a:lnSpc>
            </a:pPr>
            <a:r>
              <a:rPr lang="en-US" sz="1045" dirty="0">
                <a:solidFill>
                  <a:srgbClr val="212529">
                    <a:alpha val="70000"/>
                  </a:srgbClr>
                </a:solidFill>
                <a:latin typeface="Quattrocento Sans" pitchFamily="34" charset="0"/>
                <a:ea typeface="Quattrocento Sans" pitchFamily="34" charset="-122"/>
                <a:cs typeface="Quattrocento Sans" pitchFamily="34" charset="-120"/>
              </a:rPr>
              <a:t>Voluntary gratitude payments</a:t>
            </a:r>
            <a:endParaRPr lang="en-US" sz="1600" dirty="0"/>
          </a:p>
        </p:txBody>
      </p:sp>
      <p:sp>
        <p:nvSpPr>
          <p:cNvPr id="45" name="Text 43"/>
          <p:cNvSpPr/>
          <p:nvPr/>
        </p:nvSpPr>
        <p:spPr>
          <a:xfrm>
            <a:off x="5624493" y="6366385"/>
            <a:ext cx="323461" cy="232229"/>
          </a:xfrm>
          <a:prstGeom prst="rect">
            <a:avLst/>
          </a:prstGeom>
          <a:noFill/>
          <a:ln/>
        </p:spPr>
        <p:txBody>
          <a:bodyPr wrap="square" lIns="0" tIns="0" rIns="0" bIns="0" rtlCol="0" anchor="ctr"/>
          <a:lstStyle/>
          <a:p>
            <a:pPr>
              <a:lnSpc>
                <a:spcPct val="120000"/>
              </a:lnSpc>
            </a:pPr>
            <a:r>
              <a:rPr lang="en-US" sz="1306" b="1" dirty="0">
                <a:solidFill>
                  <a:srgbClr val="F7B538"/>
                </a:solidFill>
                <a:latin typeface="Quattrocento Sans" pitchFamily="34" charset="0"/>
                <a:ea typeface="Quattrocento Sans" pitchFamily="34" charset="-122"/>
                <a:cs typeface="Quattrocento Sans" pitchFamily="34" charset="-120"/>
              </a:rPr>
              <a:t>0%</a:t>
            </a:r>
            <a:endParaRPr lang="en-US" sz="1600" dirty="0"/>
          </a:p>
        </p:txBody>
      </p:sp>
      <p:sp>
        <p:nvSpPr>
          <p:cNvPr id="46" name="Shape 44"/>
          <p:cNvSpPr/>
          <p:nvPr/>
        </p:nvSpPr>
        <p:spPr>
          <a:xfrm>
            <a:off x="6146593" y="1260669"/>
            <a:ext cx="5714482" cy="5200261"/>
          </a:xfrm>
          <a:custGeom>
            <a:avLst/>
            <a:gdLst/>
            <a:ahLst/>
            <a:cxnLst/>
            <a:rect l="l" t="t" r="r" b="b"/>
            <a:pathLst>
              <a:path w="5714482" h="5200261">
                <a:moveTo>
                  <a:pt x="66355" y="0"/>
                </a:moveTo>
                <a:lnTo>
                  <a:pt x="5648126" y="0"/>
                </a:lnTo>
                <a:cubicBezTo>
                  <a:pt x="5684773" y="0"/>
                  <a:pt x="5714482" y="29708"/>
                  <a:pt x="5714482" y="66355"/>
                </a:cubicBezTo>
                <a:lnTo>
                  <a:pt x="5714482" y="5133906"/>
                </a:lnTo>
                <a:cubicBezTo>
                  <a:pt x="5714482" y="5170553"/>
                  <a:pt x="5684773" y="5200261"/>
                  <a:pt x="5648126" y="5200261"/>
                </a:cubicBezTo>
                <a:lnTo>
                  <a:pt x="66355" y="5200261"/>
                </a:lnTo>
                <a:cubicBezTo>
                  <a:pt x="29708" y="5200261"/>
                  <a:pt x="0" y="5170553"/>
                  <a:pt x="0" y="5133906"/>
                </a:cubicBezTo>
                <a:lnTo>
                  <a:pt x="0" y="66355"/>
                </a:lnTo>
                <a:cubicBezTo>
                  <a:pt x="0" y="29708"/>
                  <a:pt x="29708" y="0"/>
                  <a:pt x="66355" y="0"/>
                </a:cubicBezTo>
                <a:close/>
              </a:path>
            </a:pathLst>
          </a:custGeom>
          <a:gradFill rotWithShape="1" flip="none">
            <a:gsLst>
              <a:gs pos="0">
                <a:srgbClr val="1A535C"/>
              </a:gs>
              <a:gs pos="100000">
                <a:srgbClr val="4A7C59"/>
              </a:gs>
            </a:gsLst>
            <a:lin ang="2700000" scaled="1"/>
          </a:gradFill>
          <a:ln/>
          <a:effectLst>
            <a:outerShdw sx="100000" sy="100000" kx="0" ky="0" algn="bl" rotWithShape="0" blurRad="49763" dist="33176" dir="5400000">
              <a:srgbClr val="000000">
                <a:alpha val="10196"/>
              </a:srgbClr>
            </a:outerShdw>
          </a:effectLst>
        </p:spPr>
      </p:sp>
      <p:sp>
        <p:nvSpPr>
          <p:cNvPr id="47" name="Shape 45"/>
          <p:cNvSpPr/>
          <p:nvPr/>
        </p:nvSpPr>
        <p:spPr>
          <a:xfrm>
            <a:off x="6266854" y="1401665"/>
            <a:ext cx="149290" cy="149290"/>
          </a:xfrm>
          <a:custGeom>
            <a:avLst/>
            <a:gdLst/>
            <a:ahLst/>
            <a:cxnLst/>
            <a:rect l="l" t="t" r="r" b="b"/>
            <a:pathLst>
              <a:path w="149290" h="149290">
                <a:moveTo>
                  <a:pt x="70271" y="25397"/>
                </a:moveTo>
                <a:lnTo>
                  <a:pt x="74645" y="31433"/>
                </a:lnTo>
                <a:lnTo>
                  <a:pt x="79019" y="25397"/>
                </a:lnTo>
                <a:cubicBezTo>
                  <a:pt x="86308" y="15308"/>
                  <a:pt x="98030" y="9331"/>
                  <a:pt x="110480" y="9331"/>
                </a:cubicBezTo>
                <a:cubicBezTo>
                  <a:pt x="131912" y="9331"/>
                  <a:pt x="149290" y="26709"/>
                  <a:pt x="149290" y="48140"/>
                </a:cubicBezTo>
                <a:lnTo>
                  <a:pt x="149290" y="48898"/>
                </a:lnTo>
                <a:cubicBezTo>
                  <a:pt x="149290" y="81614"/>
                  <a:pt x="108498" y="119607"/>
                  <a:pt x="87212" y="135848"/>
                </a:cubicBezTo>
                <a:cubicBezTo>
                  <a:pt x="83596" y="138589"/>
                  <a:pt x="79164" y="139959"/>
                  <a:pt x="74645" y="139959"/>
                </a:cubicBezTo>
                <a:cubicBezTo>
                  <a:pt x="70125" y="139959"/>
                  <a:pt x="65664" y="138618"/>
                  <a:pt x="62078" y="135848"/>
                </a:cubicBezTo>
                <a:cubicBezTo>
                  <a:pt x="40792" y="119607"/>
                  <a:pt x="0" y="81614"/>
                  <a:pt x="0" y="48898"/>
                </a:cubicBezTo>
                <a:lnTo>
                  <a:pt x="0" y="48140"/>
                </a:lnTo>
                <a:cubicBezTo>
                  <a:pt x="0" y="26709"/>
                  <a:pt x="17378" y="9331"/>
                  <a:pt x="38810" y="9331"/>
                </a:cubicBezTo>
                <a:cubicBezTo>
                  <a:pt x="51260" y="9331"/>
                  <a:pt x="62982" y="15308"/>
                  <a:pt x="70271" y="25397"/>
                </a:cubicBezTo>
                <a:close/>
              </a:path>
            </a:pathLst>
          </a:custGeom>
          <a:solidFill>
            <a:srgbClr val="F7B538"/>
          </a:solidFill>
          <a:ln/>
        </p:spPr>
      </p:sp>
      <p:sp>
        <p:nvSpPr>
          <p:cNvPr id="48" name="Text 46"/>
          <p:cNvSpPr/>
          <p:nvPr/>
        </p:nvSpPr>
        <p:spPr>
          <a:xfrm>
            <a:off x="6436879" y="1360196"/>
            <a:ext cx="5399314" cy="232229"/>
          </a:xfrm>
          <a:prstGeom prst="rect">
            <a:avLst/>
          </a:prstGeom>
          <a:noFill/>
          <a:ln/>
        </p:spPr>
        <p:txBody>
          <a:bodyPr wrap="square" lIns="0" tIns="0" rIns="0" bIns="0" rtlCol="0" anchor="ctr"/>
          <a:lstStyle/>
          <a:p>
            <a:pPr>
              <a:lnSpc>
                <a:spcPct val="130000"/>
              </a:lnSpc>
            </a:pPr>
            <a:r>
              <a:rPr lang="en-US" sz="1176" b="1" dirty="0">
                <a:solidFill>
                  <a:srgbClr val="FFFFFF"/>
                </a:solidFill>
                <a:latin typeface="Liter" pitchFamily="34" charset="0"/>
                <a:ea typeface="Liter" pitchFamily="34" charset="-122"/>
                <a:cs typeface="Liter" pitchFamily="34" charset="-120"/>
              </a:rPr>
              <a:t>Social Impact</a:t>
            </a:r>
            <a:endParaRPr lang="en-US" sz="1600" dirty="0"/>
          </a:p>
        </p:txBody>
      </p:sp>
      <p:sp>
        <p:nvSpPr>
          <p:cNvPr id="49" name="Shape 47"/>
          <p:cNvSpPr/>
          <p:nvPr/>
        </p:nvSpPr>
        <p:spPr>
          <a:xfrm>
            <a:off x="6246119" y="1751669"/>
            <a:ext cx="5515429" cy="1409959"/>
          </a:xfrm>
          <a:custGeom>
            <a:avLst/>
            <a:gdLst/>
            <a:ahLst/>
            <a:cxnLst/>
            <a:rect l="l" t="t" r="r" b="b"/>
            <a:pathLst>
              <a:path w="5515429" h="1409959">
                <a:moveTo>
                  <a:pt x="66353" y="0"/>
                </a:moveTo>
                <a:lnTo>
                  <a:pt x="5449076" y="0"/>
                </a:lnTo>
                <a:cubicBezTo>
                  <a:pt x="5485721" y="0"/>
                  <a:pt x="5515429" y="29707"/>
                  <a:pt x="5515429" y="66353"/>
                </a:cubicBezTo>
                <a:lnTo>
                  <a:pt x="5515429" y="1343607"/>
                </a:lnTo>
                <a:cubicBezTo>
                  <a:pt x="5515429" y="1380252"/>
                  <a:pt x="5485721" y="1409959"/>
                  <a:pt x="5449076" y="1409959"/>
                </a:cubicBezTo>
                <a:lnTo>
                  <a:pt x="66353" y="1409959"/>
                </a:lnTo>
                <a:cubicBezTo>
                  <a:pt x="29707" y="1409959"/>
                  <a:pt x="0" y="1380252"/>
                  <a:pt x="0" y="1343607"/>
                </a:cubicBezTo>
                <a:lnTo>
                  <a:pt x="0" y="66353"/>
                </a:lnTo>
                <a:cubicBezTo>
                  <a:pt x="0" y="29707"/>
                  <a:pt x="29707" y="0"/>
                  <a:pt x="66353" y="0"/>
                </a:cubicBezTo>
                <a:close/>
              </a:path>
            </a:pathLst>
          </a:custGeom>
          <a:solidFill>
            <a:srgbClr val="FFFFFF">
              <a:alpha val="10196"/>
            </a:srgbClr>
          </a:solidFill>
          <a:ln/>
        </p:spPr>
      </p:sp>
      <p:sp>
        <p:nvSpPr>
          <p:cNvPr id="50" name="Shape 48"/>
          <p:cNvSpPr/>
          <p:nvPr/>
        </p:nvSpPr>
        <p:spPr>
          <a:xfrm>
            <a:off x="6337352" y="1844562"/>
            <a:ext cx="116114" cy="132702"/>
          </a:xfrm>
          <a:custGeom>
            <a:avLst/>
            <a:gdLst/>
            <a:ahLst/>
            <a:cxnLst/>
            <a:rect l="l" t="t" r="r" b="b"/>
            <a:pathLst>
              <a:path w="116114" h="132702">
                <a:moveTo>
                  <a:pt x="62541" y="-3369"/>
                </a:moveTo>
                <a:cubicBezTo>
                  <a:pt x="59586" y="-3966"/>
                  <a:pt x="56554" y="-3966"/>
                  <a:pt x="53599" y="-3369"/>
                </a:cubicBezTo>
                <a:lnTo>
                  <a:pt x="5002" y="6350"/>
                </a:lnTo>
                <a:cubicBezTo>
                  <a:pt x="2099" y="6920"/>
                  <a:pt x="0" y="9486"/>
                  <a:pt x="0" y="12441"/>
                </a:cubicBezTo>
                <a:cubicBezTo>
                  <a:pt x="0" y="15110"/>
                  <a:pt x="1685" y="17443"/>
                  <a:pt x="4147" y="18298"/>
                </a:cubicBezTo>
                <a:lnTo>
                  <a:pt x="4147" y="37322"/>
                </a:lnTo>
                <a:lnTo>
                  <a:pt x="78" y="57694"/>
                </a:lnTo>
                <a:cubicBezTo>
                  <a:pt x="26" y="57928"/>
                  <a:pt x="0" y="58187"/>
                  <a:pt x="0" y="58446"/>
                </a:cubicBezTo>
                <a:cubicBezTo>
                  <a:pt x="0" y="60519"/>
                  <a:pt x="1685" y="62230"/>
                  <a:pt x="3784" y="62230"/>
                </a:cubicBezTo>
                <a:lnTo>
                  <a:pt x="12830" y="62230"/>
                </a:lnTo>
                <a:cubicBezTo>
                  <a:pt x="14903" y="62230"/>
                  <a:pt x="16614" y="60545"/>
                  <a:pt x="16614" y="58446"/>
                </a:cubicBezTo>
                <a:cubicBezTo>
                  <a:pt x="16614" y="58187"/>
                  <a:pt x="16588" y="57953"/>
                  <a:pt x="16536" y="57694"/>
                </a:cubicBezTo>
                <a:lnTo>
                  <a:pt x="12441" y="37322"/>
                </a:lnTo>
                <a:lnTo>
                  <a:pt x="12441" y="20035"/>
                </a:lnTo>
                <a:lnTo>
                  <a:pt x="24882" y="22523"/>
                </a:lnTo>
                <a:lnTo>
                  <a:pt x="24882" y="37322"/>
                </a:lnTo>
                <a:cubicBezTo>
                  <a:pt x="24882" y="55647"/>
                  <a:pt x="39733" y="70498"/>
                  <a:pt x="58057" y="70498"/>
                </a:cubicBezTo>
                <a:cubicBezTo>
                  <a:pt x="76381" y="70498"/>
                  <a:pt x="91233" y="55647"/>
                  <a:pt x="91233" y="37322"/>
                </a:cubicBezTo>
                <a:lnTo>
                  <a:pt x="91233" y="22523"/>
                </a:lnTo>
                <a:lnTo>
                  <a:pt x="111112" y="18558"/>
                </a:lnTo>
                <a:cubicBezTo>
                  <a:pt x="114015" y="17961"/>
                  <a:pt x="116114" y="15396"/>
                  <a:pt x="116114" y="12441"/>
                </a:cubicBezTo>
                <a:cubicBezTo>
                  <a:pt x="116114" y="9486"/>
                  <a:pt x="114015" y="6920"/>
                  <a:pt x="111112" y="6350"/>
                </a:cubicBezTo>
                <a:lnTo>
                  <a:pt x="62541" y="-3369"/>
                </a:lnTo>
                <a:close/>
                <a:moveTo>
                  <a:pt x="58057" y="58057"/>
                </a:moveTo>
                <a:cubicBezTo>
                  <a:pt x="46601" y="58057"/>
                  <a:pt x="37322" y="48778"/>
                  <a:pt x="37322" y="37322"/>
                </a:cubicBezTo>
                <a:lnTo>
                  <a:pt x="78792" y="37322"/>
                </a:lnTo>
                <a:cubicBezTo>
                  <a:pt x="78792" y="48778"/>
                  <a:pt x="69513" y="58057"/>
                  <a:pt x="58057" y="58057"/>
                </a:cubicBezTo>
                <a:close/>
                <a:moveTo>
                  <a:pt x="31128" y="82965"/>
                </a:moveTo>
                <a:cubicBezTo>
                  <a:pt x="15214" y="90274"/>
                  <a:pt x="4147" y="106343"/>
                  <a:pt x="4147" y="125004"/>
                </a:cubicBezTo>
                <a:cubicBezTo>
                  <a:pt x="4147" y="129255"/>
                  <a:pt x="7594" y="132702"/>
                  <a:pt x="11845" y="132702"/>
                </a:cubicBezTo>
                <a:lnTo>
                  <a:pt x="51837" y="132702"/>
                </a:lnTo>
                <a:lnTo>
                  <a:pt x="51837" y="94861"/>
                </a:lnTo>
                <a:lnTo>
                  <a:pt x="36960" y="83716"/>
                </a:lnTo>
                <a:cubicBezTo>
                  <a:pt x="35275" y="82446"/>
                  <a:pt x="33020" y="82109"/>
                  <a:pt x="31102" y="82991"/>
                </a:cubicBezTo>
                <a:close/>
                <a:moveTo>
                  <a:pt x="64278" y="132702"/>
                </a:moveTo>
                <a:lnTo>
                  <a:pt x="104270" y="132702"/>
                </a:lnTo>
                <a:cubicBezTo>
                  <a:pt x="108520" y="132702"/>
                  <a:pt x="111967" y="129255"/>
                  <a:pt x="111967" y="125004"/>
                </a:cubicBezTo>
                <a:cubicBezTo>
                  <a:pt x="111967" y="106343"/>
                  <a:pt x="100900" y="90274"/>
                  <a:pt x="84986" y="82991"/>
                </a:cubicBezTo>
                <a:cubicBezTo>
                  <a:pt x="83068" y="82109"/>
                  <a:pt x="80813" y="82446"/>
                  <a:pt x="79129" y="83716"/>
                </a:cubicBezTo>
                <a:lnTo>
                  <a:pt x="64252" y="94861"/>
                </a:lnTo>
                <a:lnTo>
                  <a:pt x="64252" y="132702"/>
                </a:lnTo>
                <a:close/>
              </a:path>
            </a:pathLst>
          </a:custGeom>
          <a:solidFill>
            <a:srgbClr val="FFFFFF"/>
          </a:solidFill>
          <a:ln/>
        </p:spPr>
      </p:sp>
      <p:sp>
        <p:nvSpPr>
          <p:cNvPr id="51" name="Text 49"/>
          <p:cNvSpPr/>
          <p:nvPr/>
        </p:nvSpPr>
        <p:spPr>
          <a:xfrm>
            <a:off x="6521679" y="1818020"/>
            <a:ext cx="5239869" cy="199053"/>
          </a:xfrm>
          <a:prstGeom prst="rect">
            <a:avLst/>
          </a:prstGeom>
          <a:noFill/>
          <a:ln/>
        </p:spPr>
        <p:txBody>
          <a:bodyPr wrap="square" lIns="0" tIns="0" rIns="0" bIns="0" rtlCol="0" anchor="ctr"/>
          <a:lstStyle/>
          <a:p>
            <a:pPr>
              <a:lnSpc>
                <a:spcPct val="130000"/>
              </a:lnSpc>
            </a:pPr>
            <a:r>
              <a:rPr lang="en-US" sz="1045" b="1" dirty="0">
                <a:solidFill>
                  <a:srgbClr val="FFFFFF"/>
                </a:solidFill>
                <a:latin typeface="Quattrocento Sans" pitchFamily="34" charset="0"/>
                <a:ea typeface="Quattrocento Sans" pitchFamily="34" charset="-122"/>
                <a:cs typeface="Quattrocento Sans" pitchFamily="34" charset="-120"/>
              </a:rPr>
              <a:t>For Students</a:t>
            </a:r>
            <a:endParaRPr lang="en-US" sz="1600" dirty="0"/>
          </a:p>
        </p:txBody>
      </p:sp>
      <p:sp>
        <p:nvSpPr>
          <p:cNvPr id="52" name="Text 50"/>
          <p:cNvSpPr/>
          <p:nvPr/>
        </p:nvSpPr>
        <p:spPr>
          <a:xfrm>
            <a:off x="6312471" y="2050248"/>
            <a:ext cx="5449078" cy="182465"/>
          </a:xfrm>
          <a:prstGeom prst="rect">
            <a:avLst/>
          </a:prstGeom>
          <a:noFill/>
          <a:ln/>
        </p:spPr>
        <p:txBody>
          <a:bodyPr wrap="square" lIns="0" tIns="0" rIns="0" bIns="0" rtlCol="0" anchor="ctr"/>
          <a:lstStyle/>
          <a:p>
            <a:pPr>
              <a:lnSpc>
                <a:spcPct val="110000"/>
              </a:lnSpc>
            </a:pPr>
            <a:r>
              <a:rPr lang="en-US" sz="1045" dirty="0">
                <a:solidFill>
                  <a:srgbClr val="FFFFFF">
                    <a:alpha val="90000"/>
                  </a:srgbClr>
                </a:solidFill>
                <a:latin typeface="Quattrocento Sans" pitchFamily="34" charset="0"/>
                <a:ea typeface="Quattrocento Sans" pitchFamily="34" charset="-122"/>
                <a:cs typeface="Quattrocento Sans" pitchFamily="34" charset="-120"/>
              </a:rPr>
              <a:t>• Rural students access city-level expertise</a:t>
            </a:r>
            <a:endParaRPr lang="en-US" sz="1600" dirty="0"/>
          </a:p>
        </p:txBody>
      </p:sp>
      <p:sp>
        <p:nvSpPr>
          <p:cNvPr id="53" name="Text 51"/>
          <p:cNvSpPr/>
          <p:nvPr/>
        </p:nvSpPr>
        <p:spPr>
          <a:xfrm>
            <a:off x="6312471" y="2265889"/>
            <a:ext cx="5449078" cy="182465"/>
          </a:xfrm>
          <a:prstGeom prst="rect">
            <a:avLst/>
          </a:prstGeom>
          <a:noFill/>
          <a:ln/>
        </p:spPr>
        <p:txBody>
          <a:bodyPr wrap="square" lIns="0" tIns="0" rIns="0" bIns="0" rtlCol="0" anchor="ctr"/>
          <a:lstStyle/>
          <a:p>
            <a:pPr>
              <a:lnSpc>
                <a:spcPct val="110000"/>
              </a:lnSpc>
            </a:pPr>
            <a:r>
              <a:rPr lang="en-US" sz="1045" dirty="0">
                <a:solidFill>
                  <a:srgbClr val="FFFFFF">
                    <a:alpha val="90000"/>
                  </a:srgbClr>
                </a:solidFill>
                <a:latin typeface="Quattrocento Sans" pitchFamily="34" charset="0"/>
                <a:ea typeface="Quattrocento Sans" pitchFamily="34" charset="-122"/>
                <a:cs typeface="Quattrocento Sans" pitchFamily="34" charset="-120"/>
              </a:rPr>
              <a:t>• Free tutoring from volunteer teachers</a:t>
            </a:r>
            <a:endParaRPr lang="en-US" sz="1600" dirty="0"/>
          </a:p>
        </p:txBody>
      </p:sp>
      <p:sp>
        <p:nvSpPr>
          <p:cNvPr id="54" name="Text 52"/>
          <p:cNvSpPr/>
          <p:nvPr/>
        </p:nvSpPr>
        <p:spPr>
          <a:xfrm>
            <a:off x="6312471" y="2481530"/>
            <a:ext cx="5449078" cy="182465"/>
          </a:xfrm>
          <a:prstGeom prst="rect">
            <a:avLst/>
          </a:prstGeom>
          <a:noFill/>
          <a:ln/>
        </p:spPr>
        <p:txBody>
          <a:bodyPr wrap="square" lIns="0" tIns="0" rIns="0" bIns="0" rtlCol="0" anchor="ctr"/>
          <a:lstStyle/>
          <a:p>
            <a:pPr>
              <a:lnSpc>
                <a:spcPct val="110000"/>
              </a:lnSpc>
            </a:pPr>
            <a:r>
              <a:rPr lang="en-US" sz="1045" dirty="0">
                <a:solidFill>
                  <a:srgbClr val="FFFFFF">
                    <a:alpha val="90000"/>
                  </a:srgbClr>
                </a:solidFill>
                <a:latin typeface="Quattrocento Sans" pitchFamily="34" charset="0"/>
                <a:ea typeface="Quattrocento Sans" pitchFamily="34" charset="-122"/>
                <a:cs typeface="Quattrocento Sans" pitchFamily="34" charset="-120"/>
              </a:rPr>
              <a:t>• Regional language learning (8+ languages)</a:t>
            </a:r>
            <a:endParaRPr lang="en-US" sz="1600" dirty="0"/>
          </a:p>
        </p:txBody>
      </p:sp>
      <p:sp>
        <p:nvSpPr>
          <p:cNvPr id="55" name="Text 53"/>
          <p:cNvSpPr/>
          <p:nvPr/>
        </p:nvSpPr>
        <p:spPr>
          <a:xfrm>
            <a:off x="6312471" y="2697171"/>
            <a:ext cx="5449078" cy="182465"/>
          </a:xfrm>
          <a:prstGeom prst="rect">
            <a:avLst/>
          </a:prstGeom>
          <a:noFill/>
          <a:ln/>
        </p:spPr>
        <p:txBody>
          <a:bodyPr wrap="square" lIns="0" tIns="0" rIns="0" bIns="0" rtlCol="0" anchor="ctr"/>
          <a:lstStyle/>
          <a:p>
            <a:pPr>
              <a:lnSpc>
                <a:spcPct val="110000"/>
              </a:lnSpc>
            </a:pPr>
            <a:r>
              <a:rPr lang="en-US" sz="1045" dirty="0">
                <a:solidFill>
                  <a:srgbClr val="FFFFFF">
                    <a:alpha val="90000"/>
                  </a:srgbClr>
                </a:solidFill>
                <a:latin typeface="Quattrocento Sans" pitchFamily="34" charset="0"/>
                <a:ea typeface="Quattrocento Sans" pitchFamily="34" charset="-122"/>
                <a:cs typeface="Quattrocento Sans" pitchFamily="34" charset="-120"/>
              </a:rPr>
              <a:t>• Emergency support before exams</a:t>
            </a:r>
            <a:endParaRPr lang="en-US" sz="1600" dirty="0"/>
          </a:p>
        </p:txBody>
      </p:sp>
      <p:sp>
        <p:nvSpPr>
          <p:cNvPr id="56" name="Text 54"/>
          <p:cNvSpPr/>
          <p:nvPr/>
        </p:nvSpPr>
        <p:spPr>
          <a:xfrm>
            <a:off x="6312471" y="2912811"/>
            <a:ext cx="5449078" cy="182465"/>
          </a:xfrm>
          <a:prstGeom prst="rect">
            <a:avLst/>
          </a:prstGeom>
          <a:noFill/>
          <a:ln/>
        </p:spPr>
        <p:txBody>
          <a:bodyPr wrap="square" lIns="0" tIns="0" rIns="0" bIns="0" rtlCol="0" anchor="ctr"/>
          <a:lstStyle/>
          <a:p>
            <a:pPr>
              <a:lnSpc>
                <a:spcPct val="110000"/>
              </a:lnSpc>
            </a:pPr>
            <a:r>
              <a:rPr lang="en-US" sz="1045" dirty="0">
                <a:solidFill>
                  <a:srgbClr val="FFFFFF">
                    <a:alpha val="90000"/>
                  </a:srgbClr>
                </a:solidFill>
                <a:latin typeface="Quattrocento Sans" pitchFamily="34" charset="0"/>
                <a:ea typeface="Quattrocento Sans" pitchFamily="34" charset="-122"/>
                <a:cs typeface="Quattrocento Sans" pitchFamily="34" charset="-120"/>
              </a:rPr>
              <a:t>• CSR-funded sessions for govt school students</a:t>
            </a:r>
            <a:endParaRPr lang="en-US" sz="1600" dirty="0"/>
          </a:p>
        </p:txBody>
      </p:sp>
      <p:sp>
        <p:nvSpPr>
          <p:cNvPr id="57" name="Shape 55"/>
          <p:cNvSpPr/>
          <p:nvPr/>
        </p:nvSpPr>
        <p:spPr>
          <a:xfrm>
            <a:off x="6246119" y="3413765"/>
            <a:ext cx="5515429" cy="1409959"/>
          </a:xfrm>
          <a:custGeom>
            <a:avLst/>
            <a:gdLst/>
            <a:ahLst/>
            <a:cxnLst/>
            <a:rect l="l" t="t" r="r" b="b"/>
            <a:pathLst>
              <a:path w="5515429" h="1409959">
                <a:moveTo>
                  <a:pt x="66353" y="0"/>
                </a:moveTo>
                <a:lnTo>
                  <a:pt x="5449076" y="0"/>
                </a:lnTo>
                <a:cubicBezTo>
                  <a:pt x="5485721" y="0"/>
                  <a:pt x="5515429" y="29707"/>
                  <a:pt x="5515429" y="66353"/>
                </a:cubicBezTo>
                <a:lnTo>
                  <a:pt x="5515429" y="1343607"/>
                </a:lnTo>
                <a:cubicBezTo>
                  <a:pt x="5515429" y="1380252"/>
                  <a:pt x="5485721" y="1409959"/>
                  <a:pt x="5449076" y="1409959"/>
                </a:cubicBezTo>
                <a:lnTo>
                  <a:pt x="66353" y="1409959"/>
                </a:lnTo>
                <a:cubicBezTo>
                  <a:pt x="29707" y="1409959"/>
                  <a:pt x="0" y="1380252"/>
                  <a:pt x="0" y="1343607"/>
                </a:cubicBezTo>
                <a:lnTo>
                  <a:pt x="0" y="66353"/>
                </a:lnTo>
                <a:cubicBezTo>
                  <a:pt x="0" y="29707"/>
                  <a:pt x="29707" y="0"/>
                  <a:pt x="66353" y="0"/>
                </a:cubicBezTo>
                <a:close/>
              </a:path>
            </a:pathLst>
          </a:custGeom>
          <a:solidFill>
            <a:srgbClr val="FFFFFF">
              <a:alpha val="10196"/>
            </a:srgbClr>
          </a:solidFill>
          <a:ln/>
        </p:spPr>
      </p:sp>
      <p:sp>
        <p:nvSpPr>
          <p:cNvPr id="58" name="Shape 56"/>
          <p:cNvSpPr/>
          <p:nvPr/>
        </p:nvSpPr>
        <p:spPr>
          <a:xfrm>
            <a:off x="6312471" y="3506650"/>
            <a:ext cx="165878" cy="132702"/>
          </a:xfrm>
          <a:custGeom>
            <a:avLst/>
            <a:gdLst/>
            <a:ahLst/>
            <a:cxnLst/>
            <a:rect l="l" t="t" r="r" b="b"/>
            <a:pathLst>
              <a:path w="165878" h="132702">
                <a:moveTo>
                  <a:pt x="33176" y="24882"/>
                </a:moveTo>
                <a:cubicBezTo>
                  <a:pt x="33176" y="15732"/>
                  <a:pt x="40614" y="8294"/>
                  <a:pt x="49763" y="8294"/>
                </a:cubicBezTo>
                <a:lnTo>
                  <a:pt x="140996" y="8294"/>
                </a:lnTo>
                <a:cubicBezTo>
                  <a:pt x="150145" y="8294"/>
                  <a:pt x="157584" y="15732"/>
                  <a:pt x="157584" y="24882"/>
                </a:cubicBezTo>
                <a:lnTo>
                  <a:pt x="157584" y="87086"/>
                </a:lnTo>
                <a:lnTo>
                  <a:pt x="132702" y="87086"/>
                </a:lnTo>
                <a:lnTo>
                  <a:pt x="132702" y="82939"/>
                </a:lnTo>
                <a:cubicBezTo>
                  <a:pt x="132702" y="78351"/>
                  <a:pt x="128996" y="74645"/>
                  <a:pt x="124408" y="74645"/>
                </a:cubicBezTo>
                <a:lnTo>
                  <a:pt x="107820" y="74645"/>
                </a:lnTo>
                <a:cubicBezTo>
                  <a:pt x="103233" y="74645"/>
                  <a:pt x="99527" y="78351"/>
                  <a:pt x="99527" y="82939"/>
                </a:cubicBezTo>
                <a:lnTo>
                  <a:pt x="99527" y="87086"/>
                </a:lnTo>
                <a:lnTo>
                  <a:pt x="66066" y="87086"/>
                </a:lnTo>
                <a:cubicBezTo>
                  <a:pt x="68891" y="82213"/>
                  <a:pt x="70498" y="76537"/>
                  <a:pt x="70498" y="70498"/>
                </a:cubicBezTo>
                <a:cubicBezTo>
                  <a:pt x="70498" y="52174"/>
                  <a:pt x="55647" y="37322"/>
                  <a:pt x="37322" y="37322"/>
                </a:cubicBezTo>
                <a:cubicBezTo>
                  <a:pt x="35923" y="37322"/>
                  <a:pt x="34523" y="37400"/>
                  <a:pt x="33176" y="37582"/>
                </a:cubicBezTo>
                <a:lnTo>
                  <a:pt x="33176" y="24882"/>
                </a:lnTo>
                <a:close/>
                <a:moveTo>
                  <a:pt x="86308" y="116114"/>
                </a:moveTo>
                <a:cubicBezTo>
                  <a:pt x="84986" y="109842"/>
                  <a:pt x="82083" y="104166"/>
                  <a:pt x="77988" y="99527"/>
                </a:cubicBezTo>
                <a:lnTo>
                  <a:pt x="157584" y="99527"/>
                </a:lnTo>
                <a:cubicBezTo>
                  <a:pt x="157584" y="108676"/>
                  <a:pt x="150145" y="116114"/>
                  <a:pt x="140996" y="116114"/>
                </a:cubicBezTo>
                <a:lnTo>
                  <a:pt x="86308" y="116114"/>
                </a:lnTo>
                <a:close/>
                <a:moveTo>
                  <a:pt x="16588" y="70498"/>
                </a:moveTo>
                <a:cubicBezTo>
                  <a:pt x="16588" y="59054"/>
                  <a:pt x="25879" y="49763"/>
                  <a:pt x="37322" y="49763"/>
                </a:cubicBezTo>
                <a:cubicBezTo>
                  <a:pt x="48766" y="49763"/>
                  <a:pt x="58057" y="59054"/>
                  <a:pt x="58057" y="70498"/>
                </a:cubicBezTo>
                <a:cubicBezTo>
                  <a:pt x="58057" y="81942"/>
                  <a:pt x="48766" y="91233"/>
                  <a:pt x="37322" y="91233"/>
                </a:cubicBezTo>
                <a:cubicBezTo>
                  <a:pt x="25879" y="91233"/>
                  <a:pt x="16588" y="81942"/>
                  <a:pt x="16588" y="70498"/>
                </a:cubicBezTo>
                <a:close/>
                <a:moveTo>
                  <a:pt x="0" y="124408"/>
                </a:moveTo>
                <a:cubicBezTo>
                  <a:pt x="0" y="110671"/>
                  <a:pt x="11145" y="99527"/>
                  <a:pt x="24882" y="99527"/>
                </a:cubicBezTo>
                <a:lnTo>
                  <a:pt x="49763" y="99527"/>
                </a:lnTo>
                <a:cubicBezTo>
                  <a:pt x="63500" y="99527"/>
                  <a:pt x="74645" y="110671"/>
                  <a:pt x="74645" y="124408"/>
                </a:cubicBezTo>
                <a:cubicBezTo>
                  <a:pt x="74645" y="128996"/>
                  <a:pt x="70939" y="132702"/>
                  <a:pt x="66351" y="132702"/>
                </a:cubicBezTo>
                <a:lnTo>
                  <a:pt x="8294" y="132702"/>
                </a:lnTo>
                <a:cubicBezTo>
                  <a:pt x="3706" y="132702"/>
                  <a:pt x="0" y="128996"/>
                  <a:pt x="0" y="124408"/>
                </a:cubicBezTo>
                <a:close/>
              </a:path>
            </a:pathLst>
          </a:custGeom>
          <a:solidFill>
            <a:srgbClr val="FFFFFF"/>
          </a:solidFill>
          <a:ln/>
        </p:spPr>
      </p:sp>
      <p:sp>
        <p:nvSpPr>
          <p:cNvPr id="59" name="Text 57"/>
          <p:cNvSpPr/>
          <p:nvPr/>
        </p:nvSpPr>
        <p:spPr>
          <a:xfrm>
            <a:off x="6521679" y="3480116"/>
            <a:ext cx="5239869" cy="199053"/>
          </a:xfrm>
          <a:prstGeom prst="rect">
            <a:avLst/>
          </a:prstGeom>
          <a:noFill/>
          <a:ln/>
        </p:spPr>
        <p:txBody>
          <a:bodyPr wrap="square" lIns="0" tIns="0" rIns="0" bIns="0" rtlCol="0" anchor="ctr"/>
          <a:lstStyle/>
          <a:p>
            <a:pPr>
              <a:lnSpc>
                <a:spcPct val="130000"/>
              </a:lnSpc>
            </a:pPr>
            <a:r>
              <a:rPr lang="en-US" sz="1045" b="1" dirty="0">
                <a:solidFill>
                  <a:srgbClr val="FFFFFF"/>
                </a:solidFill>
                <a:latin typeface="Quattrocento Sans" pitchFamily="34" charset="0"/>
                <a:ea typeface="Quattrocento Sans" pitchFamily="34" charset="-122"/>
                <a:cs typeface="Quattrocento Sans" pitchFamily="34" charset="-120"/>
              </a:rPr>
              <a:t>For Retired Teachers</a:t>
            </a:r>
            <a:endParaRPr lang="en-US" sz="1600" dirty="0"/>
          </a:p>
        </p:txBody>
      </p:sp>
      <p:sp>
        <p:nvSpPr>
          <p:cNvPr id="60" name="Text 58"/>
          <p:cNvSpPr/>
          <p:nvPr/>
        </p:nvSpPr>
        <p:spPr>
          <a:xfrm>
            <a:off x="6312471" y="3712344"/>
            <a:ext cx="5449078" cy="182465"/>
          </a:xfrm>
          <a:prstGeom prst="rect">
            <a:avLst/>
          </a:prstGeom>
          <a:noFill/>
          <a:ln/>
        </p:spPr>
        <p:txBody>
          <a:bodyPr wrap="square" lIns="0" tIns="0" rIns="0" bIns="0" rtlCol="0" anchor="ctr"/>
          <a:lstStyle/>
          <a:p>
            <a:pPr>
              <a:lnSpc>
                <a:spcPct val="110000"/>
              </a:lnSpc>
            </a:pPr>
            <a:r>
              <a:rPr lang="en-US" sz="1045" dirty="0">
                <a:solidFill>
                  <a:srgbClr val="FFFFFF">
                    <a:alpha val="90000"/>
                  </a:srgbClr>
                </a:solidFill>
                <a:latin typeface="Quattrocento Sans" pitchFamily="34" charset="0"/>
                <a:ea typeface="Quattrocento Sans" pitchFamily="34" charset="-122"/>
                <a:cs typeface="Quattrocento Sans" pitchFamily="34" charset="-120"/>
              </a:rPr>
              <a:t>• Renewed sense of purpose</a:t>
            </a:r>
            <a:endParaRPr lang="en-US" sz="1600" dirty="0"/>
          </a:p>
        </p:txBody>
      </p:sp>
      <p:sp>
        <p:nvSpPr>
          <p:cNvPr id="61" name="Text 59"/>
          <p:cNvSpPr/>
          <p:nvPr/>
        </p:nvSpPr>
        <p:spPr>
          <a:xfrm>
            <a:off x="6312471" y="3927985"/>
            <a:ext cx="5449078" cy="182465"/>
          </a:xfrm>
          <a:prstGeom prst="rect">
            <a:avLst/>
          </a:prstGeom>
          <a:noFill/>
          <a:ln/>
        </p:spPr>
        <p:txBody>
          <a:bodyPr wrap="square" lIns="0" tIns="0" rIns="0" bIns="0" rtlCol="0" anchor="ctr"/>
          <a:lstStyle/>
          <a:p>
            <a:pPr>
              <a:lnSpc>
                <a:spcPct val="110000"/>
              </a:lnSpc>
            </a:pPr>
            <a:r>
              <a:rPr lang="en-US" sz="1045" dirty="0">
                <a:solidFill>
                  <a:srgbClr val="FFFFFF">
                    <a:alpha val="90000"/>
                  </a:srgbClr>
                </a:solidFill>
                <a:latin typeface="Quattrocento Sans" pitchFamily="34" charset="0"/>
                <a:ea typeface="Quattrocento Sans" pitchFamily="34" charset="-122"/>
                <a:cs typeface="Quattrocento Sans" pitchFamily="34" charset="-120"/>
              </a:rPr>
              <a:t>• Mental engagement &amp; social connection</a:t>
            </a:r>
            <a:endParaRPr lang="en-US" sz="1600" dirty="0"/>
          </a:p>
        </p:txBody>
      </p:sp>
      <p:sp>
        <p:nvSpPr>
          <p:cNvPr id="62" name="Text 60"/>
          <p:cNvSpPr/>
          <p:nvPr/>
        </p:nvSpPr>
        <p:spPr>
          <a:xfrm>
            <a:off x="6312471" y="4143626"/>
            <a:ext cx="5449078" cy="182465"/>
          </a:xfrm>
          <a:prstGeom prst="rect">
            <a:avLst/>
          </a:prstGeom>
          <a:noFill/>
          <a:ln/>
        </p:spPr>
        <p:txBody>
          <a:bodyPr wrap="square" lIns="0" tIns="0" rIns="0" bIns="0" rtlCol="0" anchor="ctr"/>
          <a:lstStyle/>
          <a:p>
            <a:pPr>
              <a:lnSpc>
                <a:spcPct val="110000"/>
              </a:lnSpc>
            </a:pPr>
            <a:r>
              <a:rPr lang="en-US" sz="1045" dirty="0">
                <a:solidFill>
                  <a:srgbClr val="FFFFFF">
                    <a:alpha val="90000"/>
                  </a:srgbClr>
                </a:solidFill>
                <a:latin typeface="Quattrocento Sans" pitchFamily="34" charset="0"/>
                <a:ea typeface="Quattrocento Sans" pitchFamily="34" charset="-122"/>
                <a:cs typeface="Quattrocento Sans" pitchFamily="34" charset="-120"/>
              </a:rPr>
              <a:t>• Income supplement through paid sessions</a:t>
            </a:r>
            <a:endParaRPr lang="en-US" sz="1600" dirty="0"/>
          </a:p>
        </p:txBody>
      </p:sp>
      <p:sp>
        <p:nvSpPr>
          <p:cNvPr id="63" name="Text 61"/>
          <p:cNvSpPr/>
          <p:nvPr/>
        </p:nvSpPr>
        <p:spPr>
          <a:xfrm>
            <a:off x="6312471" y="4359267"/>
            <a:ext cx="5449078" cy="182465"/>
          </a:xfrm>
          <a:prstGeom prst="rect">
            <a:avLst/>
          </a:prstGeom>
          <a:noFill/>
          <a:ln/>
        </p:spPr>
        <p:txBody>
          <a:bodyPr wrap="square" lIns="0" tIns="0" rIns="0" bIns="0" rtlCol="0" anchor="ctr"/>
          <a:lstStyle/>
          <a:p>
            <a:pPr>
              <a:lnSpc>
                <a:spcPct val="110000"/>
              </a:lnSpc>
            </a:pPr>
            <a:r>
              <a:rPr lang="en-US" sz="1045" dirty="0">
                <a:solidFill>
                  <a:srgbClr val="FFFFFF">
                    <a:alpha val="90000"/>
                  </a:srgbClr>
                </a:solidFill>
                <a:latin typeface="Quattrocento Sans" pitchFamily="34" charset="0"/>
                <a:ea typeface="Quattrocento Sans" pitchFamily="34" charset="-122"/>
                <a:cs typeface="Quattrocento Sans" pitchFamily="34" charset="-120"/>
              </a:rPr>
              <a:t>• Silver Educator recognition &amp; awards</a:t>
            </a:r>
            <a:endParaRPr lang="en-US" sz="1600" dirty="0"/>
          </a:p>
        </p:txBody>
      </p:sp>
      <p:sp>
        <p:nvSpPr>
          <p:cNvPr id="64" name="Text 62"/>
          <p:cNvSpPr/>
          <p:nvPr/>
        </p:nvSpPr>
        <p:spPr>
          <a:xfrm>
            <a:off x="6312471" y="4574908"/>
            <a:ext cx="5449078" cy="182465"/>
          </a:xfrm>
          <a:prstGeom prst="rect">
            <a:avLst/>
          </a:prstGeom>
          <a:noFill/>
          <a:ln/>
        </p:spPr>
        <p:txBody>
          <a:bodyPr wrap="square" lIns="0" tIns="0" rIns="0" bIns="0" rtlCol="0" anchor="ctr"/>
          <a:lstStyle/>
          <a:p>
            <a:pPr>
              <a:lnSpc>
                <a:spcPct val="110000"/>
              </a:lnSpc>
            </a:pPr>
            <a:r>
              <a:rPr lang="en-US" sz="1045" dirty="0">
                <a:solidFill>
                  <a:srgbClr val="FFFFFF">
                    <a:alpha val="90000"/>
                  </a:srgbClr>
                </a:solidFill>
                <a:latin typeface="Quattrocento Sans" pitchFamily="34" charset="0"/>
                <a:ea typeface="Quattrocento Sans" pitchFamily="34" charset="-122"/>
                <a:cs typeface="Quattrocento Sans" pitchFamily="34" charset="-120"/>
              </a:rPr>
              <a:t>• Guru Dakshina emotional rewards</a:t>
            </a:r>
            <a:endParaRPr lang="en-US" sz="1600" dirty="0"/>
          </a:p>
        </p:txBody>
      </p:sp>
      <p:sp>
        <p:nvSpPr>
          <p:cNvPr id="65" name="Shape 63"/>
          <p:cNvSpPr/>
          <p:nvPr/>
        </p:nvSpPr>
        <p:spPr>
          <a:xfrm>
            <a:off x="6246119" y="5075853"/>
            <a:ext cx="5515429" cy="1194318"/>
          </a:xfrm>
          <a:custGeom>
            <a:avLst/>
            <a:gdLst/>
            <a:ahLst/>
            <a:cxnLst/>
            <a:rect l="l" t="t" r="r" b="b"/>
            <a:pathLst>
              <a:path w="5515429" h="1194318">
                <a:moveTo>
                  <a:pt x="66356" y="0"/>
                </a:moveTo>
                <a:lnTo>
                  <a:pt x="5449072" y="0"/>
                </a:lnTo>
                <a:cubicBezTo>
                  <a:pt x="5485720" y="0"/>
                  <a:pt x="5515429" y="29709"/>
                  <a:pt x="5515429" y="66356"/>
                </a:cubicBezTo>
                <a:lnTo>
                  <a:pt x="5515429" y="1127962"/>
                </a:lnTo>
                <a:cubicBezTo>
                  <a:pt x="5515429" y="1164610"/>
                  <a:pt x="5485720" y="1194318"/>
                  <a:pt x="5449072" y="1194318"/>
                </a:cubicBezTo>
                <a:lnTo>
                  <a:pt x="66356" y="1194318"/>
                </a:lnTo>
                <a:cubicBezTo>
                  <a:pt x="29709" y="1194318"/>
                  <a:pt x="0" y="1164610"/>
                  <a:pt x="0" y="1127962"/>
                </a:cubicBezTo>
                <a:lnTo>
                  <a:pt x="0" y="66356"/>
                </a:lnTo>
                <a:cubicBezTo>
                  <a:pt x="0" y="29733"/>
                  <a:pt x="29733" y="0"/>
                  <a:pt x="66356" y="0"/>
                </a:cubicBezTo>
                <a:close/>
              </a:path>
            </a:pathLst>
          </a:custGeom>
          <a:solidFill>
            <a:srgbClr val="FFFFFF">
              <a:alpha val="10196"/>
            </a:srgbClr>
          </a:solidFill>
          <a:ln/>
        </p:spPr>
      </p:sp>
      <p:sp>
        <p:nvSpPr>
          <p:cNvPr id="66" name="Shape 64"/>
          <p:cNvSpPr/>
          <p:nvPr/>
        </p:nvSpPr>
        <p:spPr>
          <a:xfrm>
            <a:off x="6329058" y="5168746"/>
            <a:ext cx="132702" cy="132702"/>
          </a:xfrm>
          <a:custGeom>
            <a:avLst/>
            <a:gdLst/>
            <a:ahLst/>
            <a:cxnLst/>
            <a:rect l="l" t="t" r="r" b="b"/>
            <a:pathLst>
              <a:path w="132702" h="132702">
                <a:moveTo>
                  <a:pt x="12959" y="73816"/>
                </a:moveTo>
                <a:cubicBezTo>
                  <a:pt x="14048" y="74360"/>
                  <a:pt x="15292" y="74645"/>
                  <a:pt x="16588" y="74645"/>
                </a:cubicBezTo>
                <a:lnTo>
                  <a:pt x="29728" y="74645"/>
                </a:lnTo>
                <a:cubicBezTo>
                  <a:pt x="31931" y="74645"/>
                  <a:pt x="34031" y="75526"/>
                  <a:pt x="35586" y="77081"/>
                </a:cubicBezTo>
                <a:lnTo>
                  <a:pt x="39033" y="80528"/>
                </a:lnTo>
                <a:cubicBezTo>
                  <a:pt x="40588" y="82083"/>
                  <a:pt x="42688" y="82965"/>
                  <a:pt x="44891" y="82965"/>
                </a:cubicBezTo>
                <a:lnTo>
                  <a:pt x="49737" y="82965"/>
                </a:lnTo>
                <a:cubicBezTo>
                  <a:pt x="54325" y="82965"/>
                  <a:pt x="58031" y="79258"/>
                  <a:pt x="58031" y="74671"/>
                </a:cubicBezTo>
                <a:lnTo>
                  <a:pt x="58031" y="64303"/>
                </a:lnTo>
                <a:cubicBezTo>
                  <a:pt x="58031" y="60856"/>
                  <a:pt x="60804" y="58083"/>
                  <a:pt x="64252" y="58083"/>
                </a:cubicBezTo>
                <a:cubicBezTo>
                  <a:pt x="67699" y="58083"/>
                  <a:pt x="70472" y="55310"/>
                  <a:pt x="70472" y="51863"/>
                </a:cubicBezTo>
                <a:lnTo>
                  <a:pt x="70472" y="40796"/>
                </a:lnTo>
                <a:cubicBezTo>
                  <a:pt x="70472" y="38592"/>
                  <a:pt x="71353" y="36493"/>
                  <a:pt x="72908" y="34938"/>
                </a:cubicBezTo>
                <a:lnTo>
                  <a:pt x="76356" y="31491"/>
                </a:lnTo>
                <a:cubicBezTo>
                  <a:pt x="77911" y="29936"/>
                  <a:pt x="78792" y="27836"/>
                  <a:pt x="78792" y="25633"/>
                </a:cubicBezTo>
                <a:lnTo>
                  <a:pt x="78792" y="14773"/>
                </a:lnTo>
                <a:cubicBezTo>
                  <a:pt x="78792" y="14462"/>
                  <a:pt x="78766" y="14177"/>
                  <a:pt x="78740" y="13866"/>
                </a:cubicBezTo>
                <a:cubicBezTo>
                  <a:pt x="74749" y="12933"/>
                  <a:pt x="70602" y="12441"/>
                  <a:pt x="66351" y="12441"/>
                </a:cubicBezTo>
                <a:cubicBezTo>
                  <a:pt x="36571" y="12441"/>
                  <a:pt x="12441" y="36571"/>
                  <a:pt x="12441" y="66351"/>
                </a:cubicBezTo>
                <a:cubicBezTo>
                  <a:pt x="12441" y="68891"/>
                  <a:pt x="12622" y="71379"/>
                  <a:pt x="12959" y="73816"/>
                </a:cubicBezTo>
                <a:close/>
                <a:moveTo>
                  <a:pt x="117488" y="83483"/>
                </a:moveTo>
                <a:cubicBezTo>
                  <a:pt x="116659" y="83120"/>
                  <a:pt x="115751" y="82939"/>
                  <a:pt x="114767" y="82939"/>
                </a:cubicBezTo>
                <a:lnTo>
                  <a:pt x="111967" y="82939"/>
                </a:lnTo>
                <a:cubicBezTo>
                  <a:pt x="109687" y="82939"/>
                  <a:pt x="107820" y="81073"/>
                  <a:pt x="107820" y="78792"/>
                </a:cubicBezTo>
                <a:cubicBezTo>
                  <a:pt x="107820" y="76511"/>
                  <a:pt x="105954" y="74645"/>
                  <a:pt x="103673" y="74645"/>
                </a:cubicBezTo>
                <a:lnTo>
                  <a:pt x="94680" y="74645"/>
                </a:lnTo>
                <a:cubicBezTo>
                  <a:pt x="92477" y="74645"/>
                  <a:pt x="90377" y="75526"/>
                  <a:pt x="88822" y="77081"/>
                </a:cubicBezTo>
                <a:lnTo>
                  <a:pt x="77081" y="88822"/>
                </a:lnTo>
                <a:cubicBezTo>
                  <a:pt x="75526" y="90377"/>
                  <a:pt x="74645" y="92477"/>
                  <a:pt x="74645" y="94680"/>
                </a:cubicBezTo>
                <a:lnTo>
                  <a:pt x="74645" y="99527"/>
                </a:lnTo>
                <a:cubicBezTo>
                  <a:pt x="74645" y="104114"/>
                  <a:pt x="78351" y="107820"/>
                  <a:pt x="82939" y="107820"/>
                </a:cubicBezTo>
                <a:lnTo>
                  <a:pt x="87786" y="107820"/>
                </a:lnTo>
                <a:cubicBezTo>
                  <a:pt x="89989" y="107820"/>
                  <a:pt x="92088" y="108702"/>
                  <a:pt x="93643" y="110257"/>
                </a:cubicBezTo>
                <a:cubicBezTo>
                  <a:pt x="94213" y="110827"/>
                  <a:pt x="94861" y="111319"/>
                  <a:pt x="95535" y="111682"/>
                </a:cubicBezTo>
                <a:cubicBezTo>
                  <a:pt x="105721" y="105099"/>
                  <a:pt x="113548" y="95198"/>
                  <a:pt x="117462" y="83483"/>
                </a:cubicBezTo>
                <a:close/>
                <a:moveTo>
                  <a:pt x="0" y="66351"/>
                </a:moveTo>
                <a:cubicBezTo>
                  <a:pt x="0" y="29731"/>
                  <a:pt x="29731" y="0"/>
                  <a:pt x="66351" y="0"/>
                </a:cubicBezTo>
                <a:cubicBezTo>
                  <a:pt x="102971" y="0"/>
                  <a:pt x="132702" y="29731"/>
                  <a:pt x="132702" y="66351"/>
                </a:cubicBezTo>
                <a:cubicBezTo>
                  <a:pt x="132702" y="102971"/>
                  <a:pt x="102971" y="132702"/>
                  <a:pt x="66351" y="132702"/>
                </a:cubicBezTo>
                <a:cubicBezTo>
                  <a:pt x="29731" y="132702"/>
                  <a:pt x="0" y="102971"/>
                  <a:pt x="0" y="66351"/>
                </a:cubicBezTo>
                <a:close/>
                <a:moveTo>
                  <a:pt x="33176" y="95380"/>
                </a:moveTo>
                <a:cubicBezTo>
                  <a:pt x="33176" y="97660"/>
                  <a:pt x="35042" y="99527"/>
                  <a:pt x="37322" y="99527"/>
                </a:cubicBezTo>
                <a:lnTo>
                  <a:pt x="45616" y="99527"/>
                </a:lnTo>
                <a:cubicBezTo>
                  <a:pt x="47897" y="99527"/>
                  <a:pt x="49763" y="97660"/>
                  <a:pt x="49763" y="95380"/>
                </a:cubicBezTo>
                <a:cubicBezTo>
                  <a:pt x="49763" y="93099"/>
                  <a:pt x="47897" y="91233"/>
                  <a:pt x="45616" y="91233"/>
                </a:cubicBezTo>
                <a:lnTo>
                  <a:pt x="37322" y="91233"/>
                </a:lnTo>
                <a:cubicBezTo>
                  <a:pt x="35042" y="91233"/>
                  <a:pt x="33176" y="93099"/>
                  <a:pt x="33176" y="95380"/>
                </a:cubicBezTo>
                <a:close/>
                <a:moveTo>
                  <a:pt x="70498" y="66351"/>
                </a:moveTo>
                <a:cubicBezTo>
                  <a:pt x="68217" y="66351"/>
                  <a:pt x="66351" y="68217"/>
                  <a:pt x="66351" y="70498"/>
                </a:cubicBezTo>
                <a:lnTo>
                  <a:pt x="66351" y="78792"/>
                </a:lnTo>
                <a:cubicBezTo>
                  <a:pt x="66351" y="81073"/>
                  <a:pt x="68217" y="82939"/>
                  <a:pt x="70498" y="82939"/>
                </a:cubicBezTo>
                <a:cubicBezTo>
                  <a:pt x="72779" y="82939"/>
                  <a:pt x="74645" y="81073"/>
                  <a:pt x="74645" y="78792"/>
                </a:cubicBezTo>
                <a:lnTo>
                  <a:pt x="74645" y="70498"/>
                </a:lnTo>
                <a:cubicBezTo>
                  <a:pt x="74645" y="68217"/>
                  <a:pt x="72779" y="66351"/>
                  <a:pt x="70498" y="66351"/>
                </a:cubicBezTo>
                <a:close/>
                <a:moveTo>
                  <a:pt x="82939" y="37322"/>
                </a:moveTo>
                <a:lnTo>
                  <a:pt x="82939" y="45616"/>
                </a:lnTo>
                <a:cubicBezTo>
                  <a:pt x="82939" y="47897"/>
                  <a:pt x="84805" y="49763"/>
                  <a:pt x="87086" y="49763"/>
                </a:cubicBezTo>
                <a:cubicBezTo>
                  <a:pt x="89367" y="49763"/>
                  <a:pt x="91233" y="47897"/>
                  <a:pt x="91233" y="45616"/>
                </a:cubicBezTo>
                <a:lnTo>
                  <a:pt x="91233" y="37322"/>
                </a:lnTo>
                <a:cubicBezTo>
                  <a:pt x="91233" y="35042"/>
                  <a:pt x="89367" y="33176"/>
                  <a:pt x="87086" y="33176"/>
                </a:cubicBezTo>
                <a:cubicBezTo>
                  <a:pt x="84805" y="33176"/>
                  <a:pt x="82939" y="35042"/>
                  <a:pt x="82939" y="37322"/>
                </a:cubicBezTo>
                <a:close/>
              </a:path>
            </a:pathLst>
          </a:custGeom>
          <a:solidFill>
            <a:srgbClr val="FFFFFF"/>
          </a:solidFill>
          <a:ln/>
        </p:spPr>
      </p:sp>
      <p:sp>
        <p:nvSpPr>
          <p:cNvPr id="67" name="Text 65"/>
          <p:cNvSpPr/>
          <p:nvPr/>
        </p:nvSpPr>
        <p:spPr>
          <a:xfrm>
            <a:off x="6521679" y="5142204"/>
            <a:ext cx="5239869" cy="199053"/>
          </a:xfrm>
          <a:prstGeom prst="rect">
            <a:avLst/>
          </a:prstGeom>
          <a:noFill/>
          <a:ln/>
        </p:spPr>
        <p:txBody>
          <a:bodyPr wrap="square" lIns="0" tIns="0" rIns="0" bIns="0" rtlCol="0" anchor="ctr"/>
          <a:lstStyle/>
          <a:p>
            <a:pPr>
              <a:lnSpc>
                <a:spcPct val="130000"/>
              </a:lnSpc>
            </a:pPr>
            <a:r>
              <a:rPr lang="en-US" sz="1045" b="1" dirty="0">
                <a:solidFill>
                  <a:srgbClr val="FFFFFF"/>
                </a:solidFill>
                <a:latin typeface="Quattrocento Sans" pitchFamily="34" charset="0"/>
                <a:ea typeface="Quattrocento Sans" pitchFamily="34" charset="-122"/>
                <a:cs typeface="Quattrocento Sans" pitchFamily="34" charset="-120"/>
              </a:rPr>
              <a:t>For Society</a:t>
            </a:r>
            <a:endParaRPr lang="en-US" sz="1600" dirty="0"/>
          </a:p>
        </p:txBody>
      </p:sp>
      <p:sp>
        <p:nvSpPr>
          <p:cNvPr id="68" name="Text 66"/>
          <p:cNvSpPr/>
          <p:nvPr/>
        </p:nvSpPr>
        <p:spPr>
          <a:xfrm>
            <a:off x="6312471" y="5374433"/>
            <a:ext cx="5449078" cy="182465"/>
          </a:xfrm>
          <a:prstGeom prst="rect">
            <a:avLst/>
          </a:prstGeom>
          <a:noFill/>
          <a:ln/>
        </p:spPr>
        <p:txBody>
          <a:bodyPr wrap="square" lIns="0" tIns="0" rIns="0" bIns="0" rtlCol="0" anchor="ctr"/>
          <a:lstStyle/>
          <a:p>
            <a:pPr>
              <a:lnSpc>
                <a:spcPct val="110000"/>
              </a:lnSpc>
            </a:pPr>
            <a:r>
              <a:rPr lang="en-US" sz="1045" dirty="0">
                <a:solidFill>
                  <a:srgbClr val="FFFFFF">
                    <a:alpha val="90000"/>
                  </a:srgbClr>
                </a:solidFill>
                <a:latin typeface="Quattrocento Sans" pitchFamily="34" charset="0"/>
                <a:ea typeface="Quattrocento Sans" pitchFamily="34" charset="-122"/>
                <a:cs typeface="Quattrocento Sans" pitchFamily="34" charset="-120"/>
              </a:rPr>
              <a:t>• Preserved decades of pedagogical knowledge</a:t>
            </a:r>
            <a:endParaRPr lang="en-US" sz="1600" dirty="0"/>
          </a:p>
        </p:txBody>
      </p:sp>
      <p:sp>
        <p:nvSpPr>
          <p:cNvPr id="69" name="Text 67"/>
          <p:cNvSpPr/>
          <p:nvPr/>
        </p:nvSpPr>
        <p:spPr>
          <a:xfrm>
            <a:off x="6312471" y="5590073"/>
            <a:ext cx="5449078" cy="182465"/>
          </a:xfrm>
          <a:prstGeom prst="rect">
            <a:avLst/>
          </a:prstGeom>
          <a:noFill/>
          <a:ln/>
        </p:spPr>
        <p:txBody>
          <a:bodyPr wrap="square" lIns="0" tIns="0" rIns="0" bIns="0" rtlCol="0" anchor="ctr"/>
          <a:lstStyle/>
          <a:p>
            <a:pPr>
              <a:lnSpc>
                <a:spcPct val="110000"/>
              </a:lnSpc>
            </a:pPr>
            <a:r>
              <a:rPr lang="en-US" sz="1045" dirty="0">
                <a:solidFill>
                  <a:srgbClr val="FFFFFF">
                    <a:alpha val="90000"/>
                  </a:srgbClr>
                </a:solidFill>
                <a:latin typeface="Quattrocento Sans" pitchFamily="34" charset="0"/>
                <a:ea typeface="Quattrocento Sans" pitchFamily="34" charset="-122"/>
                <a:cs typeface="Quattrocento Sans" pitchFamily="34" charset="-120"/>
              </a:rPr>
              <a:t>• Addresses teacher shortage in rural areas</a:t>
            </a:r>
            <a:endParaRPr lang="en-US" sz="1600" dirty="0"/>
          </a:p>
        </p:txBody>
      </p:sp>
      <p:sp>
        <p:nvSpPr>
          <p:cNvPr id="70" name="Text 68"/>
          <p:cNvSpPr/>
          <p:nvPr/>
        </p:nvSpPr>
        <p:spPr>
          <a:xfrm>
            <a:off x="6312471" y="5805714"/>
            <a:ext cx="5449078" cy="182465"/>
          </a:xfrm>
          <a:prstGeom prst="rect">
            <a:avLst/>
          </a:prstGeom>
          <a:noFill/>
          <a:ln/>
        </p:spPr>
        <p:txBody>
          <a:bodyPr wrap="square" lIns="0" tIns="0" rIns="0" bIns="0" rtlCol="0" anchor="ctr"/>
          <a:lstStyle/>
          <a:p>
            <a:pPr>
              <a:lnSpc>
                <a:spcPct val="110000"/>
              </a:lnSpc>
            </a:pPr>
            <a:r>
              <a:rPr lang="en-US" sz="1045" dirty="0">
                <a:solidFill>
                  <a:srgbClr val="FFFFFF">
                    <a:alpha val="90000"/>
                  </a:srgbClr>
                </a:solidFill>
                <a:latin typeface="Quattrocento Sans" pitchFamily="34" charset="0"/>
                <a:ea typeface="Quattrocento Sans" pitchFamily="34" charset="-122"/>
                <a:cs typeface="Quattrocento Sans" pitchFamily="34" charset="-120"/>
              </a:rPr>
              <a:t>• Genuine intergenerational bonds</a:t>
            </a:r>
            <a:endParaRPr lang="en-US" sz="1600" dirty="0"/>
          </a:p>
        </p:txBody>
      </p:sp>
      <p:sp>
        <p:nvSpPr>
          <p:cNvPr id="71" name="Text 69"/>
          <p:cNvSpPr/>
          <p:nvPr/>
        </p:nvSpPr>
        <p:spPr>
          <a:xfrm>
            <a:off x="6312471" y="6021355"/>
            <a:ext cx="5449078" cy="182465"/>
          </a:xfrm>
          <a:prstGeom prst="rect">
            <a:avLst/>
          </a:prstGeom>
          <a:noFill/>
          <a:ln/>
        </p:spPr>
        <p:txBody>
          <a:bodyPr wrap="square" lIns="0" tIns="0" rIns="0" bIns="0" rtlCol="0" anchor="ctr"/>
          <a:lstStyle/>
          <a:p>
            <a:pPr>
              <a:lnSpc>
                <a:spcPct val="110000"/>
              </a:lnSpc>
            </a:pPr>
            <a:r>
              <a:rPr lang="en-US" sz="1045" dirty="0">
                <a:solidFill>
                  <a:srgbClr val="FFFFFF">
                    <a:alpha val="90000"/>
                  </a:srgbClr>
                </a:solidFill>
                <a:latin typeface="Quattrocento Sans" pitchFamily="34" charset="0"/>
                <a:ea typeface="Quattrocento Sans" pitchFamily="34" charset="-122"/>
                <a:cs typeface="Quattrocento Sans" pitchFamily="34" charset="-120"/>
              </a:rPr>
              <a:t>• Reduced educational inequality at scale</a:t>
            </a:r>
            <a:endParaRPr lang="en-US" sz="1600" dirty="0"/>
          </a:p>
        </p:txBody>
      </p:sp>
      <p:sp>
        <p:nvSpPr>
          <p:cNvPr id="72" name="Shape 70"/>
          <p:cNvSpPr/>
          <p:nvPr/>
        </p:nvSpPr>
        <p:spPr>
          <a:xfrm>
            <a:off x="6146593" y="6528942"/>
            <a:ext cx="5714482" cy="331755"/>
          </a:xfrm>
          <a:custGeom>
            <a:avLst/>
            <a:gdLst/>
            <a:ahLst/>
            <a:cxnLst/>
            <a:rect l="l" t="t" r="r" b="b"/>
            <a:pathLst>
              <a:path w="5714482" h="331755">
                <a:moveTo>
                  <a:pt x="66351" y="0"/>
                </a:moveTo>
                <a:lnTo>
                  <a:pt x="5648131" y="0"/>
                </a:lnTo>
                <a:cubicBezTo>
                  <a:pt x="5684775" y="0"/>
                  <a:pt x="5714482" y="29706"/>
                  <a:pt x="5714482" y="66351"/>
                </a:cubicBezTo>
                <a:lnTo>
                  <a:pt x="5714482" y="265404"/>
                </a:lnTo>
                <a:cubicBezTo>
                  <a:pt x="5714482" y="302049"/>
                  <a:pt x="5684775" y="331755"/>
                  <a:pt x="5648131" y="331755"/>
                </a:cubicBezTo>
                <a:lnTo>
                  <a:pt x="66351" y="331755"/>
                </a:lnTo>
                <a:cubicBezTo>
                  <a:pt x="29731" y="331755"/>
                  <a:pt x="0" y="302024"/>
                  <a:pt x="0" y="265404"/>
                </a:cubicBezTo>
                <a:lnTo>
                  <a:pt x="0" y="66351"/>
                </a:lnTo>
                <a:cubicBezTo>
                  <a:pt x="0" y="29731"/>
                  <a:pt x="29731" y="0"/>
                  <a:pt x="66351" y="0"/>
                </a:cubicBezTo>
                <a:close/>
              </a:path>
            </a:pathLst>
          </a:custGeom>
          <a:solidFill>
            <a:srgbClr val="F7B538"/>
          </a:solidFill>
          <a:ln/>
          <a:effectLst>
            <a:outerShdw sx="100000" sy="100000" kx="0" ky="0" algn="bl" rotWithShape="0" blurRad="49763" dist="33176" dir="5400000">
              <a:srgbClr val="000000">
                <a:alpha val="10196"/>
              </a:srgbClr>
            </a:outerShdw>
          </a:effectLst>
        </p:spPr>
      </p:sp>
      <p:sp>
        <p:nvSpPr>
          <p:cNvPr id="73" name="Shape 71"/>
          <p:cNvSpPr/>
          <p:nvPr/>
        </p:nvSpPr>
        <p:spPr>
          <a:xfrm>
            <a:off x="7243458" y="6621835"/>
            <a:ext cx="149290" cy="132702"/>
          </a:xfrm>
          <a:custGeom>
            <a:avLst/>
            <a:gdLst/>
            <a:ahLst/>
            <a:cxnLst/>
            <a:rect l="l" t="t" r="r" b="b"/>
            <a:pathLst>
              <a:path w="149290" h="132702">
                <a:moveTo>
                  <a:pt x="80217" y="-4899"/>
                </a:moveTo>
                <a:cubicBezTo>
                  <a:pt x="79155" y="-6972"/>
                  <a:pt x="77003" y="-8294"/>
                  <a:pt x="74671" y="-8294"/>
                </a:cubicBezTo>
                <a:cubicBezTo>
                  <a:pt x="72338" y="-8294"/>
                  <a:pt x="70187" y="-6972"/>
                  <a:pt x="69124" y="-4899"/>
                </a:cubicBezTo>
                <a:lnTo>
                  <a:pt x="50048" y="32476"/>
                </a:lnTo>
                <a:lnTo>
                  <a:pt x="8605" y="39059"/>
                </a:lnTo>
                <a:cubicBezTo>
                  <a:pt x="6298" y="39422"/>
                  <a:pt x="4380" y="41055"/>
                  <a:pt x="3654" y="43284"/>
                </a:cubicBezTo>
                <a:cubicBezTo>
                  <a:pt x="2929" y="45513"/>
                  <a:pt x="3525" y="47949"/>
                  <a:pt x="5158" y="49608"/>
                </a:cubicBezTo>
                <a:lnTo>
                  <a:pt x="34808" y="79284"/>
                </a:lnTo>
                <a:lnTo>
                  <a:pt x="28277" y="120728"/>
                </a:lnTo>
                <a:cubicBezTo>
                  <a:pt x="27914" y="123034"/>
                  <a:pt x="28873" y="125367"/>
                  <a:pt x="30765" y="126741"/>
                </a:cubicBezTo>
                <a:cubicBezTo>
                  <a:pt x="32657" y="128114"/>
                  <a:pt x="35145" y="128322"/>
                  <a:pt x="37245" y="127259"/>
                </a:cubicBezTo>
                <a:lnTo>
                  <a:pt x="74671" y="108235"/>
                </a:lnTo>
                <a:lnTo>
                  <a:pt x="112071" y="127259"/>
                </a:lnTo>
                <a:cubicBezTo>
                  <a:pt x="114144" y="128322"/>
                  <a:pt x="116659" y="128114"/>
                  <a:pt x="118551" y="126741"/>
                </a:cubicBezTo>
                <a:cubicBezTo>
                  <a:pt x="120443" y="125367"/>
                  <a:pt x="121402" y="123060"/>
                  <a:pt x="121039" y="120728"/>
                </a:cubicBezTo>
                <a:lnTo>
                  <a:pt x="114481" y="79284"/>
                </a:lnTo>
                <a:lnTo>
                  <a:pt x="144132" y="49608"/>
                </a:lnTo>
                <a:cubicBezTo>
                  <a:pt x="145791" y="47949"/>
                  <a:pt x="146361" y="45513"/>
                  <a:pt x="145635" y="43284"/>
                </a:cubicBezTo>
                <a:cubicBezTo>
                  <a:pt x="144910" y="41055"/>
                  <a:pt x="143018" y="39422"/>
                  <a:pt x="140685" y="39059"/>
                </a:cubicBezTo>
                <a:lnTo>
                  <a:pt x="99267" y="32476"/>
                </a:lnTo>
                <a:lnTo>
                  <a:pt x="80217" y="-4899"/>
                </a:lnTo>
                <a:close/>
              </a:path>
            </a:pathLst>
          </a:custGeom>
          <a:solidFill>
            <a:srgbClr val="1A535C"/>
          </a:solidFill>
          <a:ln/>
        </p:spPr>
      </p:sp>
      <p:sp>
        <p:nvSpPr>
          <p:cNvPr id="74" name="Text 72"/>
          <p:cNvSpPr/>
          <p:nvPr/>
        </p:nvSpPr>
        <p:spPr>
          <a:xfrm>
            <a:off x="6388977" y="6595293"/>
            <a:ext cx="5438922" cy="199053"/>
          </a:xfrm>
          <a:prstGeom prst="rect">
            <a:avLst/>
          </a:prstGeom>
          <a:noFill/>
          <a:ln/>
        </p:spPr>
        <p:txBody>
          <a:bodyPr wrap="square" lIns="0" tIns="0" rIns="0" bIns="0" rtlCol="0" anchor="ctr"/>
          <a:lstStyle/>
          <a:p>
            <a:pPr algn="ctr">
              <a:lnSpc>
                <a:spcPct val="130000"/>
              </a:lnSpc>
            </a:pPr>
            <a:r>
              <a:rPr lang="en-US" sz="1045" b="1" dirty="0">
                <a:solidFill>
                  <a:srgbClr val="1A535C"/>
                </a:solidFill>
                <a:latin typeface="Quattrocento Sans" pitchFamily="34" charset="0"/>
                <a:ea typeface="Quattrocento Sans" pitchFamily="34" charset="-122"/>
                <a:cs typeface="Quattrocento Sans" pitchFamily="34" charset="-120"/>
              </a:rPr>
              <a:t>Free/Volunteer Tier Always Available — Never Monetized</a:t>
            </a:r>
            <a:endParaRPr lang="en-US" sz="16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535C"/>
        </a:solidFill>
      </p:bgPr>
    </p:bg>
    <p:spTree>
      <p:nvGrpSpPr>
        <p:cNvPr id="1" name=""/>
        <p:cNvGrpSpPr/>
        <p:nvPr/>
      </p:nvGrpSpPr>
      <p:grpSpPr>
        <a:xfrm>
          <a:off x="0" y="0"/>
          <a:ext cx="0" cy="0"/>
          <a:chOff x="0" y="0"/>
          <a:chExt cx="0" cy="0"/>
        </a:xfrm>
      </p:grpSpPr>
      <p:pic>
        <p:nvPicPr>
          <p:cNvPr id="2" name="Image 0" descr="https://kimi-web-img.moonshot.cn/img/educationhq.com/24b29142d181ae391b2bd28d61e984ebaba22448.jpg">    </p:cNvPr>
          <p:cNvPicPr>
            <a:picLocks noChangeAspect="1"/>
          </p:cNvPicPr>
          <p:nvPr/>
        </p:nvPicPr>
        <p:blipFill>
          <a:blip r:embed="rId1">
            <a:alphaModFix amt="25000"/>
          </a:blip>
          <a:srcRect l="0" r="0" t="9459" b="9459"/>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A535C">
                  <a:alpha val="95000"/>
                </a:srgbClr>
              </a:gs>
              <a:gs pos="50000">
                <a:srgbClr val="4A7C59">
                  <a:alpha val="90000"/>
                </a:srgbClr>
              </a:gs>
              <a:gs pos="100000">
                <a:srgbClr val="1A535C">
                  <a:alpha val="95000"/>
                </a:srgbClr>
              </a:gs>
            </a:gsLst>
            <a:lin ang="2700000" scaled="1"/>
          </a:gradFill>
          <a:ln/>
        </p:spPr>
      </p:sp>
      <p:sp>
        <p:nvSpPr>
          <p:cNvPr id="4" name="Shape 1"/>
          <p:cNvSpPr/>
          <p:nvPr/>
        </p:nvSpPr>
        <p:spPr>
          <a:xfrm>
            <a:off x="4842034" y="647821"/>
            <a:ext cx="2505075" cy="381000"/>
          </a:xfrm>
          <a:custGeom>
            <a:avLst/>
            <a:gdLst/>
            <a:ahLst/>
            <a:cxnLst/>
            <a:rect l="l" t="t" r="r" b="b"/>
            <a:pathLst>
              <a:path w="2505075" h="381000">
                <a:moveTo>
                  <a:pt x="190500" y="0"/>
                </a:moveTo>
                <a:lnTo>
                  <a:pt x="2314575" y="0"/>
                </a:lnTo>
                <a:cubicBezTo>
                  <a:pt x="2419715" y="0"/>
                  <a:pt x="2505075" y="85360"/>
                  <a:pt x="2505075" y="190500"/>
                </a:cubicBezTo>
                <a:lnTo>
                  <a:pt x="2505075" y="190500"/>
                </a:lnTo>
                <a:cubicBezTo>
                  <a:pt x="2505075" y="295640"/>
                  <a:pt x="2419715" y="381000"/>
                  <a:pt x="2314575" y="381000"/>
                </a:cubicBezTo>
                <a:lnTo>
                  <a:pt x="190500" y="381000"/>
                </a:lnTo>
                <a:cubicBezTo>
                  <a:pt x="85360" y="381000"/>
                  <a:pt x="0" y="295640"/>
                  <a:pt x="0" y="190500"/>
                </a:cubicBezTo>
                <a:lnTo>
                  <a:pt x="0" y="190500"/>
                </a:lnTo>
                <a:cubicBezTo>
                  <a:pt x="0" y="85360"/>
                  <a:pt x="85360" y="0"/>
                  <a:pt x="190500" y="0"/>
                </a:cubicBezTo>
                <a:close/>
              </a:path>
            </a:pathLst>
          </a:custGeom>
          <a:solidFill>
            <a:srgbClr val="F7B538"/>
          </a:solidFill>
          <a:ln/>
        </p:spPr>
      </p:sp>
      <p:sp>
        <p:nvSpPr>
          <p:cNvPr id="5" name="Text 2"/>
          <p:cNvSpPr/>
          <p:nvPr/>
        </p:nvSpPr>
        <p:spPr>
          <a:xfrm>
            <a:off x="5032534" y="754503"/>
            <a:ext cx="2126813" cy="167640"/>
          </a:xfrm>
          <a:prstGeom prst="rect">
            <a:avLst/>
          </a:prstGeom>
          <a:noFill/>
          <a:ln/>
        </p:spPr>
        <p:txBody>
          <a:bodyPr wrap="square" lIns="0" tIns="0" rIns="0" bIns="0" rtlCol="0" anchor="ctr"/>
          <a:lstStyle/>
          <a:p>
            <a:pPr algn="ctr">
              <a:lnSpc>
                <a:spcPct val="130000"/>
              </a:lnSpc>
            </a:pPr>
            <a:r>
              <a:rPr lang="en-US" sz="1200" b="1" spc="60" kern="0" dirty="0">
                <a:solidFill>
                  <a:srgbClr val="1A535C"/>
                </a:solidFill>
                <a:latin typeface="Quattrocento Sans" pitchFamily="34" charset="0"/>
                <a:ea typeface="Quattrocento Sans" pitchFamily="34" charset="-122"/>
                <a:cs typeface="Quattrocento Sans" pitchFamily="34" charset="-120"/>
              </a:rPr>
              <a:t>PHP COURSE PROJECT 2025</a:t>
            </a:r>
            <a:endParaRPr lang="en-US" sz="1600" dirty="0"/>
          </a:p>
        </p:txBody>
      </p:sp>
      <p:sp>
        <p:nvSpPr>
          <p:cNvPr id="6" name="Text 3"/>
          <p:cNvSpPr/>
          <p:nvPr/>
        </p:nvSpPr>
        <p:spPr>
          <a:xfrm>
            <a:off x="2216348" y="1333621"/>
            <a:ext cx="7762875" cy="571500"/>
          </a:xfrm>
          <a:prstGeom prst="rect">
            <a:avLst/>
          </a:prstGeom>
          <a:noFill/>
          <a:ln/>
        </p:spPr>
        <p:txBody>
          <a:bodyPr wrap="square" lIns="0" tIns="0" rIns="0" bIns="0" rtlCol="0" anchor="ctr"/>
          <a:lstStyle/>
          <a:p>
            <a:pPr algn="ctr">
              <a:lnSpc>
                <a:spcPct val="100000"/>
              </a:lnSpc>
            </a:pPr>
            <a:r>
              <a:rPr lang="en-US" sz="3600" b="1" dirty="0">
                <a:solidFill>
                  <a:srgbClr val="F8F9FA"/>
                </a:solidFill>
                <a:latin typeface="Liter" pitchFamily="34" charset="0"/>
                <a:ea typeface="Liter" pitchFamily="34" charset="-122"/>
                <a:cs typeface="Liter" pitchFamily="34" charset="-120"/>
              </a:rPr>
              <a:t>EduBridge: Engineering Social Impact</a:t>
            </a:r>
            <a:endParaRPr lang="en-US" sz="1600" dirty="0"/>
          </a:p>
        </p:txBody>
      </p:sp>
      <p:sp>
        <p:nvSpPr>
          <p:cNvPr id="7" name="Shape 4"/>
          <p:cNvSpPr/>
          <p:nvPr/>
        </p:nvSpPr>
        <p:spPr>
          <a:xfrm>
            <a:off x="5486400" y="2057521"/>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F7B538"/>
          </a:solidFill>
          <a:ln/>
        </p:spPr>
      </p:sp>
      <p:sp>
        <p:nvSpPr>
          <p:cNvPr id="8" name="Text 5"/>
          <p:cNvSpPr/>
          <p:nvPr/>
        </p:nvSpPr>
        <p:spPr>
          <a:xfrm>
            <a:off x="1790700" y="2248021"/>
            <a:ext cx="8610600" cy="742950"/>
          </a:xfrm>
          <a:prstGeom prst="rect">
            <a:avLst/>
          </a:prstGeom>
          <a:noFill/>
          <a:ln/>
        </p:spPr>
        <p:txBody>
          <a:bodyPr wrap="square" lIns="0" tIns="0" rIns="0" bIns="0" rtlCol="0" anchor="ctr"/>
          <a:lstStyle/>
          <a:p>
            <a:pPr algn="ctr">
              <a:lnSpc>
                <a:spcPct val="140000"/>
              </a:lnSpc>
            </a:pPr>
            <a:r>
              <a:rPr lang="en-US" sz="1200" b="1" dirty="0">
                <a:solidFill>
                  <a:srgbClr val="F8F9FA"/>
                </a:solidFill>
                <a:latin typeface="Quattrocento Sans" pitchFamily="34" charset="0"/>
                <a:ea typeface="Quattrocento Sans" pitchFamily="34" charset="-122"/>
                <a:cs typeface="Quattrocento Sans" pitchFamily="34" charset="-120"/>
              </a:rPr>
              <a:t>EduBridge is built on PHP (Laravel) as its mandatory technical core</a:t>
            </a:r>
            <a:pPr algn="ctr">
              <a:lnSpc>
                <a:spcPct val="140000"/>
              </a:lnSpc>
            </a:pPr>
            <a:r>
              <a:rPr lang="en-US" sz="1200" dirty="0">
                <a:solidFill>
                  <a:srgbClr val="F8F9FA"/>
                </a:solidFill>
                <a:latin typeface="Quattrocento Sans" pitchFamily="34" charset="0"/>
                <a:ea typeface="Quattrocento Sans" pitchFamily="34" charset="-122"/>
                <a:cs typeface="Quattrocento Sans" pitchFamily="34" charset="-120"/>
              </a:rPr>
              <a:t> and goes far beyond a standard tutoring marketplace. With </a:t>
            </a:r>
            <a:pPr algn="ctr">
              <a:lnSpc>
                <a:spcPct val="140000"/>
              </a:lnSpc>
            </a:pPr>
            <a:r>
              <a:rPr lang="en-US" sz="1200" b="1" dirty="0">
                <a:solidFill>
                  <a:srgbClr val="F7B538"/>
                </a:solidFill>
                <a:latin typeface="Quattrocento Sans" pitchFamily="34" charset="0"/>
                <a:ea typeface="Quattrocento Sans" pitchFamily="34" charset="-122"/>
                <a:cs typeface="Quattrocento Sans" pitchFamily="34" charset="-120"/>
              </a:rPr>
              <a:t>18 unique, genuinely differentiated features</a:t>
            </a:r>
            <a:pPr algn="ctr">
              <a:lnSpc>
                <a:spcPct val="140000"/>
              </a:lnSpc>
            </a:pPr>
            <a:r>
              <a:rPr lang="en-US" sz="1200" dirty="0">
                <a:solidFill>
                  <a:srgbClr val="F8F9FA"/>
                </a:solidFill>
                <a:latin typeface="Quattrocento Sans" pitchFamily="34" charset="0"/>
                <a:ea typeface="Quattrocento Sans" pitchFamily="34" charset="-122"/>
                <a:cs typeface="Quattrocento Sans" pitchFamily="34" charset="-120"/>
              </a:rPr>
              <a:t> — 8 from core competitive research and 10 additional features proposed by the team — EduBridge addresses real problems that no existing platform has solved.</a:t>
            </a:r>
            <a:endParaRPr lang="en-US" sz="1600" dirty="0"/>
          </a:p>
        </p:txBody>
      </p:sp>
      <p:sp>
        <p:nvSpPr>
          <p:cNvPr id="9" name="Text 6"/>
          <p:cNvSpPr/>
          <p:nvPr/>
        </p:nvSpPr>
        <p:spPr>
          <a:xfrm>
            <a:off x="1790700" y="3105271"/>
            <a:ext cx="8610600" cy="742950"/>
          </a:xfrm>
          <a:prstGeom prst="rect">
            <a:avLst/>
          </a:prstGeom>
          <a:noFill/>
          <a:ln/>
        </p:spPr>
        <p:txBody>
          <a:bodyPr wrap="square" lIns="0" tIns="0" rIns="0" bIns="0" rtlCol="0" anchor="ctr"/>
          <a:lstStyle/>
          <a:p>
            <a:pPr algn="ctr">
              <a:lnSpc>
                <a:spcPct val="140000"/>
              </a:lnSpc>
            </a:pPr>
            <a:r>
              <a:rPr lang="en-US" sz="1200" dirty="0">
                <a:solidFill>
                  <a:srgbClr val="F8F9FA"/>
                </a:solidFill>
                <a:latin typeface="Quattrocento Sans" pitchFamily="34" charset="0"/>
                <a:ea typeface="Quattrocento Sans" pitchFamily="34" charset="-122"/>
                <a:cs typeface="Quattrocento Sans" pitchFamily="34" charset="-120"/>
              </a:rPr>
              <a:t>Each feature is a </a:t>
            </a:r>
            <a:pPr algn="ctr">
              <a:lnSpc>
                <a:spcPct val="140000"/>
              </a:lnSpc>
            </a:pPr>
            <a:r>
              <a:rPr lang="en-US" sz="1200" b="1" dirty="0">
                <a:solidFill>
                  <a:srgbClr val="F8F9FA"/>
                </a:solidFill>
                <a:latin typeface="Quattrocento Sans" pitchFamily="34" charset="0"/>
                <a:ea typeface="Quattrocento Sans" pitchFamily="34" charset="-122"/>
                <a:cs typeface="Quattrocento Sans" pitchFamily="34" charset="-120"/>
              </a:rPr>
              <a:t>concrete, implementable PHP/Laravel engineering task</a:t>
            </a:r>
            <a:pPr algn="ctr">
              <a:lnSpc>
                <a:spcPct val="140000"/>
              </a:lnSpc>
            </a:pPr>
            <a:r>
              <a:rPr lang="en-US" sz="1200" dirty="0">
                <a:solidFill>
                  <a:srgbClr val="F8F9FA"/>
                </a:solidFill>
                <a:latin typeface="Quattrocento Sans" pitchFamily="34" charset="0"/>
                <a:ea typeface="Quattrocento Sans" pitchFamily="34" charset="-122"/>
                <a:cs typeface="Quattrocento Sans" pitchFamily="34" charset="-120"/>
              </a:rPr>
              <a:t> backed by clear database design, dedicated PHP service class, and specific API integration. The platform balances commercial viability with a deep social mission — the free volunteer tier is never compromised.</a:t>
            </a:r>
            <a:endParaRPr lang="en-US" sz="1600" dirty="0"/>
          </a:p>
        </p:txBody>
      </p:sp>
      <p:sp>
        <p:nvSpPr>
          <p:cNvPr id="10" name="Text 7"/>
          <p:cNvSpPr/>
          <p:nvPr/>
        </p:nvSpPr>
        <p:spPr>
          <a:xfrm>
            <a:off x="1790700" y="3962521"/>
            <a:ext cx="8610600" cy="495300"/>
          </a:xfrm>
          <a:prstGeom prst="rect">
            <a:avLst/>
          </a:prstGeom>
          <a:noFill/>
          <a:ln/>
        </p:spPr>
        <p:txBody>
          <a:bodyPr wrap="square" lIns="0" tIns="0" rIns="0" bIns="0" rtlCol="0" anchor="ctr"/>
          <a:lstStyle/>
          <a:p>
            <a:pPr algn="ctr">
              <a:lnSpc>
                <a:spcPct val="140000"/>
              </a:lnSpc>
            </a:pPr>
            <a:r>
              <a:rPr lang="en-US" sz="1200" dirty="0">
                <a:solidFill>
                  <a:srgbClr val="F8F9FA"/>
                </a:solidFill>
                <a:latin typeface="Quattrocento Sans" pitchFamily="34" charset="0"/>
                <a:ea typeface="Quattrocento Sans" pitchFamily="34" charset="-122"/>
                <a:cs typeface="Quattrocento Sans" pitchFamily="34" charset="-120"/>
              </a:rPr>
              <a:t>EduBridge is designed to start as a PHP course project and grow into a production-grade system serving lakhs of students and retired teachers across India.</a:t>
            </a:r>
            <a:endParaRPr lang="en-US" sz="1600" dirty="0"/>
          </a:p>
        </p:txBody>
      </p:sp>
      <p:sp>
        <p:nvSpPr>
          <p:cNvPr id="11" name="Shape 8"/>
          <p:cNvSpPr/>
          <p:nvPr/>
        </p:nvSpPr>
        <p:spPr>
          <a:xfrm>
            <a:off x="3156704" y="4686421"/>
            <a:ext cx="5876925" cy="1066800"/>
          </a:xfrm>
          <a:custGeom>
            <a:avLst/>
            <a:gdLst/>
            <a:ahLst/>
            <a:cxnLst/>
            <a:rect l="l" t="t" r="r" b="b"/>
            <a:pathLst>
              <a:path w="5876925" h="1066800">
                <a:moveTo>
                  <a:pt x="152403" y="0"/>
                </a:moveTo>
                <a:lnTo>
                  <a:pt x="5724522" y="0"/>
                </a:lnTo>
                <a:cubicBezTo>
                  <a:pt x="5808692" y="0"/>
                  <a:pt x="5876925" y="68233"/>
                  <a:pt x="5876925" y="152403"/>
                </a:cubicBezTo>
                <a:lnTo>
                  <a:pt x="5876925" y="914397"/>
                </a:lnTo>
                <a:cubicBezTo>
                  <a:pt x="5876925" y="998567"/>
                  <a:pt x="5808692" y="1066800"/>
                  <a:pt x="5724522" y="1066800"/>
                </a:cubicBezTo>
                <a:lnTo>
                  <a:pt x="152403" y="1066800"/>
                </a:lnTo>
                <a:cubicBezTo>
                  <a:pt x="68233" y="1066800"/>
                  <a:pt x="0" y="998567"/>
                  <a:pt x="0" y="914397"/>
                </a:cubicBezTo>
                <a:lnTo>
                  <a:pt x="0" y="152403"/>
                </a:lnTo>
                <a:cubicBezTo>
                  <a:pt x="0" y="68290"/>
                  <a:pt x="68290" y="0"/>
                  <a:pt x="152403" y="0"/>
                </a:cubicBezTo>
                <a:close/>
              </a:path>
            </a:pathLst>
          </a:custGeom>
          <a:solidFill>
            <a:srgbClr val="FFFFFF">
              <a:alpha val="10196"/>
            </a:srgbClr>
          </a:solidFill>
          <a:ln/>
        </p:spPr>
      </p:sp>
      <p:sp>
        <p:nvSpPr>
          <p:cNvPr id="12" name="Text 9"/>
          <p:cNvSpPr/>
          <p:nvPr/>
        </p:nvSpPr>
        <p:spPr>
          <a:xfrm>
            <a:off x="3328154" y="4915021"/>
            <a:ext cx="5534025" cy="609600"/>
          </a:xfrm>
          <a:prstGeom prst="rect">
            <a:avLst/>
          </a:prstGeom>
          <a:noFill/>
          <a:ln/>
        </p:spPr>
        <p:txBody>
          <a:bodyPr wrap="square" lIns="0" tIns="0" rIns="0" bIns="0" rtlCol="0" anchor="ctr"/>
          <a:lstStyle/>
          <a:p>
            <a:pPr algn="ctr">
              <a:lnSpc>
                <a:spcPct val="110000"/>
              </a:lnSpc>
            </a:pPr>
            <a:r>
              <a:rPr lang="en-US" sz="1800" b="1" dirty="0">
                <a:solidFill>
                  <a:srgbClr val="F7B538"/>
                </a:solidFill>
                <a:latin typeface="Oranienbaum" pitchFamily="34" charset="0"/>
                <a:ea typeface="Oranienbaum" pitchFamily="34" charset="-122"/>
                <a:cs typeface="Oranienbaum" pitchFamily="34" charset="-120"/>
              </a:rPr>
              <a:t>"Retired teachers have taught for decades.</a:t>
            </a:r>
            <a:endParaRPr lang="en-US" sz="1600" dirty="0"/>
          </a:p>
          <a:p>
            <a:pPr algn="ctr">
              <a:lnSpc>
                <a:spcPct val="110000"/>
              </a:lnSpc>
            </a:pPr>
            <a:r>
              <a:rPr lang="en-US" sz="1800" b="1" dirty="0">
                <a:solidFill>
                  <a:srgbClr val="F7B538"/>
                </a:solidFill>
                <a:latin typeface="Oranienbaum" pitchFamily="34" charset="0"/>
                <a:ea typeface="Oranienbaum" pitchFamily="34" charset="-122"/>
                <a:cs typeface="Oranienbaum" pitchFamily="34" charset="-120"/>
              </a:rPr>
              <a:t>EduBridge gives them the stage to teach for decades more."</a:t>
            </a:r>
            <a:endParaRPr lang="en-US" sz="1600" dirty="0"/>
          </a:p>
        </p:txBody>
      </p:sp>
      <p:sp>
        <p:nvSpPr>
          <p:cNvPr id="13" name="Shape 10"/>
          <p:cNvSpPr/>
          <p:nvPr/>
        </p:nvSpPr>
        <p:spPr>
          <a:xfrm>
            <a:off x="3468886" y="6019679"/>
            <a:ext cx="171450" cy="152400"/>
          </a:xfrm>
          <a:custGeom>
            <a:avLst/>
            <a:gdLst/>
            <a:ahLst/>
            <a:cxnLst/>
            <a:rect l="l" t="t" r="r" b="b"/>
            <a:pathLst>
              <a:path w="171450" h="152400">
                <a:moveTo>
                  <a:pt x="107394" y="357"/>
                </a:moveTo>
                <a:cubicBezTo>
                  <a:pt x="102334" y="-1101"/>
                  <a:pt x="97066" y="1845"/>
                  <a:pt x="95607" y="6906"/>
                </a:cubicBezTo>
                <a:lnTo>
                  <a:pt x="57507" y="140256"/>
                </a:lnTo>
                <a:cubicBezTo>
                  <a:pt x="56049" y="145316"/>
                  <a:pt x="58995" y="150584"/>
                  <a:pt x="64056" y="152043"/>
                </a:cubicBezTo>
                <a:cubicBezTo>
                  <a:pt x="69116" y="153501"/>
                  <a:pt x="74384" y="150555"/>
                  <a:pt x="75843" y="145494"/>
                </a:cubicBezTo>
                <a:lnTo>
                  <a:pt x="113943" y="12144"/>
                </a:lnTo>
                <a:cubicBezTo>
                  <a:pt x="115401" y="7084"/>
                  <a:pt x="112455" y="1816"/>
                  <a:pt x="107394" y="357"/>
                </a:cubicBezTo>
                <a:close/>
                <a:moveTo>
                  <a:pt x="126623" y="40868"/>
                </a:moveTo>
                <a:cubicBezTo>
                  <a:pt x="122902" y="44589"/>
                  <a:pt x="122902" y="50631"/>
                  <a:pt x="126623" y="54352"/>
                </a:cubicBezTo>
                <a:lnTo>
                  <a:pt x="148471" y="76200"/>
                </a:lnTo>
                <a:lnTo>
                  <a:pt x="126623" y="98048"/>
                </a:lnTo>
                <a:cubicBezTo>
                  <a:pt x="122902" y="101769"/>
                  <a:pt x="122902" y="107811"/>
                  <a:pt x="126623" y="111532"/>
                </a:cubicBezTo>
                <a:cubicBezTo>
                  <a:pt x="130344" y="115253"/>
                  <a:pt x="136386" y="115253"/>
                  <a:pt x="140107" y="111532"/>
                </a:cubicBezTo>
                <a:lnTo>
                  <a:pt x="168682" y="82957"/>
                </a:lnTo>
                <a:cubicBezTo>
                  <a:pt x="172403" y="79236"/>
                  <a:pt x="172403" y="73194"/>
                  <a:pt x="168682" y="69473"/>
                </a:cubicBezTo>
                <a:lnTo>
                  <a:pt x="140107" y="40898"/>
                </a:lnTo>
                <a:cubicBezTo>
                  <a:pt x="136386" y="37177"/>
                  <a:pt x="130344" y="37177"/>
                  <a:pt x="126623" y="40898"/>
                </a:cubicBezTo>
                <a:close/>
                <a:moveTo>
                  <a:pt x="44857" y="40868"/>
                </a:moveTo>
                <a:cubicBezTo>
                  <a:pt x="41136" y="37147"/>
                  <a:pt x="35094" y="37147"/>
                  <a:pt x="31373" y="40868"/>
                </a:cubicBezTo>
                <a:lnTo>
                  <a:pt x="2798" y="69443"/>
                </a:lnTo>
                <a:cubicBezTo>
                  <a:pt x="-923" y="73164"/>
                  <a:pt x="-923" y="79206"/>
                  <a:pt x="2798" y="82927"/>
                </a:cubicBezTo>
                <a:lnTo>
                  <a:pt x="31373" y="111502"/>
                </a:lnTo>
                <a:cubicBezTo>
                  <a:pt x="35094" y="115223"/>
                  <a:pt x="41136" y="115223"/>
                  <a:pt x="44857" y="111502"/>
                </a:cubicBezTo>
                <a:cubicBezTo>
                  <a:pt x="48578" y="107781"/>
                  <a:pt x="48578" y="101739"/>
                  <a:pt x="44857" y="98018"/>
                </a:cubicBezTo>
                <a:lnTo>
                  <a:pt x="23009" y="76200"/>
                </a:lnTo>
                <a:lnTo>
                  <a:pt x="44827" y="54352"/>
                </a:lnTo>
                <a:cubicBezTo>
                  <a:pt x="48548" y="50631"/>
                  <a:pt x="48548" y="44589"/>
                  <a:pt x="44827" y="40868"/>
                </a:cubicBezTo>
                <a:close/>
              </a:path>
            </a:pathLst>
          </a:custGeom>
          <a:solidFill>
            <a:srgbClr val="F7B538"/>
          </a:solidFill>
          <a:ln/>
        </p:spPr>
      </p:sp>
      <p:sp>
        <p:nvSpPr>
          <p:cNvPr id="14" name="Text 11"/>
          <p:cNvSpPr/>
          <p:nvPr/>
        </p:nvSpPr>
        <p:spPr>
          <a:xfrm>
            <a:off x="3687961" y="5981579"/>
            <a:ext cx="733425" cy="228600"/>
          </a:xfrm>
          <a:prstGeom prst="rect">
            <a:avLst/>
          </a:prstGeom>
          <a:noFill/>
          <a:ln/>
        </p:spPr>
        <p:txBody>
          <a:bodyPr wrap="square" lIns="0" tIns="0" rIns="0" bIns="0" rtlCol="0" anchor="ctr"/>
          <a:lstStyle/>
          <a:p>
            <a:pPr algn="ctr">
              <a:lnSpc>
                <a:spcPct val="130000"/>
              </a:lnSpc>
            </a:pPr>
            <a:r>
              <a:rPr lang="en-US" sz="1200" dirty="0">
                <a:solidFill>
                  <a:srgbClr val="F8F9FA">
                    <a:alpha val="70000"/>
                  </a:srgbClr>
                </a:solidFill>
                <a:latin typeface="Quattrocento Sans" pitchFamily="34" charset="0"/>
                <a:ea typeface="Quattrocento Sans" pitchFamily="34" charset="-122"/>
                <a:cs typeface="Quattrocento Sans" pitchFamily="34" charset="-120"/>
              </a:rPr>
              <a:t>Laravel 10</a:t>
            </a:r>
            <a:endParaRPr lang="en-US" sz="1600" dirty="0"/>
          </a:p>
        </p:txBody>
      </p:sp>
      <p:sp>
        <p:nvSpPr>
          <p:cNvPr id="15" name="Shape 12"/>
          <p:cNvSpPr/>
          <p:nvPr/>
        </p:nvSpPr>
        <p:spPr>
          <a:xfrm>
            <a:off x="4718804" y="6019679"/>
            <a:ext cx="133350" cy="152400"/>
          </a:xfrm>
          <a:custGeom>
            <a:avLst/>
            <a:gdLst/>
            <a:ahLst/>
            <a:cxnLst/>
            <a:rect l="l" t="t" r="r" b="b"/>
            <a:pathLst>
              <a:path w="133350" h="152400">
                <a:moveTo>
                  <a:pt x="133350" y="61258"/>
                </a:moveTo>
                <a:cubicBezTo>
                  <a:pt x="128945" y="64175"/>
                  <a:pt x="123885" y="66526"/>
                  <a:pt x="118616" y="68401"/>
                </a:cubicBezTo>
                <a:cubicBezTo>
                  <a:pt x="104626" y="73402"/>
                  <a:pt x="86261" y="76200"/>
                  <a:pt x="66675" y="76200"/>
                </a:cubicBezTo>
                <a:cubicBezTo>
                  <a:pt x="47089" y="76200"/>
                  <a:pt x="28694" y="73372"/>
                  <a:pt x="14734" y="68401"/>
                </a:cubicBezTo>
                <a:cubicBezTo>
                  <a:pt x="9495" y="66526"/>
                  <a:pt x="4405" y="64175"/>
                  <a:pt x="0" y="61258"/>
                </a:cubicBezTo>
                <a:lnTo>
                  <a:pt x="0" y="85725"/>
                </a:lnTo>
                <a:cubicBezTo>
                  <a:pt x="0" y="98881"/>
                  <a:pt x="29855" y="109537"/>
                  <a:pt x="66675" y="109537"/>
                </a:cubicBezTo>
                <a:cubicBezTo>
                  <a:pt x="103495" y="109537"/>
                  <a:pt x="133350" y="98881"/>
                  <a:pt x="133350" y="85725"/>
                </a:cubicBezTo>
                <a:lnTo>
                  <a:pt x="133350" y="61258"/>
                </a:lnTo>
                <a:close/>
                <a:moveTo>
                  <a:pt x="133350" y="38100"/>
                </a:moveTo>
                <a:lnTo>
                  <a:pt x="133350" y="23813"/>
                </a:lnTo>
                <a:cubicBezTo>
                  <a:pt x="133350" y="10656"/>
                  <a:pt x="103495" y="0"/>
                  <a:pt x="66675" y="0"/>
                </a:cubicBezTo>
                <a:cubicBezTo>
                  <a:pt x="29855" y="0"/>
                  <a:pt x="0" y="10656"/>
                  <a:pt x="0" y="23813"/>
                </a:cubicBezTo>
                <a:lnTo>
                  <a:pt x="0" y="38100"/>
                </a:lnTo>
                <a:cubicBezTo>
                  <a:pt x="0" y="51256"/>
                  <a:pt x="29855" y="61912"/>
                  <a:pt x="66675" y="61912"/>
                </a:cubicBezTo>
                <a:cubicBezTo>
                  <a:pt x="103495" y="61912"/>
                  <a:pt x="133350" y="51256"/>
                  <a:pt x="133350" y="38100"/>
                </a:cubicBezTo>
                <a:close/>
                <a:moveTo>
                  <a:pt x="118616" y="116026"/>
                </a:moveTo>
                <a:cubicBezTo>
                  <a:pt x="104656" y="120997"/>
                  <a:pt x="86291" y="123825"/>
                  <a:pt x="66675" y="123825"/>
                </a:cubicBezTo>
                <a:cubicBezTo>
                  <a:pt x="47059" y="123825"/>
                  <a:pt x="28694" y="120997"/>
                  <a:pt x="14734" y="116026"/>
                </a:cubicBezTo>
                <a:cubicBezTo>
                  <a:pt x="9495" y="114151"/>
                  <a:pt x="4405" y="111800"/>
                  <a:pt x="0" y="108883"/>
                </a:cubicBezTo>
                <a:lnTo>
                  <a:pt x="0" y="128588"/>
                </a:lnTo>
                <a:cubicBezTo>
                  <a:pt x="0" y="141744"/>
                  <a:pt x="29855" y="152400"/>
                  <a:pt x="66675" y="152400"/>
                </a:cubicBezTo>
                <a:cubicBezTo>
                  <a:pt x="103495" y="152400"/>
                  <a:pt x="133350" y="141744"/>
                  <a:pt x="133350" y="128588"/>
                </a:cubicBezTo>
                <a:lnTo>
                  <a:pt x="133350" y="108883"/>
                </a:lnTo>
                <a:cubicBezTo>
                  <a:pt x="128945" y="111800"/>
                  <a:pt x="123885" y="114151"/>
                  <a:pt x="118616" y="116026"/>
                </a:cubicBezTo>
                <a:close/>
              </a:path>
            </a:pathLst>
          </a:custGeom>
          <a:solidFill>
            <a:srgbClr val="F7B538"/>
          </a:solidFill>
          <a:ln/>
        </p:spPr>
      </p:sp>
      <p:sp>
        <p:nvSpPr>
          <p:cNvPr id="16" name="Text 13"/>
          <p:cNvSpPr/>
          <p:nvPr/>
        </p:nvSpPr>
        <p:spPr>
          <a:xfrm>
            <a:off x="4918829" y="5981579"/>
            <a:ext cx="581025" cy="228600"/>
          </a:xfrm>
          <a:prstGeom prst="rect">
            <a:avLst/>
          </a:prstGeom>
          <a:noFill/>
          <a:ln/>
        </p:spPr>
        <p:txBody>
          <a:bodyPr wrap="square" lIns="0" tIns="0" rIns="0" bIns="0" rtlCol="0" anchor="ctr"/>
          <a:lstStyle/>
          <a:p>
            <a:pPr algn="ctr">
              <a:lnSpc>
                <a:spcPct val="130000"/>
              </a:lnSpc>
            </a:pPr>
            <a:r>
              <a:rPr lang="en-US" sz="1200" dirty="0">
                <a:solidFill>
                  <a:srgbClr val="F8F9FA">
                    <a:alpha val="70000"/>
                  </a:srgbClr>
                </a:solidFill>
                <a:latin typeface="Quattrocento Sans" pitchFamily="34" charset="0"/>
                <a:ea typeface="Quattrocento Sans" pitchFamily="34" charset="-122"/>
                <a:cs typeface="Quattrocento Sans" pitchFamily="34" charset="-120"/>
              </a:rPr>
              <a:t>PHP 8.2</a:t>
            </a:r>
            <a:endParaRPr lang="en-US" sz="1600" dirty="0"/>
          </a:p>
        </p:txBody>
      </p:sp>
      <p:sp>
        <p:nvSpPr>
          <p:cNvPr id="17" name="Shape 14"/>
          <p:cNvSpPr/>
          <p:nvPr/>
        </p:nvSpPr>
        <p:spPr>
          <a:xfrm>
            <a:off x="5766078" y="6019679"/>
            <a:ext cx="190500" cy="152400"/>
          </a:xfrm>
          <a:custGeom>
            <a:avLst/>
            <a:gdLst/>
            <a:ahLst/>
            <a:cxnLst/>
            <a:rect l="l" t="t" r="r" b="b"/>
            <a:pathLst>
              <a:path w="190500" h="152400">
                <a:moveTo>
                  <a:pt x="95250" y="4763"/>
                </a:moveTo>
                <a:cubicBezTo>
                  <a:pt x="112335" y="4763"/>
                  <a:pt x="126206" y="18634"/>
                  <a:pt x="126206" y="35719"/>
                </a:cubicBezTo>
                <a:cubicBezTo>
                  <a:pt x="126206" y="52804"/>
                  <a:pt x="112335" y="66675"/>
                  <a:pt x="95250" y="66675"/>
                </a:cubicBezTo>
                <a:cubicBezTo>
                  <a:pt x="78165" y="66675"/>
                  <a:pt x="64294" y="52804"/>
                  <a:pt x="64294" y="35719"/>
                </a:cubicBezTo>
                <a:cubicBezTo>
                  <a:pt x="64294" y="18634"/>
                  <a:pt x="78165" y="4763"/>
                  <a:pt x="95250" y="4763"/>
                </a:cubicBezTo>
                <a:close/>
                <a:moveTo>
                  <a:pt x="28575" y="26194"/>
                </a:moveTo>
                <a:cubicBezTo>
                  <a:pt x="40403" y="26194"/>
                  <a:pt x="50006" y="35797"/>
                  <a:pt x="50006" y="47625"/>
                </a:cubicBezTo>
                <a:cubicBezTo>
                  <a:pt x="50006" y="59453"/>
                  <a:pt x="40403" y="69056"/>
                  <a:pt x="28575" y="69056"/>
                </a:cubicBezTo>
                <a:cubicBezTo>
                  <a:pt x="16747" y="69056"/>
                  <a:pt x="7144" y="59453"/>
                  <a:pt x="7144" y="47625"/>
                </a:cubicBezTo>
                <a:cubicBezTo>
                  <a:pt x="7144" y="35797"/>
                  <a:pt x="16747" y="26194"/>
                  <a:pt x="28575" y="26194"/>
                </a:cubicBezTo>
                <a:close/>
                <a:moveTo>
                  <a:pt x="0" y="123825"/>
                </a:moveTo>
                <a:cubicBezTo>
                  <a:pt x="0" y="102781"/>
                  <a:pt x="17056" y="85725"/>
                  <a:pt x="38100" y="85725"/>
                </a:cubicBezTo>
                <a:cubicBezTo>
                  <a:pt x="41910" y="85725"/>
                  <a:pt x="45601" y="86291"/>
                  <a:pt x="49084" y="87332"/>
                </a:cubicBezTo>
                <a:cubicBezTo>
                  <a:pt x="39291" y="98286"/>
                  <a:pt x="33338" y="112752"/>
                  <a:pt x="33338" y="128588"/>
                </a:cubicBezTo>
                <a:lnTo>
                  <a:pt x="33338" y="133350"/>
                </a:lnTo>
                <a:cubicBezTo>
                  <a:pt x="33338" y="136743"/>
                  <a:pt x="34052" y="139958"/>
                  <a:pt x="35332" y="142875"/>
                </a:cubicBezTo>
                <a:lnTo>
                  <a:pt x="9525" y="142875"/>
                </a:lnTo>
                <a:cubicBezTo>
                  <a:pt x="4256" y="142875"/>
                  <a:pt x="0" y="138619"/>
                  <a:pt x="0" y="133350"/>
                </a:cubicBezTo>
                <a:lnTo>
                  <a:pt x="0" y="123825"/>
                </a:lnTo>
                <a:close/>
                <a:moveTo>
                  <a:pt x="155168" y="142875"/>
                </a:moveTo>
                <a:cubicBezTo>
                  <a:pt x="156448" y="139958"/>
                  <a:pt x="157163" y="136743"/>
                  <a:pt x="157163" y="133350"/>
                </a:cubicBezTo>
                <a:lnTo>
                  <a:pt x="157163" y="128588"/>
                </a:lnTo>
                <a:cubicBezTo>
                  <a:pt x="157163" y="112752"/>
                  <a:pt x="151209" y="98286"/>
                  <a:pt x="141416" y="87332"/>
                </a:cubicBezTo>
                <a:cubicBezTo>
                  <a:pt x="144899" y="86291"/>
                  <a:pt x="148590" y="85725"/>
                  <a:pt x="152400" y="85725"/>
                </a:cubicBezTo>
                <a:cubicBezTo>
                  <a:pt x="173444" y="85725"/>
                  <a:pt x="190500" y="102781"/>
                  <a:pt x="190500" y="123825"/>
                </a:cubicBezTo>
                <a:lnTo>
                  <a:pt x="190500" y="133350"/>
                </a:lnTo>
                <a:cubicBezTo>
                  <a:pt x="190500" y="138619"/>
                  <a:pt x="186244" y="142875"/>
                  <a:pt x="180975" y="142875"/>
                </a:cubicBezTo>
                <a:lnTo>
                  <a:pt x="155168" y="142875"/>
                </a:lnTo>
                <a:close/>
                <a:moveTo>
                  <a:pt x="140494" y="47625"/>
                </a:moveTo>
                <a:cubicBezTo>
                  <a:pt x="140494" y="35797"/>
                  <a:pt x="150097" y="26194"/>
                  <a:pt x="161925" y="26194"/>
                </a:cubicBezTo>
                <a:cubicBezTo>
                  <a:pt x="173753" y="26194"/>
                  <a:pt x="183356" y="35797"/>
                  <a:pt x="183356" y="47625"/>
                </a:cubicBezTo>
                <a:cubicBezTo>
                  <a:pt x="183356" y="59453"/>
                  <a:pt x="173753" y="69056"/>
                  <a:pt x="161925" y="69056"/>
                </a:cubicBezTo>
                <a:cubicBezTo>
                  <a:pt x="150097" y="69056"/>
                  <a:pt x="140494" y="59453"/>
                  <a:pt x="140494" y="47625"/>
                </a:cubicBezTo>
                <a:close/>
                <a:moveTo>
                  <a:pt x="47625" y="128588"/>
                </a:moveTo>
                <a:cubicBezTo>
                  <a:pt x="47625" y="102275"/>
                  <a:pt x="68937" y="80962"/>
                  <a:pt x="95250" y="80962"/>
                </a:cubicBezTo>
                <a:cubicBezTo>
                  <a:pt x="121563" y="80962"/>
                  <a:pt x="142875" y="102275"/>
                  <a:pt x="142875" y="128588"/>
                </a:cubicBezTo>
                <a:lnTo>
                  <a:pt x="142875" y="133350"/>
                </a:lnTo>
                <a:cubicBezTo>
                  <a:pt x="142875" y="138619"/>
                  <a:pt x="138619" y="142875"/>
                  <a:pt x="133350" y="142875"/>
                </a:cubicBezTo>
                <a:lnTo>
                  <a:pt x="57150" y="142875"/>
                </a:lnTo>
                <a:cubicBezTo>
                  <a:pt x="51881" y="142875"/>
                  <a:pt x="47625" y="138619"/>
                  <a:pt x="47625" y="133350"/>
                </a:cubicBezTo>
                <a:lnTo>
                  <a:pt x="47625" y="128588"/>
                </a:lnTo>
                <a:close/>
              </a:path>
            </a:pathLst>
          </a:custGeom>
          <a:solidFill>
            <a:srgbClr val="F7B538"/>
          </a:solidFill>
          <a:ln/>
        </p:spPr>
      </p:sp>
      <p:sp>
        <p:nvSpPr>
          <p:cNvPr id="18" name="Text 15"/>
          <p:cNvSpPr/>
          <p:nvPr/>
        </p:nvSpPr>
        <p:spPr>
          <a:xfrm>
            <a:off x="5994678" y="5981579"/>
            <a:ext cx="1314450" cy="228600"/>
          </a:xfrm>
          <a:prstGeom prst="rect">
            <a:avLst/>
          </a:prstGeom>
          <a:noFill/>
          <a:ln/>
        </p:spPr>
        <p:txBody>
          <a:bodyPr wrap="square" lIns="0" tIns="0" rIns="0" bIns="0" rtlCol="0" anchor="ctr"/>
          <a:lstStyle/>
          <a:p>
            <a:pPr algn="ctr">
              <a:lnSpc>
                <a:spcPct val="130000"/>
              </a:lnSpc>
            </a:pPr>
            <a:r>
              <a:rPr lang="en-US" sz="1200" dirty="0">
                <a:solidFill>
                  <a:srgbClr val="F8F9FA">
                    <a:alpha val="70000"/>
                  </a:srgbClr>
                </a:solidFill>
                <a:latin typeface="Quattrocento Sans" pitchFamily="34" charset="0"/>
                <a:ea typeface="Quattrocento Sans" pitchFamily="34" charset="-122"/>
                <a:cs typeface="Quattrocento Sans" pitchFamily="34" charset="-120"/>
              </a:rPr>
              <a:t>18 Unique Features</a:t>
            </a:r>
            <a:endParaRPr lang="en-US" sz="1600" dirty="0"/>
          </a:p>
        </p:txBody>
      </p:sp>
      <p:sp>
        <p:nvSpPr>
          <p:cNvPr id="19" name="Shape 16"/>
          <p:cNvSpPr/>
          <p:nvPr/>
        </p:nvSpPr>
        <p:spPr>
          <a:xfrm>
            <a:off x="7595235" y="6019679"/>
            <a:ext cx="152400" cy="152400"/>
          </a:xfrm>
          <a:custGeom>
            <a:avLst/>
            <a:gdLst/>
            <a:ahLst/>
            <a:cxnLst/>
            <a:rect l="l" t="t" r="r" b="b"/>
            <a:pathLst>
              <a:path w="152400" h="152400">
                <a:moveTo>
                  <a:pt x="71735" y="25926"/>
                </a:moveTo>
                <a:lnTo>
                  <a:pt x="76200" y="32087"/>
                </a:lnTo>
                <a:lnTo>
                  <a:pt x="80665" y="25926"/>
                </a:lnTo>
                <a:cubicBezTo>
                  <a:pt x="88106" y="15627"/>
                  <a:pt x="100072" y="9525"/>
                  <a:pt x="112782" y="9525"/>
                </a:cubicBezTo>
                <a:cubicBezTo>
                  <a:pt x="134660" y="9525"/>
                  <a:pt x="152400" y="27265"/>
                  <a:pt x="152400" y="49143"/>
                </a:cubicBezTo>
                <a:lnTo>
                  <a:pt x="152400" y="49917"/>
                </a:lnTo>
                <a:cubicBezTo>
                  <a:pt x="152400" y="83314"/>
                  <a:pt x="110758" y="122099"/>
                  <a:pt x="89029" y="138678"/>
                </a:cubicBezTo>
                <a:cubicBezTo>
                  <a:pt x="85338" y="141476"/>
                  <a:pt x="80814" y="142875"/>
                  <a:pt x="76200" y="142875"/>
                </a:cubicBezTo>
                <a:cubicBezTo>
                  <a:pt x="71586" y="142875"/>
                  <a:pt x="67032" y="141506"/>
                  <a:pt x="63371" y="138678"/>
                </a:cubicBezTo>
                <a:cubicBezTo>
                  <a:pt x="41642" y="122099"/>
                  <a:pt x="0" y="83314"/>
                  <a:pt x="0" y="49917"/>
                </a:cubicBezTo>
                <a:lnTo>
                  <a:pt x="0" y="49143"/>
                </a:lnTo>
                <a:cubicBezTo>
                  <a:pt x="0" y="27265"/>
                  <a:pt x="17740" y="9525"/>
                  <a:pt x="39618" y="9525"/>
                </a:cubicBezTo>
                <a:cubicBezTo>
                  <a:pt x="52328" y="9525"/>
                  <a:pt x="64294" y="15627"/>
                  <a:pt x="71735" y="25926"/>
                </a:cubicBezTo>
                <a:close/>
              </a:path>
            </a:pathLst>
          </a:custGeom>
          <a:solidFill>
            <a:srgbClr val="F7B538"/>
          </a:solidFill>
          <a:ln/>
        </p:spPr>
      </p:sp>
      <p:sp>
        <p:nvSpPr>
          <p:cNvPr id="20" name="Text 17"/>
          <p:cNvSpPr/>
          <p:nvPr/>
        </p:nvSpPr>
        <p:spPr>
          <a:xfrm>
            <a:off x="7804785" y="5981579"/>
            <a:ext cx="962025" cy="228600"/>
          </a:xfrm>
          <a:prstGeom prst="rect">
            <a:avLst/>
          </a:prstGeom>
          <a:noFill/>
          <a:ln/>
        </p:spPr>
        <p:txBody>
          <a:bodyPr wrap="square" lIns="0" tIns="0" rIns="0" bIns="0" rtlCol="0" anchor="ctr"/>
          <a:lstStyle/>
          <a:p>
            <a:pPr algn="ctr">
              <a:lnSpc>
                <a:spcPct val="130000"/>
              </a:lnSpc>
            </a:pPr>
            <a:r>
              <a:rPr lang="en-US" sz="1200" dirty="0">
                <a:solidFill>
                  <a:srgbClr val="F8F9FA">
                    <a:alpha val="70000"/>
                  </a:srgbClr>
                </a:solidFill>
                <a:latin typeface="Quattrocento Sans" pitchFamily="34" charset="0"/>
                <a:ea typeface="Quattrocento Sans" pitchFamily="34" charset="-122"/>
                <a:cs typeface="Quattrocento Sans" pitchFamily="34" charset="-120"/>
              </a:rPr>
              <a:t>Social Impact</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EduBridge - PHP Course Project Presentation</dc:title>
  <dc:subject>EduBridge - PHP Course Project Presentation</dc:subject>
  <dc:creator>Kimi</dc:creator>
  <cp:lastModifiedBy>Kimi</cp:lastModifiedBy>
  <cp:revision>1</cp:revision>
  <dcterms:created xsi:type="dcterms:W3CDTF">2026-02-27T10:00:04Z</dcterms:created>
  <dcterms:modified xsi:type="dcterms:W3CDTF">2026-02-27T10:00:04Z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{"Label":"EduBridge - PHP Course Project Presentation","ContentProducer":"001191110108MACG2KBH8F10000","ProduceID":"19c9e698-f7d2-8d85-8000-00008b453b15","ReservedCode1":"","ContentPropagator":"001191110108MACG2KBH8F20000","PropagateID":"19c9e698-f7d2-8d85-8000-00008b453b15","ReservedCode2":""}</vt:lpwstr>
  </property>
</Properties>
</file>